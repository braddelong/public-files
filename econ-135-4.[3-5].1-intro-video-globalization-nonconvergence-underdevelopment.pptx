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88" name="Shape 388"/>
          <p:cNvSpPr/>
          <p:nvPr>
            <p:ph type="sldImg"/>
          </p:nvPr>
        </p:nvSpPr>
        <p:spPr>
          <a:xfrm>
            <a:off x="1143000" y="685800"/>
            <a:ext cx="4572000" cy="3429000"/>
          </a:xfrm>
          <a:prstGeom prst="rect">
            <a:avLst/>
          </a:prstGeom>
        </p:spPr>
        <p:txBody>
          <a:bodyPr/>
          <a:lstStyle/>
          <a:p>
            <a:pPr/>
          </a:p>
        </p:txBody>
      </p:sp>
      <p:sp>
        <p:nvSpPr>
          <p:cNvPr id="389" name="Shape 38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a:defRPr>
    </a:lvl1pPr>
    <a:lvl2pPr indent="228600" defTabSz="457200" latinLnBrk="0">
      <a:lnSpc>
        <a:spcPct val="117999"/>
      </a:lnSpc>
      <a:defRPr sz="2200">
        <a:latin typeface="+mn-lt"/>
        <a:ea typeface="+mn-ea"/>
        <a:cs typeface="+mn-cs"/>
        <a:sym typeface="Helvetica"/>
      </a:defRPr>
    </a:lvl2pPr>
    <a:lvl3pPr indent="457200" defTabSz="457200" latinLnBrk="0">
      <a:lnSpc>
        <a:spcPct val="117999"/>
      </a:lnSpc>
      <a:defRPr sz="2200">
        <a:latin typeface="+mn-lt"/>
        <a:ea typeface="+mn-ea"/>
        <a:cs typeface="+mn-cs"/>
        <a:sym typeface="Helvetica"/>
      </a:defRPr>
    </a:lvl3pPr>
    <a:lvl4pPr indent="685800" defTabSz="457200" latinLnBrk="0">
      <a:lnSpc>
        <a:spcPct val="117999"/>
      </a:lnSpc>
      <a:defRPr sz="2200">
        <a:latin typeface="+mn-lt"/>
        <a:ea typeface="+mn-ea"/>
        <a:cs typeface="+mn-cs"/>
        <a:sym typeface="Helvetica"/>
      </a:defRPr>
    </a:lvl4pPr>
    <a:lvl5pPr indent="914400" defTabSz="457200" latinLnBrk="0">
      <a:lnSpc>
        <a:spcPct val="117999"/>
      </a:lnSpc>
      <a:defRPr sz="2200">
        <a:latin typeface="+mn-lt"/>
        <a:ea typeface="+mn-ea"/>
        <a:cs typeface="+mn-cs"/>
        <a:sym typeface="Helvetica"/>
      </a:defRPr>
    </a:lvl5pPr>
    <a:lvl6pPr indent="1143000" defTabSz="457200" latinLnBrk="0">
      <a:lnSpc>
        <a:spcPct val="117999"/>
      </a:lnSpc>
      <a:defRPr sz="2200">
        <a:latin typeface="+mn-lt"/>
        <a:ea typeface="+mn-ea"/>
        <a:cs typeface="+mn-cs"/>
        <a:sym typeface="Helvetica"/>
      </a:defRPr>
    </a:lvl6pPr>
    <a:lvl7pPr indent="1371600" defTabSz="457200" latinLnBrk="0">
      <a:lnSpc>
        <a:spcPct val="117999"/>
      </a:lnSpc>
      <a:defRPr sz="2200">
        <a:latin typeface="+mn-lt"/>
        <a:ea typeface="+mn-ea"/>
        <a:cs typeface="+mn-cs"/>
        <a:sym typeface="Helvetica"/>
      </a:defRPr>
    </a:lvl7pPr>
    <a:lvl8pPr indent="1600200" defTabSz="457200" latinLnBrk="0">
      <a:lnSpc>
        <a:spcPct val="117999"/>
      </a:lnSpc>
      <a:defRPr sz="2200">
        <a:latin typeface="+mn-lt"/>
        <a:ea typeface="+mn-ea"/>
        <a:cs typeface="+mn-cs"/>
        <a:sym typeface="Helvetica"/>
      </a:defRPr>
    </a:lvl8pPr>
    <a:lvl9pPr indent="1828800" defTabSz="457200" latinLnBrk="0">
      <a:lnSpc>
        <a:spcPct val="117999"/>
      </a:lnSpc>
      <a:defRPr sz="2200">
        <a:latin typeface="+mn-lt"/>
        <a:ea typeface="+mn-ea"/>
        <a:cs typeface="+mn-cs"/>
        <a:sym typeface="Helvetica"/>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7" name="Shape 397"/>
          <p:cNvSpPr/>
          <p:nvPr>
            <p:ph type="sldImg"/>
          </p:nvPr>
        </p:nvSpPr>
        <p:spPr>
          <a:prstGeom prst="rect">
            <a:avLst/>
          </a:prstGeom>
        </p:spPr>
        <p:txBody>
          <a:bodyPr/>
          <a:lstStyle/>
          <a:p>
            <a:pPr/>
          </a:p>
        </p:txBody>
      </p:sp>
      <p:sp>
        <p:nvSpPr>
          <p:cNvPr id="398" name="Shape 398"/>
          <p:cNvSpPr/>
          <p:nvPr>
            <p:ph type="body" sz="quarter" idx="1"/>
          </p:nvPr>
        </p:nvSpPr>
        <p:spPr>
          <a:prstGeom prst="rect">
            <a:avLst/>
          </a:prstGeom>
        </p:spPr>
        <p:txBody>
          <a:bodyPr/>
          <a:lstStyle/>
          <a:p>
            <a:pPr/>
            <a:r>
              <a:t>This week we are picking up the pace. If we continued at our former pace, we would have spent last week doing American exceptionalism and this week doing plutocracy and inequality. That would have left globalization for the first week after spring break, the convergence – or rather, the lack of convergence of economies — for the second week, and the development of under development for the third week after spring vacation. Then we would've had one week to do one more unit, and it would've been time to review and bring the semester to a close.</a:t>
            </a:r>
          </a:p>
          <a:p>
            <a:pPr/>
          </a:p>
          <a:p>
            <a:pPr/>
            <a:r>
              <a:t>But I want to do more, and I think we can. Last week we did two units: hegemony and plutocracy, and I think it went well. So this week we do three. To lighten the load, there will be no quiz this week…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Shape 404"/>
          <p:cNvSpPr/>
          <p:nvPr>
            <p:ph type="sldImg"/>
          </p:nvPr>
        </p:nvSpPr>
        <p:spPr>
          <a:prstGeom prst="rect">
            <a:avLst/>
          </a:prstGeom>
        </p:spPr>
        <p:txBody>
          <a:bodyPr/>
          <a:lstStyle/>
          <a:p>
            <a:pPr/>
          </a:p>
        </p:txBody>
      </p:sp>
      <p:sp>
        <p:nvSpPr>
          <p:cNvPr id="405" name="Shape 405"/>
          <p:cNvSpPr/>
          <p:nvPr>
            <p:ph type="body" sz="quarter" idx="1"/>
          </p:nvPr>
        </p:nvSpPr>
        <p:spPr>
          <a:prstGeom prst="rect">
            <a:avLst/>
          </a:prstGeom>
        </p:spPr>
        <p:txBody>
          <a:bodyPr/>
          <a:lstStyle>
            <a:lvl1pPr>
              <a:lnSpc>
                <a:spcPct val="125000"/>
              </a:lnSpc>
              <a:defRPr sz="2400">
                <a:latin typeface="Avenir Roman"/>
                <a:ea typeface="Avenir Roman"/>
                <a:cs typeface="Avenir Roman"/>
                <a:sym typeface="Avenir Roman"/>
              </a:defRPr>
            </a:lvl1pPr>
          </a:lstStyle>
          <a:p>
            <a:pPr/>
            <a:r>
              <a:t>The extent to which the navies and trading fleets of the great European sea-borne empires of the sixteenth, seventeenth, and eighteenth centuries shaped the industrial development of western Europe has always been one of the most fiercely-debated and unsettled topics in economic history. European expansion in the sixteenth, seventeenth, and eighteenth centuries were catastrophes for the regions of west Africa that were the sources of the slave trade; for the Amerindians of the Caribbean; for the Aztecs, Incas, the mound-builders of the Mississippi valley; and for the princes of Bengal and others who found themselves competing with the British East India Company in the succession wars over the spoils of India’s Moghul Empire—that is not in dispute.  But how much did pre-industrial trade and plunder affect European development? That is not so clear. However, we can say that with the coming of the Industrial Revolution era the world economy did become globalized, and trade between continents became a very important economic factor. First sugar, then cotton, and then after 1870 global trade in pretty much every stable staple commodity became a huge deal for how the world economy was to grow.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9" name="Shape 409"/>
          <p:cNvSpPr/>
          <p:nvPr>
            <p:ph type="sldImg"/>
          </p:nvPr>
        </p:nvSpPr>
        <p:spPr>
          <a:prstGeom prst="rect">
            <a:avLst/>
          </a:prstGeom>
        </p:spPr>
        <p:txBody>
          <a:bodyPr/>
          <a:lstStyle/>
          <a:p>
            <a:pPr/>
          </a:p>
        </p:txBody>
      </p:sp>
      <p:sp>
        <p:nvSpPr>
          <p:cNvPr id="410" name="Shape 410"/>
          <p:cNvSpPr/>
          <p:nvPr>
            <p:ph type="body" sz="quarter" idx="1"/>
          </p:nvPr>
        </p:nvSpPr>
        <p:spPr>
          <a:prstGeom prst="rect">
            <a:avLst/>
          </a:prstGeom>
        </p:spPr>
        <p:txBody>
          <a:bodyPr/>
          <a:lstStyle>
            <a:lvl1pPr>
              <a:lnSpc>
                <a:spcPct val="125000"/>
              </a:lnSpc>
              <a:defRPr sz="2400">
                <a:latin typeface="Avenir Roman"/>
                <a:ea typeface="Avenir Roman"/>
                <a:cs typeface="Avenir Roman"/>
                <a:sym typeface="Avenir Roman"/>
              </a:defRPr>
            </a:lvl1pPr>
          </a:lstStyle>
          <a:p>
            <a:pPr/>
            <a:r>
              <a:t>Between 1870 and 1913 exports as a share of national product doubled in India and in what was to become Indonesia, and more than tripled in China. And in Japan—forced out of two and a half centuries of Tokugawa isolationism by U.S. gunboats—exports rose from practically zero to 7 percent of national product in only two pre-World War I generations. International trade as a proportion of total world production—what was it? It was perhaps 1.5% in 1500, rising to perhaps 3% by 1700 and, by 1850, about 4%. In 1880 it was 11%, and by 1913 17%. (Today it is 30%.)</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4" name="Shape 414"/>
          <p:cNvSpPr/>
          <p:nvPr>
            <p:ph type="sldImg"/>
          </p:nvPr>
        </p:nvSpPr>
        <p:spPr>
          <a:prstGeom prst="rect">
            <a:avLst/>
          </a:prstGeom>
        </p:spPr>
        <p:txBody>
          <a:bodyPr/>
          <a:lstStyle/>
          <a:p>
            <a:pPr/>
          </a:p>
        </p:txBody>
      </p:sp>
      <p:sp>
        <p:nvSpPr>
          <p:cNvPr id="415" name="Shape 415"/>
          <p:cNvSpPr/>
          <p:nvPr>
            <p:ph type="body" sz="quarter" idx="1"/>
          </p:nvPr>
        </p:nvSpPr>
        <p:spPr>
          <a:prstGeom prst="rect">
            <a:avLst/>
          </a:prstGeom>
        </p:spPr>
        <p:txBody>
          <a:bodyPr/>
          <a:lstStyle>
            <a:lvl1pPr>
              <a:lnSpc>
                <a:spcPct val="125000"/>
              </a:lnSpc>
              <a:defRPr sz="2400">
                <a:latin typeface="Avenir Roman"/>
                <a:ea typeface="Avenir Roman"/>
                <a:cs typeface="Avenir Roman"/>
                <a:sym typeface="Avenir Roman"/>
              </a:defRPr>
            </a:lvl1pPr>
          </a:lstStyle>
          <a:p>
            <a:pPr/>
            <a:r>
              <a:t>The falling cost of transporting people marched alongside a falling cost of transporting goods. After 1870,every place in the world became, as long as there were docks and railroads, cheek-by-jowl to every other place. Everyone’s opportunities and constraints—not just the consumption patterns of the elite—depended on what was going on in every other piece of the world economy. Northwest Europe gained an enormous trade-relevant comparative advantage in making manufactured goods. And natural resources out on the periphery become more valuable as well: copper, coal, coffee, and all of the other mineral and agricultural products could be shipped by rail to the ports where the iron-hulled steam-powered ocean-going cargo ships lay. The market economy responded. The industrializing and then industrial core specializing in the manufactures because of its superior access to industrial technologies. The periphery specializing in the primary products that its new infrastructure allowed it to export. These abilities to specialize were of great economic value.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9" name="Shape 419"/>
          <p:cNvSpPr/>
          <p:nvPr>
            <p:ph type="sldImg"/>
          </p:nvPr>
        </p:nvSpPr>
        <p:spPr>
          <a:prstGeom prst="rect">
            <a:avLst/>
          </a:prstGeom>
        </p:spPr>
        <p:txBody>
          <a:bodyPr/>
          <a:lstStyle/>
          <a:p>
            <a:pPr/>
          </a:p>
        </p:txBody>
      </p:sp>
      <p:sp>
        <p:nvSpPr>
          <p:cNvPr id="420" name="Shape 420"/>
          <p:cNvSpPr/>
          <p:nvPr>
            <p:ph type="body" sz="quarter" idx="1"/>
          </p:nvPr>
        </p:nvSpPr>
        <p:spPr>
          <a:prstGeom prst="rect">
            <a:avLst/>
          </a:prstGeom>
        </p:spPr>
        <p:txBody>
          <a:bodyPr/>
          <a:lstStyle>
            <a:lvl1pPr>
              <a:lnSpc>
                <a:spcPct val="125000"/>
              </a:lnSpc>
              <a:defRPr sz="2400">
                <a:latin typeface="Avenir Roman"/>
                <a:ea typeface="Avenir Roman"/>
                <a:cs typeface="Avenir Roman"/>
                <a:sym typeface="Avenir Roman"/>
              </a:defRPr>
            </a:lvl1pPr>
          </a:lstStyle>
          <a:p>
            <a:pPr/>
            <a:r>
              <a:t>The production and trade globalization of the late 1800s was fueled by 100 million people leaving their continent of origin to live and work elsewhere. 50 million left settled areas of Europe, mainly to the Americas and Australasia. 50 million left from China and India to places from South Asia and Africa to the Caribbean and the highlands of Peru. Never before or since have we seen such a rapid proportional redistribution of humanity around the globe. 1870-1914 migration made for a richer world: it raised wages in Europe, as workers no longer faced competition for their jobs from those who had left. In the temperate zone economies to which migrants went, the populists won before World War I in one narrow aspect: with respect to making and keeping settler colonies “European”. Asian immigrants were largely kept out of what Arthur Lewis calls the “temperate countries of European settlement”–the United States, Canada, Argentina, Chile, Uruguay, Australia, and New Zealand. The flow of migrants out of China and India was directed elsewhere, to the tea plantations of Ceylon or the rubber plantations of Malaysia. Migration did not raise wages much in China and India. They were so large relatively in population that emigration was a drop in the bucket. Did migration lower relative wages in temperate-zone rich recipient economies? By little, if any: migration of people carried migration of capital with it, and mostly built out the scale of temperate-zone recipient economies. Did migration lower relative wages in tropical-zone recipient economies? Yes—and it did so in economies that never saw a migrant. British capital, Brazilian-stock rubber plants, and labor imported from China to Malaya could and did put heavy downward pressure on the wages in Brazil of people who did not know there was such a place as Malaya.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Shape 427"/>
          <p:cNvSpPr/>
          <p:nvPr>
            <p:ph type="sldImg"/>
          </p:nvPr>
        </p:nvSpPr>
        <p:spPr>
          <a:prstGeom prst="rect">
            <a:avLst/>
          </a:prstGeom>
        </p:spPr>
        <p:txBody>
          <a:bodyPr/>
          <a:lstStyle/>
          <a:p>
            <a:pPr/>
          </a:p>
        </p:txBody>
      </p:sp>
      <p:sp>
        <p:nvSpPr>
          <p:cNvPr id="428" name="Shape 428"/>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Expected convergence:</a:t>
            </a:r>
          </a:p>
          <a:p>
            <a:pPr>
              <a:lnSpc>
                <a:spcPct val="125000"/>
              </a:lnSpc>
              <a:defRPr sz="2400">
                <a:latin typeface="Avenir Roman"/>
                <a:ea typeface="Avenir Roman"/>
                <a:cs typeface="Avenir Roman"/>
                <a:sym typeface="Avenir Roman"/>
              </a:defRPr>
            </a:pPr>
            <a:r>
              <a:t>Economists have always expected the "convergence"of national productivity levels </a:t>
            </a:r>
          </a:p>
          <a:p>
            <a:pPr>
              <a:lnSpc>
                <a:spcPct val="125000"/>
              </a:lnSpc>
              <a:defRPr sz="2400">
                <a:latin typeface="Avenir Roman"/>
                <a:ea typeface="Avenir Roman"/>
                <a:cs typeface="Avenir Roman"/>
                <a:sym typeface="Avenir Roman"/>
              </a:defRPr>
            </a:pPr>
            <a:r>
              <a:t>The theoretical logic behind this belief is powerful. </a:t>
            </a:r>
          </a:p>
          <a:p>
            <a:pPr>
              <a:lnSpc>
                <a:spcPct val="125000"/>
              </a:lnSpc>
              <a:defRPr sz="2400">
                <a:latin typeface="Avenir Roman"/>
                <a:ea typeface="Avenir Roman"/>
                <a:cs typeface="Avenir Roman"/>
                <a:sym typeface="Avenir Roman"/>
              </a:defRPr>
            </a:pPr>
            <a:r>
              <a:t>Will Baumol expressing conventional wisdom</a:t>
            </a:r>
          </a:p>
          <a:p>
            <a:pPr>
              <a:lnSpc>
                <a:spcPct val="125000"/>
              </a:lnSpc>
              <a:defRPr sz="2400">
                <a:latin typeface="Avenir Roman"/>
                <a:ea typeface="Avenir Roman"/>
                <a:cs typeface="Avenir Roman"/>
                <a:sym typeface="Avenir Roman"/>
              </a:defRPr>
            </a:pPr>
            <a:r>
              <a:t>Personal biography</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Do these two things:</a:t>
            </a:r>
          </a:p>
          <a:p>
            <a:pPr>
              <a:lnSpc>
                <a:spcPct val="125000"/>
              </a:lnSpc>
              <a:defRPr sz="2400">
                <a:latin typeface="Avenir Roman"/>
                <a:ea typeface="Avenir Roman"/>
                <a:cs typeface="Avenir Roman"/>
                <a:sym typeface="Avenir Roman"/>
              </a:defRPr>
            </a:pPr>
            <a:r>
              <a:t>Remove sample selection</a:t>
            </a:r>
          </a:p>
          <a:p>
            <a:pPr>
              <a:lnSpc>
                <a:spcPct val="125000"/>
              </a:lnSpc>
              <a:defRPr sz="2400">
                <a:latin typeface="Avenir Roman"/>
                <a:ea typeface="Avenir Roman"/>
                <a:cs typeface="Avenir Roman"/>
                <a:sym typeface="Avenir Roman"/>
              </a:defRPr>
            </a:pPr>
            <a:r>
              <a:t>Account for errors in variables in the past</a:t>
            </a:r>
          </a:p>
          <a:p>
            <a:pPr>
              <a:lnSpc>
                <a:spcPct val="125000"/>
              </a:lnSpc>
              <a:defRPr sz="2400">
                <a:latin typeface="Avenir Roman"/>
                <a:ea typeface="Avenir Roman"/>
                <a:cs typeface="Avenir Roman"/>
                <a:sym typeface="Avenir Roman"/>
              </a:defRPr>
            </a:pPr>
            <a:r>
              <a:t>Then any convergence tendency in the data disappears</a:t>
            </a:r>
          </a:p>
          <a:p>
            <a:pPr>
              <a:lnSpc>
                <a:spcPct val="125000"/>
              </a:lnSpc>
              <a:defRPr sz="2400">
                <a:latin typeface="Avenir Roman"/>
                <a:ea typeface="Avenir Roman"/>
                <a:cs typeface="Avenir Roman"/>
                <a:sym typeface="Avenir Roman"/>
              </a:defRPr>
            </a:pPr>
            <a:r>
              <a:t>This is much stronger than “there is divergence because some countries had good institutions, and others could not learn”</a:t>
            </a:r>
          </a:p>
          <a:p>
            <a:pPr>
              <a:lnSpc>
                <a:spcPct val="125000"/>
              </a:lnSpc>
              <a:defRPr sz="2400">
                <a:latin typeface="Avenir Roman"/>
                <a:ea typeface="Avenir Roman"/>
                <a:cs typeface="Avenir Roman"/>
                <a:sym typeface="Avenir Roman"/>
              </a:defRPr>
            </a:pPr>
            <a:r>
              <a:t>This is, rather: “even if you have good institutions at one particular point in time, it can still get very messed up”</a:t>
            </a:r>
          </a:p>
          <a:p>
            <a:pPr>
              <a:lnSpc>
                <a:spcPct val="125000"/>
              </a:lnSpc>
              <a:defRPr sz="2400">
                <a:latin typeface="Avenir Roman"/>
                <a:ea typeface="Avenir Roman"/>
                <a:cs typeface="Avenir Roman"/>
                <a:sym typeface="Avenir Roman"/>
              </a:defRPr>
            </a:pPr>
            <a:r>
              <a:t>But perhaps the once-rich twenty-two contained some countries that were rich by accident, and thus should not be in a sample of countries that had successfully developed “modernizing institutions”?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3" name="Shape 433"/>
          <p:cNvSpPr/>
          <p:nvPr>
            <p:ph type="sldImg"/>
          </p:nvPr>
        </p:nvSpPr>
        <p:spPr>
          <a:prstGeom prst="rect">
            <a:avLst/>
          </a:prstGeom>
        </p:spPr>
        <p:txBody>
          <a:bodyPr/>
          <a:lstStyle/>
          <a:p>
            <a:pPr/>
          </a:p>
        </p:txBody>
      </p:sp>
      <p:sp>
        <p:nvSpPr>
          <p:cNvPr id="434" name="Shape 434"/>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Patel, Sandefur, and Subramanian: “Our basic point doesn’t even require regressions”</a:t>
            </a:r>
          </a:p>
          <a:p>
            <a:pPr>
              <a:lnSpc>
                <a:spcPct val="125000"/>
              </a:lnSpc>
              <a:defRPr sz="2400">
                <a:latin typeface="Avenir Roman"/>
                <a:ea typeface="Avenir Roman"/>
                <a:cs typeface="Avenir Roman"/>
                <a:sym typeface="Avenir Roman"/>
              </a:defRPr>
            </a:pPr>
            <a:r>
              <a:t>But they do them nonetheless</a:t>
            </a:r>
          </a:p>
          <a:p>
            <a:pPr>
              <a:lnSpc>
                <a:spcPct val="125000"/>
              </a:lnSpc>
              <a:defRPr sz="2400">
                <a:latin typeface="Avenir Roman"/>
                <a:ea typeface="Avenir Roman"/>
                <a:cs typeface="Avenir Roman"/>
                <a:sym typeface="Avenir Roman"/>
              </a:defRPr>
            </a:pPr>
            <a:r>
              <a:t>Their argument is that there did not use to be convergence—back before 1990 there was not: there was divergence</a:t>
            </a:r>
          </a:p>
          <a:p>
            <a:pPr>
              <a:lnSpc>
                <a:spcPct val="125000"/>
              </a:lnSpc>
              <a:defRPr sz="2400">
                <a:latin typeface="Avenir Roman"/>
                <a:ea typeface="Avenir Roman"/>
                <a:cs typeface="Avenir Roman"/>
                <a:sym typeface="Avenir Roman"/>
              </a:defRPr>
            </a:pPr>
            <a:r>
              <a:t>But something changed between 1990 and 2000</a:t>
            </a:r>
          </a:p>
          <a:p>
            <a:pPr>
              <a:lnSpc>
                <a:spcPct val="125000"/>
              </a:lnSpc>
              <a:defRPr sz="2400">
                <a:latin typeface="Avenir Roman"/>
                <a:ea typeface="Avenir Roman"/>
                <a:cs typeface="Avenir Roman"/>
                <a:sym typeface="Avenir Roman"/>
              </a:defRPr>
            </a:pPr>
            <a:r>
              <a:t>And since 2000 there has been strong “convergence”</a:t>
            </a:r>
          </a:p>
          <a:p>
            <a:pPr>
              <a:lnSpc>
                <a:spcPct val="125000"/>
              </a:lnSpc>
              <a:defRPr sz="2400">
                <a:latin typeface="Avenir Roman"/>
                <a:ea typeface="Avenir Roman"/>
                <a:cs typeface="Avenir Roman"/>
                <a:sym typeface="Avenir Roman"/>
              </a:defRPr>
            </a:pPr>
            <a:r>
              <a:t>There is every reason to think—hope—that this strong convergence will continue into the future</a:t>
            </a:r>
          </a:p>
          <a:p>
            <a:pPr>
              <a:lnSpc>
                <a:spcPct val="125000"/>
              </a:lnSpc>
              <a:defRPr sz="2400">
                <a:latin typeface="Avenir Roman"/>
                <a:ea typeface="Avenir Roman"/>
                <a:cs typeface="Avenir Roman"/>
                <a:sym typeface="Avenir Roman"/>
              </a:defRPr>
            </a:pPr>
            <a:r>
              <a:t>What is this post-2000 convergence due to? We can think about that at the end…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8" name="Shape 438"/>
          <p:cNvSpPr/>
          <p:nvPr>
            <p:ph type="sldImg"/>
          </p:nvPr>
        </p:nvSpPr>
        <p:spPr>
          <a:prstGeom prst="rect">
            <a:avLst/>
          </a:prstGeom>
        </p:spPr>
        <p:txBody>
          <a:bodyPr/>
          <a:lstStyle/>
          <a:p>
            <a:pPr/>
          </a:p>
        </p:txBody>
      </p:sp>
      <p:sp>
        <p:nvSpPr>
          <p:cNvPr id="439" name="Shape 439"/>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Patel, Sandefur, and Subramanian do not say:</a:t>
            </a:r>
          </a:p>
          <a:p>
            <a:pPr>
              <a:lnSpc>
                <a:spcPct val="125000"/>
              </a:lnSpc>
              <a:defRPr sz="2400">
                <a:latin typeface="Avenir Roman"/>
                <a:ea typeface="Avenir Roman"/>
                <a:cs typeface="Avenir Roman"/>
                <a:sym typeface="Avenir Roman"/>
              </a:defRPr>
            </a:pPr>
            <a:r>
              <a:t>Let’s think about this…</a:t>
            </a:r>
          </a:p>
          <a:p>
            <a:pPr>
              <a:lnSpc>
                <a:spcPct val="125000"/>
              </a:lnSpc>
              <a:defRPr sz="2400">
                <a:latin typeface="Avenir Roman"/>
                <a:ea typeface="Avenir Roman"/>
                <a:cs typeface="Avenir Roman"/>
                <a:sym typeface="Avenir Roman"/>
              </a:defRPr>
            </a:pPr>
            <a:r>
              <a:t>What are the obvious candidates?</a:t>
            </a:r>
          </a:p>
          <a:p>
            <a:pPr>
              <a:lnSpc>
                <a:spcPct val="125000"/>
              </a:lnSpc>
              <a:defRPr sz="2400">
                <a:latin typeface="Avenir Roman"/>
                <a:ea typeface="Avenir Roman"/>
                <a:cs typeface="Avenir Roman"/>
                <a:sym typeface="Avenir Roman"/>
              </a:defRPr>
            </a:pPr>
            <a:r>
              <a:t>The Great Recession and the Anemic Recovery</a:t>
            </a:r>
          </a:p>
          <a:p>
            <a:pPr>
              <a:lnSpc>
                <a:spcPct val="125000"/>
              </a:lnSpc>
              <a:defRPr sz="2400">
                <a:latin typeface="Avenir Roman"/>
                <a:ea typeface="Avenir Roman"/>
                <a:cs typeface="Avenir Roman"/>
                <a:sym typeface="Avenir Roman"/>
              </a:defRPr>
            </a:pPr>
            <a:r>
              <a:t>Institutional dysfunction in the Global North</a:t>
            </a:r>
          </a:p>
          <a:p>
            <a:pPr>
              <a:lnSpc>
                <a:spcPct val="125000"/>
              </a:lnSpc>
              <a:defRPr sz="2400">
                <a:latin typeface="Avenir Roman"/>
                <a:ea typeface="Avenir Roman"/>
                <a:cs typeface="Avenir Roman"/>
                <a:sym typeface="Avenir Roman"/>
              </a:defRPr>
            </a:pPr>
            <a:r>
              <a:t>Austerity and a failure to prioritize a return to full employment and growth</a:t>
            </a:r>
          </a:p>
          <a:p>
            <a:pPr>
              <a:lnSpc>
                <a:spcPct val="125000"/>
              </a:lnSpc>
              <a:defRPr sz="2400">
                <a:latin typeface="Avenir Roman"/>
                <a:ea typeface="Avenir Roman"/>
                <a:cs typeface="Avenir Roman"/>
                <a:sym typeface="Avenir Roman"/>
              </a:defRPr>
            </a:pPr>
            <a:r>
              <a:t>The coming of the value-chain economy</a:t>
            </a:r>
          </a:p>
          <a:p>
            <a:pPr>
              <a:lnSpc>
                <a:spcPct val="125000"/>
              </a:lnSpc>
              <a:defRPr sz="2400">
                <a:latin typeface="Avenir Roman"/>
                <a:ea typeface="Avenir Roman"/>
                <a:cs typeface="Avenir Roman"/>
                <a:sym typeface="Avenir Roman"/>
              </a:defRPr>
            </a:pPr>
            <a:r>
              <a:t>No longer having to keep your blue-collar assembly-line workers close to your engineers, your executives, and your brand creators</a:t>
            </a:r>
          </a:p>
          <a:p>
            <a:pPr>
              <a:lnSpc>
                <a:spcPct val="125000"/>
              </a:lnSpc>
              <a:defRPr sz="2400">
                <a:latin typeface="Avenir Roman"/>
                <a:ea typeface="Avenir Roman"/>
                <a:cs typeface="Avenir Roman"/>
                <a:sym typeface="Avenir Roman"/>
              </a:defRPr>
            </a:pPr>
            <a:r>
              <a:t>Modern information and communications technologies more generally</a:t>
            </a:r>
          </a:p>
          <a:p>
            <a:pPr>
              <a:lnSpc>
                <a:spcPct val="125000"/>
              </a:lnSpc>
              <a:defRPr sz="2400">
                <a:latin typeface="Avenir Roman"/>
                <a:ea typeface="Avenir Roman"/>
                <a:cs typeface="Avenir Roman"/>
                <a:sym typeface="Avenir Roman"/>
              </a:defRPr>
            </a:pPr>
            <a:r>
              <a:t>The internet</a:t>
            </a:r>
          </a:p>
          <a:p>
            <a:pPr>
              <a:lnSpc>
                <a:spcPct val="125000"/>
              </a:lnSpc>
              <a:defRPr sz="2400">
                <a:latin typeface="Avenir Roman"/>
                <a:ea typeface="Avenir Roman"/>
                <a:cs typeface="Avenir Roman"/>
                <a:sym typeface="Avenir Roman"/>
              </a:defRPr>
            </a:pPr>
            <a:r>
              <a:t>Reduced distance in general—transoceanic airplane flights at a greatly increased pace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Shape 443"/>
          <p:cNvSpPr/>
          <p:nvPr>
            <p:ph type="sldImg"/>
          </p:nvPr>
        </p:nvSpPr>
        <p:spPr>
          <a:prstGeom prst="rect">
            <a:avLst/>
          </a:prstGeom>
        </p:spPr>
        <p:txBody>
          <a:bodyPr/>
          <a:lstStyle/>
          <a:p>
            <a:pPr/>
          </a:p>
        </p:txBody>
      </p:sp>
      <p:sp>
        <p:nvSpPr>
          <p:cNvPr id="444" name="Shape 444"/>
          <p:cNvSpPr/>
          <p:nvPr>
            <p:ph type="body" sz="quarter" idx="1"/>
          </p:nvPr>
        </p:nvSpPr>
        <p:spPr>
          <a:prstGeom prst="rect">
            <a:avLst/>
          </a:prstGeom>
        </p:spPr>
        <p:txBody>
          <a:bodyPr/>
          <a:lstStyle>
            <a:lvl1pPr>
              <a:lnSpc>
                <a:spcPct val="125000"/>
              </a:lnSpc>
              <a:defRPr sz="2400">
                <a:latin typeface="Avenir Roman"/>
                <a:ea typeface="Avenir Roman"/>
                <a:cs typeface="Avenir Roman"/>
                <a:sym typeface="Avenir Roman"/>
              </a:defRPr>
            </a:lvl1pPr>
          </a:lstStyle>
          <a:p>
            <a:pPr/>
            <a:r>
              <a:t>Somehow, at least the first century of the post-1870 Modern Economic Growth era has also seen DIVERGENCE, BIGTIME. While economic and political-economic processes have seen the global north develop massively, they have also seen the emergence of enormous income and productivity gaps between the global north and the global south. While the global north has been developed, the global south has been underdeveloped—has grasp of a lot smaller a fraction of the human technological cornucopia H than it had hold of in 1870, or, indeed, at any time earlier.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9" name="Shape 449"/>
          <p:cNvSpPr/>
          <p:nvPr>
            <p:ph type="sldImg"/>
          </p:nvPr>
        </p:nvSpPr>
        <p:spPr>
          <a:prstGeom prst="rect">
            <a:avLst/>
          </a:prstGeom>
        </p:spPr>
        <p:txBody>
          <a:bodyPr/>
          <a:lstStyle/>
          <a:p>
            <a:pPr/>
          </a:p>
        </p:txBody>
      </p:sp>
      <p:sp>
        <p:nvSpPr>
          <p:cNvPr id="450" name="Shape 450"/>
          <p:cNvSpPr/>
          <p:nvPr>
            <p:ph type="body" sz="quarter" idx="1"/>
          </p:nvPr>
        </p:nvSpPr>
        <p:spPr>
          <a:prstGeom prst="rect">
            <a:avLst/>
          </a:prstGeom>
        </p:spPr>
        <p:txBody>
          <a:bodyPr/>
          <a:lstStyle>
            <a:lvl1pPr>
              <a:lnSpc>
                <a:spcPct val="125000"/>
              </a:lnSpc>
              <a:defRPr sz="2400">
                <a:latin typeface="Avenir Roman"/>
                <a:ea typeface="Avenir Roman"/>
                <a:cs typeface="Avenir Roman"/>
                <a:sym typeface="Avenir Roman"/>
              </a:defRPr>
            </a:lvl1pPr>
          </a:lstStyle>
          <a:p>
            <a:pPr/>
            <a:r>
              <a:t>During the half-century before World War I, 100 million people left their continents of origin—70 million of them permanently. They did so because of the iron-hulled screw-propellered ocean-going steamship. It made it profitable and possible for 50 million from Europe and 50 million from Asia changed continents. This was an absolute bonanza for those who made the voyage. This was a relief for those back at home who found resources less crowded and scarce. But this was also a principal source of global inequality—a reason why the global south found itself as a whole leveled down to the Chinese and Indian standard, for China and India were then in the down, poverty-stricken phase of the Malthusian cycle. The development of underdevelopment in the global south can be understood only as a consequence of these waves of migration.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4" name="Shape 454"/>
          <p:cNvSpPr/>
          <p:nvPr>
            <p:ph type="sldImg"/>
          </p:nvPr>
        </p:nvSpPr>
        <p:spPr>
          <a:prstGeom prst="rect">
            <a:avLst/>
          </a:prstGeom>
        </p:spPr>
        <p:txBody>
          <a:bodyPr/>
          <a:lstStyle/>
          <a:p>
            <a:pPr/>
          </a:p>
        </p:txBody>
      </p:sp>
      <p:sp>
        <p:nvSpPr>
          <p:cNvPr id="455" name="Shape 455"/>
          <p:cNvSpPr/>
          <p:nvPr>
            <p:ph type="body" sz="quarter" idx="1"/>
          </p:nvPr>
        </p:nvSpPr>
        <p:spPr>
          <a:prstGeom prst="rect">
            <a:avLst/>
          </a:prstGeom>
        </p:spPr>
        <p:txBody>
          <a:bodyPr/>
          <a:lstStyle>
            <a:lvl1pPr>
              <a:lnSpc>
                <a:spcPct val="125000"/>
              </a:lnSpc>
              <a:defRPr sz="2400">
                <a:latin typeface="Avenir Roman"/>
                <a:ea typeface="Avenir Roman"/>
                <a:cs typeface="Avenir Roman"/>
                <a:sym typeface="Avenir Roman"/>
              </a:defRPr>
            </a:lvl1pPr>
          </a:lstStyle>
          <a:p>
            <a:pPr/>
            <a:r>
              <a:t>The flow of migrants out of China and India was directed to the tea plantations of Ceylon or the rubber plantations of Malaysia. And British capital, Brazilian-stock rubber plants, and labor imported from China to Malaya could and did put heavy downward pressure on the wages in Brazil of people who did not know there was such a place as Malaya.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0" name="Shape 460"/>
          <p:cNvSpPr/>
          <p:nvPr>
            <p:ph type="sldImg"/>
          </p:nvPr>
        </p:nvSpPr>
        <p:spPr>
          <a:prstGeom prst="rect">
            <a:avLst/>
          </a:prstGeom>
        </p:spPr>
        <p:txBody>
          <a:bodyPr/>
          <a:lstStyle/>
          <a:p>
            <a:pPr/>
          </a:p>
        </p:txBody>
      </p:sp>
      <p:sp>
        <p:nvSpPr>
          <p:cNvPr id="461" name="Shape 461"/>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Stable market-promoting government; building railroads, canals and ports; chartering banks for commerce and investment; establishing mass education; and imposing tariffs on those manufactured imports that would in the short-run crowd out production and thus the creation of the communities of engineering practice in those modern industries in which long-run comparative advantage lay—those were what Robert Allen and others have judged to have been the essentials for stepping on to the escalator of prosperity that was post-1970 modern economic growth.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But for the colonized in Asia and Africa before World War II that was not a possibility: they could not do that. Their colonial masters had little interest in and provided no support for such policies. And the competition that their natural resource products and their workers faced from the products and workers or extremely low-wage India and China crippled the wealth of a middle class that might otherwise have provided demand to spur industry, and made globalization more the foe than the friend of economic development.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How about Latin America, which had achieved independence from Spain and Portugal early in the 1800s? How did they do before World War II? Mexico, Columbia, Peru, Brazil, and the others suffered, by and large, from what one might call internal colonialists: a landed elite privileged by property ownership and Iberian descent that feared an educated proletariat, loved foreign-made manufactures, and had Iberian-derived legal systems that did not mesh well with the needs of commerce and industry.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Do not get me wrong: outside of the global north the world was far richer in 1950 than it had been in 1800, and richer by a substantial margin. If the center-of-gravity of what now is the global south was at a living standard of $2 a day in 1800s and $2.25 by 1870, it was about $3.50 by 1913. But, dragged down by China in war and revolution and by an India that had been heavily hit by the disruptions of trade that came with the Great Depression and then war, it was still about $3.50 by 1950. But there were a number of economies that seemed to be taking advantage of opportunities: Japan had already joined the industrial powers. Those parts of Latin America that escaped internal colonization by landed and bureaucratic elites were looked to be catching up: Chile, Argentina, Uruguay, and southern Brazil still looked more like a cross between an Australia and an Italy than like the externally or internally colonized. Venezuela had its oil boom. Cuba and Costa Rica showed signs of escape. Iran, Iraq, Lebanon, Egypt, Morocco, and Algeria; South Africa, Kenya, Zambia, Ghana, and Nigeria; Mexico and Peru all formed a global middle stratum.</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But the gap between global north and global south had grown: from 2.5 to 1 in 1800 to 4 to 1 in 1870 and 1913, and to 7 to 1 by 1950.</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lnSpc>
                <a:spcPct val="80000"/>
              </a:lnSpc>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lnSpc>
                <a:spcPct val="80000"/>
              </a:lnSpc>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lnSpc>
                <a:spcPct val="80000"/>
              </a:lnSpc>
              <a:defRPr spc="-232" sz="11600">
                <a:solidFill>
                  <a:srgbClr val="000000"/>
                </a:solidFill>
              </a:defRPr>
            </a:lvl1pPr>
          </a:lstStyle>
          <a:p>
            <a:pPr/>
            <a:r>
              <a:t>Section Title</a:t>
            </a:r>
          </a:p>
        </p:txBody>
      </p:sp>
      <p:sp>
        <p:nvSpPr>
          <p:cNvPr id="72"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spcBef>
                <a:spcPts val="1800"/>
              </a:spcBef>
              <a:buSzTx/>
              <a:buNone/>
              <a:defRPr spc="-55" sz="5500">
                <a:uFillTx/>
                <a:latin typeface="+mn-lt"/>
                <a:ea typeface="+mn-ea"/>
                <a:cs typeface="+mn-cs"/>
                <a:sym typeface="Helvetica"/>
              </a:defRPr>
            </a:lvl1pPr>
            <a:lvl2pPr marL="0" indent="457200" defTabSz="825500">
              <a:spcBef>
                <a:spcPts val="1800"/>
              </a:spcBef>
              <a:buSzTx/>
              <a:buNone/>
              <a:defRPr spc="-55" sz="5500">
                <a:uFillTx/>
                <a:latin typeface="+mn-lt"/>
                <a:ea typeface="+mn-ea"/>
                <a:cs typeface="+mn-cs"/>
                <a:sym typeface="Helvetica"/>
              </a:defRPr>
            </a:lvl2pPr>
            <a:lvl3pPr marL="0" indent="914400" defTabSz="825500">
              <a:spcBef>
                <a:spcPts val="1800"/>
              </a:spcBef>
              <a:buSzTx/>
              <a:buNone/>
              <a:defRPr spc="-55" sz="5500">
                <a:uFillTx/>
                <a:latin typeface="+mn-lt"/>
                <a:ea typeface="+mn-ea"/>
                <a:cs typeface="+mn-cs"/>
                <a:sym typeface="Helvetica"/>
              </a:defRPr>
            </a:lvl3pPr>
            <a:lvl4pPr marL="0" indent="1371600" defTabSz="825500">
              <a:spcBef>
                <a:spcPts val="1800"/>
              </a:spcBef>
              <a:buSzTx/>
              <a:buNone/>
              <a:defRPr spc="-55" sz="5500">
                <a:uFillTx/>
                <a:latin typeface="+mn-lt"/>
                <a:ea typeface="+mn-ea"/>
                <a:cs typeface="+mn-cs"/>
                <a:sym typeface="Helvetica"/>
              </a:defRPr>
            </a:lvl4pPr>
            <a:lvl5pPr marL="0" indent="1828800" defTabSz="825500">
              <a:spcBef>
                <a:spcPts val="1800"/>
              </a:spcBef>
              <a:buSzTx/>
              <a:buNone/>
              <a:defRPr spc="-55" sz="5500">
                <a:uFillTx/>
                <a:latin typeface="+mn-lt"/>
                <a:ea typeface="+mn-ea"/>
                <a:cs typeface="+mn-cs"/>
                <a:sym typeface="Helvetica"/>
              </a:defRPr>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defTabSz="2438338">
              <a:lnSpc>
                <a:spcPct val="80000"/>
              </a:lnSpc>
              <a:buSzTx/>
              <a:buNone/>
              <a:defRPr b="1" spc="-232" sz="11600">
                <a:uFillTx/>
                <a:latin typeface="+mn-lt"/>
                <a:ea typeface="+mn-ea"/>
                <a:cs typeface="+mn-cs"/>
                <a:sym typeface="Helvetica"/>
              </a:defRPr>
            </a:lvl1pPr>
            <a:lvl2pPr marL="0" indent="457200" algn="ctr" defTabSz="2438338">
              <a:lnSpc>
                <a:spcPct val="80000"/>
              </a:lnSpc>
              <a:buSzTx/>
              <a:buNone/>
              <a:defRPr b="1" spc="-232" sz="11600">
                <a:uFillTx/>
                <a:latin typeface="+mn-lt"/>
                <a:ea typeface="+mn-ea"/>
                <a:cs typeface="+mn-cs"/>
                <a:sym typeface="Helvetica"/>
              </a:defRPr>
            </a:lvl2pPr>
            <a:lvl3pPr marL="0" indent="914400" algn="ctr" defTabSz="2438338">
              <a:lnSpc>
                <a:spcPct val="80000"/>
              </a:lnSpc>
              <a:buSzTx/>
              <a:buNone/>
              <a:defRPr b="1" spc="-232" sz="11600">
                <a:uFillTx/>
                <a:latin typeface="+mn-lt"/>
                <a:ea typeface="+mn-ea"/>
                <a:cs typeface="+mn-cs"/>
                <a:sym typeface="Helvetica"/>
              </a:defRPr>
            </a:lvl3pPr>
            <a:lvl4pPr marL="0" indent="1371600" algn="ctr" defTabSz="2438338">
              <a:lnSpc>
                <a:spcPct val="80000"/>
              </a:lnSpc>
              <a:buSzTx/>
              <a:buNone/>
              <a:defRPr b="1" spc="-232" sz="11600">
                <a:uFillTx/>
                <a:latin typeface="+mn-lt"/>
                <a:ea typeface="+mn-ea"/>
                <a:cs typeface="+mn-cs"/>
                <a:sym typeface="Helvetica"/>
              </a:defRPr>
            </a:lvl4pPr>
            <a:lvl5pPr marL="0" indent="1828800" algn="ctr" defTabSz="2438338">
              <a:lnSpc>
                <a:spcPct val="80000"/>
              </a:lnSpc>
              <a:buSzTx/>
              <a:buNone/>
              <a:defRPr b="1" spc="-232" sz="11600">
                <a:uFillTx/>
                <a:latin typeface="+mn-lt"/>
                <a:ea typeface="+mn-ea"/>
                <a:cs typeface="+mn-cs"/>
                <a:sym typeface="Helvetica"/>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defTabSz="2438338">
              <a:lnSpc>
                <a:spcPct val="80000"/>
              </a:lnSpc>
              <a:buSzTx/>
              <a:buNone/>
              <a:defRPr b="1" spc="-250" sz="25000">
                <a:uFillTx/>
                <a:latin typeface="+mn-lt"/>
                <a:ea typeface="+mn-ea"/>
                <a:cs typeface="+mn-cs"/>
                <a:sym typeface="Helvetica"/>
              </a:defRPr>
            </a:lvl1pPr>
            <a:lvl2pPr marL="0" indent="457200" algn="ctr" defTabSz="2438338">
              <a:lnSpc>
                <a:spcPct val="80000"/>
              </a:lnSpc>
              <a:buSzTx/>
              <a:buNone/>
              <a:defRPr b="1" spc="-250" sz="25000">
                <a:uFillTx/>
                <a:latin typeface="+mn-lt"/>
                <a:ea typeface="+mn-ea"/>
                <a:cs typeface="+mn-cs"/>
                <a:sym typeface="Helvetica"/>
              </a:defRPr>
            </a:lvl2pPr>
            <a:lvl3pPr marL="0" indent="914400" algn="ctr" defTabSz="2438338">
              <a:lnSpc>
                <a:spcPct val="80000"/>
              </a:lnSpc>
              <a:buSzTx/>
              <a:buNone/>
              <a:defRPr b="1" spc="-250" sz="25000">
                <a:uFillTx/>
                <a:latin typeface="+mn-lt"/>
                <a:ea typeface="+mn-ea"/>
                <a:cs typeface="+mn-cs"/>
                <a:sym typeface="Helvetica"/>
              </a:defRPr>
            </a:lvl3pPr>
            <a:lvl4pPr marL="0" indent="1371600" algn="ctr" defTabSz="2438338">
              <a:lnSpc>
                <a:spcPct val="80000"/>
              </a:lnSpc>
              <a:buSzTx/>
              <a:buNone/>
              <a:defRPr b="1" spc="-250" sz="25000">
                <a:uFillTx/>
                <a:latin typeface="+mn-lt"/>
                <a:ea typeface="+mn-ea"/>
                <a:cs typeface="+mn-cs"/>
                <a:sym typeface="Helvetica"/>
              </a:defRPr>
            </a:lvl4pPr>
            <a:lvl5pPr marL="0" indent="1828800" algn="ctr" defTabSz="2438338">
              <a:lnSpc>
                <a:spcPct val="80000"/>
              </a:lnSpc>
              <a:buSzTx/>
              <a:buNone/>
              <a:defRPr b="1" spc="-250" sz="25000">
                <a:uFillTx/>
                <a:latin typeface="+mn-lt"/>
                <a:ea typeface="+mn-ea"/>
                <a:cs typeface="+mn-cs"/>
                <a:sym typeface="Helvetica"/>
              </a:defRPr>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defTabSz="825500">
              <a:buSzTx/>
              <a:buNone/>
              <a:defRPr b="1" sz="2700">
                <a:solidFill>
                  <a:srgbClr val="000080"/>
                </a:solidFill>
                <a:uFillTx/>
                <a:latin typeface="+mn-lt"/>
                <a:ea typeface="+mn-ea"/>
                <a:cs typeface="+mn-cs"/>
                <a:sym typeface="Helvetica"/>
              </a:defRPr>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defTabSz="2438338">
              <a:lnSpc>
                <a:spcPct val="90000"/>
              </a:lnSpc>
              <a:buSzTx/>
              <a:buNone/>
              <a:defRPr b="1" spc="-170" sz="8500">
                <a:uFillTx/>
                <a:latin typeface="+mn-lt"/>
                <a:ea typeface="+mn-ea"/>
                <a:cs typeface="+mn-cs"/>
                <a:sym typeface="Helvetica"/>
              </a:defRPr>
            </a:lvl1pPr>
            <a:lvl2pPr marL="638923" indent="-12700" defTabSz="2438338">
              <a:lnSpc>
                <a:spcPct val="90000"/>
              </a:lnSpc>
              <a:buSzTx/>
              <a:buNone/>
              <a:defRPr b="1" spc="-170" sz="8500">
                <a:uFillTx/>
                <a:latin typeface="+mn-lt"/>
                <a:ea typeface="+mn-ea"/>
                <a:cs typeface="+mn-cs"/>
                <a:sym typeface="Helvetica"/>
              </a:defRPr>
            </a:lvl2pPr>
            <a:lvl3pPr marL="638923" indent="444500" defTabSz="2438338">
              <a:lnSpc>
                <a:spcPct val="90000"/>
              </a:lnSpc>
              <a:buSzTx/>
              <a:buNone/>
              <a:defRPr b="1" spc="-170" sz="8500">
                <a:uFillTx/>
                <a:latin typeface="+mn-lt"/>
                <a:ea typeface="+mn-ea"/>
                <a:cs typeface="+mn-cs"/>
                <a:sym typeface="Helvetica"/>
              </a:defRPr>
            </a:lvl3pPr>
            <a:lvl4pPr marL="638923" indent="901700" defTabSz="2438338">
              <a:lnSpc>
                <a:spcPct val="90000"/>
              </a:lnSpc>
              <a:buSzTx/>
              <a:buNone/>
              <a:defRPr b="1" spc="-170" sz="8500">
                <a:uFillTx/>
                <a:latin typeface="+mn-lt"/>
                <a:ea typeface="+mn-ea"/>
                <a:cs typeface="+mn-cs"/>
                <a:sym typeface="Helvetica"/>
              </a:defRPr>
            </a:lvl4pPr>
            <a:lvl5pPr marL="638923" indent="1358900" defTabSz="2438338">
              <a:lnSpc>
                <a:spcPct val="90000"/>
              </a:lnSpc>
              <a:buSzTx/>
              <a:buNone/>
              <a:defRPr b="1" spc="-170" sz="8500">
                <a:uFillTx/>
                <a:latin typeface="+mn-lt"/>
                <a:ea typeface="+mn-ea"/>
                <a:cs typeface="+mn-cs"/>
                <a:sym typeface="Helvetica"/>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spcBef>
                <a:spcPts val="1600"/>
              </a:spcBef>
              <a:buSzPct val="75000"/>
              <a:defRPr sz="4800">
                <a:uFillTx/>
                <a:latin typeface="+mn-lt"/>
                <a:ea typeface="+mn-ea"/>
                <a:cs typeface="+mn-cs"/>
                <a:sym typeface="Helvetica"/>
              </a:defRPr>
            </a:lvl1pPr>
            <a:lvl2pPr marL="1037164" indent="-592664" defTabSz="583286">
              <a:spcBef>
                <a:spcPts val="1600"/>
              </a:spcBef>
              <a:buSzPct val="75000"/>
              <a:defRPr sz="4800">
                <a:uFillTx/>
                <a:latin typeface="+mn-lt"/>
                <a:ea typeface="+mn-ea"/>
                <a:cs typeface="+mn-cs"/>
                <a:sym typeface="Helvetica"/>
              </a:defRPr>
            </a:lvl2pPr>
            <a:lvl3pPr marL="1481664" indent="-592664" defTabSz="583286">
              <a:spcBef>
                <a:spcPts val="1600"/>
              </a:spcBef>
              <a:buSzPct val="75000"/>
              <a:defRPr sz="4800">
                <a:uFillTx/>
                <a:latin typeface="+mn-lt"/>
                <a:ea typeface="+mn-ea"/>
                <a:cs typeface="+mn-cs"/>
                <a:sym typeface="Helvetica"/>
              </a:defRPr>
            </a:lvl3pPr>
            <a:lvl4pPr marL="1926164" indent="-592664" defTabSz="583286">
              <a:spcBef>
                <a:spcPts val="1600"/>
              </a:spcBef>
              <a:buSzPct val="75000"/>
              <a:defRPr sz="4800">
                <a:uFillTx/>
                <a:latin typeface="+mn-lt"/>
                <a:ea typeface="+mn-ea"/>
                <a:cs typeface="+mn-cs"/>
                <a:sym typeface="Helvetica"/>
              </a:defRPr>
            </a:lvl4pPr>
            <a:lvl5pPr marL="2370664" indent="-592664" defTabSz="583286">
              <a:spcBef>
                <a:spcPts val="1600"/>
              </a:spcBef>
              <a:buSzPct val="75000"/>
              <a:defRPr sz="48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defRPr spc="0" sz="16000">
                <a:solidFill>
                  <a:srgbClr val="000080"/>
                </a:solidFill>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spcBef>
                <a:spcPts val="5800"/>
              </a:spcBef>
              <a:buSzPct val="75000"/>
              <a:defRPr sz="4400">
                <a:uFillTx/>
                <a:latin typeface="Helvetica Light"/>
                <a:ea typeface="Helvetica Light"/>
                <a:cs typeface="Helvetica Light"/>
                <a:sym typeface="Helvetica Light"/>
              </a:defRPr>
            </a:lvl1pPr>
            <a:lvl2pPr marL="987776" indent="-543276" defTabSz="821529">
              <a:spcBef>
                <a:spcPts val="5800"/>
              </a:spcBef>
              <a:buSzPct val="75000"/>
              <a:defRPr sz="4400">
                <a:uFillTx/>
                <a:latin typeface="Helvetica Light"/>
                <a:ea typeface="Helvetica Light"/>
                <a:cs typeface="Helvetica Light"/>
                <a:sym typeface="Helvetica Light"/>
              </a:defRPr>
            </a:lvl2pPr>
            <a:lvl3pPr marL="1432275" indent="-543275" defTabSz="821529">
              <a:spcBef>
                <a:spcPts val="5800"/>
              </a:spcBef>
              <a:buSzPct val="75000"/>
              <a:defRPr sz="4400">
                <a:uFillTx/>
                <a:latin typeface="Helvetica Light"/>
                <a:ea typeface="Helvetica Light"/>
                <a:cs typeface="Helvetica Light"/>
                <a:sym typeface="Helvetica Light"/>
              </a:defRPr>
            </a:lvl3pPr>
            <a:lvl4pPr marL="1876775" indent="-543275" defTabSz="821529">
              <a:spcBef>
                <a:spcPts val="5800"/>
              </a:spcBef>
              <a:buSzPct val="75000"/>
              <a:defRPr sz="4400">
                <a:uFillTx/>
                <a:latin typeface="Helvetica Light"/>
                <a:ea typeface="Helvetica Light"/>
                <a:cs typeface="Helvetica Light"/>
                <a:sym typeface="Helvetica Light"/>
              </a:defRPr>
            </a:lvl4pPr>
            <a:lvl5pPr marL="2321276" indent="-543276" defTabSz="821529">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defRPr spc="0" sz="11200">
                <a:solidFill>
                  <a:srgbClr val="000080"/>
                </a:solidFill>
                <a:uFill>
                  <a:solidFill>
                    <a:srgbClr val="000000"/>
                  </a:solidFill>
                </a:uFill>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spcBef>
                <a:spcPts val="5800"/>
              </a:spcBef>
              <a:buSzPct val="75000"/>
              <a:defRPr sz="4400">
                <a:uFillTx/>
                <a:latin typeface="Helvetica Light"/>
                <a:ea typeface="Helvetica Light"/>
                <a:cs typeface="Helvetica Light"/>
                <a:sym typeface="Helvetica Light"/>
              </a:defRPr>
            </a:lvl1pPr>
            <a:lvl2pPr marL="987776" indent="-543276" defTabSz="821529">
              <a:spcBef>
                <a:spcPts val="5800"/>
              </a:spcBef>
              <a:buSzPct val="75000"/>
              <a:defRPr sz="4400">
                <a:uFillTx/>
                <a:latin typeface="Helvetica Light"/>
                <a:ea typeface="Helvetica Light"/>
                <a:cs typeface="Helvetica Light"/>
                <a:sym typeface="Helvetica Light"/>
              </a:defRPr>
            </a:lvl2pPr>
            <a:lvl3pPr marL="1432275" indent="-543275" defTabSz="821529">
              <a:spcBef>
                <a:spcPts val="5800"/>
              </a:spcBef>
              <a:buSzPct val="75000"/>
              <a:defRPr sz="4400">
                <a:uFillTx/>
                <a:latin typeface="Helvetica Light"/>
                <a:ea typeface="Helvetica Light"/>
                <a:cs typeface="Helvetica Light"/>
                <a:sym typeface="Helvetica Light"/>
              </a:defRPr>
            </a:lvl3pPr>
            <a:lvl4pPr marL="1876775" indent="-543275" defTabSz="821529">
              <a:spcBef>
                <a:spcPts val="5800"/>
              </a:spcBef>
              <a:buSzPct val="75000"/>
              <a:defRPr sz="4400">
                <a:uFillTx/>
                <a:latin typeface="Helvetica Light"/>
                <a:ea typeface="Helvetica Light"/>
                <a:cs typeface="Helvetica Light"/>
                <a:sym typeface="Helvetica Light"/>
              </a:defRPr>
            </a:lvl4pPr>
            <a:lvl5pPr marL="2321276" indent="-543276" defTabSz="821529">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6000">
                <a:uFill>
                  <a:solidFill>
                    <a:srgbClr val="000000"/>
                  </a:solidFill>
                </a:uFill>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194"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defRPr b="0" spc="0" sz="8800"/>
            </a:lvl1pPr>
          </a:lstStyle>
          <a:p>
            <a:pPr/>
            <a:r>
              <a:t>Title Text</a:t>
            </a:r>
          </a:p>
        </p:txBody>
      </p:sp>
      <p:sp>
        <p:nvSpPr>
          <p:cNvPr id="195" name="Body Level One…"/>
          <p:cNvSpPr txBox="1"/>
          <p:nvPr>
            <p:ph type="body" idx="1"/>
          </p:nvPr>
        </p:nvSpPr>
        <p:spPr>
          <a:xfrm>
            <a:off x="3962400" y="3200400"/>
            <a:ext cx="16459200" cy="9051926"/>
          </a:xfrm>
          <a:prstGeom prst="rect">
            <a:avLst/>
          </a:prstGeom>
        </p:spPr>
        <p:txBody>
          <a:bodyPr lIns="91439" tIns="91439" rIns="91439" bIns="91439"/>
          <a:lstStyle>
            <a:lvl1pPr marL="685800" indent="-685800" defTabSz="1828800">
              <a:spcBef>
                <a:spcPts val="1500"/>
              </a:spcBef>
              <a:buSzPct val="100000"/>
              <a:buFont typeface="Helvetica"/>
              <a:defRPr sz="6400">
                <a:uFillTx/>
                <a:latin typeface="+mn-lt"/>
                <a:ea typeface="+mn-ea"/>
                <a:cs typeface="+mn-cs"/>
                <a:sym typeface="Helvetica"/>
              </a:defRPr>
            </a:lvl1pPr>
            <a:lvl2pPr marL="1110342" indent="-653142" defTabSz="1828800">
              <a:spcBef>
                <a:spcPts val="1500"/>
              </a:spcBef>
              <a:buSzPct val="100000"/>
              <a:buFont typeface="Helvetica"/>
              <a:buChar char="–"/>
              <a:defRPr sz="6400">
                <a:uFillTx/>
                <a:latin typeface="+mn-lt"/>
                <a:ea typeface="+mn-ea"/>
                <a:cs typeface="+mn-cs"/>
                <a:sym typeface="Helvetica"/>
              </a:defRPr>
            </a:lvl2pPr>
            <a:lvl3pPr marL="1524000" indent="-609600" defTabSz="1828800">
              <a:spcBef>
                <a:spcPts val="1500"/>
              </a:spcBef>
              <a:buSzPct val="100000"/>
              <a:buFont typeface="Helvetica"/>
              <a:defRPr sz="6400">
                <a:uFillTx/>
                <a:latin typeface="+mn-lt"/>
                <a:ea typeface="+mn-ea"/>
                <a:cs typeface="+mn-cs"/>
                <a:sym typeface="Helvetica"/>
              </a:defRPr>
            </a:lvl3pPr>
            <a:lvl4pPr marL="2103120" indent="-731520" defTabSz="1828800">
              <a:spcBef>
                <a:spcPts val="1500"/>
              </a:spcBef>
              <a:buSzPct val="100000"/>
              <a:buFont typeface="Helvetica"/>
              <a:buChar char="–"/>
              <a:defRPr sz="6400">
                <a:uFillTx/>
                <a:latin typeface="+mn-lt"/>
                <a:ea typeface="+mn-ea"/>
                <a:cs typeface="+mn-cs"/>
                <a:sym typeface="Helvetica"/>
              </a:defRPr>
            </a:lvl4pPr>
            <a:lvl5pPr marL="2560320" indent="-731520" defTabSz="1828800">
              <a:spcBef>
                <a:spcPts val="1500"/>
              </a:spcBef>
              <a:buSzPct val="100000"/>
              <a:buFont typeface="Helvetica"/>
              <a:buChar char="»"/>
              <a:defRPr sz="64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96"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203"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defRPr b="0" spc="0" sz="8800"/>
            </a:lvl1pPr>
          </a:lstStyle>
          <a:p>
            <a:pPr/>
            <a:r>
              <a:t>Title Text</a:t>
            </a:r>
          </a:p>
        </p:txBody>
      </p:sp>
      <p:sp>
        <p:nvSpPr>
          <p:cNvPr id="204" name="Body Level One…"/>
          <p:cNvSpPr txBox="1"/>
          <p:nvPr>
            <p:ph type="body" sz="half" idx="1"/>
          </p:nvPr>
        </p:nvSpPr>
        <p:spPr>
          <a:xfrm>
            <a:off x="3962400" y="3200400"/>
            <a:ext cx="8077200" cy="9051926"/>
          </a:xfrm>
          <a:prstGeom prst="rect">
            <a:avLst/>
          </a:prstGeom>
        </p:spPr>
        <p:txBody>
          <a:bodyPr lIns="91439" tIns="91439" rIns="91439" bIns="91439"/>
          <a:lstStyle>
            <a:lvl1pPr marL="685800" indent="-685800" defTabSz="1828800">
              <a:spcBef>
                <a:spcPts val="1300"/>
              </a:spcBef>
              <a:buSzPct val="100000"/>
              <a:buFont typeface="Helvetica"/>
              <a:defRPr sz="5600">
                <a:uFillTx/>
                <a:latin typeface="+mn-lt"/>
                <a:ea typeface="+mn-ea"/>
                <a:cs typeface="+mn-cs"/>
                <a:sym typeface="Helvetica"/>
              </a:defRPr>
            </a:lvl1pPr>
            <a:lvl2pPr marL="1123950" indent="-666750" defTabSz="1828800">
              <a:spcBef>
                <a:spcPts val="1300"/>
              </a:spcBef>
              <a:buSzPct val="100000"/>
              <a:buFont typeface="Helvetica"/>
              <a:buChar char="–"/>
              <a:defRPr sz="5600">
                <a:uFillTx/>
                <a:latin typeface="+mn-lt"/>
                <a:ea typeface="+mn-ea"/>
                <a:cs typeface="+mn-cs"/>
                <a:sym typeface="Helvetica"/>
              </a:defRPr>
            </a:lvl2pPr>
            <a:lvl3pPr marL="1554479" indent="-640079" defTabSz="1828800">
              <a:spcBef>
                <a:spcPts val="1300"/>
              </a:spcBef>
              <a:buSzPct val="100000"/>
              <a:buFont typeface="Helvetica"/>
              <a:defRPr sz="5600">
                <a:uFillTx/>
                <a:latin typeface="+mn-lt"/>
                <a:ea typeface="+mn-ea"/>
                <a:cs typeface="+mn-cs"/>
                <a:sym typeface="Helvetica"/>
              </a:defRPr>
            </a:lvl3pPr>
            <a:lvl4pPr indent="-711200" defTabSz="1828800">
              <a:spcBef>
                <a:spcPts val="1300"/>
              </a:spcBef>
              <a:buSzPct val="100000"/>
              <a:buFont typeface="Helvetica"/>
              <a:buChar char="–"/>
              <a:defRPr sz="5600">
                <a:uFillTx/>
                <a:latin typeface="+mn-lt"/>
                <a:ea typeface="+mn-ea"/>
                <a:cs typeface="+mn-cs"/>
                <a:sym typeface="Helvetica"/>
              </a:defRPr>
            </a:lvl4pPr>
            <a:lvl5pPr marL="2540000" indent="-711200" defTabSz="1828800">
              <a:spcBef>
                <a:spcPts val="1300"/>
              </a:spcBef>
              <a:buSzPct val="100000"/>
              <a:buFont typeface="Helvetica"/>
              <a:buChar char="»"/>
              <a:defRPr sz="56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205"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212" name="Title Text"/>
          <p:cNvSpPr txBox="1"/>
          <p:nvPr>
            <p:ph type="title"/>
          </p:nvPr>
        </p:nvSpPr>
        <p:spPr>
          <a:xfrm>
            <a:off x="4419600" y="4260850"/>
            <a:ext cx="15544800" cy="2940050"/>
          </a:xfrm>
          <a:prstGeom prst="rect">
            <a:avLst/>
          </a:prstGeom>
        </p:spPr>
        <p:txBody>
          <a:bodyPr lIns="91439" tIns="91439" rIns="91439" bIns="91439" anchor="ctr"/>
          <a:lstStyle>
            <a:lvl1pPr algn="ctr" defTabSz="1828800">
              <a:defRPr b="0" spc="0" sz="8800"/>
            </a:lvl1pPr>
          </a:lstStyle>
          <a:p>
            <a:pPr/>
            <a:r>
              <a:t>Title Text</a:t>
            </a:r>
          </a:p>
        </p:txBody>
      </p:sp>
      <p:sp>
        <p:nvSpPr>
          <p:cNvPr id="213" name="Body Level One…"/>
          <p:cNvSpPr txBox="1"/>
          <p:nvPr>
            <p:ph type="body" sz="quarter" idx="1"/>
          </p:nvPr>
        </p:nvSpPr>
        <p:spPr>
          <a:xfrm>
            <a:off x="5791200" y="7772400"/>
            <a:ext cx="12801600" cy="3505200"/>
          </a:xfrm>
          <a:prstGeom prst="rect">
            <a:avLst/>
          </a:prstGeom>
        </p:spPr>
        <p:txBody>
          <a:bodyPr lIns="91439" tIns="91439" rIns="91439" bIns="91439"/>
          <a:lstStyle>
            <a:lvl1pPr marL="0" indent="0" algn="ctr" defTabSz="1828800">
              <a:spcBef>
                <a:spcPts val="1500"/>
              </a:spcBef>
              <a:buSzTx/>
              <a:buNone/>
              <a:defRPr sz="6400">
                <a:solidFill>
                  <a:srgbClr val="888888"/>
                </a:solidFill>
              </a:defRPr>
            </a:lvl1pPr>
            <a:lvl2pPr marL="0" indent="457200" algn="ctr" defTabSz="1828800">
              <a:spcBef>
                <a:spcPts val="1500"/>
              </a:spcBef>
              <a:buSzTx/>
              <a:buNone/>
              <a:defRPr sz="6400">
                <a:solidFill>
                  <a:srgbClr val="888888"/>
                </a:solidFill>
              </a:defRPr>
            </a:lvl2pPr>
            <a:lvl3pPr marL="0" indent="914400" algn="ctr" defTabSz="1828800">
              <a:spcBef>
                <a:spcPts val="1500"/>
              </a:spcBef>
              <a:buSzTx/>
              <a:buNone/>
              <a:defRPr sz="6400">
                <a:solidFill>
                  <a:srgbClr val="888888"/>
                </a:solidFill>
              </a:defRPr>
            </a:lvl3pPr>
            <a:lvl4pPr marL="0" indent="1371600" algn="ctr" defTabSz="1828800">
              <a:spcBef>
                <a:spcPts val="1500"/>
              </a:spcBef>
              <a:buSzTx/>
              <a:buNone/>
              <a:defRPr sz="6400">
                <a:solidFill>
                  <a:srgbClr val="888888"/>
                </a:solidFill>
              </a:defRPr>
            </a:lvl4pPr>
            <a:lvl5pPr marL="0" indent="1828800" algn="ctr" defTabSz="1828800">
              <a:spcBef>
                <a:spcPts val="1500"/>
              </a:spcBef>
              <a:buSzTx/>
              <a:buNone/>
              <a:defRPr sz="6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14"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21"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1200">
                <a:solidFill>
                  <a:srgbClr val="000080"/>
                </a:solidFill>
                <a:uFill>
                  <a:solidFill>
                    <a:srgbClr val="000000"/>
                  </a:solidFill>
                </a:uFill>
              </a:defRPr>
            </a:lvl1pPr>
          </a:lstStyle>
          <a:p>
            <a:pPr/>
            <a:r>
              <a:t>Title Text</a:t>
            </a:r>
          </a:p>
        </p:txBody>
      </p:sp>
      <p:sp>
        <p:nvSpPr>
          <p:cNvPr id="222"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23"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0" name="Title Text"/>
          <p:cNvSpPr txBox="1"/>
          <p:nvPr>
            <p:ph type="title"/>
          </p:nvPr>
        </p:nvSpPr>
        <p:spPr>
          <a:xfrm>
            <a:off x="4387450" y="625074"/>
            <a:ext cx="15609099" cy="3036100"/>
          </a:xfrm>
          <a:prstGeom prst="rect">
            <a:avLst/>
          </a:prstGeom>
        </p:spPr>
        <p:txBody>
          <a:bodyPr lIns="71433" tIns="71433" rIns="71433" bIns="71433" anchor="ctr"/>
          <a:lstStyle>
            <a:lvl1pPr algn="ctr" defTabSz="821527">
              <a:defRPr b="0" spc="0" sz="10800">
                <a:latin typeface="Helvetica Light"/>
                <a:ea typeface="Helvetica Light"/>
                <a:cs typeface="Helvetica Light"/>
                <a:sym typeface="Helvetica Light"/>
              </a:defRPr>
            </a:lvl1pPr>
          </a:lstStyle>
          <a:p>
            <a:pPr/>
            <a:r>
              <a:t>Title Text</a:t>
            </a:r>
          </a:p>
        </p:txBody>
      </p:sp>
      <p:sp>
        <p:nvSpPr>
          <p:cNvPr id="231" name="Body Level One…"/>
          <p:cNvSpPr txBox="1"/>
          <p:nvPr>
            <p:ph type="body" idx="1"/>
          </p:nvPr>
        </p:nvSpPr>
        <p:spPr>
          <a:xfrm>
            <a:off x="4387450" y="3661167"/>
            <a:ext cx="15609099" cy="8840398"/>
          </a:xfrm>
          <a:prstGeom prst="rect">
            <a:avLst/>
          </a:prstGeom>
        </p:spPr>
        <p:txBody>
          <a:bodyPr lIns="71433" tIns="71433" rIns="71433" bIns="71433" anchor="ctr"/>
          <a:lstStyle>
            <a:lvl1pPr marL="543274" indent="-543274" defTabSz="821527">
              <a:spcBef>
                <a:spcPts val="5800"/>
              </a:spcBef>
              <a:buSzPct val="75000"/>
              <a:defRPr sz="4400">
                <a:uFillTx/>
                <a:latin typeface="Helvetica Light"/>
                <a:ea typeface="Helvetica Light"/>
                <a:cs typeface="Helvetica Light"/>
                <a:sym typeface="Helvetica Light"/>
              </a:defRPr>
            </a:lvl1pPr>
            <a:lvl2pPr marL="987776" indent="-543276" defTabSz="821527">
              <a:spcBef>
                <a:spcPts val="5800"/>
              </a:spcBef>
              <a:buSzPct val="75000"/>
              <a:defRPr sz="4400">
                <a:uFillTx/>
                <a:latin typeface="Helvetica Light"/>
                <a:ea typeface="Helvetica Light"/>
                <a:cs typeface="Helvetica Light"/>
                <a:sym typeface="Helvetica Light"/>
              </a:defRPr>
            </a:lvl2pPr>
            <a:lvl3pPr marL="1432274" indent="-543274" defTabSz="821527">
              <a:spcBef>
                <a:spcPts val="5800"/>
              </a:spcBef>
              <a:buSzPct val="75000"/>
              <a:defRPr sz="4400">
                <a:uFillTx/>
                <a:latin typeface="Helvetica Light"/>
                <a:ea typeface="Helvetica Light"/>
                <a:cs typeface="Helvetica Light"/>
                <a:sym typeface="Helvetica Light"/>
              </a:defRPr>
            </a:lvl3pPr>
            <a:lvl4pPr marL="1876774" indent="-543274" defTabSz="821527">
              <a:spcBef>
                <a:spcPts val="5800"/>
              </a:spcBef>
              <a:buSzPct val="75000"/>
              <a:defRPr sz="4400">
                <a:uFillTx/>
                <a:latin typeface="Helvetica Light"/>
                <a:ea typeface="Helvetica Light"/>
                <a:cs typeface="Helvetica Light"/>
                <a:sym typeface="Helvetica Light"/>
              </a:defRPr>
            </a:lvl4pPr>
            <a:lvl5pPr marL="2321276" indent="-543276" defTabSz="821527">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32" name="Slide Number"/>
          <p:cNvSpPr txBox="1"/>
          <p:nvPr>
            <p:ph type="sldNum" sz="quarter" idx="2"/>
          </p:nvPr>
        </p:nvSpPr>
        <p:spPr>
          <a:xfrm>
            <a:off x="11949939" y="13010554"/>
            <a:ext cx="466261" cy="473069"/>
          </a:xfrm>
          <a:prstGeom prst="rect">
            <a:avLst/>
          </a:prstGeom>
        </p:spPr>
        <p:txBody>
          <a:bodyPr lIns="71433" tIns="71433" rIns="71433" bIns="71433" anchor="t"/>
          <a:lstStyle>
            <a:lvl1pPr defTabSz="821527">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9" name="Title Text"/>
          <p:cNvSpPr txBox="1"/>
          <p:nvPr>
            <p:ph type="title"/>
          </p:nvPr>
        </p:nvSpPr>
        <p:spPr>
          <a:xfrm>
            <a:off x="4387450" y="625075"/>
            <a:ext cx="15609099" cy="3036098"/>
          </a:xfrm>
          <a:prstGeom prst="rect">
            <a:avLst/>
          </a:prstGeom>
        </p:spPr>
        <p:txBody>
          <a:bodyPr lIns="71433" tIns="71433" rIns="71433" bIns="71433" anchor="ctr"/>
          <a:lstStyle>
            <a:lvl1pPr algn="ctr" defTabSz="821527">
              <a:defRPr spc="0" sz="11200"/>
            </a:lvl1pPr>
          </a:lstStyle>
          <a:p>
            <a:pPr/>
            <a:r>
              <a:t>Title Text</a:t>
            </a:r>
          </a:p>
        </p:txBody>
      </p:sp>
      <p:sp>
        <p:nvSpPr>
          <p:cNvPr id="240"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41"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48" name="Slide Title"/>
          <p:cNvSpPr txBox="1"/>
          <p:nvPr>
            <p:ph type="title" hasCustomPrompt="1"/>
          </p:nvPr>
        </p:nvSpPr>
        <p:spPr>
          <a:prstGeom prst="rect">
            <a:avLst/>
          </a:prstGeom>
        </p:spPr>
        <p:txBody>
          <a:bodyPr/>
          <a:lstStyle>
            <a:lvl1pPr>
              <a:defRPr>
                <a:latin typeface="Helvetica Neue"/>
                <a:ea typeface="Helvetica Neue"/>
                <a:cs typeface="Helvetica Neue"/>
                <a:sym typeface="Helvetica Neue"/>
              </a:defRPr>
            </a:lvl1pPr>
          </a:lstStyle>
          <a:p>
            <a:pPr/>
            <a:r>
              <a:t>Slide Title</a:t>
            </a:r>
          </a:p>
        </p:txBody>
      </p:sp>
      <p:sp>
        <p:nvSpPr>
          <p:cNvPr id="24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Helvetica Neue"/>
                <a:ea typeface="Helvetica Neue"/>
                <a:cs typeface="Helvetica Neue"/>
                <a:sym typeface="Helvetica Neue"/>
              </a:defRPr>
            </a:lvl1pPr>
          </a:lstStyle>
          <a:p>
            <a:pPr/>
            <a:r>
              <a:t>Slide Subtitle</a:t>
            </a:r>
          </a:p>
        </p:txBody>
      </p:sp>
      <p:sp>
        <p:nvSpPr>
          <p:cNvPr id="250" name="Body Level One…"/>
          <p:cNvSpPr txBox="1"/>
          <p:nvPr>
            <p:ph type="body" idx="1" hasCustomPrompt="1"/>
          </p:nvPr>
        </p:nvSpPr>
        <p:spPr>
          <a:prstGeom prst="rect">
            <a:avLst/>
          </a:prstGeom>
        </p:spPr>
        <p:txBody>
          <a:bodyPr/>
          <a:lstStyle>
            <a:lvl1pPr>
              <a:defRPr>
                <a:latin typeface="Helvetica Neue"/>
                <a:ea typeface="Helvetica Neue"/>
                <a:cs typeface="Helvetica Neue"/>
                <a:sym typeface="Helvetica Neue"/>
              </a:defRPr>
            </a:lvl1pPr>
            <a:lvl2pPr>
              <a:defRPr>
                <a:latin typeface="Helvetica Neue"/>
                <a:ea typeface="Helvetica Neue"/>
                <a:cs typeface="Helvetica Neue"/>
                <a:sym typeface="Helvetica Neue"/>
              </a:defRPr>
            </a:lvl2pPr>
            <a:lvl3pPr>
              <a:defRPr>
                <a:latin typeface="Helvetica Neue"/>
                <a:ea typeface="Helvetica Neue"/>
                <a:cs typeface="Helvetica Neue"/>
                <a:sym typeface="Helvetica Neue"/>
              </a:defRPr>
            </a:lvl3pPr>
            <a:lvl4pPr>
              <a:defRPr>
                <a:latin typeface="Helvetica Neue"/>
                <a:ea typeface="Helvetica Neue"/>
                <a:cs typeface="Helvetica Neue"/>
                <a:sym typeface="Helvetica Neue"/>
              </a:defRPr>
            </a:lvl4pPr>
            <a:lvl5pPr>
              <a:defRPr>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251" name="Slide Number"/>
          <p:cNvSpPr txBox="1"/>
          <p:nvPr>
            <p:ph type="sldNum" sz="quarter" idx="2"/>
          </p:nvPr>
        </p:nvSpPr>
        <p:spPr>
          <a:xfrm>
            <a:off x="12001499" y="13080999"/>
            <a:ext cx="368505" cy="374600"/>
          </a:xfrm>
          <a:prstGeom prst="rect">
            <a:avLst/>
          </a:prstGeom>
        </p:spPr>
        <p:txBody>
          <a:bodyPr/>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58" name="Slide Title"/>
          <p:cNvSpPr txBox="1"/>
          <p:nvPr>
            <p:ph type="title" hasCustomPrompt="1"/>
          </p:nvPr>
        </p:nvSpPr>
        <p:spPr>
          <a:prstGeom prst="rect">
            <a:avLst/>
          </a:prstGeom>
        </p:spPr>
        <p:txBody>
          <a:bodyPr/>
          <a:lstStyle>
            <a:lvl1pPr>
              <a:lnSpc>
                <a:spcPct val="80000"/>
              </a:lnSpc>
              <a:defRPr spc="-170" sz="8500">
                <a:solidFill>
                  <a:srgbClr val="000000"/>
                </a:solidFill>
              </a:defRPr>
            </a:lvl1pPr>
          </a:lstStyle>
          <a:p>
            <a:pPr/>
            <a:r>
              <a:t>Slide Title</a:t>
            </a:r>
          </a:p>
        </p:txBody>
      </p:sp>
      <p:sp>
        <p:nvSpPr>
          <p:cNvPr id="25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5500">
                <a:uFillTx/>
                <a:latin typeface="+mn-lt"/>
                <a:ea typeface="+mn-ea"/>
                <a:cs typeface="+mn-cs"/>
                <a:sym typeface="Helvetica"/>
              </a:defRPr>
            </a:lvl1pPr>
          </a:lstStyle>
          <a:p>
            <a:pPr/>
            <a:r>
              <a:t>Slide Subtitle</a:t>
            </a:r>
          </a:p>
        </p:txBody>
      </p:sp>
      <p:sp>
        <p:nvSpPr>
          <p:cNvPr id="260" name="Body Level One…"/>
          <p:cNvSpPr txBox="1"/>
          <p:nvPr>
            <p:ph type="body" idx="1" hasCustomPrompt="1"/>
          </p:nvPr>
        </p:nvSpPr>
        <p:spPr>
          <a:prstGeom prst="rect">
            <a:avLst/>
          </a:prstGeom>
        </p:spPr>
        <p:txBody>
          <a:bodyPr/>
          <a:lstStyle>
            <a:lvl1pPr marL="609600" indent="-609600" defTabSz="2438338">
              <a:lnSpc>
                <a:spcPct val="90000"/>
              </a:lnSpc>
              <a:spcBef>
                <a:spcPts val="4500"/>
              </a:spcBef>
              <a:defRPr sz="4800">
                <a:uFillTx/>
                <a:latin typeface="+mn-lt"/>
                <a:ea typeface="+mn-ea"/>
                <a:cs typeface="+mn-cs"/>
                <a:sym typeface="Helvetica"/>
              </a:defRPr>
            </a:lvl1pPr>
            <a:lvl2pPr marL="1219200" indent="-609600" defTabSz="2438338">
              <a:lnSpc>
                <a:spcPct val="90000"/>
              </a:lnSpc>
              <a:spcBef>
                <a:spcPts val="4500"/>
              </a:spcBef>
              <a:defRPr sz="4800">
                <a:uFillTx/>
                <a:latin typeface="+mn-lt"/>
                <a:ea typeface="+mn-ea"/>
                <a:cs typeface="+mn-cs"/>
                <a:sym typeface="Helvetica"/>
              </a:defRPr>
            </a:lvl2pPr>
            <a:lvl3pPr marL="1828800" indent="-609600" defTabSz="2438338">
              <a:lnSpc>
                <a:spcPct val="90000"/>
              </a:lnSpc>
              <a:spcBef>
                <a:spcPts val="4500"/>
              </a:spcBef>
              <a:defRPr sz="4800">
                <a:uFillTx/>
                <a:latin typeface="+mn-lt"/>
                <a:ea typeface="+mn-ea"/>
                <a:cs typeface="+mn-cs"/>
                <a:sym typeface="Helvetica"/>
              </a:defRPr>
            </a:lvl3pPr>
            <a:lvl4pPr marL="2438400" indent="-609600" defTabSz="2438338">
              <a:lnSpc>
                <a:spcPct val="90000"/>
              </a:lnSpc>
              <a:spcBef>
                <a:spcPts val="4500"/>
              </a:spcBef>
              <a:defRPr sz="4800">
                <a:uFillTx/>
                <a:latin typeface="+mn-lt"/>
                <a:ea typeface="+mn-ea"/>
                <a:cs typeface="+mn-cs"/>
                <a:sym typeface="Helvetica"/>
              </a:defRPr>
            </a:lvl4pPr>
            <a:lvl5pPr marL="3048000" indent="-609600" defTabSz="2438338">
              <a:lnSpc>
                <a:spcPct val="90000"/>
              </a:lnSpc>
              <a:spcBef>
                <a:spcPts val="4500"/>
              </a:spcBef>
              <a:defRPr sz="4800">
                <a:uFillTx/>
                <a:latin typeface="+mn-lt"/>
                <a:ea typeface="+mn-ea"/>
                <a:cs typeface="+mn-cs"/>
                <a:sym typeface="Helvetica"/>
              </a:defRPr>
            </a:lvl5pPr>
          </a:lstStyle>
          <a:p>
            <a:pPr/>
            <a:r>
              <a:t>Slide bullet text</a:t>
            </a:r>
          </a:p>
          <a:p>
            <a:pPr lvl="1"/>
            <a:r>
              <a:t/>
            </a:r>
          </a:p>
          <a:p>
            <a:pPr lvl="2"/>
            <a:r>
              <a:t/>
            </a:r>
          </a:p>
          <a:p>
            <a:pPr lvl="3"/>
            <a:r>
              <a:t/>
            </a:r>
          </a:p>
          <a:p>
            <a:pPr lvl="4"/>
            <a:r>
              <a:t/>
            </a:r>
          </a:p>
        </p:txBody>
      </p:sp>
      <p:sp>
        <p:nvSpPr>
          <p:cNvPr id="2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68" name="Title Text"/>
          <p:cNvSpPr txBox="1"/>
          <p:nvPr>
            <p:ph type="title"/>
          </p:nvPr>
        </p:nvSpPr>
        <p:spPr>
          <a:xfrm>
            <a:off x="4387451" y="625077"/>
            <a:ext cx="15609097" cy="3036095"/>
          </a:xfrm>
          <a:prstGeom prst="rect">
            <a:avLst/>
          </a:prstGeom>
        </p:spPr>
        <p:txBody>
          <a:bodyPr lIns="71435" tIns="71435" rIns="71435" bIns="71435" anchor="ctr"/>
          <a:lstStyle>
            <a:lvl1pPr algn="ctr" defTabSz="821529">
              <a:defRPr spc="0" sz="11200"/>
            </a:lvl1pPr>
          </a:lstStyle>
          <a:p>
            <a:pPr/>
            <a:r>
              <a:t>Title Text</a:t>
            </a:r>
          </a:p>
        </p:txBody>
      </p:sp>
      <p:sp>
        <p:nvSpPr>
          <p:cNvPr id="269"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70" name="Slide Number"/>
          <p:cNvSpPr txBox="1"/>
          <p:nvPr>
            <p:ph type="sldNum" sz="quarter" idx="2"/>
          </p:nvPr>
        </p:nvSpPr>
        <p:spPr>
          <a:xfrm>
            <a:off x="20835138" y="13217523"/>
            <a:ext cx="494511"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77" name="Title Text"/>
          <p:cNvSpPr txBox="1"/>
          <p:nvPr>
            <p:ph type="title"/>
          </p:nvPr>
        </p:nvSpPr>
        <p:spPr>
          <a:xfrm>
            <a:off x="4387450" y="625074"/>
            <a:ext cx="15609100" cy="3036100"/>
          </a:xfrm>
          <a:prstGeom prst="rect">
            <a:avLst/>
          </a:prstGeom>
        </p:spPr>
        <p:txBody>
          <a:bodyPr lIns="71432" tIns="71432" rIns="71432" bIns="71432" anchor="ctr"/>
          <a:lstStyle>
            <a:lvl1pPr algn="ctr" defTabSz="821526">
              <a:defRPr spc="0" sz="11200"/>
            </a:lvl1pPr>
          </a:lstStyle>
          <a:p>
            <a:pPr/>
            <a:r>
              <a:t>Title Text</a:t>
            </a:r>
          </a:p>
        </p:txBody>
      </p:sp>
      <p:sp>
        <p:nvSpPr>
          <p:cNvPr id="278"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spcBef>
                <a:spcPts val="5800"/>
              </a:spcBef>
              <a:buSzPct val="75000"/>
              <a:defRPr sz="4800">
                <a:uFillTx/>
                <a:latin typeface="Helvetica Light"/>
                <a:ea typeface="Helvetica Light"/>
                <a:cs typeface="Helvetica Light"/>
                <a:sym typeface="Helvetica Light"/>
              </a:defRPr>
            </a:lvl1pPr>
            <a:lvl2pPr marL="1037164" indent="-592664" defTabSz="821526">
              <a:spcBef>
                <a:spcPts val="5800"/>
              </a:spcBef>
              <a:buSzPct val="75000"/>
              <a:defRPr sz="4800">
                <a:uFillTx/>
                <a:latin typeface="Helvetica Light"/>
                <a:ea typeface="Helvetica Light"/>
                <a:cs typeface="Helvetica Light"/>
                <a:sym typeface="Helvetica Light"/>
              </a:defRPr>
            </a:lvl2pPr>
            <a:lvl3pPr marL="1481664" indent="-592664" defTabSz="821526">
              <a:spcBef>
                <a:spcPts val="5800"/>
              </a:spcBef>
              <a:buSzPct val="75000"/>
              <a:defRPr sz="4800">
                <a:uFillTx/>
                <a:latin typeface="Helvetica Light"/>
                <a:ea typeface="Helvetica Light"/>
                <a:cs typeface="Helvetica Light"/>
                <a:sym typeface="Helvetica Light"/>
              </a:defRPr>
            </a:lvl3pPr>
            <a:lvl4pPr marL="1926164" indent="-592663" defTabSz="821526">
              <a:spcBef>
                <a:spcPts val="5800"/>
              </a:spcBef>
              <a:buSzPct val="75000"/>
              <a:defRPr sz="4800">
                <a:uFillTx/>
                <a:latin typeface="Helvetica Light"/>
                <a:ea typeface="Helvetica Light"/>
                <a:cs typeface="Helvetica Light"/>
                <a:sym typeface="Helvetica Light"/>
              </a:defRPr>
            </a:lvl4pPr>
            <a:lvl5pPr marL="2370666" indent="-592666" defTabSz="821526">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79"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86"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287"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88"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95" name="Title Text"/>
          <p:cNvSpPr txBox="1"/>
          <p:nvPr>
            <p:ph type="title"/>
          </p:nvPr>
        </p:nvSpPr>
        <p:spPr>
          <a:xfrm>
            <a:off x="4387451" y="625077"/>
            <a:ext cx="15609097" cy="3036095"/>
          </a:xfrm>
          <a:prstGeom prst="rect">
            <a:avLst/>
          </a:prstGeom>
        </p:spPr>
        <p:txBody>
          <a:bodyPr lIns="71435" tIns="71435" rIns="71435" bIns="71435" anchor="ctr"/>
          <a:lstStyle>
            <a:lvl1pPr algn="ctr" defTabSz="821529">
              <a:lnSpc>
                <a:spcPts val="17400"/>
              </a:lnSpc>
              <a:defRPr spc="0" sz="11200"/>
            </a:lvl1pPr>
          </a:lstStyle>
          <a:p>
            <a:pPr/>
            <a:r>
              <a:t>Title Text</a:t>
            </a:r>
          </a:p>
        </p:txBody>
      </p:sp>
      <p:sp>
        <p:nvSpPr>
          <p:cNvPr id="296"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97"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04" name="Title Text"/>
          <p:cNvSpPr txBox="1"/>
          <p:nvPr>
            <p:ph type="title"/>
          </p:nvPr>
        </p:nvSpPr>
        <p:spPr>
          <a:xfrm>
            <a:off x="4387450" y="625075"/>
            <a:ext cx="15609099" cy="3036098"/>
          </a:xfrm>
          <a:prstGeom prst="rect">
            <a:avLst/>
          </a:prstGeom>
        </p:spPr>
        <p:txBody>
          <a:bodyPr lIns="71433" tIns="71433" rIns="71433" bIns="71433" anchor="ctr"/>
          <a:lstStyle>
            <a:lvl1pPr algn="ctr" defTabSz="624360">
              <a:defRPr spc="0" sz="16000"/>
            </a:lvl1pPr>
          </a:lstStyle>
          <a:p>
            <a:pPr/>
            <a:r>
              <a:t>Title Text</a:t>
            </a:r>
          </a:p>
        </p:txBody>
      </p:sp>
      <p:sp>
        <p:nvSpPr>
          <p:cNvPr id="305"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06"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13" name="Title Text"/>
          <p:cNvSpPr txBox="1"/>
          <p:nvPr>
            <p:ph type="title"/>
          </p:nvPr>
        </p:nvSpPr>
        <p:spPr>
          <a:xfrm>
            <a:off x="4387450" y="625074"/>
            <a:ext cx="15609100" cy="3036100"/>
          </a:xfrm>
          <a:prstGeom prst="rect">
            <a:avLst/>
          </a:prstGeom>
        </p:spPr>
        <p:txBody>
          <a:bodyPr lIns="71432" tIns="71432" rIns="71432" bIns="71432" anchor="ctr"/>
          <a:lstStyle>
            <a:lvl1pPr algn="ctr" defTabSz="914400">
              <a:defRPr spc="0" sz="16000">
                <a:uFill>
                  <a:solidFill>
                    <a:srgbClr val="000000"/>
                  </a:solidFill>
                </a:uFill>
              </a:defRPr>
            </a:lvl1pPr>
          </a:lstStyle>
          <a:p>
            <a:pPr/>
            <a:r>
              <a:t>Title Text</a:t>
            </a:r>
          </a:p>
        </p:txBody>
      </p:sp>
      <p:sp>
        <p:nvSpPr>
          <p:cNvPr id="314"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spcBef>
                <a:spcPts val="5800"/>
              </a:spcBef>
              <a:buSzPct val="75000"/>
              <a:defRPr sz="4800">
                <a:uFillTx/>
                <a:latin typeface="Helvetica Light"/>
                <a:ea typeface="Helvetica Light"/>
                <a:cs typeface="Helvetica Light"/>
                <a:sym typeface="Helvetica Light"/>
              </a:defRPr>
            </a:lvl1pPr>
            <a:lvl2pPr marL="1037164" indent="-592664" defTabSz="821526">
              <a:spcBef>
                <a:spcPts val="5800"/>
              </a:spcBef>
              <a:buSzPct val="75000"/>
              <a:defRPr sz="4800">
                <a:uFillTx/>
                <a:latin typeface="Helvetica Light"/>
                <a:ea typeface="Helvetica Light"/>
                <a:cs typeface="Helvetica Light"/>
                <a:sym typeface="Helvetica Light"/>
              </a:defRPr>
            </a:lvl2pPr>
            <a:lvl3pPr marL="1481664" indent="-592664" defTabSz="821526">
              <a:spcBef>
                <a:spcPts val="5800"/>
              </a:spcBef>
              <a:buSzPct val="75000"/>
              <a:defRPr sz="4800">
                <a:uFillTx/>
                <a:latin typeface="Helvetica Light"/>
                <a:ea typeface="Helvetica Light"/>
                <a:cs typeface="Helvetica Light"/>
                <a:sym typeface="Helvetica Light"/>
              </a:defRPr>
            </a:lvl3pPr>
            <a:lvl4pPr marL="1926164" indent="-592663" defTabSz="821526">
              <a:spcBef>
                <a:spcPts val="5800"/>
              </a:spcBef>
              <a:buSzPct val="75000"/>
              <a:defRPr sz="4800">
                <a:uFillTx/>
                <a:latin typeface="Helvetica Light"/>
                <a:ea typeface="Helvetica Light"/>
                <a:cs typeface="Helvetica Light"/>
                <a:sym typeface="Helvetica Light"/>
              </a:defRPr>
            </a:lvl4pPr>
            <a:lvl5pPr marL="2370666" indent="-592666" defTabSz="821526">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15"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22" name="Title Text"/>
          <p:cNvSpPr txBox="1"/>
          <p:nvPr>
            <p:ph type="title"/>
          </p:nvPr>
        </p:nvSpPr>
        <p:spPr>
          <a:xfrm>
            <a:off x="4387453" y="625078"/>
            <a:ext cx="15609094" cy="3036094"/>
          </a:xfrm>
          <a:prstGeom prst="rect">
            <a:avLst/>
          </a:prstGeom>
        </p:spPr>
        <p:txBody>
          <a:bodyPr lIns="71437" tIns="71437" rIns="71437" bIns="71437" anchor="ctr"/>
          <a:lstStyle>
            <a:lvl1pPr algn="ctr" defTabSz="821531">
              <a:lnSpc>
                <a:spcPts val="17400"/>
              </a:lnSpc>
              <a:defRPr spc="0" sz="11200"/>
            </a:lvl1pPr>
          </a:lstStyle>
          <a:p>
            <a:pPr/>
            <a:r>
              <a:t>Title Text</a:t>
            </a:r>
          </a:p>
        </p:txBody>
      </p:sp>
      <p:sp>
        <p:nvSpPr>
          <p:cNvPr id="323" name="Body Level One…"/>
          <p:cNvSpPr txBox="1"/>
          <p:nvPr>
            <p:ph type="body" idx="1"/>
          </p:nvPr>
        </p:nvSpPr>
        <p:spPr>
          <a:xfrm>
            <a:off x="4387453" y="3661171"/>
            <a:ext cx="15609094" cy="8840392"/>
          </a:xfrm>
          <a:prstGeom prst="rect">
            <a:avLst/>
          </a:prstGeom>
        </p:spPr>
        <p:txBody>
          <a:bodyPr lIns="71437" tIns="71437" rIns="71437" bIns="71437" anchor="ctr"/>
          <a:lstStyle>
            <a:lvl1pPr marL="592666" indent="-592666" defTabSz="821531">
              <a:spcBef>
                <a:spcPts val="5900"/>
              </a:spcBef>
              <a:buSzPct val="75000"/>
              <a:defRPr sz="4800">
                <a:uFillTx/>
                <a:latin typeface="Helvetica Light"/>
                <a:ea typeface="Helvetica Light"/>
                <a:cs typeface="Helvetica Light"/>
                <a:sym typeface="Helvetica Light"/>
              </a:defRPr>
            </a:lvl1pPr>
            <a:lvl2pPr marL="1037166" indent="-592666" defTabSz="821531">
              <a:spcBef>
                <a:spcPts val="5900"/>
              </a:spcBef>
              <a:buSzPct val="75000"/>
              <a:defRPr sz="4800">
                <a:uFillTx/>
                <a:latin typeface="Helvetica Light"/>
                <a:ea typeface="Helvetica Light"/>
                <a:cs typeface="Helvetica Light"/>
                <a:sym typeface="Helvetica Light"/>
              </a:defRPr>
            </a:lvl2pPr>
            <a:lvl3pPr marL="1481666" indent="-592666" defTabSz="821531">
              <a:spcBef>
                <a:spcPts val="5900"/>
              </a:spcBef>
              <a:buSzPct val="75000"/>
              <a:defRPr sz="4800">
                <a:uFillTx/>
                <a:latin typeface="Helvetica Light"/>
                <a:ea typeface="Helvetica Light"/>
                <a:cs typeface="Helvetica Light"/>
                <a:sym typeface="Helvetica Light"/>
              </a:defRPr>
            </a:lvl3pPr>
            <a:lvl4pPr marL="1926166" indent="-592666" defTabSz="821531">
              <a:spcBef>
                <a:spcPts val="5900"/>
              </a:spcBef>
              <a:buSzPct val="75000"/>
              <a:defRPr sz="4800">
                <a:uFillTx/>
                <a:latin typeface="Helvetica Light"/>
                <a:ea typeface="Helvetica Light"/>
                <a:cs typeface="Helvetica Light"/>
                <a:sym typeface="Helvetica Light"/>
              </a:defRPr>
            </a:lvl4pPr>
            <a:lvl5pPr marL="2370666" indent="-592666" defTabSz="821531">
              <a:spcBef>
                <a:spcPts val="59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24"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31" name="Title Text"/>
          <p:cNvSpPr txBox="1"/>
          <p:nvPr>
            <p:ph type="title"/>
          </p:nvPr>
        </p:nvSpPr>
        <p:spPr>
          <a:xfrm>
            <a:off x="4387453" y="625078"/>
            <a:ext cx="15609094" cy="3036094"/>
          </a:xfrm>
          <a:prstGeom prst="rect">
            <a:avLst/>
          </a:prstGeom>
        </p:spPr>
        <p:txBody>
          <a:bodyPr lIns="71437" tIns="71437" rIns="71437" bIns="71437" anchor="ctr"/>
          <a:lstStyle>
            <a:lvl1pPr algn="ctr" defTabSz="821531">
              <a:defRPr spc="0" sz="11200"/>
            </a:lvl1pPr>
          </a:lstStyle>
          <a:p>
            <a:pPr/>
            <a:r>
              <a:t>Title Text</a:t>
            </a:r>
          </a:p>
        </p:txBody>
      </p:sp>
      <p:sp>
        <p:nvSpPr>
          <p:cNvPr id="332" name="Body Level One…"/>
          <p:cNvSpPr txBox="1"/>
          <p:nvPr>
            <p:ph type="body" idx="1"/>
          </p:nvPr>
        </p:nvSpPr>
        <p:spPr>
          <a:xfrm>
            <a:off x="4387453" y="3661171"/>
            <a:ext cx="15609094" cy="8840392"/>
          </a:xfrm>
          <a:prstGeom prst="rect">
            <a:avLst/>
          </a:prstGeom>
        </p:spPr>
        <p:txBody>
          <a:bodyPr lIns="71437" tIns="71437" rIns="71437" bIns="71437" anchor="ctr"/>
          <a:lstStyle>
            <a:lvl1pPr marL="592666" indent="-592666" defTabSz="821531">
              <a:spcBef>
                <a:spcPts val="5900"/>
              </a:spcBef>
              <a:buSzPct val="75000"/>
              <a:defRPr sz="4800">
                <a:uFillTx/>
                <a:latin typeface="Helvetica Light"/>
                <a:ea typeface="Helvetica Light"/>
                <a:cs typeface="Helvetica Light"/>
                <a:sym typeface="Helvetica Light"/>
              </a:defRPr>
            </a:lvl1pPr>
            <a:lvl2pPr marL="1037166" indent="-592666" defTabSz="821531">
              <a:spcBef>
                <a:spcPts val="5900"/>
              </a:spcBef>
              <a:buSzPct val="75000"/>
              <a:defRPr sz="4800">
                <a:uFillTx/>
                <a:latin typeface="Helvetica Light"/>
                <a:ea typeface="Helvetica Light"/>
                <a:cs typeface="Helvetica Light"/>
                <a:sym typeface="Helvetica Light"/>
              </a:defRPr>
            </a:lvl2pPr>
            <a:lvl3pPr marL="1481666" indent="-592666" defTabSz="821531">
              <a:spcBef>
                <a:spcPts val="5900"/>
              </a:spcBef>
              <a:buSzPct val="75000"/>
              <a:defRPr sz="4800">
                <a:uFillTx/>
                <a:latin typeface="Helvetica Light"/>
                <a:ea typeface="Helvetica Light"/>
                <a:cs typeface="Helvetica Light"/>
                <a:sym typeface="Helvetica Light"/>
              </a:defRPr>
            </a:lvl3pPr>
            <a:lvl4pPr marL="1926166" indent="-592666" defTabSz="821531">
              <a:spcBef>
                <a:spcPts val="5900"/>
              </a:spcBef>
              <a:buSzPct val="75000"/>
              <a:defRPr sz="4800">
                <a:uFillTx/>
                <a:latin typeface="Helvetica Light"/>
                <a:ea typeface="Helvetica Light"/>
                <a:cs typeface="Helvetica Light"/>
                <a:sym typeface="Helvetica Light"/>
              </a:defRPr>
            </a:lvl4pPr>
            <a:lvl5pPr marL="2370666" indent="-592666" defTabSz="821531">
              <a:spcBef>
                <a:spcPts val="59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33"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0"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341"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42"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9" name="Slide Title"/>
          <p:cNvSpPr txBox="1"/>
          <p:nvPr>
            <p:ph type="title" hasCustomPrompt="1"/>
          </p:nvPr>
        </p:nvSpPr>
        <p:spPr>
          <a:xfrm>
            <a:off x="3952874" y="2524124"/>
            <a:ext cx="16478252" cy="1074875"/>
          </a:xfrm>
          <a:prstGeom prst="rect">
            <a:avLst/>
          </a:prstGeom>
        </p:spPr>
        <p:txBody>
          <a:bodyPr lIns="38100" tIns="38100" rIns="38100" bIns="38100"/>
          <a:lstStyle>
            <a:lvl1pPr defTabSz="2438337">
              <a:lnSpc>
                <a:spcPct val="80000"/>
              </a:lnSpc>
              <a:defRPr spc="-168" sz="8400">
                <a:latin typeface="Helvetica Neue"/>
                <a:ea typeface="Helvetica Neue"/>
                <a:cs typeface="Helvetica Neue"/>
                <a:sym typeface="Helvetica Neue"/>
              </a:defRPr>
            </a:lvl1pPr>
          </a:lstStyle>
          <a:p>
            <a:pPr/>
            <a:r>
              <a:t>Slide Title</a:t>
            </a:r>
          </a:p>
        </p:txBody>
      </p:sp>
      <p:sp>
        <p:nvSpPr>
          <p:cNvPr id="350" name="Body Level One…"/>
          <p:cNvSpPr txBox="1"/>
          <p:nvPr>
            <p:ph type="body" sz="quarter" idx="1" hasCustomPrompt="1"/>
          </p:nvPr>
        </p:nvSpPr>
        <p:spPr>
          <a:xfrm>
            <a:off x="3952874" y="3494221"/>
            <a:ext cx="16478252" cy="701087"/>
          </a:xfrm>
          <a:prstGeom prst="rect">
            <a:avLst/>
          </a:prstGeom>
        </p:spPr>
        <p:txBody>
          <a:bodyPr lIns="34287" tIns="34287" rIns="34287" bIns="34287"/>
          <a:lstStyle>
            <a:lvl1pPr marL="0" indent="0" defTabSz="660400">
              <a:buSzTx/>
              <a:buNone/>
              <a:defRPr b="1" sz="4000">
                <a:uFillTx/>
                <a:latin typeface="Helvetica Neue"/>
                <a:ea typeface="Helvetica Neue"/>
                <a:cs typeface="Helvetica Neue"/>
                <a:sym typeface="Helvetica Neue"/>
              </a:defRPr>
            </a:lvl1pPr>
            <a:lvl2pPr marL="938386" indent="-493886" defTabSz="660400">
              <a:buSzPct val="75000"/>
              <a:defRPr b="1" sz="4000">
                <a:uFillTx/>
                <a:latin typeface="Helvetica Neue"/>
                <a:ea typeface="Helvetica Neue"/>
                <a:cs typeface="Helvetica Neue"/>
                <a:sym typeface="Helvetica Neue"/>
              </a:defRPr>
            </a:lvl2pPr>
            <a:lvl3pPr marL="1382886" indent="-493886" defTabSz="660400">
              <a:buSzPct val="75000"/>
              <a:defRPr b="1" sz="4000">
                <a:uFillTx/>
                <a:latin typeface="Helvetica Neue"/>
                <a:ea typeface="Helvetica Neue"/>
                <a:cs typeface="Helvetica Neue"/>
                <a:sym typeface="Helvetica Neue"/>
              </a:defRPr>
            </a:lvl3pPr>
            <a:lvl4pPr marL="1827387" indent="-493886" defTabSz="660400">
              <a:buSzPct val="75000"/>
              <a:defRPr b="1" sz="4000">
                <a:uFillTx/>
                <a:latin typeface="Helvetica Neue"/>
                <a:ea typeface="Helvetica Neue"/>
                <a:cs typeface="Helvetica Neue"/>
                <a:sym typeface="Helvetica Neue"/>
              </a:defRPr>
            </a:lvl4pPr>
            <a:lvl5pPr marL="2271888" indent="-493888" defTabSz="660400">
              <a:buSzPct val="75000"/>
              <a:defRPr b="1" sz="4000">
                <a:uFillTx/>
                <a:latin typeface="Helvetica Neue"/>
                <a:ea typeface="Helvetica Neue"/>
                <a:cs typeface="Helvetica Neue"/>
                <a:sym typeface="Helvetica Neue"/>
              </a:defRPr>
            </a:lvl5pPr>
          </a:lstStyle>
          <a:p>
            <a:pPr/>
            <a:r>
              <a:t>Slide Subtitle</a:t>
            </a:r>
          </a:p>
          <a:p>
            <a:pPr lvl="1"/>
            <a:r>
              <a:t/>
            </a:r>
          </a:p>
          <a:p>
            <a:pPr lvl="2"/>
            <a:r>
              <a:t/>
            </a:r>
          </a:p>
          <a:p>
            <a:pPr lvl="3"/>
            <a:r>
              <a:t/>
            </a:r>
          </a:p>
          <a:p>
            <a:pPr lvl="4"/>
            <a:r>
              <a:t/>
            </a:r>
          </a:p>
        </p:txBody>
      </p:sp>
      <p:sp>
        <p:nvSpPr>
          <p:cNvPr id="351" name="Body Level One…"/>
          <p:cNvSpPr txBox="1"/>
          <p:nvPr>
            <p:ph type="body" sz="half" idx="21" hasCustomPrompt="1"/>
          </p:nvPr>
        </p:nvSpPr>
        <p:spPr>
          <a:xfrm>
            <a:off x="3952874" y="4900877"/>
            <a:ext cx="16478252" cy="6192012"/>
          </a:xfrm>
          <a:prstGeom prst="rect">
            <a:avLst/>
          </a:prstGeom>
        </p:spPr>
        <p:txBody>
          <a:bodyPr lIns="38100" tIns="38100" rIns="38100" bIns="38100"/>
          <a:lstStyle>
            <a:lvl1pPr marL="609600" indent="-609600" defTabSz="2438337">
              <a:lnSpc>
                <a:spcPct val="90000"/>
              </a:lnSpc>
              <a:spcBef>
                <a:spcPts val="4400"/>
              </a:spcBef>
              <a:defRPr sz="4800">
                <a:uFillTx/>
                <a:latin typeface="Helvetica Neue"/>
                <a:ea typeface="Helvetica Neue"/>
                <a:cs typeface="Helvetica Neue"/>
                <a:sym typeface="Helvetica Neue"/>
              </a:defRPr>
            </a:lvl1pPr>
          </a:lstStyle>
          <a:p>
            <a:pPr/>
            <a:r>
              <a:t>Slide bullet text</a:t>
            </a:r>
          </a:p>
        </p:txBody>
      </p:sp>
      <p:sp>
        <p:nvSpPr>
          <p:cNvPr id="352"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359" name="Body Level One…"/>
          <p:cNvSpPr txBox="1"/>
          <p:nvPr>
            <p:ph type="body" sz="quarter" idx="1" hasCustomPrompt="1"/>
          </p:nvPr>
        </p:nvSpPr>
        <p:spPr>
          <a:xfrm>
            <a:off x="3949003" y="10609395"/>
            <a:ext cx="16478256" cy="477737"/>
          </a:xfrm>
          <a:prstGeom prst="rect">
            <a:avLst/>
          </a:prstGeom>
        </p:spPr>
        <p:txBody>
          <a:bodyPr lIns="34287" tIns="34287" rIns="34287" bIns="34287"/>
          <a:lstStyle>
            <a:lvl1pPr marL="0" indent="0" defTabSz="676908">
              <a:buSzTx/>
              <a:buNone/>
              <a:defRPr b="1" sz="2800">
                <a:uFillTx/>
                <a:latin typeface="Helvetica Neue"/>
                <a:ea typeface="Helvetica Neue"/>
                <a:cs typeface="Helvetica Neue"/>
                <a:sym typeface="Helvetica Neue"/>
              </a:defRPr>
            </a:lvl1pPr>
            <a:lvl2pPr marL="790220" indent="-345720" defTabSz="676908">
              <a:buSzPct val="75000"/>
              <a:defRPr b="1" sz="2800">
                <a:uFillTx/>
                <a:latin typeface="Helvetica Neue"/>
                <a:ea typeface="Helvetica Neue"/>
                <a:cs typeface="Helvetica Neue"/>
                <a:sym typeface="Helvetica Neue"/>
              </a:defRPr>
            </a:lvl2pPr>
            <a:lvl3pPr marL="1234720" indent="-345720" defTabSz="676908">
              <a:buSzPct val="75000"/>
              <a:defRPr b="1" sz="2800">
                <a:uFillTx/>
                <a:latin typeface="Helvetica Neue"/>
                <a:ea typeface="Helvetica Neue"/>
                <a:cs typeface="Helvetica Neue"/>
                <a:sym typeface="Helvetica Neue"/>
              </a:defRPr>
            </a:lvl3pPr>
            <a:lvl4pPr marL="1679221" indent="-345720" defTabSz="676908">
              <a:buSzPct val="75000"/>
              <a:defRPr b="1" sz="2800">
                <a:uFillTx/>
                <a:latin typeface="Helvetica Neue"/>
                <a:ea typeface="Helvetica Neue"/>
                <a:cs typeface="Helvetica Neue"/>
                <a:sym typeface="Helvetica Neue"/>
              </a:defRPr>
            </a:lvl4pPr>
            <a:lvl5pPr marL="2123721" indent="-345721" defTabSz="676908">
              <a:buSzPct val="75000"/>
              <a:defRPr b="1" sz="2800">
                <a:uFillTx/>
                <a:latin typeface="Helvetica Neue"/>
                <a:ea typeface="Helvetica Neue"/>
                <a:cs typeface="Helvetica Neue"/>
                <a:sym typeface="Helvetica Neue"/>
              </a:defRPr>
            </a:lvl5pPr>
          </a:lstStyle>
          <a:p>
            <a:pPr/>
            <a:r>
              <a:t>Author and Date</a:t>
            </a:r>
          </a:p>
          <a:p>
            <a:pPr lvl="1"/>
            <a:r>
              <a:t/>
            </a:r>
          </a:p>
          <a:p>
            <a:pPr lvl="2"/>
            <a:r>
              <a:t/>
            </a:r>
          </a:p>
          <a:p>
            <a:pPr lvl="3"/>
            <a:r>
              <a:t/>
            </a:r>
          </a:p>
          <a:p>
            <a:pPr lvl="4"/>
            <a:r>
              <a:t/>
            </a:r>
          </a:p>
        </p:txBody>
      </p:sp>
      <p:sp>
        <p:nvSpPr>
          <p:cNvPr id="360" name="Presentation Title"/>
          <p:cNvSpPr txBox="1"/>
          <p:nvPr>
            <p:ph type="title" hasCustomPrompt="1"/>
          </p:nvPr>
        </p:nvSpPr>
        <p:spPr>
          <a:xfrm>
            <a:off x="3952871" y="3645741"/>
            <a:ext cx="16478256" cy="3486153"/>
          </a:xfrm>
          <a:prstGeom prst="rect">
            <a:avLst/>
          </a:prstGeom>
        </p:spPr>
        <p:txBody>
          <a:bodyPr lIns="38100" tIns="38100" rIns="38100" bIns="38100" anchor="b"/>
          <a:lstStyle>
            <a:lvl1pPr defTabSz="2438337">
              <a:lnSpc>
                <a:spcPct val="80000"/>
              </a:lnSpc>
              <a:defRPr spc="-232" sz="11600">
                <a:latin typeface="Helvetica Neue"/>
                <a:ea typeface="Helvetica Neue"/>
                <a:cs typeface="Helvetica Neue"/>
                <a:sym typeface="Helvetica Neue"/>
              </a:defRPr>
            </a:lvl1pPr>
          </a:lstStyle>
          <a:p>
            <a:pPr/>
            <a:r>
              <a:t>Presentation Title</a:t>
            </a:r>
          </a:p>
        </p:txBody>
      </p:sp>
      <p:sp>
        <p:nvSpPr>
          <p:cNvPr id="361" name="Body Level One…"/>
          <p:cNvSpPr txBox="1"/>
          <p:nvPr>
            <p:ph type="body" sz="quarter" idx="21" hasCustomPrompt="1"/>
          </p:nvPr>
        </p:nvSpPr>
        <p:spPr>
          <a:xfrm>
            <a:off x="3949006" y="7131891"/>
            <a:ext cx="16478252" cy="1428753"/>
          </a:xfrm>
          <a:prstGeom prst="rect">
            <a:avLst/>
          </a:prstGeom>
        </p:spPr>
        <p:txBody>
          <a:bodyPr lIns="38100" tIns="38100" rIns="38100" bIns="38100"/>
          <a:lstStyle>
            <a:lvl1pPr marL="0" indent="0" defTabSz="825500">
              <a:buSzTx/>
              <a:buNone/>
              <a:defRPr b="1" sz="5200">
                <a:uFillTx/>
                <a:latin typeface="Helvetica Neue"/>
                <a:ea typeface="Helvetica Neue"/>
                <a:cs typeface="Helvetica Neue"/>
                <a:sym typeface="Helvetica Neue"/>
              </a:defRPr>
            </a:lvl1pPr>
          </a:lstStyle>
          <a:p>
            <a:pPr/>
            <a:r>
              <a:t>Presentation Subtitle</a:t>
            </a:r>
          </a:p>
        </p:txBody>
      </p:sp>
      <p:sp>
        <p:nvSpPr>
          <p:cNvPr id="362"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69" name="Slide Title"/>
          <p:cNvSpPr txBox="1"/>
          <p:nvPr>
            <p:ph type="title" hasCustomPrompt="1"/>
          </p:nvPr>
        </p:nvSpPr>
        <p:spPr>
          <a:xfrm>
            <a:off x="3952875" y="2524125"/>
            <a:ext cx="16478250" cy="1074872"/>
          </a:xfrm>
          <a:prstGeom prst="rect">
            <a:avLst/>
          </a:prstGeom>
        </p:spPr>
        <p:txBody>
          <a:bodyPr lIns="38100" tIns="38100" rIns="38100" bIns="38100"/>
          <a:lstStyle>
            <a:lvl1pPr>
              <a:lnSpc>
                <a:spcPct val="80000"/>
              </a:lnSpc>
              <a:defRPr spc="-168" sz="8400">
                <a:solidFill>
                  <a:srgbClr val="000000"/>
                </a:solidFill>
                <a:latin typeface="Helvetica Neue"/>
                <a:ea typeface="Helvetica Neue"/>
                <a:cs typeface="Helvetica Neue"/>
                <a:sym typeface="Helvetica Neue"/>
              </a:defRPr>
            </a:lvl1pPr>
          </a:lstStyle>
          <a:p>
            <a:pPr/>
            <a:r>
              <a:t>Slide Title</a:t>
            </a:r>
          </a:p>
        </p:txBody>
      </p:sp>
      <p:sp>
        <p:nvSpPr>
          <p:cNvPr id="370" name="Slide Subtitle"/>
          <p:cNvSpPr txBox="1"/>
          <p:nvPr>
            <p:ph type="body" sz="quarter" idx="21" hasCustomPrompt="1"/>
          </p:nvPr>
        </p:nvSpPr>
        <p:spPr>
          <a:xfrm>
            <a:off x="3952875" y="3494221"/>
            <a:ext cx="16478250" cy="701086"/>
          </a:xfrm>
          <a:prstGeom prst="rect">
            <a:avLst/>
          </a:prstGeom>
        </p:spPr>
        <p:txBody>
          <a:bodyPr lIns="34289" tIns="34289" rIns="34289" bIns="34289"/>
          <a:lstStyle>
            <a:lvl1pPr marL="0" indent="0" defTabSz="668655">
              <a:buSzTx/>
              <a:buNone/>
              <a:defRPr b="1" sz="4212">
                <a:uFillTx/>
                <a:latin typeface="Helvetica Neue"/>
                <a:ea typeface="Helvetica Neue"/>
                <a:cs typeface="Helvetica Neue"/>
                <a:sym typeface="Helvetica Neue"/>
              </a:defRPr>
            </a:lvl1pPr>
          </a:lstStyle>
          <a:p>
            <a:pPr/>
            <a:r>
              <a:t>Slide Subtitle</a:t>
            </a:r>
          </a:p>
        </p:txBody>
      </p:sp>
      <p:sp>
        <p:nvSpPr>
          <p:cNvPr id="371" name="Body Level One…"/>
          <p:cNvSpPr txBox="1"/>
          <p:nvPr>
            <p:ph type="body" sz="half" idx="1" hasCustomPrompt="1"/>
          </p:nvPr>
        </p:nvSpPr>
        <p:spPr>
          <a:xfrm>
            <a:off x="3952875" y="4900878"/>
            <a:ext cx="16478250" cy="6192009"/>
          </a:xfrm>
          <a:prstGeom prst="rect">
            <a:avLst/>
          </a:prstGeom>
        </p:spPr>
        <p:txBody>
          <a:bodyPr lIns="38100" tIns="38100" rIns="38100" bIns="38100"/>
          <a:lstStyle>
            <a:lvl1pPr marL="609600" indent="-609600" defTabSz="2438338">
              <a:lnSpc>
                <a:spcPct val="90000"/>
              </a:lnSpc>
              <a:spcBef>
                <a:spcPts val="4500"/>
              </a:spcBef>
              <a:defRPr sz="4800">
                <a:uFillTx/>
                <a:latin typeface="Helvetica Neue"/>
                <a:ea typeface="Helvetica Neue"/>
                <a:cs typeface="Helvetica Neue"/>
                <a:sym typeface="Helvetica Neue"/>
              </a:defRPr>
            </a:lvl1pPr>
            <a:lvl2pPr marL="1219200" indent="-609600" defTabSz="2438338">
              <a:lnSpc>
                <a:spcPct val="90000"/>
              </a:lnSpc>
              <a:spcBef>
                <a:spcPts val="4500"/>
              </a:spcBef>
              <a:defRPr sz="4800">
                <a:uFillTx/>
                <a:latin typeface="Helvetica Neue"/>
                <a:ea typeface="Helvetica Neue"/>
                <a:cs typeface="Helvetica Neue"/>
                <a:sym typeface="Helvetica Neue"/>
              </a:defRPr>
            </a:lvl2pPr>
            <a:lvl3pPr marL="1828800" indent="-609600" defTabSz="2438338">
              <a:lnSpc>
                <a:spcPct val="90000"/>
              </a:lnSpc>
              <a:spcBef>
                <a:spcPts val="4500"/>
              </a:spcBef>
              <a:defRPr sz="4800">
                <a:uFillTx/>
                <a:latin typeface="Helvetica Neue"/>
                <a:ea typeface="Helvetica Neue"/>
                <a:cs typeface="Helvetica Neue"/>
                <a:sym typeface="Helvetica Neue"/>
              </a:defRPr>
            </a:lvl3pPr>
            <a:lvl4pPr marL="2438400" indent="-609600" defTabSz="2438338">
              <a:lnSpc>
                <a:spcPct val="90000"/>
              </a:lnSpc>
              <a:spcBef>
                <a:spcPts val="4500"/>
              </a:spcBef>
              <a:defRPr sz="4800">
                <a:uFillTx/>
                <a:latin typeface="Helvetica Neue"/>
                <a:ea typeface="Helvetica Neue"/>
                <a:cs typeface="Helvetica Neue"/>
                <a:sym typeface="Helvetica Neue"/>
              </a:defRPr>
            </a:lvl4pPr>
            <a:lvl5pPr marL="3048000" indent="-609600" defTabSz="2438338">
              <a:lnSpc>
                <a:spcPct val="90000"/>
              </a:lnSpc>
              <a:spcBef>
                <a:spcPts val="4500"/>
              </a:spcBef>
              <a:defRPr sz="4800">
                <a:uFillTx/>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372"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379" name="Author and Date"/>
          <p:cNvSpPr txBox="1"/>
          <p:nvPr>
            <p:ph type="body" sz="quarter" idx="21" hasCustomPrompt="1"/>
          </p:nvPr>
        </p:nvSpPr>
        <p:spPr>
          <a:xfrm>
            <a:off x="3949005" y="10609397"/>
            <a:ext cx="16478253" cy="477734"/>
          </a:xfrm>
          <a:prstGeom prst="rect">
            <a:avLst/>
          </a:prstGeom>
        </p:spPr>
        <p:txBody>
          <a:bodyPr lIns="34289" tIns="34289" rIns="34289" bIns="34289"/>
          <a:lstStyle>
            <a:lvl1pPr marL="0" indent="0" defTabSz="643889">
              <a:buSzTx/>
              <a:buNone/>
              <a:defRPr b="1" sz="2807">
                <a:uFillTx/>
                <a:latin typeface="Helvetica Neue"/>
                <a:ea typeface="Helvetica Neue"/>
                <a:cs typeface="Helvetica Neue"/>
                <a:sym typeface="Helvetica Neue"/>
              </a:defRPr>
            </a:lvl1pPr>
          </a:lstStyle>
          <a:p>
            <a:pPr/>
            <a:r>
              <a:t>Author and Date</a:t>
            </a:r>
          </a:p>
        </p:txBody>
      </p:sp>
      <p:sp>
        <p:nvSpPr>
          <p:cNvPr id="380" name="Presentation Title"/>
          <p:cNvSpPr txBox="1"/>
          <p:nvPr>
            <p:ph type="title" hasCustomPrompt="1"/>
          </p:nvPr>
        </p:nvSpPr>
        <p:spPr>
          <a:xfrm>
            <a:off x="3952872" y="3645743"/>
            <a:ext cx="16478254" cy="3486151"/>
          </a:xfrm>
          <a:prstGeom prst="rect">
            <a:avLst/>
          </a:prstGeom>
        </p:spPr>
        <p:txBody>
          <a:bodyPr lIns="38100" tIns="38100" rIns="38100" bIns="38100" anchor="b"/>
          <a:lstStyle>
            <a:lvl1pPr>
              <a:lnSpc>
                <a:spcPct val="80000"/>
              </a:lnSpc>
              <a:defRPr spc="-232" sz="11600">
                <a:latin typeface="Helvetica Neue"/>
                <a:ea typeface="Helvetica Neue"/>
                <a:cs typeface="Helvetica Neue"/>
                <a:sym typeface="Helvetica Neue"/>
              </a:defRPr>
            </a:lvl1pPr>
          </a:lstStyle>
          <a:p>
            <a:pPr/>
            <a:r>
              <a:t>Presentation Title</a:t>
            </a:r>
          </a:p>
        </p:txBody>
      </p:sp>
      <p:sp>
        <p:nvSpPr>
          <p:cNvPr id="381" name="Body Level One…"/>
          <p:cNvSpPr txBox="1"/>
          <p:nvPr>
            <p:ph type="body" sz="quarter" idx="1" hasCustomPrompt="1"/>
          </p:nvPr>
        </p:nvSpPr>
        <p:spPr>
          <a:xfrm>
            <a:off x="3949007" y="7131893"/>
            <a:ext cx="16478251" cy="1428751"/>
          </a:xfrm>
          <a:prstGeom prst="rect">
            <a:avLst/>
          </a:prstGeom>
        </p:spPr>
        <p:txBody>
          <a:bodyPr lIns="38100" tIns="38100" rIns="38100" bIns="38100"/>
          <a:lstStyle>
            <a:lvl1pPr marL="0" indent="0" defTabSz="825500">
              <a:buSzTx/>
              <a:buNone/>
              <a:defRPr b="1" sz="5200">
                <a:uFillTx/>
                <a:latin typeface="Helvetica Neue"/>
                <a:ea typeface="Helvetica Neue"/>
                <a:cs typeface="Helvetica Neue"/>
                <a:sym typeface="Helvetica Neue"/>
              </a:defRPr>
            </a:lvl1pPr>
            <a:lvl2pPr marL="0" indent="457200" defTabSz="825500">
              <a:buSzTx/>
              <a:buNone/>
              <a:defRPr b="1" sz="5200">
                <a:uFillTx/>
                <a:latin typeface="Helvetica Neue"/>
                <a:ea typeface="Helvetica Neue"/>
                <a:cs typeface="Helvetica Neue"/>
                <a:sym typeface="Helvetica Neue"/>
              </a:defRPr>
            </a:lvl2pPr>
            <a:lvl3pPr marL="0" indent="914400" defTabSz="825500">
              <a:buSzTx/>
              <a:buNone/>
              <a:defRPr b="1" sz="5200">
                <a:uFillTx/>
                <a:latin typeface="Helvetica Neue"/>
                <a:ea typeface="Helvetica Neue"/>
                <a:cs typeface="Helvetica Neue"/>
                <a:sym typeface="Helvetica Neue"/>
              </a:defRPr>
            </a:lvl3pPr>
            <a:lvl4pPr marL="0" indent="1371600" defTabSz="825500">
              <a:buSzTx/>
              <a:buNone/>
              <a:defRPr b="1" sz="5200">
                <a:uFillTx/>
                <a:latin typeface="Helvetica Neue"/>
                <a:ea typeface="Helvetica Neue"/>
                <a:cs typeface="Helvetica Neue"/>
                <a:sym typeface="Helvetica Neue"/>
              </a:defRPr>
            </a:lvl4pPr>
            <a:lvl5pPr marL="0" indent="1828800" defTabSz="825500">
              <a:buSzTx/>
              <a:buNone/>
              <a:defRPr b="1" sz="5200">
                <a:uFillTx/>
                <a:latin typeface="Helvetica Neue"/>
                <a:ea typeface="Helvetica Neue"/>
                <a:cs typeface="Helvetica Neue"/>
                <a:sym typeface="Helvetica Neue"/>
              </a:defRPr>
            </a:lvl5pPr>
          </a:lstStyle>
          <a:p>
            <a:pPr/>
            <a:r>
              <a:t>Presentation Subtitle</a:t>
            </a:r>
          </a:p>
          <a:p>
            <a:pPr lvl="1"/>
            <a:r>
              <a:t/>
            </a:r>
          </a:p>
          <a:p>
            <a:pPr lvl="2"/>
            <a:r>
              <a:t/>
            </a:r>
          </a:p>
          <a:p>
            <a:pPr lvl="3"/>
            <a:r>
              <a:t/>
            </a:r>
          </a:p>
          <a:p>
            <a:pPr lvl="4"/>
            <a:r>
              <a:t/>
            </a:r>
          </a:p>
        </p:txBody>
      </p:sp>
      <p:sp>
        <p:nvSpPr>
          <p:cNvPr id="382"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65" y="13074598"/>
            <a:ext cx="368573" cy="381001"/>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transition xmlns:p14="http://schemas.microsoft.com/office/powerpoint/2010/main" spd="med" advClick="1"/>
  <p:txStyles>
    <p:titleStyle>
      <a:lvl1pPr marL="0" marR="0" indent="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1pPr>
      <a:lvl2pPr marL="0" marR="0" indent="4572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2pPr>
      <a:lvl3pPr marL="0" marR="0" indent="9144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3pPr>
      <a:lvl4pPr marL="0" marR="0" indent="13716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4pPr>
      <a:lvl5pPr marL="0" marR="0" indent="18288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5pPr>
      <a:lvl6pPr marL="0" marR="0" indent="22860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6pPr>
      <a:lvl7pPr marL="0" marR="0" indent="27432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7pPr>
      <a:lvl8pPr marL="0" marR="0" indent="32004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8pPr>
      <a:lvl9pPr marL="0" marR="0" indent="36576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9pPr>
    </p:titleStyle>
    <p:bodyStyle>
      <a:lvl1pPr marL="2540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1pPr>
      <a:lvl2pPr marL="8636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2pPr>
      <a:lvl3pPr marL="14732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3pPr>
      <a:lvl4pPr marL="20828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4pPr>
      <a:lvl5pPr marL="26924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5pPr>
      <a:lvl6pPr marL="33020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6pPr>
      <a:lvl7pPr marL="39116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7pPr>
      <a:lvl8pPr marL="45212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8pPr>
      <a:lvl9pPr marL="51308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91" name="delong-this-is-fine.png" descr="delong-this-is-fine.png"/>
          <p:cNvPicPr>
            <a:picLocks noChangeAspect="1"/>
          </p:cNvPicPr>
          <p:nvPr/>
        </p:nvPicPr>
        <p:blipFill>
          <a:blip r:embed="rId3">
            <a:alphaModFix amt="24792"/>
            <a:extLst/>
          </a:blip>
          <a:srcRect l="0" t="0" r="1203" b="0"/>
          <a:stretch>
            <a:fillRect/>
          </a:stretch>
        </p:blipFill>
        <p:spPr>
          <a:xfrm>
            <a:off x="0" y="-3183"/>
            <a:ext cx="24384001" cy="13722366"/>
          </a:xfrm>
          <a:prstGeom prst="rect">
            <a:avLst/>
          </a:prstGeom>
          <a:ln w="12700">
            <a:miter lim="400000"/>
          </a:ln>
        </p:spPr>
      </p:pic>
      <p:sp>
        <p:nvSpPr>
          <p:cNvPr id="392" name="4.3.1., 4.4.1., &amp; 4.5.1. Intro Video: Globalization, Convergence, &amp; Underdevelopment"/>
          <p:cNvSpPr txBox="1"/>
          <p:nvPr>
            <p:ph type="title"/>
          </p:nvPr>
        </p:nvSpPr>
        <p:spPr>
          <a:xfrm>
            <a:off x="381000" y="-58428"/>
            <a:ext cx="23622000" cy="1905001"/>
          </a:xfrm>
          <a:prstGeom prst="rect">
            <a:avLst/>
          </a:prstGeom>
        </p:spPr>
        <p:txBody>
          <a:bodyPr lIns="34289" tIns="34289" rIns="34289" bIns="34289" anchor="ctr"/>
          <a:lstStyle>
            <a:lvl1pPr algn="ctr" defTabSz="274320">
              <a:defRPr spc="0" sz="6000">
                <a:solidFill>
                  <a:srgbClr val="808080"/>
                </a:solidFill>
                <a:uFill>
                  <a:solidFill>
                    <a:srgbClr val="000000"/>
                  </a:solidFill>
                </a:uFill>
              </a:defRPr>
            </a:lvl1pPr>
          </a:lstStyle>
          <a:p>
            <a:pPr/>
            <a:r>
              <a:t>4.3.1., 4.4.1., &amp; 4.5.1. Intro Video: Globalization, Convergence, &amp; Underdevelopment</a:t>
            </a:r>
          </a:p>
        </p:txBody>
      </p:sp>
      <p:sp>
        <p:nvSpPr>
          <p:cNvPr id="393" name="The long 20th century will in all likelihood be seen in the future as the watershed in human experience:…"/>
          <p:cNvSpPr txBox="1"/>
          <p:nvPr/>
        </p:nvSpPr>
        <p:spPr>
          <a:xfrm>
            <a:off x="381000" y="1778000"/>
            <a:ext cx="7620000" cy="11281987"/>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normAutofit fontScale="100000" lnSpcReduction="0"/>
          </a:bodyPr>
          <a:lstStyle/>
          <a:p>
            <a:pPr algn="l" defTabSz="825500">
              <a:defRPr b="1" sz="2700">
                <a:solidFill>
                  <a:srgbClr val="000080"/>
                </a:solidFill>
              </a:defRPr>
            </a:pPr>
          </a:p>
          <a:p>
            <a:pPr algn="l" defTabSz="825500">
              <a:defRPr b="1" sz="2700">
                <a:solidFill>
                  <a:srgbClr val="000080"/>
                </a:solidFill>
              </a:defRPr>
            </a:pPr>
            <a:r>
              <a:t>Three major themes:</a:t>
            </a:r>
          </a:p>
          <a:p>
            <a:pPr marL="381000" indent="-381000" algn="l" defTabSz="457200">
              <a:buSzPct val="100000"/>
              <a:buChar char="•"/>
              <a:defRPr>
                <a:solidFill>
                  <a:srgbClr val="000000"/>
                </a:solidFill>
                <a:uFill>
                  <a:solidFill>
                    <a:srgbClr val="000000"/>
                  </a:solidFill>
                </a:uFill>
                <a:latin typeface="Times New Roman"/>
                <a:ea typeface="Times New Roman"/>
                <a:cs typeface="Times New Roman"/>
                <a:sym typeface="Times New Roman"/>
              </a:defRPr>
            </a:pPr>
            <a:r>
              <a:t>4.3. Globalization not a one-way ratchet</a:t>
            </a:r>
          </a:p>
          <a:p>
            <a:pPr marL="381000" indent="-381000" algn="l" defTabSz="457200">
              <a:buSzPct val="100000"/>
              <a:buChar char="•"/>
              <a:defRPr>
                <a:solidFill>
                  <a:srgbClr val="000000"/>
                </a:solidFill>
                <a:uFill>
                  <a:solidFill>
                    <a:srgbClr val="000000"/>
                  </a:solidFill>
                </a:uFill>
                <a:latin typeface="Times New Roman"/>
                <a:ea typeface="Times New Roman"/>
                <a:cs typeface="Times New Roman"/>
                <a:sym typeface="Times New Roman"/>
              </a:defRPr>
            </a:pPr>
            <a:r>
              <a:t>4.4. Failure of economies to “converge”</a:t>
            </a:r>
          </a:p>
          <a:p>
            <a:pPr marL="381000" indent="-381000" algn="l" defTabSz="457200">
              <a:buSzPct val="100000"/>
              <a:buChar char="•"/>
              <a:defRPr>
                <a:solidFill>
                  <a:srgbClr val="000000"/>
                </a:solidFill>
                <a:uFill>
                  <a:solidFill>
                    <a:srgbClr val="000000"/>
                  </a:solidFill>
                </a:uFill>
                <a:latin typeface="Times New Roman"/>
                <a:ea typeface="Times New Roman"/>
                <a:cs typeface="Times New Roman"/>
                <a:sym typeface="Times New Roman"/>
              </a:defRPr>
            </a:pPr>
            <a:r>
              <a:t>4.5. Manufacturing as the path to a community of engineering practice</a:t>
            </a:r>
          </a:p>
          <a:p>
            <a:pPr lvl="1" marL="825500" indent="-444500" algn="l" defTabSz="457200">
              <a:buSzPct val="100000"/>
              <a:buChar char="•"/>
              <a:defRPr>
                <a:solidFill>
                  <a:srgbClr val="000000"/>
                </a:solidFill>
                <a:uFill>
                  <a:solidFill>
                    <a:srgbClr val="000000"/>
                  </a:solidFill>
                </a:uFill>
                <a:latin typeface="Times New Roman"/>
                <a:ea typeface="Times New Roman"/>
                <a:cs typeface="Times New Roman"/>
                <a:sym typeface="Times New Roman"/>
              </a:defRPr>
            </a:pPr>
            <a:r>
              <a:t>1870-1914 globalization pushing the Global South off of that path</a:t>
            </a:r>
          </a:p>
        </p:txBody>
      </p:sp>
      <p:sp>
        <p:nvSpPr>
          <p:cNvPr id="394" name="2020-12-06"/>
          <p:cNvSpPr txBox="1"/>
          <p:nvPr/>
        </p:nvSpPr>
        <p:spPr>
          <a:xfrm>
            <a:off x="8375843" y="13075927"/>
            <a:ext cx="15648764"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000">
                <a:solidFill>
                  <a:srgbClr val="FFFFFF"/>
                </a:solidFill>
                <a:uFill>
                  <a:solidFill>
                    <a:srgbClr val="000000"/>
                  </a:solidFill>
                </a:uFill>
              </a:defRPr>
            </a:lvl1pPr>
          </a:lstStyle>
          <a:p>
            <a:pPr/>
            <a:r>
              <a:t>2020-12-06</a:t>
            </a:r>
          </a:p>
        </p:txBody>
      </p:sp>
      <p:sp>
        <p:nvSpPr>
          <p:cNvPr id="395" name="&lt;&gt;…"/>
          <p:cNvSpPr txBox="1"/>
          <p:nvPr/>
        </p:nvSpPr>
        <p:spPr>
          <a:xfrm>
            <a:off x="347081" y="13075927"/>
            <a:ext cx="15648763"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defRPr>
            </a:pPr>
            <a:r>
              <a:t>&lt;&gt;</a:t>
            </a:r>
          </a:p>
          <a:p>
            <a:pPr algn="l" defTabSz="914400">
              <a:defRPr b="1" sz="1500">
                <a:solidFill>
                  <a:srgbClr val="FFFFFF"/>
                </a:solidFill>
                <a:uFill>
                  <a:solidFill>
                    <a:srgbClr val="000000"/>
                  </a:solidFill>
                </a:uFill>
              </a:defRPr>
            </a:pPr>
            <a:r>
              <a:t>&lt;&gt;</a:t>
            </a:r>
          </a:p>
        </p:txBody>
      </p:sp>
      <p:sp>
        <p:nvSpPr>
          <p:cNvPr id="396" name="The long 20th century will in all likelihood be seen in the future as the watershed in human experience:…"/>
          <p:cNvSpPr txBox="1"/>
          <p:nvPr/>
        </p:nvSpPr>
        <p:spPr>
          <a:xfrm>
            <a:off x="8375843" y="1778000"/>
            <a:ext cx="7620001" cy="11281987"/>
          </a:xfrm>
          <a:prstGeom prst="rect">
            <a:avLst/>
          </a:prstGeom>
          <a:ln w="12700">
            <a:miter lim="400000"/>
          </a:ln>
        </p:spPr>
        <p:txBody>
          <a:bodyPr lIns="91436" tIns="91436" rIns="91436" bIns="91436">
            <a:normAutofit fontScale="100000" lnSpcReduction="0"/>
          </a:bodyPr>
          <a:lstStyle/>
          <a:p>
            <a:pPr algn="l" defTabSz="825500">
              <a:defRPr b="1" sz="2700">
                <a:solidFill>
                  <a:srgbClr val="000080"/>
                </a:solidFill>
              </a:defRPr>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In historical perspective:…"/>
          <p:cNvSpPr txBox="1"/>
          <p:nvPr>
            <p:ph type="body" idx="4294967295"/>
          </p:nvPr>
        </p:nvSpPr>
        <p:spPr>
          <a:xfrm>
            <a:off x="381000" y="2540000"/>
            <a:ext cx="14885160" cy="9825412"/>
          </a:xfrm>
          <a:prstGeom prst="rect">
            <a:avLst/>
          </a:prstGeom>
        </p:spPr>
        <p:txBody>
          <a:bodyPr lIns="91437" tIns="91437" rIns="91437" bIns="91437"/>
          <a:lstStyle/>
          <a:p>
            <a:pPr marL="0" indent="0" defTabSz="367131">
              <a:spcBef>
                <a:spcPts val="800"/>
              </a:spcBef>
              <a:buSzTx/>
              <a:buFont typeface="Arial"/>
              <a:buNone/>
              <a:defRPr b="1" sz="3869">
                <a:solidFill>
                  <a:srgbClr val="808080"/>
                </a:solidFill>
                <a:latin typeface="+mn-lt"/>
                <a:ea typeface="+mn-ea"/>
                <a:cs typeface="+mn-cs"/>
                <a:sym typeface="Helvetica"/>
              </a:defRPr>
            </a:pPr>
            <a:r>
              <a:t>In historical perspective:</a:t>
            </a:r>
          </a:p>
          <a:p>
            <a:pPr marL="193226" indent="-193226" defTabSz="367131">
              <a:spcBef>
                <a:spcPts val="800"/>
              </a:spcBef>
              <a:buSzPct val="100000"/>
              <a:defRPr sz="2920"/>
            </a:pPr>
            <a:r>
              <a:t>Early modern European navies and trading fleets</a:t>
            </a:r>
          </a:p>
          <a:p>
            <a:pPr marL="193226" indent="-193226" defTabSz="367131">
              <a:spcBef>
                <a:spcPts val="800"/>
              </a:spcBef>
              <a:buSzPct val="100000"/>
              <a:defRPr sz="2920"/>
            </a:pPr>
            <a:r>
              <a:t>How did they shape industrial development?</a:t>
            </a:r>
          </a:p>
          <a:p>
            <a:pPr marL="193226" indent="-193226" defTabSz="367131">
              <a:spcBef>
                <a:spcPts val="800"/>
              </a:spcBef>
              <a:buSzPct val="100000"/>
              <a:defRPr sz="2920"/>
            </a:pPr>
            <a:r>
              <a:t>It is agreed:</a:t>
            </a:r>
          </a:p>
          <a:p>
            <a:pPr lvl="1" marL="346198" indent="-193226" defTabSz="367131">
              <a:spcBef>
                <a:spcPts val="800"/>
              </a:spcBef>
              <a:buSzPct val="100000"/>
              <a:defRPr sz="2920"/>
            </a:pPr>
            <a:r>
              <a:t>catastrophes for west Africa</a:t>
            </a:r>
          </a:p>
          <a:p>
            <a:pPr lvl="1" marL="346198" indent="-193226" defTabSz="367131">
              <a:spcBef>
                <a:spcPts val="800"/>
              </a:spcBef>
              <a:buSzPct val="100000"/>
              <a:defRPr sz="2920"/>
            </a:pPr>
            <a:r>
              <a:t>catastrophes for the Amerindians</a:t>
            </a:r>
          </a:p>
          <a:p>
            <a:pPr lvl="1" marL="346198" indent="-193226" defTabSz="367131">
              <a:spcBef>
                <a:spcPts val="800"/>
              </a:spcBef>
              <a:buSzPct val="100000"/>
              <a:defRPr sz="2920"/>
            </a:pPr>
            <a:r>
              <a:t>catastrophe (long term) for Moghul and other Indian elites that did not ally with the British.</a:t>
            </a:r>
          </a:p>
          <a:p>
            <a:pPr marL="193226" indent="-193226" defTabSz="367131">
              <a:spcBef>
                <a:spcPts val="800"/>
              </a:spcBef>
              <a:buSzPct val="100000"/>
              <a:defRPr sz="2920"/>
            </a:pPr>
            <a:r>
              <a:t>But how much did pre-industrial trade and plunder affect European development? That is not so clear.</a:t>
            </a:r>
          </a:p>
          <a:p>
            <a:pPr marL="193226" indent="-193226" defTabSz="367131">
              <a:spcBef>
                <a:spcPts val="800"/>
              </a:spcBef>
              <a:buSzPct val="100000"/>
              <a:defRPr sz="2920"/>
            </a:pPr>
            <a:r>
              <a:t>A key link: sugar</a:t>
            </a:r>
          </a:p>
          <a:p>
            <a:pPr marL="193226" indent="-193226" defTabSz="367131">
              <a:spcBef>
                <a:spcPts val="800"/>
              </a:spcBef>
              <a:buSzPct val="100000"/>
              <a:defRPr sz="2920"/>
            </a:pPr>
            <a:r>
              <a:t>A key link: cotton</a:t>
            </a:r>
          </a:p>
          <a:p>
            <a:pPr lvl="1" marL="346198" indent="-193226" defTabSz="367131">
              <a:spcBef>
                <a:spcPts val="800"/>
              </a:spcBef>
              <a:buSzPct val="100000"/>
              <a:defRPr sz="2920"/>
            </a:pPr>
            <a:r>
              <a:t>George Washington in the 1790s: 1/4 of wealth upon your death, </a:t>
            </a:r>
          </a:p>
          <a:p>
            <a:pPr lvl="1" marL="346198" indent="-193226" defTabSz="367131">
              <a:spcBef>
                <a:spcPts val="800"/>
              </a:spcBef>
              <a:buSzPct val="100000"/>
              <a:defRPr sz="2920"/>
            </a:pPr>
            <a:r>
              <a:t>For Jefferson Davis it wasn’t his land but rather his slaves that were three-quarters of his wealth</a:t>
            </a:r>
          </a:p>
          <a:p>
            <a:pPr lvl="2" marL="499169" indent="-193226" defTabSz="367131">
              <a:spcBef>
                <a:spcPts val="800"/>
              </a:spcBef>
              <a:buSzPct val="100000"/>
              <a:defRPr sz="2920"/>
            </a:pPr>
            <a:r>
              <a:t>And so the U.S. Civil War of 1861-5 came.</a:t>
            </a:r>
          </a:p>
          <a:p>
            <a:pPr marL="193226" indent="-193226" defTabSz="367131">
              <a:spcBef>
                <a:spcPts val="800"/>
              </a:spcBef>
              <a:buSzPct val="100000"/>
              <a:defRPr sz="2920"/>
            </a:pPr>
            <a:r>
              <a:t>Early-nineteenth century cotton showed what late-eighteenth century sugar had prefigured:</a:t>
            </a:r>
          </a:p>
          <a:p>
            <a:pPr marL="193226" indent="-193226" defTabSz="367131">
              <a:spcBef>
                <a:spcPts val="800"/>
              </a:spcBef>
              <a:buSzPct val="100000"/>
              <a:defRPr sz="2920"/>
            </a:pPr>
            <a:r>
              <a:t>Long-distance transoceanic trade could matter not just for the consumption pattern of an elite but for an economy, a polity, and a society as a whole. </a:t>
            </a:r>
          </a:p>
          <a:p>
            <a:pPr marL="193226" indent="-193226" defTabSz="367131">
              <a:spcBef>
                <a:spcPts val="800"/>
              </a:spcBef>
              <a:buSzPct val="100000"/>
              <a:defRPr sz="2920"/>
            </a:pPr>
            <a:r>
              <a:t>This process was kicked up a notch, into much higher gear, come 1870.</a:t>
            </a:r>
          </a:p>
        </p:txBody>
      </p:sp>
      <p:sp>
        <p:nvSpPr>
          <p:cNvPr id="401" name="Globalization Advances and Retreats"/>
          <p:cNvSpPr txBox="1"/>
          <p:nvPr>
            <p:ph type="title" idx="4294967295"/>
          </p:nvPr>
        </p:nvSpPr>
        <p:spPr>
          <a:xfrm>
            <a:off x="381000" y="-3"/>
            <a:ext cx="23622000" cy="2540004"/>
          </a:xfrm>
          <a:prstGeom prst="rect">
            <a:avLst/>
          </a:prstGeom>
        </p:spPr>
        <p:txBody>
          <a:bodyPr lIns="91437" tIns="91437" rIns="91437" bIns="91437" anchor="ctr"/>
          <a:lstStyle>
            <a:lvl1pPr algn="ctr" defTabSz="322600">
              <a:defRPr spc="0" sz="8960">
                <a:uFill>
                  <a:solidFill>
                    <a:srgbClr val="000000"/>
                  </a:solidFill>
                </a:uFill>
              </a:defRPr>
            </a:lvl1pPr>
          </a:lstStyle>
          <a:p>
            <a:pPr/>
            <a:r>
              <a:t>4.3.1. Globalization Advances and Retreats</a:t>
            </a:r>
          </a:p>
        </p:txBody>
      </p:sp>
      <p:pic>
        <p:nvPicPr>
          <p:cNvPr id="402" name="Screen Shot 2020-02-18 at 9.00.59 AM.png" descr="Screen Shot 2020-02-18 at 9.00.59 AM.png"/>
          <p:cNvPicPr>
            <a:picLocks noChangeAspect="1"/>
          </p:cNvPicPr>
          <p:nvPr/>
        </p:nvPicPr>
        <p:blipFill>
          <a:blip r:embed="rId3">
            <a:extLst/>
          </a:blip>
          <a:stretch>
            <a:fillRect/>
          </a:stretch>
        </p:blipFill>
        <p:spPr>
          <a:xfrm>
            <a:off x="15355566" y="2540000"/>
            <a:ext cx="8647435" cy="5243937"/>
          </a:xfrm>
          <a:prstGeom prst="rect">
            <a:avLst/>
          </a:prstGeom>
          <a:ln w="12700">
            <a:miter lim="400000"/>
          </a:ln>
        </p:spPr>
      </p:pic>
      <p:pic>
        <p:nvPicPr>
          <p:cNvPr id="403" name="Image" descr="Image"/>
          <p:cNvPicPr>
            <a:picLocks noChangeAspect="1"/>
          </p:cNvPicPr>
          <p:nvPr/>
        </p:nvPicPr>
        <p:blipFill>
          <a:blip r:embed="rId4">
            <a:extLst/>
          </a:blip>
          <a:stretch>
            <a:fillRect/>
          </a:stretch>
        </p:blipFill>
        <p:spPr>
          <a:xfrm>
            <a:off x="15355565" y="7649428"/>
            <a:ext cx="8647435" cy="5187801"/>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7" name="About the Course"/>
          <p:cNvSpPr txBox="1"/>
          <p:nvPr>
            <p:ph type="title" idx="4294967295"/>
          </p:nvPr>
        </p:nvSpPr>
        <p:spPr>
          <a:xfrm>
            <a:off x="381000" y="-5"/>
            <a:ext cx="23622000" cy="2534254"/>
          </a:xfrm>
          <a:prstGeom prst="rect">
            <a:avLst/>
          </a:prstGeom>
        </p:spPr>
        <p:txBody>
          <a:bodyPr lIns="91436" tIns="91436" rIns="91436" bIns="91436" anchor="ctr"/>
          <a:lstStyle>
            <a:lvl1pPr algn="ctr" defTabSz="914400">
              <a:defRPr spc="0" sz="12000">
                <a:uFill>
                  <a:solidFill>
                    <a:srgbClr val="000000"/>
                  </a:solidFill>
                </a:uFill>
              </a:defRPr>
            </a:lvl1pPr>
          </a:lstStyle>
          <a:p>
            <a:pPr/>
            <a:r>
              <a:t>Export Share Doubling</a:t>
            </a:r>
          </a:p>
        </p:txBody>
      </p:sp>
      <p:sp>
        <p:nvSpPr>
          <p:cNvPr id="408" name="The long 20th century will in all likelihood be seen in the future as the watershed in human experience:…"/>
          <p:cNvSpPr txBox="1"/>
          <p:nvPr>
            <p:ph type="body" idx="4294967295"/>
          </p:nvPr>
        </p:nvSpPr>
        <p:spPr>
          <a:xfrm>
            <a:off x="381000" y="2534248"/>
            <a:ext cx="23622000" cy="9956327"/>
          </a:xfrm>
          <a:prstGeom prst="rect">
            <a:avLst/>
          </a:prstGeom>
        </p:spPr>
        <p:txBody>
          <a:bodyPr lIns="91436" tIns="91436" rIns="91436" bIns="91436"/>
          <a:lstStyle/>
          <a:p>
            <a:pPr marL="0" indent="0" defTabSz="718441">
              <a:spcBef>
                <a:spcPts val="1600"/>
              </a:spcBef>
              <a:buSzTx/>
              <a:buFont typeface="Arial"/>
              <a:buNone/>
              <a:defRPr b="1" sz="3900">
                <a:solidFill>
                  <a:srgbClr val="808080"/>
                </a:solidFill>
                <a:latin typeface="+mn-lt"/>
                <a:ea typeface="+mn-ea"/>
                <a:cs typeface="+mn-cs"/>
                <a:sym typeface="Helvetica"/>
              </a:defRPr>
            </a:pPr>
            <a:r>
              <a:t>World trade as a proportion of production:</a:t>
            </a:r>
            <a:endParaRPr>
              <a:latin typeface="Times New Roman"/>
              <a:ea typeface="Times New Roman"/>
              <a:cs typeface="Times New Roman"/>
              <a:sym typeface="Times New Roman"/>
            </a:endParaRPr>
          </a:p>
          <a:p>
            <a:pPr marL="378125" indent="-378125" defTabSz="718441">
              <a:spcBef>
                <a:spcPts val="1600"/>
              </a:spcBef>
              <a:buSzPct val="100000"/>
              <a:defRPr sz="3900"/>
            </a:pPr>
            <a:r>
              <a:t>What was it? </a:t>
            </a:r>
          </a:p>
          <a:p>
            <a:pPr lvl="1" marL="677478" indent="-378126" defTabSz="718441">
              <a:spcBef>
                <a:spcPts val="1600"/>
              </a:spcBef>
              <a:buSzPct val="100000"/>
              <a:defRPr sz="3900"/>
            </a:pPr>
            <a:r>
              <a:t>It was perhaps 1.5% in 1500</a:t>
            </a:r>
          </a:p>
          <a:p>
            <a:pPr lvl="1" marL="677478" indent="-378126" defTabSz="718441">
              <a:spcBef>
                <a:spcPts val="1600"/>
              </a:spcBef>
              <a:buSzPct val="100000"/>
              <a:defRPr sz="3900"/>
            </a:pPr>
            <a:r>
              <a:t>Rising to perhaps 3% by 1700</a:t>
            </a:r>
          </a:p>
          <a:p>
            <a:pPr lvl="1" marL="677478" indent="-378126" defTabSz="718441">
              <a:spcBef>
                <a:spcPts val="1600"/>
              </a:spcBef>
              <a:buSzPct val="100000"/>
              <a:defRPr sz="3900"/>
            </a:pPr>
            <a:r>
              <a:t>By 1850, about 4%. </a:t>
            </a:r>
          </a:p>
          <a:p>
            <a:pPr lvl="1" marL="677478" indent="-378126" defTabSz="718441">
              <a:spcBef>
                <a:spcPts val="1600"/>
              </a:spcBef>
              <a:buSzPct val="100000"/>
              <a:defRPr sz="3900"/>
            </a:pPr>
            <a:r>
              <a:t>In 1880 it was 11%</a:t>
            </a:r>
          </a:p>
          <a:p>
            <a:pPr lvl="1" marL="677478" indent="-378126" defTabSz="718441">
              <a:spcBef>
                <a:spcPts val="1600"/>
              </a:spcBef>
              <a:buSzPct val="100000"/>
              <a:defRPr sz="3900"/>
            </a:pPr>
            <a:r>
              <a:t>By 1913 17%. </a:t>
            </a:r>
          </a:p>
          <a:p>
            <a:pPr lvl="1" marL="677478" indent="-378126" defTabSz="718441">
              <a:spcBef>
                <a:spcPts val="1600"/>
              </a:spcBef>
              <a:buSzPct val="100000"/>
              <a:defRPr sz="3900"/>
            </a:pPr>
            <a:r>
              <a:t>(Today it is 30%.)</a:t>
            </a:r>
          </a:p>
          <a:p>
            <a:pPr marL="378125" indent="-378125" defTabSz="718441">
              <a:spcBef>
                <a:spcPts val="1600"/>
              </a:spcBef>
              <a:buSzPct val="100000"/>
              <a:defRPr sz="3900"/>
            </a:pPr>
            <a:r>
              <a:t>Between 1870 and 1913 exports as a share of national product doubled in India and in what was to become Indonesia</a:t>
            </a:r>
          </a:p>
          <a:p>
            <a:pPr lvl="1" marL="677478" indent="-378126" defTabSz="718441">
              <a:spcBef>
                <a:spcPts val="1600"/>
              </a:spcBef>
              <a:buSzPct val="100000"/>
              <a:defRPr sz="3900"/>
            </a:pPr>
            <a:r>
              <a:t>And more than tripled in China. </a:t>
            </a:r>
          </a:p>
          <a:p>
            <a:pPr lvl="1" marL="677478" indent="-378126" defTabSz="718441">
              <a:spcBef>
                <a:spcPts val="1600"/>
              </a:spcBef>
              <a:buSzPct val="100000"/>
              <a:defRPr sz="3900"/>
            </a:pPr>
            <a:r>
              <a:t>And in Japan—forced out of two and a half centuries of Tokugawa isolationism by U.S. gunboats—exports rose from practically zero to 7 percent of national product in only two pre-World War I generations.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2" name="About the Course"/>
          <p:cNvSpPr txBox="1"/>
          <p:nvPr>
            <p:ph type="title" idx="4294967295"/>
          </p:nvPr>
        </p:nvSpPr>
        <p:spPr>
          <a:xfrm>
            <a:off x="381000" y="-5"/>
            <a:ext cx="23622000" cy="2534254"/>
          </a:xfrm>
          <a:prstGeom prst="rect">
            <a:avLst/>
          </a:prstGeom>
        </p:spPr>
        <p:txBody>
          <a:bodyPr lIns="91436" tIns="91436" rIns="91436" bIns="91436" anchor="ctr"/>
          <a:lstStyle>
            <a:lvl1pPr algn="ctr" defTabSz="328361">
              <a:defRPr spc="0" sz="8550">
                <a:uFill>
                  <a:solidFill>
                    <a:srgbClr val="000000"/>
                  </a:solidFill>
                </a:uFill>
              </a:defRPr>
            </a:lvl1pPr>
          </a:lstStyle>
          <a:p>
            <a:pPr/>
            <a:r>
              <a:t>Comparative Advantage in Goods Production</a:t>
            </a:r>
          </a:p>
        </p:txBody>
      </p:sp>
      <p:sp>
        <p:nvSpPr>
          <p:cNvPr id="413" name="The long 20th century will in all likelihood be seen in the future as the watershed in human experience:…"/>
          <p:cNvSpPr txBox="1"/>
          <p:nvPr>
            <p:ph type="body" idx="4294967295"/>
          </p:nvPr>
        </p:nvSpPr>
        <p:spPr>
          <a:xfrm>
            <a:off x="381000" y="2534248"/>
            <a:ext cx="23622000" cy="10507921"/>
          </a:xfrm>
          <a:prstGeom prst="rect">
            <a:avLst/>
          </a:prstGeom>
        </p:spPr>
        <p:txBody>
          <a:bodyPr lIns="91436" tIns="91436" rIns="91436" bIns="91436"/>
          <a:lstStyle/>
          <a:p>
            <a:pPr marL="0" indent="0" defTabSz="567568">
              <a:spcBef>
                <a:spcPts val="1300"/>
              </a:spcBef>
              <a:buSzTx/>
              <a:buFont typeface="Arial"/>
              <a:buNone/>
              <a:defRPr b="1" sz="3686">
                <a:solidFill>
                  <a:srgbClr val="808080"/>
                </a:solidFill>
                <a:latin typeface="+mn-lt"/>
                <a:ea typeface="+mn-ea"/>
                <a:cs typeface="+mn-cs"/>
                <a:sym typeface="Helvetica"/>
              </a:defRPr>
            </a:pPr>
            <a:r>
              <a:t>Falling costs of transporting goods</a:t>
            </a:r>
            <a:endParaRPr>
              <a:latin typeface="Times New Roman"/>
              <a:ea typeface="Times New Roman"/>
              <a:cs typeface="Times New Roman"/>
              <a:sym typeface="Times New Roman"/>
            </a:endParaRPr>
          </a:p>
          <a:p>
            <a:pPr marL="298719" indent="-298719" defTabSz="567568">
              <a:spcBef>
                <a:spcPts val="1300"/>
              </a:spcBef>
              <a:buSzPct val="100000"/>
              <a:defRPr sz="3686"/>
            </a:pPr>
            <a:r>
              <a:t>After 1870 every commodity that was neither exceptionally fragile nor spoilable could be carried from port to port across oceans for pennies</a:t>
            </a:r>
          </a:p>
          <a:p>
            <a:pPr marL="298719" indent="-298719" defTabSz="567568">
              <a:spcBef>
                <a:spcPts val="1300"/>
              </a:spcBef>
              <a:buSzPct val="100000"/>
              <a:defRPr sz="3686"/>
            </a:pPr>
            <a:r>
              <a:t>Every place in the world became, as long as there were docks and railroads, cheek-by-jowl to every other place</a:t>
            </a:r>
          </a:p>
          <a:p>
            <a:pPr marL="298719" indent="-298719" defTabSz="567568">
              <a:spcBef>
                <a:spcPts val="1300"/>
              </a:spcBef>
              <a:buSzPct val="100000"/>
              <a:defRPr sz="3686"/>
            </a:pPr>
            <a:r>
              <a:t>Northwest Europe thus gained an enormous trade-relevant comparative advantage in making manufactured goods </a:t>
            </a:r>
          </a:p>
          <a:p>
            <a:pPr marL="298719" indent="-298719" defTabSz="567568">
              <a:spcBef>
                <a:spcPts val="1300"/>
              </a:spcBef>
              <a:buSzPct val="100000"/>
              <a:defRPr sz="3686"/>
            </a:pPr>
            <a:r>
              <a:t>Natural resources out on the periphery become more valuable as well</a:t>
            </a:r>
          </a:p>
          <a:p>
            <a:pPr marL="298719" indent="-298719" defTabSz="567568">
              <a:spcBef>
                <a:spcPts val="1300"/>
              </a:spcBef>
              <a:buSzPct val="100000"/>
              <a:defRPr sz="3686"/>
            </a:pPr>
            <a:r>
              <a:t>The industrializing and then industrial core specializing in the manufactures because of its superior access to industrial technologies. </a:t>
            </a:r>
          </a:p>
          <a:p>
            <a:pPr marL="298719" indent="-298719" defTabSz="567568">
              <a:spcBef>
                <a:spcPts val="1300"/>
              </a:spcBef>
              <a:buSzPct val="100000"/>
              <a:defRPr sz="3686"/>
            </a:pPr>
            <a:r>
              <a:t>The periphery specializing in the primary products that its new infrastructure allowed it to export</a:t>
            </a:r>
          </a:p>
          <a:p>
            <a:pPr marL="298719" indent="-298719" defTabSz="567568">
              <a:spcBef>
                <a:spcPts val="1300"/>
              </a:spcBef>
              <a:buSzPct val="100000"/>
              <a:defRPr sz="3686"/>
            </a:pPr>
            <a:r>
              <a:t>These abilities to specialize were of great economic value</a:t>
            </a:r>
          </a:p>
          <a:p>
            <a:pPr marL="298719" indent="-298719" defTabSz="567568">
              <a:spcBef>
                <a:spcPts val="1300"/>
              </a:spcBef>
              <a:buSzPct val="100000"/>
              <a:defRPr sz="3686"/>
            </a:pPr>
            <a:r>
              <a:t>The growth of trade meant that the logic of comparative advantage could be deployed to its limit</a:t>
            </a:r>
          </a:p>
          <a:p>
            <a:pPr marL="298719" indent="-298719" defTabSz="567568">
              <a:spcBef>
                <a:spcPts val="1300"/>
              </a:spcBef>
              <a:buSzPct val="100000"/>
              <a:defRPr sz="3686"/>
            </a:pPr>
            <a:r>
              <a:t>Once a comparative advantage was established it tended to stick for a long time. </a:t>
            </a:r>
          </a:p>
          <a:p>
            <a:pPr lvl="1" marL="535207" indent="-298719" defTabSz="567568">
              <a:spcBef>
                <a:spcPts val="1300"/>
              </a:spcBef>
              <a:buSzPct val="100000"/>
              <a:defRPr sz="3686"/>
            </a:pPr>
            <a:r>
              <a:t>There was nothing about British-invented automated textile machinery that made it work better in Britain than elsewhere. </a:t>
            </a:r>
          </a:p>
          <a:p>
            <a:pPr lvl="1" marL="535207" indent="-298719" defTabSz="567568">
              <a:spcBef>
                <a:spcPts val="1300"/>
              </a:spcBef>
              <a:buSzPct val="100000"/>
              <a:defRPr sz="3686"/>
            </a:pPr>
            <a:r>
              <a:t>Yet Britain’s cotton textile exports rose decade after decade from 1800 to 1910, peaking at 1.1 billion pounds a year in the years before World War I</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7" name="About the Course"/>
          <p:cNvSpPr txBox="1"/>
          <p:nvPr>
            <p:ph type="title" idx="4294967295"/>
          </p:nvPr>
        </p:nvSpPr>
        <p:spPr>
          <a:xfrm>
            <a:off x="381000" y="-5"/>
            <a:ext cx="23622000" cy="2534254"/>
          </a:xfrm>
          <a:prstGeom prst="rect">
            <a:avLst/>
          </a:prstGeom>
        </p:spPr>
        <p:txBody>
          <a:bodyPr lIns="91436" tIns="91436" rIns="91436" bIns="91436" anchor="ctr"/>
          <a:lstStyle>
            <a:lvl1pPr algn="ctr" defTabSz="914400">
              <a:defRPr spc="0" sz="12000">
                <a:solidFill>
                  <a:srgbClr val="808080"/>
                </a:solidFill>
                <a:uFill>
                  <a:solidFill>
                    <a:srgbClr val="000000"/>
                  </a:solidFill>
                </a:uFill>
              </a:defRPr>
            </a:lvl1pPr>
          </a:lstStyle>
          <a:p>
            <a:pPr/>
            <a:r>
              <a:t>Migration</a:t>
            </a:r>
          </a:p>
        </p:txBody>
      </p:sp>
      <p:sp>
        <p:nvSpPr>
          <p:cNvPr id="418" name="The long 20th century will in all likelihood be seen in the future as the watershed in human experience:…"/>
          <p:cNvSpPr txBox="1"/>
          <p:nvPr>
            <p:ph type="body" idx="4294967295"/>
          </p:nvPr>
        </p:nvSpPr>
        <p:spPr>
          <a:xfrm>
            <a:off x="381000" y="2534248"/>
            <a:ext cx="23622000" cy="9956327"/>
          </a:xfrm>
          <a:prstGeom prst="rect">
            <a:avLst/>
          </a:prstGeom>
        </p:spPr>
        <p:txBody>
          <a:bodyPr lIns="91436" tIns="91436" rIns="91436" bIns="91436"/>
          <a:lstStyle/>
          <a:p>
            <a:pPr marL="0" indent="0" defTabSz="718441">
              <a:spcBef>
                <a:spcPts val="1600"/>
              </a:spcBef>
              <a:buSzTx/>
              <a:buFont typeface="Arial"/>
              <a:buNone/>
              <a:defRPr b="1" sz="3600">
                <a:latin typeface="+mn-lt"/>
                <a:ea typeface="+mn-ea"/>
                <a:cs typeface="+mn-cs"/>
                <a:sym typeface="Helvetica"/>
              </a:defRPr>
            </a:pPr>
            <a:r>
              <a:t>100 million people leave their continents</a:t>
            </a:r>
            <a:endParaRPr>
              <a:latin typeface="Times New Roman"/>
              <a:ea typeface="Times New Roman"/>
              <a:cs typeface="Times New Roman"/>
              <a:sym typeface="Times New Roman"/>
            </a:endParaRPr>
          </a:p>
          <a:p>
            <a:pPr marL="378125" indent="-378125" defTabSz="718441">
              <a:spcBef>
                <a:spcPts val="1600"/>
              </a:spcBef>
              <a:buSzPct val="100000"/>
              <a:defRPr sz="3600"/>
            </a:pPr>
            <a:r>
              <a:t>50 million from Europe</a:t>
            </a:r>
          </a:p>
          <a:p>
            <a:pPr marL="378125" indent="-378125" defTabSz="718441">
              <a:spcBef>
                <a:spcPts val="1600"/>
              </a:spcBef>
              <a:buSzPct val="100000"/>
              <a:defRPr sz="3600"/>
            </a:pPr>
            <a:r>
              <a:t>50 million from Asia</a:t>
            </a:r>
          </a:p>
          <a:p>
            <a:pPr marL="378125" indent="-378125" defTabSz="718441">
              <a:spcBef>
                <a:spcPts val="1600"/>
              </a:spcBef>
              <a:buSzPct val="100000"/>
              <a:defRPr sz="3600"/>
            </a:pPr>
            <a:r>
              <a:t>Asian migrants largely kept out of rich, temperate zone economies</a:t>
            </a:r>
          </a:p>
          <a:p>
            <a:pPr marL="378125" indent="-378125" defTabSz="718441">
              <a:spcBef>
                <a:spcPts val="1600"/>
              </a:spcBef>
              <a:buSzPct val="100000"/>
              <a:defRPr sz="3600"/>
            </a:pPr>
            <a:r>
              <a:t>This migration made for a richer world</a:t>
            </a:r>
          </a:p>
          <a:p>
            <a:pPr lvl="1" marL="677478" indent="-378126" defTabSz="718441">
              <a:spcBef>
                <a:spcPts val="1600"/>
              </a:spcBef>
              <a:buSzPct val="100000"/>
              <a:defRPr sz="3600"/>
            </a:pPr>
            <a:r>
              <a:t>Those who moved and stayed found their and their children’s living standards boosted x2.5</a:t>
            </a:r>
          </a:p>
          <a:p>
            <a:pPr lvl="1" marL="677478" indent="-378126" defTabSz="718441">
              <a:spcBef>
                <a:spcPts val="1600"/>
              </a:spcBef>
              <a:buSzPct val="100000"/>
              <a:defRPr sz="3600"/>
            </a:pPr>
            <a:r>
              <a:t>Those who returned to their places of birth usually did so with substantial nest eggs, and became local notables or at least middle class</a:t>
            </a:r>
          </a:p>
          <a:p>
            <a:pPr marL="378125" indent="-378125" defTabSz="718441">
              <a:spcBef>
                <a:spcPts val="1600"/>
              </a:spcBef>
              <a:buSzPct val="100000"/>
              <a:defRPr sz="3600"/>
            </a:pPr>
            <a:r>
              <a:t>Raised wages in Europe—those who left were no longer competing to bid down wages</a:t>
            </a:r>
          </a:p>
          <a:p>
            <a:pPr marL="378125" indent="-378125" defTabSz="718441">
              <a:spcBef>
                <a:spcPts val="1600"/>
              </a:spcBef>
              <a:buSzPct val="100000"/>
              <a:defRPr sz="3600"/>
            </a:pPr>
            <a:r>
              <a:t>Raised living standards in Europe by more: falling prices of necessities</a:t>
            </a:r>
          </a:p>
          <a:p>
            <a:pPr marL="378125" indent="-378125" defTabSz="718441">
              <a:spcBef>
                <a:spcPts val="1600"/>
              </a:spcBef>
              <a:buSzPct val="100000"/>
              <a:defRPr sz="3600"/>
            </a:pPr>
            <a:r>
              <a:t>Capital and enterprise followed migration overseas</a:t>
            </a:r>
          </a:p>
          <a:p>
            <a:pPr marL="378125" indent="-378125" defTabSz="718441">
              <a:spcBef>
                <a:spcPts val="1600"/>
              </a:spcBef>
              <a:buSzPct val="100000"/>
              <a:defRPr sz="3600"/>
            </a:pPr>
            <a:r>
              <a:t>But migration lowered wages in tropical-zone recipient regions, and their competitors, relative to a no-migration counterfactual</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2" name="In historical perspective:…"/>
          <p:cNvSpPr txBox="1"/>
          <p:nvPr>
            <p:ph type="body" sz="half" idx="4294967295"/>
          </p:nvPr>
        </p:nvSpPr>
        <p:spPr>
          <a:xfrm>
            <a:off x="380998" y="2540006"/>
            <a:ext cx="11588923" cy="10626391"/>
          </a:xfrm>
          <a:prstGeom prst="rect">
            <a:avLst/>
          </a:prstGeom>
        </p:spPr>
        <p:txBody>
          <a:bodyPr lIns="91436" tIns="91436" rIns="91436" bIns="91436"/>
          <a:lstStyle/>
          <a:p>
            <a:pPr marL="0" indent="0" defTabSz="447597">
              <a:buSzTx/>
              <a:buNone/>
              <a:defRPr b="1" sz="3559">
                <a:solidFill>
                  <a:srgbClr val="808080"/>
                </a:solidFill>
                <a:latin typeface="+mn-lt"/>
                <a:ea typeface="+mn-ea"/>
                <a:cs typeface="+mn-cs"/>
                <a:sym typeface="Helvetica"/>
              </a:defRPr>
            </a:pPr>
            <a:r>
              <a:t>Expected convergence:</a:t>
            </a:r>
          </a:p>
          <a:p>
            <a:pPr marL="235575" indent="-235575" defTabSz="447597">
              <a:buSzPct val="100000"/>
              <a:defRPr sz="3559"/>
            </a:pPr>
            <a:r>
              <a:t>Economists have always expected the "convergence"of national productivity levels </a:t>
            </a:r>
          </a:p>
          <a:p>
            <a:pPr marL="235575" indent="-235575" defTabSz="447597">
              <a:buSzPct val="100000"/>
              <a:defRPr sz="3559"/>
            </a:pPr>
            <a:r>
              <a:t>The theoretical logic behind this belief is powerful. </a:t>
            </a:r>
          </a:p>
          <a:p>
            <a:pPr marL="235575" indent="-235575" defTabSz="447597">
              <a:buSzPct val="100000"/>
              <a:defRPr sz="3559"/>
            </a:pPr>
            <a:r>
              <a:t>Will Baumol expressing conventional wisdom</a:t>
            </a:r>
          </a:p>
          <a:p>
            <a:pPr lvl="1" marL="422077" indent="-235577" defTabSz="447597">
              <a:buSzPct val="100000"/>
              <a:defRPr sz="3559"/>
            </a:pPr>
            <a:r>
              <a:t>Personal biography</a:t>
            </a:r>
          </a:p>
          <a:p>
            <a:pPr lvl="1" marL="422077" indent="-235577" defTabSz="447597">
              <a:buSzPct val="100000"/>
              <a:defRPr sz="3559"/>
            </a:pPr>
          </a:p>
          <a:p>
            <a:pPr marL="0" indent="0" defTabSz="358077">
              <a:buSzTx/>
              <a:buNone/>
              <a:defRPr b="1" sz="3559">
                <a:solidFill>
                  <a:srgbClr val="808080"/>
                </a:solidFill>
                <a:latin typeface="+mn-lt"/>
                <a:ea typeface="+mn-ea"/>
                <a:cs typeface="+mn-cs"/>
                <a:sym typeface="Helvetica"/>
              </a:defRPr>
            </a:pPr>
            <a:r>
              <a:t>Do these two things:</a:t>
            </a:r>
          </a:p>
          <a:p>
            <a:pPr marL="188461" indent="-188461" defTabSz="358077">
              <a:buSzPct val="100000"/>
              <a:defRPr sz="3559"/>
            </a:pPr>
            <a:r>
              <a:t>Remove sample selection</a:t>
            </a:r>
          </a:p>
          <a:p>
            <a:pPr marL="188461" indent="-188461" defTabSz="358077">
              <a:buSzPct val="100000"/>
              <a:defRPr sz="3559"/>
            </a:pPr>
            <a:r>
              <a:t>Account for errors in variables in the past</a:t>
            </a:r>
          </a:p>
          <a:p>
            <a:pPr marL="188461" indent="-188461" defTabSz="358077">
              <a:buSzPct val="100000"/>
              <a:defRPr sz="3559"/>
            </a:pPr>
            <a:r>
              <a:t>Then any convergence tendency in the data disappears</a:t>
            </a:r>
          </a:p>
          <a:p>
            <a:pPr marL="188461" indent="-188461" defTabSz="358077">
              <a:buSzPct val="100000"/>
              <a:defRPr sz="3559"/>
            </a:pPr>
            <a:r>
              <a:t>This is much stronger than “there is divergence because some countries had good institutions, and others could not learn”</a:t>
            </a:r>
          </a:p>
          <a:p>
            <a:pPr marL="188461" indent="-188461" defTabSz="358077">
              <a:buSzPct val="100000"/>
              <a:defRPr sz="3559"/>
            </a:pPr>
            <a:r>
              <a:t>This is, rather: “even if you have good institutions at one particular point in time, it can still get very messed up”</a:t>
            </a:r>
          </a:p>
          <a:p>
            <a:pPr marL="188461" indent="-188461" defTabSz="358077">
              <a:buSzPct val="100000"/>
              <a:defRPr sz="3559"/>
            </a:pPr>
            <a:r>
              <a:t>But perhaps the once-rich twenty-two contained some countries that were rich by accident, and thus should not be in a sample of countries that had successfully developed “modernizing institutions”?</a:t>
            </a:r>
          </a:p>
        </p:txBody>
      </p:sp>
      <p:sp>
        <p:nvSpPr>
          <p:cNvPr id="423" name="Globalization Advances and Retreats"/>
          <p:cNvSpPr txBox="1"/>
          <p:nvPr>
            <p:ph type="title" idx="4294967295"/>
          </p:nvPr>
        </p:nvSpPr>
        <p:spPr>
          <a:xfrm>
            <a:off x="381000" y="-5"/>
            <a:ext cx="23622000" cy="2540008"/>
          </a:xfrm>
          <a:prstGeom prst="rect">
            <a:avLst/>
          </a:prstGeom>
        </p:spPr>
        <p:txBody>
          <a:bodyPr lIns="91436" tIns="91436" rIns="91436" bIns="91436" anchor="ctr"/>
          <a:lstStyle>
            <a:lvl1pPr algn="ctr" defTabSz="553028">
              <a:defRPr spc="0" sz="11400">
                <a:uFill>
                  <a:solidFill>
                    <a:srgbClr val="000000"/>
                  </a:solidFill>
                </a:uFill>
              </a:defRPr>
            </a:lvl1pPr>
          </a:lstStyle>
          <a:p>
            <a:pPr/>
            <a:r>
              <a:t>4.4.1. Convergence’s Absence</a:t>
            </a:r>
          </a:p>
        </p:txBody>
      </p:sp>
      <p:pic>
        <p:nvPicPr>
          <p:cNvPr id="424" name="Image" descr="Image"/>
          <p:cNvPicPr>
            <a:picLocks noChangeAspect="1"/>
          </p:cNvPicPr>
          <p:nvPr/>
        </p:nvPicPr>
        <p:blipFill>
          <a:blip r:embed="rId3">
            <a:extLst/>
          </a:blip>
          <a:stretch>
            <a:fillRect/>
          </a:stretch>
        </p:blipFill>
        <p:spPr>
          <a:xfrm>
            <a:off x="12296578" y="1872351"/>
            <a:ext cx="11151383" cy="7502213"/>
          </a:xfrm>
          <a:prstGeom prst="rect">
            <a:avLst/>
          </a:prstGeom>
          <a:ln w="12700">
            <a:miter lim="400000"/>
          </a:ln>
        </p:spPr>
      </p:pic>
      <p:pic>
        <p:nvPicPr>
          <p:cNvPr id="425" name="Image" descr="Image"/>
          <p:cNvPicPr>
            <a:picLocks noChangeAspect="1"/>
          </p:cNvPicPr>
          <p:nvPr/>
        </p:nvPicPr>
        <p:blipFill>
          <a:blip r:embed="rId4">
            <a:extLst/>
          </a:blip>
          <a:stretch>
            <a:fillRect/>
          </a:stretch>
        </p:blipFill>
        <p:spPr>
          <a:xfrm>
            <a:off x="17859244" y="9374563"/>
            <a:ext cx="6143757" cy="4341437"/>
          </a:xfrm>
          <a:prstGeom prst="rect">
            <a:avLst/>
          </a:prstGeom>
          <a:ln w="12700">
            <a:miter lim="400000"/>
          </a:ln>
        </p:spPr>
      </p:pic>
      <p:pic>
        <p:nvPicPr>
          <p:cNvPr id="426" name="Image" descr="Image"/>
          <p:cNvPicPr>
            <a:picLocks noChangeAspect="1"/>
          </p:cNvPicPr>
          <p:nvPr/>
        </p:nvPicPr>
        <p:blipFill>
          <a:blip r:embed="rId5">
            <a:extLst/>
          </a:blip>
          <a:stretch>
            <a:fillRect/>
          </a:stretch>
        </p:blipFill>
        <p:spPr>
          <a:xfrm>
            <a:off x="12296578" y="9431241"/>
            <a:ext cx="6143756" cy="4284759"/>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0" name="In historical perspective:…"/>
          <p:cNvSpPr txBox="1"/>
          <p:nvPr>
            <p:ph type="body" idx="4294967295"/>
          </p:nvPr>
        </p:nvSpPr>
        <p:spPr>
          <a:xfrm>
            <a:off x="279108" y="2540001"/>
            <a:ext cx="16773404" cy="10639688"/>
          </a:xfrm>
          <a:prstGeom prst="rect">
            <a:avLst/>
          </a:prstGeom>
        </p:spPr>
        <p:txBody>
          <a:bodyPr lIns="91436" tIns="91436" rIns="91436" bIns="91436"/>
          <a:lstStyle/>
          <a:p>
            <a:pPr marL="0" indent="0" defTabSz="375630">
              <a:spcBef>
                <a:spcPts val="1700"/>
              </a:spcBef>
              <a:buSzTx/>
              <a:buNone/>
              <a:defRPr b="1" sz="6208">
                <a:solidFill>
                  <a:srgbClr val="808080"/>
                </a:solidFill>
                <a:latin typeface="+mn-lt"/>
                <a:ea typeface="+mn-ea"/>
                <a:cs typeface="+mn-cs"/>
                <a:sym typeface="Helvetica"/>
              </a:defRPr>
            </a:pPr>
            <a:r>
              <a:t>Patel, Sandefur, and Subramanian: “Our basic point doesn’t even require regressions”</a:t>
            </a:r>
          </a:p>
          <a:p>
            <a:pPr marL="443484" indent="-443484" defTabSz="375630">
              <a:buSzPct val="100000"/>
              <a:defRPr sz="5432"/>
            </a:pPr>
            <a:r>
              <a:t>But they do them nonetheless</a:t>
            </a:r>
          </a:p>
          <a:p>
            <a:pPr marL="443484" indent="-443484" defTabSz="375630">
              <a:buSzPct val="100000"/>
              <a:defRPr sz="5432"/>
            </a:pPr>
            <a:r>
              <a:t>Their argument is that there did not use to be convergence—back before 1990 there was not: there was divergence</a:t>
            </a:r>
          </a:p>
          <a:p>
            <a:pPr marL="443484" indent="-443484" defTabSz="375630">
              <a:buSzPct val="100000"/>
              <a:defRPr sz="5432"/>
            </a:pPr>
            <a:r>
              <a:t>But something changed between 1990 and 2000</a:t>
            </a:r>
          </a:p>
          <a:p>
            <a:pPr marL="443484" indent="-443484" defTabSz="375630">
              <a:buSzPct val="100000"/>
              <a:defRPr sz="5432"/>
            </a:pPr>
            <a:r>
              <a:t>And since 2000 there has been strong “convergence”</a:t>
            </a:r>
          </a:p>
          <a:p>
            <a:pPr lvl="1" marL="354211" indent="-197699" defTabSz="375630">
              <a:buSzPct val="100000"/>
              <a:defRPr sz="5432"/>
            </a:pPr>
            <a:r>
              <a:t>There is every reason to think—hope—that this strong convergence will continue into the future</a:t>
            </a:r>
          </a:p>
          <a:p>
            <a:pPr lvl="1" marL="354211" indent="-197699" defTabSz="375630">
              <a:buSzPct val="100000"/>
              <a:defRPr sz="5432"/>
            </a:pPr>
            <a:r>
              <a:t>What is this post-2000 convergence due to? We can think about that at the end…</a:t>
            </a:r>
          </a:p>
        </p:txBody>
      </p:sp>
      <p:sp>
        <p:nvSpPr>
          <p:cNvPr id="431" name="Globalization Advances and Retreats"/>
          <p:cNvSpPr txBox="1"/>
          <p:nvPr>
            <p:ph type="title" idx="4294967295"/>
          </p:nvPr>
        </p:nvSpPr>
        <p:spPr>
          <a:xfrm>
            <a:off x="381000" y="-5"/>
            <a:ext cx="23622000" cy="2540008"/>
          </a:xfrm>
          <a:prstGeom prst="rect">
            <a:avLst/>
          </a:prstGeom>
        </p:spPr>
        <p:txBody>
          <a:bodyPr lIns="91436" tIns="91436" rIns="91436" bIns="91436" anchor="ctr"/>
          <a:lstStyle/>
          <a:p>
            <a:pPr algn="ctr" defTabSz="261305">
              <a:defRPr spc="0" sz="10080">
                <a:uFill>
                  <a:solidFill>
                    <a:srgbClr val="000000"/>
                  </a:solidFill>
                </a:uFill>
              </a:defRPr>
            </a:pPr>
            <a:r>
              <a:t>There </a:t>
            </a:r>
            <a:r>
              <a:rPr i="1"/>
              <a:t>Was</a:t>
            </a:r>
            <a:r>
              <a:t> No Convergence Tendency</a:t>
            </a:r>
          </a:p>
        </p:txBody>
      </p:sp>
      <p:pic>
        <p:nvPicPr>
          <p:cNvPr id="432" name="Image" descr="Image"/>
          <p:cNvPicPr>
            <a:picLocks noChangeAspect="1"/>
          </p:cNvPicPr>
          <p:nvPr/>
        </p:nvPicPr>
        <p:blipFill>
          <a:blip r:embed="rId3">
            <a:extLst/>
          </a:blip>
          <a:stretch>
            <a:fillRect/>
          </a:stretch>
        </p:blipFill>
        <p:spPr>
          <a:xfrm>
            <a:off x="17052511" y="2540001"/>
            <a:ext cx="6789457" cy="10434323"/>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6" name="In historical perspective:…"/>
          <p:cNvSpPr txBox="1"/>
          <p:nvPr>
            <p:ph type="body" idx="4294967295"/>
          </p:nvPr>
        </p:nvSpPr>
        <p:spPr>
          <a:xfrm>
            <a:off x="375183" y="2540001"/>
            <a:ext cx="23622001" cy="10557100"/>
          </a:xfrm>
          <a:prstGeom prst="rect">
            <a:avLst/>
          </a:prstGeom>
        </p:spPr>
        <p:txBody>
          <a:bodyPr lIns="91436" tIns="91436" rIns="91436" bIns="91436"/>
          <a:lstStyle/>
          <a:p>
            <a:pPr marL="0" indent="0" defTabSz="278817">
              <a:buSzTx/>
              <a:buNone/>
              <a:defRPr b="1" sz="7040">
                <a:solidFill>
                  <a:srgbClr val="808080"/>
                </a:solidFill>
                <a:latin typeface="+mn-lt"/>
                <a:ea typeface="+mn-ea"/>
                <a:cs typeface="+mn-cs"/>
                <a:sym typeface="Helvetica"/>
              </a:defRPr>
            </a:pPr>
            <a:r>
              <a:t>Patel, Sandefur, and Subramanian do not say:</a:t>
            </a:r>
          </a:p>
          <a:p>
            <a:pPr marL="670559" indent="-670559" defTabSz="278817">
              <a:buSzPct val="100000"/>
              <a:defRPr sz="5280"/>
            </a:pPr>
            <a:r>
              <a:t>Let’s think about this…</a:t>
            </a:r>
          </a:p>
          <a:p>
            <a:pPr marL="670559" indent="-670559" defTabSz="278817">
              <a:buSzPct val="100000"/>
              <a:defRPr sz="5280"/>
            </a:pPr>
            <a:r>
              <a:t>What are the obvious candidates?</a:t>
            </a:r>
          </a:p>
          <a:p>
            <a:pPr lvl="1" marL="409665" indent="-293490" defTabSz="278817">
              <a:buSzPct val="100000"/>
              <a:defRPr sz="5280"/>
            </a:pPr>
            <a:r>
              <a:t>The Great Recession and the Anemic Recovery</a:t>
            </a:r>
          </a:p>
          <a:p>
            <a:pPr lvl="2" marL="525839" indent="-293490" defTabSz="278817">
              <a:buSzPct val="100000"/>
              <a:defRPr sz="5280"/>
            </a:pPr>
            <a:r>
              <a:t>Institutional dysfunction in the Global North</a:t>
            </a:r>
          </a:p>
          <a:p>
            <a:pPr lvl="2" marL="525839" indent="-293490" defTabSz="278817">
              <a:buSzPct val="100000"/>
              <a:defRPr sz="5280"/>
            </a:pPr>
            <a:r>
              <a:t>Austerity and a failure to prioritize a return to full employment and growth</a:t>
            </a:r>
          </a:p>
          <a:p>
            <a:pPr lvl="1" marL="409665" indent="-293490" defTabSz="278817">
              <a:buSzPct val="100000"/>
              <a:defRPr sz="5280"/>
            </a:pPr>
            <a:r>
              <a:t>The coming of the value-chain economy</a:t>
            </a:r>
          </a:p>
          <a:p>
            <a:pPr lvl="2" marL="525839" indent="-293490" defTabSz="278817">
              <a:buSzPct val="100000"/>
              <a:defRPr sz="5280"/>
            </a:pPr>
            <a:r>
              <a:t>No longer having to keep your blue-collar assembly-line workers close to your engineers, your executives, and your brand creators</a:t>
            </a:r>
          </a:p>
          <a:p>
            <a:pPr lvl="1" marL="409665" indent="-293490" defTabSz="278817">
              <a:buSzPct val="100000"/>
              <a:defRPr sz="5280"/>
            </a:pPr>
            <a:r>
              <a:t>Modern information and communications technologies more generally</a:t>
            </a:r>
          </a:p>
          <a:p>
            <a:pPr lvl="2" marL="525839" indent="-293490" defTabSz="278817">
              <a:buSzPct val="100000"/>
              <a:defRPr sz="5280"/>
            </a:pPr>
            <a:r>
              <a:t>The internet</a:t>
            </a:r>
          </a:p>
          <a:p>
            <a:pPr lvl="2" marL="525839" indent="-293490" defTabSz="278817">
              <a:buSzPct val="100000"/>
              <a:defRPr sz="5280"/>
            </a:pPr>
            <a:r>
              <a:t>Reduced distance in general—transoceanic airplane flights at a greatly increased pace</a:t>
            </a:r>
          </a:p>
        </p:txBody>
      </p:sp>
      <p:sp>
        <p:nvSpPr>
          <p:cNvPr id="437" name="Globalization Advances and Retreats"/>
          <p:cNvSpPr txBox="1"/>
          <p:nvPr>
            <p:ph type="title" idx="4294967295"/>
          </p:nvPr>
        </p:nvSpPr>
        <p:spPr>
          <a:xfrm>
            <a:off x="381000" y="-5"/>
            <a:ext cx="23622000" cy="2540008"/>
          </a:xfrm>
          <a:prstGeom prst="rect">
            <a:avLst/>
          </a:prstGeom>
        </p:spPr>
        <p:txBody>
          <a:bodyPr lIns="91436" tIns="91436" rIns="91436" bIns="91436" anchor="ctr"/>
          <a:lstStyle>
            <a:lvl1pPr algn="ctr" defTabSz="257676">
              <a:defRPr spc="0" sz="9939">
                <a:uFill>
                  <a:solidFill>
                    <a:srgbClr val="000000"/>
                  </a:solidFill>
                </a:uFill>
              </a:defRPr>
            </a:lvl1pPr>
          </a:lstStyle>
          <a:p>
            <a:pPr/>
            <a:r>
              <a:t>What Caused Post-2000 Convergence?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1" name="1. My Grand Narrative"/>
          <p:cNvSpPr txBox="1"/>
          <p:nvPr>
            <p:ph type="title" idx="4294967295"/>
          </p:nvPr>
        </p:nvSpPr>
        <p:spPr>
          <a:xfrm>
            <a:off x="381000" y="-6"/>
            <a:ext cx="23622000" cy="2534256"/>
          </a:xfrm>
          <a:prstGeom prst="rect">
            <a:avLst/>
          </a:prstGeom>
        </p:spPr>
        <p:txBody>
          <a:bodyPr lIns="91436" tIns="91436" rIns="91436" bIns="91436" anchor="ctr"/>
          <a:lstStyle>
            <a:lvl1pPr algn="ctr" defTabSz="157036">
              <a:defRPr spc="0" sz="9280">
                <a:uFill>
                  <a:solidFill>
                    <a:srgbClr val="000000"/>
                  </a:solidFill>
                </a:uFill>
              </a:defRPr>
            </a:lvl1pPr>
          </a:lstStyle>
          <a:p>
            <a:pPr/>
            <a:r>
              <a:t>4.5.1. Development of Underdevelopment</a:t>
            </a:r>
          </a:p>
        </p:txBody>
      </p:sp>
      <p:sp>
        <p:nvSpPr>
          <p:cNvPr id="442" name="This course covers the history of the long twentieth century, beginning in 1870 and ending in 2016:…"/>
          <p:cNvSpPr txBox="1"/>
          <p:nvPr>
            <p:ph type="body" idx="4294967295"/>
          </p:nvPr>
        </p:nvSpPr>
        <p:spPr>
          <a:xfrm>
            <a:off x="381000" y="2534249"/>
            <a:ext cx="23622000" cy="10087648"/>
          </a:xfrm>
          <a:prstGeom prst="rect">
            <a:avLst/>
          </a:prstGeom>
        </p:spPr>
        <p:txBody>
          <a:bodyPr lIns="91436" tIns="91436" rIns="91436" bIns="91436"/>
          <a:lstStyle/>
          <a:p>
            <a:pPr marL="0" indent="0" defTabSz="566926">
              <a:spcBef>
                <a:spcPts val="1400"/>
              </a:spcBef>
              <a:buSzTx/>
              <a:buNone/>
              <a:defRPr b="1" sz="3600">
                <a:latin typeface="+mn-lt"/>
                <a:ea typeface="+mn-ea"/>
                <a:cs typeface="+mn-cs"/>
                <a:sym typeface="Helvetica"/>
              </a:defRPr>
            </a:pPr>
            <a:r>
              <a:t>As of the 1870 watershed-crossing, had the Industrial Revolution raised the standard of living or lightened the toil of the working class in England, the country at its center?</a:t>
            </a:r>
          </a:p>
          <a:p>
            <a:pPr marL="298382" indent="-298382" defTabSz="566926">
              <a:spcBef>
                <a:spcPts val="1400"/>
              </a:spcBef>
              <a:buSzPct val="100000"/>
              <a:defRPr sz="2800"/>
            </a:pPr>
            <a:r>
              <a:t>No.</a:t>
            </a:r>
          </a:p>
          <a:p>
            <a:pPr marL="298382" indent="-298382" defTabSz="566926">
              <a:spcBef>
                <a:spcPts val="1400"/>
              </a:spcBef>
              <a:buSzPct val="100000"/>
              <a:defRPr sz="2800"/>
            </a:pPr>
            <a:r>
              <a:t>Why not? Malthusian forces—population explosion &amp; thus smaller farm sizes.</a:t>
            </a:r>
          </a:p>
          <a:p>
            <a:pPr marL="298382" indent="-298382" defTabSz="566926">
              <a:spcBef>
                <a:spcPts val="1400"/>
              </a:spcBef>
              <a:buSzPct val="100000"/>
              <a:defRPr sz="2800"/>
            </a:pPr>
            <a:r>
              <a:t>Pace of technological and organizational change not fast enough to raise incomes high enough to force the demographic transition.</a:t>
            </a:r>
          </a:p>
          <a:p>
            <a:pPr marL="298382" indent="-298382" defTabSz="566926">
              <a:spcBef>
                <a:spcPts val="1400"/>
              </a:spcBef>
              <a:buSzPct val="100000"/>
              <a:defRPr sz="2800"/>
            </a:pPr>
            <a:r>
              <a:t>Hence importance of 1870: our h goes from 0.44%/yr to 2.06%/year, globally, and sticks there since</a:t>
            </a:r>
          </a:p>
          <a:p>
            <a:pPr lvl="1" marL="573971" indent="-298381" defTabSz="566926">
              <a:spcBef>
                <a:spcPts val="1400"/>
              </a:spcBef>
              <a:buSzPct val="100000"/>
              <a:defRPr sz="2800"/>
            </a:pPr>
            <a:r>
              <a:t>(Until now?)</a:t>
            </a:r>
          </a:p>
          <a:p>
            <a:pPr marL="298382" indent="-298382" defTabSz="566926">
              <a:spcBef>
                <a:spcPts val="1400"/>
              </a:spcBef>
              <a:buSzPct val="100000"/>
              <a:defRPr sz="2800"/>
            </a:pPr>
            <a:r>
              <a:t>Principal cause of the speed-up? The modern corporation and its industrial research labs that made routine the process of developing and then implementing new productive ideas.</a:t>
            </a:r>
          </a:p>
          <a:p>
            <a:pPr lvl="1" marL="573971" indent="-298381" defTabSz="566926">
              <a:spcBef>
                <a:spcPts val="1400"/>
              </a:spcBef>
              <a:buSzPct val="100000"/>
              <a:defRPr sz="2800"/>
            </a:pPr>
            <a:r>
              <a:t>(Was this baked in the cake by the Industrial Revolution? Or could this have been bobbled?)</a:t>
            </a:r>
          </a:p>
          <a:p>
            <a:pPr marL="298382" indent="-298382" defTabSz="566926">
              <a:spcBef>
                <a:spcPts val="1400"/>
              </a:spcBef>
              <a:buSzPct val="100000"/>
              <a:defRPr sz="2800"/>
            </a:pPr>
            <a:r>
              <a:t>Assisting: globalization:</a:t>
            </a:r>
          </a:p>
          <a:p>
            <a:pPr lvl="1" marL="573971" indent="-298381" defTabSz="566926">
              <a:spcBef>
                <a:spcPts val="1400"/>
              </a:spcBef>
              <a:buSzPct val="100000"/>
              <a:defRPr sz="2800"/>
            </a:pPr>
            <a:r>
              <a:t>Globalization of goods through trade using railroads and iron-hulled steamships</a:t>
            </a:r>
          </a:p>
          <a:p>
            <a:pPr lvl="1" marL="573971" indent="-298381" defTabSz="566926">
              <a:spcBef>
                <a:spcPts val="1400"/>
              </a:spcBef>
              <a:buSzPct val="100000"/>
              <a:defRPr sz="2800"/>
            </a:pPr>
            <a:r>
              <a:t>Globalization of people through migration using railroads and iron-hulled steamships</a:t>
            </a:r>
          </a:p>
          <a:p>
            <a:pPr lvl="1" marL="573971" indent="-298381" defTabSz="566926">
              <a:spcBef>
                <a:spcPts val="1400"/>
              </a:spcBef>
              <a:buSzPct val="100000"/>
              <a:defRPr sz="2800"/>
            </a:pPr>
            <a:r>
              <a:t>Globalization of communications using the telegraph</a:t>
            </a:r>
          </a:p>
          <a:p>
            <a:pPr marL="298382" indent="-298382" defTabSz="566926">
              <a:spcBef>
                <a:spcPts val="1400"/>
              </a:spcBef>
              <a:buSzPct val="100000"/>
              <a:defRPr sz="2800"/>
            </a:pPr>
            <a:r>
              <a:t>Yet: DIVERGENCE, BIGTIME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6" name="1. My Grand Narrative"/>
          <p:cNvSpPr txBox="1"/>
          <p:nvPr>
            <p:ph type="title" idx="4294967295"/>
          </p:nvPr>
        </p:nvSpPr>
        <p:spPr>
          <a:xfrm>
            <a:off x="381000" y="-6"/>
            <a:ext cx="23622000" cy="2534256"/>
          </a:xfrm>
          <a:prstGeom prst="rect">
            <a:avLst/>
          </a:prstGeom>
        </p:spPr>
        <p:txBody>
          <a:bodyPr lIns="91436" tIns="91436" rIns="91436" bIns="91436" anchor="ctr"/>
          <a:lstStyle>
            <a:lvl1pPr algn="ctr" defTabSz="714730">
              <a:defRPr spc="0" sz="13800">
                <a:solidFill>
                  <a:srgbClr val="000080"/>
                </a:solidFill>
              </a:defRPr>
            </a:lvl1pPr>
          </a:lstStyle>
          <a:p>
            <a:pPr/>
            <a:r>
              <a:t>Migration 1870-1914</a:t>
            </a:r>
          </a:p>
        </p:txBody>
      </p:sp>
      <p:sp>
        <p:nvSpPr>
          <p:cNvPr id="447" name="This course covers the history of the long twentieth century, beginning in 1870 and ending in 2016:…"/>
          <p:cNvSpPr txBox="1"/>
          <p:nvPr>
            <p:ph type="body" idx="4294967295"/>
          </p:nvPr>
        </p:nvSpPr>
        <p:spPr>
          <a:xfrm>
            <a:off x="381000" y="2534240"/>
            <a:ext cx="17432420" cy="9900595"/>
          </a:xfrm>
          <a:prstGeom prst="rect">
            <a:avLst/>
          </a:prstGeom>
        </p:spPr>
        <p:txBody>
          <a:bodyPr lIns="91436" tIns="91436" rIns="91436" bIns="91436"/>
          <a:lstStyle/>
          <a:p>
            <a:pPr marL="0" indent="0" defTabSz="612648">
              <a:spcBef>
                <a:spcPts val="1600"/>
              </a:spcBef>
              <a:buSzTx/>
              <a:buNone/>
              <a:defRPr b="1" sz="4000">
                <a:latin typeface="+mn-lt"/>
                <a:ea typeface="+mn-ea"/>
                <a:cs typeface="+mn-cs"/>
                <a:sym typeface="Helvetica"/>
              </a:defRPr>
            </a:pPr>
            <a:r>
              <a:t>100 million people left their continents of origin between 1870-1913—70 million of them permanently:</a:t>
            </a:r>
          </a:p>
          <a:p>
            <a:pPr marL="322444" indent="-322444" defTabSz="612648">
              <a:spcBef>
                <a:spcPts val="1600"/>
              </a:spcBef>
              <a:buSzPct val="100000"/>
              <a:defRPr sz="3200"/>
            </a:pPr>
            <a:r>
              <a:t>9 days from Liverpool to New York: it had taken a month in 1800</a:t>
            </a:r>
          </a:p>
          <a:p>
            <a:pPr marL="322444" indent="-322444" defTabSz="612648">
              <a:spcBef>
                <a:spcPts val="1600"/>
              </a:spcBef>
              <a:buSzPct val="100000"/>
              <a:defRPr sz="3200"/>
            </a:pPr>
            <a:r>
              <a:t>1.5 month’s wages for an unskilled European worker—to double your pay, and your children’s pay</a:t>
            </a:r>
          </a:p>
          <a:p>
            <a:pPr marL="322444" indent="-322444" defTabSz="612648">
              <a:spcBef>
                <a:spcPts val="1600"/>
              </a:spcBef>
              <a:buSzPct val="100000"/>
              <a:defRPr sz="3200"/>
            </a:pPr>
            <a:r>
              <a:t>50 million from Europe, 50 million from Asia</a:t>
            </a:r>
          </a:p>
          <a:p>
            <a:pPr marL="322444" indent="-322444" defTabSz="612648">
              <a:spcBef>
                <a:spcPts val="1600"/>
              </a:spcBef>
              <a:buSzPct val="100000"/>
              <a:defRPr sz="3200"/>
            </a:pPr>
            <a:r>
              <a:t>Migration and global inequality</a:t>
            </a:r>
          </a:p>
          <a:p>
            <a:pPr lvl="1" marL="620258" indent="-322443" defTabSz="612648">
              <a:spcBef>
                <a:spcPts val="1600"/>
              </a:spcBef>
              <a:buSzPct val="100000"/>
              <a:defRPr sz="3200"/>
            </a:pPr>
            <a:r>
              <a:t>The development of underdevelopment in the global south can be understood only as a consequence of these waves of migration</a:t>
            </a:r>
          </a:p>
          <a:p>
            <a:pPr marL="322444" indent="-322444" defTabSz="612648">
              <a:spcBef>
                <a:spcPts val="1600"/>
              </a:spcBef>
              <a:buSzPct val="100000"/>
              <a:defRPr sz="3200"/>
            </a:pPr>
            <a:r>
              <a:t>Migration and exceptional America</a:t>
            </a:r>
          </a:p>
          <a:p>
            <a:pPr lvl="1" marL="620258" indent="-322443" defTabSz="612648">
              <a:spcBef>
                <a:spcPts val="1600"/>
              </a:spcBef>
              <a:buSzPct val="100000"/>
              <a:defRPr sz="3200"/>
            </a:pPr>
            <a:r>
              <a:t>Only America’s welcoming of migration gave it the demographic heft to be the world’s 20th century superpower</a:t>
            </a:r>
          </a:p>
        </p:txBody>
      </p:sp>
      <p:pic>
        <p:nvPicPr>
          <p:cNvPr id="448" name="Image" descr="Image"/>
          <p:cNvPicPr>
            <a:picLocks noChangeAspect="1"/>
          </p:cNvPicPr>
          <p:nvPr/>
        </p:nvPicPr>
        <p:blipFill>
          <a:blip r:embed="rId3">
            <a:extLst/>
          </a:blip>
          <a:stretch>
            <a:fillRect/>
          </a:stretch>
        </p:blipFill>
        <p:spPr>
          <a:xfrm>
            <a:off x="18052583" y="2534249"/>
            <a:ext cx="5950417" cy="5794201"/>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1. My Grand Narrative"/>
          <p:cNvSpPr txBox="1"/>
          <p:nvPr>
            <p:ph type="title" idx="4294967295"/>
          </p:nvPr>
        </p:nvSpPr>
        <p:spPr>
          <a:xfrm>
            <a:off x="381000" y="-6"/>
            <a:ext cx="23622000" cy="2534256"/>
          </a:xfrm>
          <a:prstGeom prst="rect">
            <a:avLst/>
          </a:prstGeom>
        </p:spPr>
        <p:txBody>
          <a:bodyPr lIns="91436" tIns="91436" rIns="91436" bIns="91436" anchor="ctr"/>
          <a:lstStyle>
            <a:lvl1pPr algn="ctr" defTabSz="558639">
              <a:defRPr spc="0" sz="7600"/>
            </a:lvl1pPr>
          </a:lstStyle>
          <a:p>
            <a:pPr/>
            <a:r>
              <a:t>Migration from Asia Channeled to the Tropics</a:t>
            </a:r>
          </a:p>
        </p:txBody>
      </p:sp>
      <p:sp>
        <p:nvSpPr>
          <p:cNvPr id="453" name="This course covers the history of the long twentieth century, beginning in 1870 and ending in 2016:…"/>
          <p:cNvSpPr txBox="1"/>
          <p:nvPr>
            <p:ph type="body" idx="4294967295"/>
          </p:nvPr>
        </p:nvSpPr>
        <p:spPr>
          <a:xfrm>
            <a:off x="381000" y="2534249"/>
            <a:ext cx="23622000" cy="9900596"/>
          </a:xfrm>
          <a:prstGeom prst="rect">
            <a:avLst/>
          </a:prstGeom>
        </p:spPr>
        <p:txBody>
          <a:bodyPr lIns="91436" tIns="91436" rIns="91436" bIns="91436"/>
          <a:lstStyle/>
          <a:p>
            <a:pPr marL="0" indent="0" defTabSz="704085">
              <a:spcBef>
                <a:spcPts val="1800"/>
              </a:spcBef>
              <a:buSzTx/>
              <a:buNone/>
              <a:defRPr b="1" sz="4600">
                <a:latin typeface="+mn-lt"/>
                <a:ea typeface="+mn-ea"/>
                <a:cs typeface="+mn-cs"/>
                <a:sym typeface="Helvetica"/>
              </a:defRPr>
            </a:pPr>
            <a:r>
              <a:t>To the tea plantations of Ceylon, the rubber plantations of Malaysia, &amp; c.:</a:t>
            </a:r>
          </a:p>
          <a:p>
            <a:pPr marL="370569" indent="-370569" defTabSz="704085">
              <a:spcBef>
                <a:spcPts val="1800"/>
              </a:spcBef>
              <a:buSzPct val="100000"/>
              <a:defRPr sz="3600"/>
            </a:pPr>
            <a:r>
              <a:t>This mattered </a:t>
            </a:r>
          </a:p>
          <a:p>
            <a:pPr marL="370569" indent="-370569" defTabSz="704085">
              <a:spcBef>
                <a:spcPts val="1800"/>
              </a:spcBef>
              <a:buSzPct val="100000"/>
              <a:defRPr sz="3600"/>
            </a:pPr>
            <a:r>
              <a:t>Migration out did not raise wages much in the migration-source economies of China and India</a:t>
            </a:r>
          </a:p>
          <a:p>
            <a:pPr lvl="1" marL="712835" indent="-370570" defTabSz="704085">
              <a:spcBef>
                <a:spcPts val="1800"/>
              </a:spcBef>
              <a:buSzPct val="100000"/>
              <a:defRPr sz="3600"/>
            </a:pPr>
            <a:r>
              <a:t>They were so large in population</a:t>
            </a:r>
          </a:p>
          <a:p>
            <a:pPr lvl="1" marL="712835" indent="-370570" defTabSz="704085">
              <a:spcBef>
                <a:spcPts val="1800"/>
              </a:spcBef>
              <a:buSzPct val="100000"/>
              <a:defRPr sz="3600"/>
            </a:pPr>
            <a:r>
              <a:t>Emigration was but a drop in the bucket </a:t>
            </a:r>
          </a:p>
          <a:p>
            <a:pPr marL="370569" indent="-370569" defTabSz="704085">
              <a:spcBef>
                <a:spcPts val="1800"/>
              </a:spcBef>
              <a:buSzPct val="100000"/>
              <a:defRPr sz="3600"/>
            </a:pPr>
            <a:r>
              <a:t>Did migration lower relative wages in tropical-zone recipient economies? Yes. </a:t>
            </a:r>
          </a:p>
          <a:p>
            <a:pPr lvl="1" marL="712835" indent="-370570" defTabSz="704085">
              <a:spcBef>
                <a:spcPts val="1800"/>
              </a:spcBef>
              <a:buSzPct val="100000"/>
              <a:defRPr sz="3600"/>
            </a:pPr>
            <a:r>
              <a:t>Plus it lowered relative wages in tropical-zone economies that never saw a migrant. </a:t>
            </a:r>
          </a:p>
          <a:p>
            <a:pPr lvl="1" marL="712835" indent="-370570" defTabSz="704085">
              <a:spcBef>
                <a:spcPts val="1800"/>
              </a:spcBef>
              <a:buSzPct val="100000"/>
              <a:defRPr sz="3600"/>
            </a:pPr>
            <a:r>
              <a:t>British capital, Brazilian-stock rubber plants, and labor imported from China went to Malaya</a:t>
            </a:r>
          </a:p>
          <a:p>
            <a:pPr lvl="1" marL="712835" indent="-370570" defTabSz="704085">
              <a:spcBef>
                <a:spcPts val="1800"/>
              </a:spcBef>
              <a:buSzPct val="100000"/>
              <a:defRPr sz="3600"/>
            </a:pPr>
            <a:r>
              <a:t>There it could and did put heavy downward pressure on the wages in Brazil of rubber tappers who did not know there was such a place as Malaya</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7" name="The Colonized Experience"/>
          <p:cNvSpPr txBox="1"/>
          <p:nvPr>
            <p:ph type="title"/>
          </p:nvPr>
        </p:nvSpPr>
        <p:spPr>
          <a:xfrm>
            <a:off x="381000" y="0"/>
            <a:ext cx="23622000" cy="2305988"/>
          </a:xfrm>
          <a:prstGeom prst="rect">
            <a:avLst/>
          </a:prstGeom>
        </p:spPr>
        <p:txBody>
          <a:bodyPr/>
          <a:lstStyle>
            <a:lvl1pPr defTabSz="509345">
              <a:defRPr b="1" sz="10600">
                <a:latin typeface="+mn-lt"/>
                <a:ea typeface="+mn-ea"/>
                <a:cs typeface="+mn-cs"/>
                <a:sym typeface="Helvetica"/>
              </a:defRPr>
            </a:lvl1pPr>
          </a:lstStyle>
          <a:p>
            <a:pPr/>
            <a:r>
              <a:t>Underdevelopment &amp; Empire</a:t>
            </a:r>
          </a:p>
        </p:txBody>
      </p:sp>
      <p:sp>
        <p:nvSpPr>
          <p:cNvPr id="458" name="The standard package for successful development;…"/>
          <p:cNvSpPr txBox="1"/>
          <p:nvPr>
            <p:ph type="body" idx="1"/>
          </p:nvPr>
        </p:nvSpPr>
        <p:spPr>
          <a:xfrm>
            <a:off x="487360" y="2305987"/>
            <a:ext cx="14045832" cy="9951364"/>
          </a:xfrm>
          <a:prstGeom prst="rect">
            <a:avLst/>
          </a:prstGeom>
        </p:spPr>
        <p:txBody>
          <a:bodyPr lIns="101600" tIns="101600" rIns="101600" bIns="101600" anchor="t"/>
          <a:lstStyle/>
          <a:p>
            <a:pPr marL="311478" indent="-311478" defTabSz="786381">
              <a:spcBef>
                <a:spcPts val="600"/>
              </a:spcBef>
              <a:defRPr sz="2000">
                <a:uFill>
                  <a:solidFill>
                    <a:srgbClr val="000000"/>
                  </a:solidFill>
                </a:uFill>
                <a:latin typeface="Calibri"/>
                <a:ea typeface="Calibri"/>
                <a:cs typeface="Calibri"/>
                <a:sym typeface="Calibri"/>
              </a:defRPr>
            </a:pPr>
            <a:r>
              <a:t>The standard package for successful development;</a:t>
            </a:r>
          </a:p>
          <a:p>
            <a:pPr lvl="1" marL="502613" indent="-311478" defTabSz="786381">
              <a:spcBef>
                <a:spcPts val="600"/>
              </a:spcBef>
              <a:defRPr sz="2000">
                <a:uFill>
                  <a:solidFill>
                    <a:srgbClr val="000000"/>
                  </a:solidFill>
                </a:uFill>
                <a:latin typeface="Calibri"/>
                <a:ea typeface="Calibri"/>
                <a:cs typeface="Calibri"/>
                <a:sym typeface="Calibri"/>
              </a:defRPr>
            </a:pPr>
            <a:r>
              <a:t>Market-promoting government; </a:t>
            </a:r>
          </a:p>
          <a:p>
            <a:pPr lvl="1" marL="502613" indent="-311478" defTabSz="786381">
              <a:spcBef>
                <a:spcPts val="600"/>
              </a:spcBef>
              <a:defRPr sz="2000">
                <a:uFill>
                  <a:solidFill>
                    <a:srgbClr val="000000"/>
                  </a:solidFill>
                </a:uFill>
                <a:latin typeface="Calibri"/>
                <a:ea typeface="Calibri"/>
                <a:cs typeface="Calibri"/>
                <a:sym typeface="Calibri"/>
              </a:defRPr>
            </a:pPr>
            <a:r>
              <a:t>Building railroads, canals and ports; </a:t>
            </a:r>
          </a:p>
          <a:p>
            <a:pPr lvl="1" marL="502613" indent="-311478" defTabSz="786381">
              <a:spcBef>
                <a:spcPts val="600"/>
              </a:spcBef>
              <a:defRPr sz="2000">
                <a:uFill>
                  <a:solidFill>
                    <a:srgbClr val="000000"/>
                  </a:solidFill>
                </a:uFill>
                <a:latin typeface="Calibri"/>
                <a:ea typeface="Calibri"/>
                <a:cs typeface="Calibri"/>
                <a:sym typeface="Calibri"/>
              </a:defRPr>
            </a:pPr>
            <a:r>
              <a:t>Chartering banks for commerce and investment; </a:t>
            </a:r>
          </a:p>
          <a:p>
            <a:pPr lvl="1" marL="502613" indent="-311478" defTabSz="786381">
              <a:spcBef>
                <a:spcPts val="600"/>
              </a:spcBef>
              <a:defRPr sz="2000">
                <a:uFill>
                  <a:solidFill>
                    <a:srgbClr val="000000"/>
                  </a:solidFill>
                </a:uFill>
                <a:latin typeface="Calibri"/>
                <a:ea typeface="Calibri"/>
                <a:cs typeface="Calibri"/>
                <a:sym typeface="Calibri"/>
              </a:defRPr>
            </a:pPr>
            <a:r>
              <a:t>Establishing mass education</a:t>
            </a:r>
          </a:p>
          <a:p>
            <a:pPr lvl="1" marL="502613" indent="-311478" defTabSz="786381">
              <a:spcBef>
                <a:spcPts val="600"/>
              </a:spcBef>
              <a:defRPr sz="2000">
                <a:uFill>
                  <a:solidFill>
                    <a:srgbClr val="000000"/>
                  </a:solidFill>
                </a:uFill>
                <a:latin typeface="Calibri"/>
                <a:ea typeface="Calibri"/>
                <a:cs typeface="Calibri"/>
                <a:sym typeface="Calibri"/>
              </a:defRPr>
            </a:pPr>
            <a:r>
              <a:t>Imposing smart tariffs on those manufactured imports that would in the short-run crowd out production and thus the creation of the communities of engineering practice</a:t>
            </a:r>
          </a:p>
          <a:p>
            <a:pPr marL="311478" indent="-311478" defTabSz="786381">
              <a:spcBef>
                <a:spcPts val="600"/>
              </a:spcBef>
              <a:defRPr sz="2000">
                <a:uFill>
                  <a:solidFill>
                    <a:srgbClr val="000000"/>
                  </a:solidFill>
                </a:uFill>
                <a:latin typeface="Calibri"/>
                <a:ea typeface="Calibri"/>
                <a:cs typeface="Calibri"/>
                <a:sym typeface="Calibri"/>
              </a:defRPr>
            </a:pPr>
            <a:r>
              <a:t> Colonial masters would not allow the standard package</a:t>
            </a:r>
          </a:p>
          <a:p>
            <a:pPr marL="311478" indent="-311478" defTabSz="786381">
              <a:spcBef>
                <a:spcPts val="600"/>
              </a:spcBef>
              <a:defRPr sz="2000">
                <a:uFill>
                  <a:solidFill>
                    <a:srgbClr val="000000"/>
                  </a:solidFill>
                </a:uFill>
                <a:latin typeface="Calibri"/>
                <a:ea typeface="Calibri"/>
                <a:cs typeface="Calibri"/>
                <a:sym typeface="Calibri"/>
              </a:defRPr>
            </a:pPr>
            <a:r>
              <a:t>Nevertheless, progress:</a:t>
            </a:r>
          </a:p>
          <a:p>
            <a:pPr lvl="1" marL="502613" indent="-311478" defTabSz="786381">
              <a:spcBef>
                <a:spcPts val="600"/>
              </a:spcBef>
              <a:defRPr sz="2000">
                <a:uFill>
                  <a:solidFill>
                    <a:srgbClr val="000000"/>
                  </a:solidFill>
                </a:uFill>
                <a:latin typeface="Calibri"/>
                <a:ea typeface="Calibri"/>
                <a:cs typeface="Calibri"/>
                <a:sym typeface="Calibri"/>
              </a:defRPr>
            </a:pPr>
            <a:r>
              <a:t>Even outside of the global north the world was far richer in 1950 than it had been in 1800</a:t>
            </a:r>
          </a:p>
          <a:p>
            <a:pPr lvl="1" marL="502613" indent="-311478" defTabSz="786381">
              <a:spcBef>
                <a:spcPts val="600"/>
              </a:spcBef>
              <a:defRPr sz="2000">
                <a:uFill>
                  <a:solidFill>
                    <a:srgbClr val="000000"/>
                  </a:solidFill>
                </a:uFill>
                <a:latin typeface="Calibri"/>
                <a:ea typeface="Calibri"/>
                <a:cs typeface="Calibri"/>
                <a:sym typeface="Calibri"/>
              </a:defRPr>
            </a:pPr>
            <a:r>
              <a:t>The center-of-gravity of what now is the global south was at a living standard of $2 a day in 1800s</a:t>
            </a:r>
          </a:p>
          <a:p>
            <a:pPr lvl="1" marL="502613" indent="-311478" defTabSz="786381">
              <a:spcBef>
                <a:spcPts val="600"/>
              </a:spcBef>
              <a:defRPr sz="2000">
                <a:uFill>
                  <a:solidFill>
                    <a:srgbClr val="000000"/>
                  </a:solidFill>
                </a:uFill>
                <a:latin typeface="Calibri"/>
                <a:ea typeface="Calibri"/>
                <a:cs typeface="Calibri"/>
                <a:sym typeface="Calibri"/>
              </a:defRPr>
            </a:pPr>
            <a:r>
              <a:t>$2.25 by 1870</a:t>
            </a:r>
          </a:p>
          <a:p>
            <a:pPr lvl="1" marL="502613" indent="-311478" defTabSz="786381">
              <a:spcBef>
                <a:spcPts val="600"/>
              </a:spcBef>
              <a:defRPr sz="2000">
                <a:uFill>
                  <a:solidFill>
                    <a:srgbClr val="000000"/>
                  </a:solidFill>
                </a:uFill>
                <a:latin typeface="Calibri"/>
                <a:ea typeface="Calibri"/>
                <a:cs typeface="Calibri"/>
                <a:sym typeface="Calibri"/>
              </a:defRPr>
            </a:pPr>
            <a:r>
              <a:t>$3.50 by 1913. </a:t>
            </a:r>
          </a:p>
          <a:p>
            <a:pPr lvl="1" marL="502613" indent="-311478" defTabSz="786381">
              <a:spcBef>
                <a:spcPts val="600"/>
              </a:spcBef>
              <a:defRPr sz="2000">
                <a:uFill>
                  <a:solidFill>
                    <a:srgbClr val="000000"/>
                  </a:solidFill>
                </a:uFill>
                <a:latin typeface="Calibri"/>
                <a:ea typeface="Calibri"/>
                <a:cs typeface="Calibri"/>
                <a:sym typeface="Calibri"/>
              </a:defRPr>
            </a:pPr>
            <a:r>
              <a:t>But still about $3.50 by 1950. </a:t>
            </a:r>
          </a:p>
          <a:p>
            <a:pPr marL="311478" indent="-311478" defTabSz="786381">
              <a:spcBef>
                <a:spcPts val="600"/>
              </a:spcBef>
              <a:defRPr sz="2000">
                <a:uFill>
                  <a:solidFill>
                    <a:srgbClr val="000000"/>
                  </a:solidFill>
                </a:uFill>
                <a:latin typeface="Calibri"/>
                <a:ea typeface="Calibri"/>
                <a:cs typeface="Calibri"/>
                <a:sym typeface="Calibri"/>
              </a:defRPr>
            </a:pPr>
            <a:r>
              <a:t>However, there were a number of economies that seemed to be taking advantage of opportunities: </a:t>
            </a:r>
          </a:p>
          <a:p>
            <a:pPr lvl="1" marL="502613" indent="-311478" defTabSz="786381">
              <a:spcBef>
                <a:spcPts val="600"/>
              </a:spcBef>
              <a:defRPr sz="2000">
                <a:uFill>
                  <a:solidFill>
                    <a:srgbClr val="000000"/>
                  </a:solidFill>
                </a:uFill>
                <a:latin typeface="Calibri"/>
                <a:ea typeface="Calibri"/>
                <a:cs typeface="Calibri"/>
                <a:sym typeface="Calibri"/>
              </a:defRPr>
            </a:pPr>
            <a:r>
              <a:t>Japan</a:t>
            </a:r>
          </a:p>
          <a:p>
            <a:pPr lvl="1" marL="502613" indent="-311478" defTabSz="786381">
              <a:spcBef>
                <a:spcPts val="600"/>
              </a:spcBef>
              <a:defRPr sz="2000">
                <a:uFill>
                  <a:solidFill>
                    <a:srgbClr val="000000"/>
                  </a:solidFill>
                </a:uFill>
                <a:latin typeface="Calibri"/>
                <a:ea typeface="Calibri"/>
                <a:cs typeface="Calibri"/>
                <a:sym typeface="Calibri"/>
              </a:defRPr>
            </a:pPr>
            <a:r>
              <a:t>Those parts of Latin America that escaped internal colonization by landed and bureaucratic elites</a:t>
            </a:r>
          </a:p>
          <a:p>
            <a:pPr marL="311478" indent="-311478" defTabSz="786381">
              <a:spcBef>
                <a:spcPts val="600"/>
              </a:spcBef>
              <a:defRPr sz="2000">
                <a:uFill>
                  <a:solidFill>
                    <a:srgbClr val="000000"/>
                  </a:solidFill>
                </a:uFill>
                <a:latin typeface="Calibri"/>
                <a:ea typeface="Calibri"/>
                <a:cs typeface="Calibri"/>
                <a:sym typeface="Calibri"/>
              </a:defRPr>
            </a:pPr>
            <a:r>
              <a:t>But the gap between global north and global south had grown: from 2.5 to 1 in 1800 to 4 to 1 in 1870 and 1913, and to 7 to 1 by 1950.</a:t>
            </a:r>
          </a:p>
        </p:txBody>
      </p:sp>
      <p:pic>
        <p:nvPicPr>
          <p:cNvPr id="459" name="Image" descr="Image"/>
          <p:cNvPicPr>
            <a:picLocks noChangeAspect="1"/>
          </p:cNvPicPr>
          <p:nvPr/>
        </p:nvPicPr>
        <p:blipFill>
          <a:blip r:embed="rId3">
            <a:extLst/>
          </a:blip>
          <a:stretch>
            <a:fillRect/>
          </a:stretch>
        </p:blipFill>
        <p:spPr>
          <a:xfrm>
            <a:off x="14704694" y="2305987"/>
            <a:ext cx="9320589" cy="794823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