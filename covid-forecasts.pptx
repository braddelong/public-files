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93" name="Shape 193"/>
          <p:cNvSpPr/>
          <p:nvPr>
            <p:ph type="sldImg"/>
          </p:nvPr>
        </p:nvSpPr>
        <p:spPr>
          <a:xfrm>
            <a:off x="1143000" y="685800"/>
            <a:ext cx="4572000" cy="3429000"/>
          </a:xfrm>
          <a:prstGeom prst="rect">
            <a:avLst/>
          </a:prstGeom>
        </p:spPr>
        <p:txBody>
          <a:bodyPr/>
          <a:lstStyle/>
          <a:p>
            <a:pPr/>
          </a:p>
        </p:txBody>
      </p:sp>
      <p:sp>
        <p:nvSpPr>
          <p:cNvPr id="194" name="Shape 194"/>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3" name="Shape 203"/>
          <p:cNvSpPr/>
          <p:nvPr>
            <p:ph type="sldImg"/>
          </p:nvPr>
        </p:nvSpPr>
        <p:spPr>
          <a:prstGeom prst="rect">
            <a:avLst/>
          </a:prstGeom>
        </p:spPr>
        <p:txBody>
          <a:bodyPr/>
          <a:lstStyle/>
          <a:p>
            <a:pPr/>
          </a:p>
        </p:txBody>
      </p:sp>
      <p:sp>
        <p:nvSpPr>
          <p:cNvPr id="204" name="Shape 204"/>
          <p:cNvSpPr/>
          <p:nvPr>
            <p:ph type="body" sz="quarter" idx="1"/>
          </p:nvPr>
        </p:nvSpPr>
        <p:spPr>
          <a:prstGeom prst="rect">
            <a:avLst/>
          </a:prstGeom>
        </p:spPr>
        <p:txBody>
          <a:bodyPr/>
          <a:lstStyle/>
          <a:p>
            <a:pPr/>
            <a:r>
              <a:t>It gives me no pleasure that my simple national model of coronavirus cases—project cases back three weeks from deaths, and then extrapolate case growth out from confirmed case growth and from the number of cases per test—is running dead-on:</a:t>
            </a:r>
          </a:p>
          <a:p>
            <a:pPr/>
            <a:r>
              <a:t>I forecast a week ago that we would have 6641 deaths in the seven days ending Th 2020-11-05.</a:t>
            </a:r>
          </a:p>
          <a:p>
            <a:pPr/>
            <a:r>
              <a:t>We had 6805 deaths.</a:t>
            </a:r>
          </a:p>
          <a:p>
            <a:pPr/>
            <a:r>
              <a:t>The model is now predicting that we will see 12893 deaths in the seven days ending on Thanksgiving: Th 2020-11-26. </a:t>
            </a:r>
          </a:p>
          <a:p>
            <a:pPr/>
            <a:r>
              <a:t>And if our current inferred last-three-weeks R=1.24 were to continue, we would have 3,671,728 cases in the seven days ending on Thanksgiving.</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3" name="Shape 213"/>
          <p:cNvSpPr/>
          <p:nvPr>
            <p:ph type="sldImg"/>
          </p:nvPr>
        </p:nvSpPr>
        <p:spPr>
          <a:prstGeom prst="rect">
            <a:avLst/>
          </a:prstGeom>
        </p:spPr>
        <p:txBody>
          <a:bodyPr/>
          <a:lstStyle/>
          <a:p>
            <a:pPr/>
          </a:p>
        </p:txBody>
      </p:sp>
      <p:sp>
        <p:nvSpPr>
          <p:cNvPr id="214" name="Shape 214"/>
          <p:cNvSpPr/>
          <p:nvPr>
            <p:ph type="body" sz="quarter" idx="1"/>
          </p:nvPr>
        </p:nvSpPr>
        <p:spPr>
          <a:prstGeom prst="rect">
            <a:avLst/>
          </a:prstGeom>
        </p:spPr>
        <p:txBody>
          <a:bodyPr/>
          <a:lstStyle/>
          <a:p>
            <a:pPr/>
            <a:r>
              <a:t>It gives me no pleasure that my simple national model of coronavirus cases—project cases back three weeks from deaths, and then extrapolate case growth out from confirmed case growth and from the number of cases per test—is running dead-on:</a:t>
            </a:r>
          </a:p>
          <a:p>
            <a:pPr/>
            <a:r>
              <a:t>I forecast a week ago that we would have 6641 deaths in the seven days ending Th 2020-11-05.</a:t>
            </a:r>
          </a:p>
          <a:p>
            <a:pPr/>
            <a:r>
              <a:t>We had 6805 deaths.</a:t>
            </a:r>
          </a:p>
          <a:p>
            <a:pPr/>
            <a:r>
              <a:t>The model is now predicting that we will see 12893 deaths in the seven days ending on Thanksgiving: Th 2020-11-26. </a:t>
            </a:r>
          </a:p>
          <a:p>
            <a:pPr/>
            <a:r>
              <a:t>And if our current inferred last-three-weeks R=1.24 were to continue, we would have 3,671,728 cases in the seven days ending on Thanksgiving.</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5" name="Shape 225"/>
          <p:cNvSpPr/>
          <p:nvPr>
            <p:ph type="sldImg"/>
          </p:nvPr>
        </p:nvSpPr>
        <p:spPr>
          <a:prstGeom prst="rect">
            <a:avLst/>
          </a:prstGeom>
        </p:spPr>
        <p:txBody>
          <a:bodyPr/>
          <a:lstStyle/>
          <a:p>
            <a:pPr/>
          </a:p>
        </p:txBody>
      </p:sp>
      <p:sp>
        <p:nvSpPr>
          <p:cNvPr id="226" name="Shape 226"/>
          <p:cNvSpPr/>
          <p:nvPr>
            <p:ph type="body" sz="quarter" idx="1"/>
          </p:nvPr>
        </p:nvSpPr>
        <p:spPr>
          <a:prstGeom prst="rect">
            <a:avLst/>
          </a:prstGeom>
        </p:spPr>
        <p:txBody>
          <a:bodyPr/>
          <a:lstStyle/>
          <a:p>
            <a:pPr/>
            <a:r>
              <a:t>It gives me no pleasure that my simple national model of coronavirus cases—project cases back three weeks from deaths, and then extrapolate case growth out from confirmed case growth and from the number of cases per test—is running dead-on:</a:t>
            </a:r>
          </a:p>
          <a:p>
            <a:pPr/>
            <a:r>
              <a:t>I forecast a week ago that we would have 6641 deaths in the seven days ending Th 2020-11-05.</a:t>
            </a:r>
          </a:p>
          <a:p>
            <a:pPr/>
            <a:r>
              <a:t>We had 6805 deaths.</a:t>
            </a:r>
          </a:p>
          <a:p>
            <a:pPr/>
            <a:r>
              <a:t>The model is now predicting that we will see 12893 deaths in the seven days ending on Thanksgiving: Th 2020-11-26. </a:t>
            </a:r>
          </a:p>
          <a:p>
            <a:pPr/>
            <a:r>
              <a:t>And if our current inferred last-three-weeks R=1.24 were to continue, we would have 3,671,728 cases in the seven days ending on Thanksgiving.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7" name="Shape 237"/>
          <p:cNvSpPr/>
          <p:nvPr>
            <p:ph type="sldImg"/>
          </p:nvPr>
        </p:nvSpPr>
        <p:spPr>
          <a:prstGeom prst="rect">
            <a:avLst/>
          </a:prstGeom>
        </p:spPr>
        <p:txBody>
          <a:bodyPr/>
          <a:lstStyle/>
          <a:p>
            <a:pPr/>
          </a:p>
        </p:txBody>
      </p:sp>
      <p:sp>
        <p:nvSpPr>
          <p:cNvPr id="238" name="Shape 238"/>
          <p:cNvSpPr/>
          <p:nvPr>
            <p:ph type="body" sz="quarter" idx="1"/>
          </p:nvPr>
        </p:nvSpPr>
        <p:spPr>
          <a:prstGeom prst="rect">
            <a:avLst/>
          </a:prstGeom>
        </p:spPr>
        <p:txBody>
          <a:bodyPr/>
          <a:lstStyle/>
          <a:p>
            <a:pPr/>
            <a:r>
              <a:t>It gives me no pleasure that my simple national model of coronavirus cases—project cases back three weeks from deaths, and then extrapolate case growth out from confirmed case growth and from the number of cases per test—is running dead-on:</a:t>
            </a:r>
          </a:p>
          <a:p>
            <a:pPr/>
            <a:r>
              <a:t>I forecast a week ago that we would have 6641 deaths in the seven days ending Th 2020-11-05.</a:t>
            </a:r>
          </a:p>
          <a:p>
            <a:pPr/>
            <a:r>
              <a:t>We had 6805 deaths.</a:t>
            </a:r>
          </a:p>
          <a:p>
            <a:pPr/>
            <a:r>
              <a:t>The model is now predicting that we will see 12893 deaths in the seven days ending on Thanksgiving: Th 2020-11-26. </a:t>
            </a:r>
          </a:p>
          <a:p>
            <a:pPr/>
            <a:r>
              <a:t>And if our current inferred last-three-weeks R=1.24 were to continue, we would have 3,671,728 cases in the seven days ending on Thanksgiving.</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defRPr spc="-232" sz="11600"/>
            </a:lvl1pPr>
          </a:lstStyle>
          <a:p>
            <a:pPr/>
            <a:r>
              <a:t>Presentation Title</a:t>
            </a:r>
          </a:p>
        </p:txBody>
      </p:sp>
      <p:sp>
        <p:nvSpPr>
          <p:cNvPr id="13" name="Body Level One…"/>
          <p:cNvSpPr txBox="1"/>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666699290_02_crop_3159x1892.jpg"/>
          <p:cNvSpPr/>
          <p:nvPr>
            <p:ph type="pic" idx="21"/>
          </p:nvPr>
        </p:nvSpPr>
        <p:spPr>
          <a:xfrm>
            <a:off x="-1155700" y="-1295400"/>
            <a:ext cx="26746200" cy="16018933"/>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24" name="Body Level One…"/>
          <p:cNvSpPr txBox="1"/>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910457886_1434x1669.jpg"/>
          <p:cNvSpPr/>
          <p:nvPr>
            <p:ph type="pic" idx="21"/>
          </p:nvPr>
        </p:nvSpPr>
        <p:spPr>
          <a:xfrm>
            <a:off x="10972800" y="-203200"/>
            <a:ext cx="12144837" cy="14135100"/>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61"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62" name="660384004_1290x1720.jpg"/>
          <p:cNvSpPr/>
          <p:nvPr>
            <p:ph type="pic" idx="22"/>
          </p:nvPr>
        </p:nvSpPr>
        <p:spPr>
          <a:xfrm>
            <a:off x="12192000" y="-407266"/>
            <a:ext cx="10916874" cy="14555832"/>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71" name="Section Title"/>
          <p:cNvSpPr txBox="1"/>
          <p:nvPr>
            <p:ph type="title" hasCustomPrompt="1"/>
          </p:nvPr>
        </p:nvSpPr>
        <p:spPr>
          <a:xfrm>
            <a:off x="1206496" y="4533900"/>
            <a:ext cx="21971004" cy="4648200"/>
          </a:xfrm>
          <a:prstGeom prst="rect">
            <a:avLst/>
          </a:prstGeom>
        </p:spPr>
        <p:txBody>
          <a:bodyPr anchor="ctr"/>
          <a:lstStyle>
            <a:lvl1pPr>
              <a:defRPr b="0" spc="-232" sz="11600">
                <a:latin typeface="Helvetica Neue Medium"/>
                <a:ea typeface="Helvetica Neue Medium"/>
                <a:cs typeface="Helvetica Neue Medium"/>
                <a:sym typeface="Helvetica Neue Medium"/>
              </a:defRPr>
            </a:lvl1pPr>
          </a:lstStyle>
          <a:p>
            <a:pPr/>
            <a:r>
              <a:t>Section Title</a:t>
            </a:r>
          </a:p>
        </p:txBody>
      </p:sp>
      <p:sp>
        <p:nvSpPr>
          <p:cNvPr id="72"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79" name="Slide Title"/>
          <p:cNvSpPr txBox="1"/>
          <p:nvPr>
            <p:ph type="title" hasCustomPrompt="1"/>
          </p:nvPr>
        </p:nvSpPr>
        <p:spPr>
          <a:xfrm>
            <a:off x="1206500" y="1079500"/>
            <a:ext cx="21971000" cy="1434949"/>
          </a:xfrm>
          <a:prstGeom prst="rect">
            <a:avLst/>
          </a:prstGeom>
        </p:spPr>
        <p:txBody>
          <a:bodyPr/>
          <a:lstStyle/>
          <a:p>
            <a:pPr/>
            <a:r>
              <a:t>Slide Title</a:t>
            </a:r>
          </a:p>
        </p:txBody>
      </p:sp>
      <p:sp>
        <p:nvSpPr>
          <p:cNvPr id="80"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8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88" name="Agenda Title"/>
          <p:cNvSpPr txBox="1"/>
          <p:nvPr>
            <p:ph type="title" hasCustomPrompt="1"/>
          </p:nvPr>
        </p:nvSpPr>
        <p:spPr>
          <a:xfrm>
            <a:off x="1206500" y="1079500"/>
            <a:ext cx="21971000" cy="1435100"/>
          </a:xfrm>
          <a:prstGeom prst="rect">
            <a:avLst/>
          </a:prstGeom>
        </p:spPr>
        <p:txBody>
          <a:bodyPr/>
          <a:lstStyle/>
          <a:p>
            <a:pPr/>
            <a:r>
              <a:t>Agenda Title</a:t>
            </a:r>
          </a:p>
        </p:txBody>
      </p:sp>
      <p:sp>
        <p:nvSpPr>
          <p:cNvPr id="89" name="Agenda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Agenda Subtitle</a:t>
            </a:r>
          </a:p>
        </p:txBody>
      </p:sp>
      <p:sp>
        <p:nvSpPr>
          <p:cNvPr id="90" name="Body Level One…"/>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Agenda Topics</a:t>
            </a:r>
          </a:p>
          <a:p>
            <a:pPr lvl="1"/>
            <a:r>
              <a:t/>
            </a:r>
          </a:p>
          <a:p>
            <a:pPr lvl="2"/>
            <a:r>
              <a:t/>
            </a:r>
          </a:p>
          <a:p>
            <a:pPr lvl="3"/>
            <a:r>
              <a:t/>
            </a:r>
          </a:p>
          <a:p>
            <a:pPr lvl="4"/>
            <a:r>
              <a:t/>
            </a:r>
          </a:p>
        </p:txBody>
      </p:sp>
      <p:sp>
        <p:nvSpPr>
          <p:cNvPr id="9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98" name="Body Level One…"/>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232" sz="11600">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232" sz="11600">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232" sz="11600">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232" sz="116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9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06" name="Body Level One…"/>
          <p:cNvSpPr txBox="1"/>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b="1" spc="-250" sz="25000"/>
            </a:lvl1pPr>
            <a:lvl2pPr marL="0" indent="457200" algn="ctr">
              <a:lnSpc>
                <a:spcPct val="80000"/>
              </a:lnSpc>
              <a:spcBef>
                <a:spcPts val="0"/>
              </a:spcBef>
              <a:buSzTx/>
              <a:buNone/>
              <a:defRPr b="1" spc="-250" sz="25000"/>
            </a:lvl2pPr>
            <a:lvl3pPr marL="0" indent="914400" algn="ctr">
              <a:lnSpc>
                <a:spcPct val="80000"/>
              </a:lnSpc>
              <a:spcBef>
                <a:spcPts val="0"/>
              </a:spcBef>
              <a:buSzTx/>
              <a:buNone/>
              <a:defRPr b="1" spc="-250" sz="25000"/>
            </a:lvl3pPr>
            <a:lvl4pPr marL="0" indent="1371600" algn="ctr">
              <a:lnSpc>
                <a:spcPct val="80000"/>
              </a:lnSpc>
              <a:spcBef>
                <a:spcPts val="0"/>
              </a:spcBef>
              <a:buSzTx/>
              <a:buNone/>
              <a:defRPr b="1" spc="-250" sz="25000"/>
            </a:lvl4pPr>
            <a:lvl5pPr marL="0" indent="1828800" algn="ctr">
              <a:lnSpc>
                <a:spcPct val="80000"/>
              </a:lnSpc>
              <a:spcBef>
                <a:spcPts val="0"/>
              </a:spcBef>
              <a:buSzTx/>
              <a:buNone/>
              <a:defRPr b="1" spc="-250" sz="25000"/>
            </a:lvl5pPr>
          </a:lstStyle>
          <a:p>
            <a:pPr/>
            <a:r>
              <a:t>100%</a:t>
            </a:r>
          </a:p>
          <a:p>
            <a:pPr lvl="1"/>
            <a:r>
              <a:t/>
            </a:r>
          </a:p>
          <a:p>
            <a:pPr lvl="2"/>
            <a:r>
              <a:t/>
            </a:r>
          </a:p>
          <a:p>
            <a:pPr lvl="3"/>
            <a:r>
              <a:t/>
            </a:r>
          </a:p>
          <a:p>
            <a:pPr lvl="4"/>
            <a:r>
              <a:t/>
            </a:r>
          </a:p>
        </p:txBody>
      </p:sp>
      <p:sp>
        <p:nvSpPr>
          <p:cNvPr id="107"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Fact information</a:t>
            </a:r>
          </a:p>
        </p:txBody>
      </p:sp>
      <p:sp>
        <p:nvSpPr>
          <p:cNvPr id="10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15" name="Attribution"/>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Attribution</a:t>
            </a:r>
          </a:p>
        </p:txBody>
      </p:sp>
      <p:sp>
        <p:nvSpPr>
          <p:cNvPr id="116" name="Body Level One…"/>
          <p:cNvSpPr txBox="1"/>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pc="-170" sz="8500">
                <a:latin typeface="Helvetica Neue Medium"/>
                <a:ea typeface="Helvetica Neue Medium"/>
                <a:cs typeface="Helvetica Neue Medium"/>
                <a:sym typeface="Helvetica Neue Medium"/>
              </a:defRPr>
            </a:lvl1pPr>
            <a:lvl2pPr marL="638923" indent="-12700">
              <a:spcBef>
                <a:spcPts val="0"/>
              </a:spcBef>
              <a:buSzTx/>
              <a:buNone/>
              <a:defRPr spc="-170" sz="8500">
                <a:latin typeface="Helvetica Neue Medium"/>
                <a:ea typeface="Helvetica Neue Medium"/>
                <a:cs typeface="Helvetica Neue Medium"/>
                <a:sym typeface="Helvetica Neue Medium"/>
              </a:defRPr>
            </a:lvl2pPr>
            <a:lvl3pPr marL="638923" indent="444500">
              <a:spcBef>
                <a:spcPts val="0"/>
              </a:spcBef>
              <a:buSzTx/>
              <a:buNone/>
              <a:defRPr spc="-170" sz="8500">
                <a:latin typeface="Helvetica Neue Medium"/>
                <a:ea typeface="Helvetica Neue Medium"/>
                <a:cs typeface="Helvetica Neue Medium"/>
                <a:sym typeface="Helvetica Neue Medium"/>
              </a:defRPr>
            </a:lvl3pPr>
            <a:lvl4pPr marL="638923" indent="901700">
              <a:spcBef>
                <a:spcPts val="0"/>
              </a:spcBef>
              <a:buSzTx/>
              <a:buNone/>
              <a:defRPr spc="-170" sz="8500">
                <a:latin typeface="Helvetica Neue Medium"/>
                <a:ea typeface="Helvetica Neue Medium"/>
                <a:cs typeface="Helvetica Neue Medium"/>
                <a:sym typeface="Helvetica Neue Medium"/>
              </a:defRPr>
            </a:lvl4pPr>
            <a:lvl5pPr marL="638923" indent="1358900">
              <a:spcBef>
                <a:spcPts val="0"/>
              </a:spcBef>
              <a:buSzTx/>
              <a:buNone/>
              <a:defRPr spc="-170" sz="85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24" name="Image"/>
          <p:cNvSpPr/>
          <p:nvPr>
            <p:ph type="pic" sz="quarter" idx="21"/>
          </p:nvPr>
        </p:nvSpPr>
        <p:spPr>
          <a:xfrm>
            <a:off x="15760700" y="1016000"/>
            <a:ext cx="7439099" cy="5949678"/>
          </a:xfrm>
          <a:prstGeom prst="rect">
            <a:avLst/>
          </a:prstGeom>
        </p:spPr>
        <p:txBody>
          <a:bodyPr lIns="91439" tIns="45719" rIns="91439" bIns="45719">
            <a:noAutofit/>
          </a:bodyPr>
          <a:lstStyle/>
          <a:p>
            <a:pPr/>
          </a:p>
        </p:txBody>
      </p:sp>
      <p:sp>
        <p:nvSpPr>
          <p:cNvPr id="125" name="Image"/>
          <p:cNvSpPr/>
          <p:nvPr>
            <p:ph type="pic" sz="half" idx="22"/>
          </p:nvPr>
        </p:nvSpPr>
        <p:spPr>
          <a:xfrm>
            <a:off x="13500100" y="3978275"/>
            <a:ext cx="10439400" cy="12150181"/>
          </a:xfrm>
          <a:prstGeom prst="rect">
            <a:avLst/>
          </a:prstGeom>
        </p:spPr>
        <p:txBody>
          <a:bodyPr lIns="91439" tIns="45719" rIns="91439" bIns="45719">
            <a:noAutofit/>
          </a:bodyPr>
          <a:lstStyle/>
          <a:p>
            <a:pPr/>
          </a:p>
        </p:txBody>
      </p:sp>
      <p:sp>
        <p:nvSpPr>
          <p:cNvPr id="126" name="Image"/>
          <p:cNvSpPr/>
          <p:nvPr>
            <p:ph type="pic" idx="23"/>
          </p:nvPr>
        </p:nvSpPr>
        <p:spPr>
          <a:xfrm>
            <a:off x="-139700" y="495300"/>
            <a:ext cx="16611600" cy="12458700"/>
          </a:xfrm>
          <a:prstGeom prst="rect">
            <a:avLst/>
          </a:prstGeom>
        </p:spPr>
        <p:txBody>
          <a:bodyPr lIns="91439" tIns="45719" rIns="91439" bIns="45719">
            <a:noAutofit/>
          </a:bodyPr>
          <a:lstStyle/>
          <a:p>
            <a:pPr/>
          </a:p>
        </p:txBody>
      </p:sp>
      <p:sp>
        <p:nvSpPr>
          <p:cNvPr id="12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34" name="Image"/>
          <p:cNvSpPr/>
          <p:nvPr>
            <p:ph type="pic" idx="21"/>
          </p:nvPr>
        </p:nvSpPr>
        <p:spPr>
          <a:xfrm>
            <a:off x="-1333500" y="-5524500"/>
            <a:ext cx="27051000" cy="21640800"/>
          </a:xfrm>
          <a:prstGeom prst="rect">
            <a:avLst/>
          </a:prstGeom>
        </p:spPr>
        <p:txBody>
          <a:bodyPr lIns="91439" tIns="45719" rIns="91439" bIns="45719">
            <a:noAutofit/>
          </a:bodyPr>
          <a:lstStyle/>
          <a:p>
            <a:pPr/>
          </a:p>
        </p:txBody>
      </p:sp>
      <p:sp>
        <p:nvSpPr>
          <p:cNvPr id="13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4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49" name="Title Text"/>
          <p:cNvSpPr txBox="1"/>
          <p:nvPr>
            <p:ph type="title"/>
          </p:nvPr>
        </p:nvSpPr>
        <p:spPr>
          <a:xfrm>
            <a:off x="4387451" y="625075"/>
            <a:ext cx="15609097" cy="3036098"/>
          </a:xfrm>
          <a:prstGeom prst="rect">
            <a:avLst/>
          </a:prstGeom>
        </p:spPr>
        <p:txBody>
          <a:bodyPr lIns="71435" tIns="71435" rIns="71435" bIns="71435" anchor="ctr"/>
          <a:lstStyle>
            <a:lvl1pPr algn="ctr" defTabSz="821529">
              <a:lnSpc>
                <a:spcPct val="100000"/>
              </a:lnSpc>
              <a:defRPr b="0" spc="0" sz="10800">
                <a:latin typeface="Helvetica Light"/>
                <a:ea typeface="Helvetica Light"/>
                <a:cs typeface="Helvetica Light"/>
                <a:sym typeface="Helvetica Light"/>
              </a:defRPr>
            </a:lvl1pPr>
          </a:lstStyle>
          <a:p>
            <a:pPr/>
            <a:r>
              <a:t>Title Text</a:t>
            </a:r>
          </a:p>
        </p:txBody>
      </p:sp>
      <p:sp>
        <p:nvSpPr>
          <p:cNvPr id="150" name="Body Level One…"/>
          <p:cNvSpPr txBox="1"/>
          <p:nvPr>
            <p:ph type="body" idx="1"/>
          </p:nvPr>
        </p:nvSpPr>
        <p:spPr>
          <a:xfrm>
            <a:off x="4387451" y="3661169"/>
            <a:ext cx="15609097" cy="8840395"/>
          </a:xfrm>
          <a:prstGeom prst="rect">
            <a:avLst/>
          </a:prstGeom>
        </p:spPr>
        <p:txBody>
          <a:bodyPr lIns="71435" tIns="71435" rIns="71435" bIns="71435" anchor="ctr"/>
          <a:lstStyle>
            <a:lvl1pPr marL="592664" indent="-592664" defTabSz="583286">
              <a:lnSpc>
                <a:spcPct val="100000"/>
              </a:lnSpc>
              <a:spcBef>
                <a:spcPts val="1600"/>
              </a:spcBef>
              <a:buSzPct val="75000"/>
              <a:defRPr>
                <a:latin typeface="Helvetica"/>
                <a:ea typeface="Helvetica"/>
                <a:cs typeface="Helvetica"/>
                <a:sym typeface="Helvetica"/>
              </a:defRPr>
            </a:lvl1pPr>
            <a:lvl2pPr marL="1037164" indent="-592664" defTabSz="583286">
              <a:lnSpc>
                <a:spcPct val="100000"/>
              </a:lnSpc>
              <a:spcBef>
                <a:spcPts val="1600"/>
              </a:spcBef>
              <a:buSzPct val="75000"/>
              <a:defRPr>
                <a:latin typeface="Helvetica"/>
                <a:ea typeface="Helvetica"/>
                <a:cs typeface="Helvetica"/>
                <a:sym typeface="Helvetica"/>
              </a:defRPr>
            </a:lvl2pPr>
            <a:lvl3pPr marL="1481664" indent="-592664" defTabSz="583286">
              <a:lnSpc>
                <a:spcPct val="100000"/>
              </a:lnSpc>
              <a:spcBef>
                <a:spcPts val="1600"/>
              </a:spcBef>
              <a:buSzPct val="75000"/>
              <a:defRPr>
                <a:latin typeface="Helvetica"/>
                <a:ea typeface="Helvetica"/>
                <a:cs typeface="Helvetica"/>
                <a:sym typeface="Helvetica"/>
              </a:defRPr>
            </a:lvl3pPr>
            <a:lvl4pPr marL="1926164" indent="-592664" defTabSz="583286">
              <a:lnSpc>
                <a:spcPct val="100000"/>
              </a:lnSpc>
              <a:spcBef>
                <a:spcPts val="1600"/>
              </a:spcBef>
              <a:buSzPct val="75000"/>
              <a:defRPr>
                <a:latin typeface="Helvetica"/>
                <a:ea typeface="Helvetica"/>
                <a:cs typeface="Helvetica"/>
                <a:sym typeface="Helvetica"/>
              </a:defRPr>
            </a:lvl4pPr>
            <a:lvl5pPr marL="2370664" indent="-592664" defTabSz="583286">
              <a:lnSpc>
                <a:spcPct val="100000"/>
              </a:lnSpc>
              <a:spcBef>
                <a:spcPts val="1600"/>
              </a:spcBef>
              <a:buSzPct val="75000"/>
              <a:defRPr>
                <a:latin typeface="Helvetica"/>
                <a:ea typeface="Helvetica"/>
                <a:cs typeface="Helvetica"/>
                <a:sym typeface="Helvetica"/>
              </a:defRPr>
            </a:lvl5pPr>
          </a:lstStyle>
          <a:p>
            <a:pPr/>
            <a:r>
              <a:t>Body Level One</a:t>
            </a:r>
          </a:p>
          <a:p>
            <a:pPr lvl="1"/>
            <a:r>
              <a:t>Body Level Two</a:t>
            </a:r>
          </a:p>
          <a:p>
            <a:pPr lvl="2"/>
            <a:r>
              <a:t>Body Level Three</a:t>
            </a:r>
          </a:p>
          <a:p>
            <a:pPr lvl="3"/>
            <a:r>
              <a:t>Body Level Four</a:t>
            </a:r>
          </a:p>
          <a:p>
            <a:pPr lvl="4"/>
            <a:r>
              <a:t>Body Level Five</a:t>
            </a:r>
          </a:p>
        </p:txBody>
      </p:sp>
      <p:sp>
        <p:nvSpPr>
          <p:cNvPr id="151"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58" name="Title Text"/>
          <p:cNvSpPr txBox="1"/>
          <p:nvPr>
            <p:ph type="title"/>
          </p:nvPr>
        </p:nvSpPr>
        <p:spPr>
          <a:xfrm>
            <a:off x="4387451" y="625075"/>
            <a:ext cx="15609097" cy="3036098"/>
          </a:xfrm>
          <a:prstGeom prst="rect">
            <a:avLst/>
          </a:prstGeom>
        </p:spPr>
        <p:txBody>
          <a:bodyPr lIns="71435" tIns="71435" rIns="71435" bIns="71435" anchor="ctr"/>
          <a:lstStyle>
            <a:lvl1pPr algn="ctr" defTabSz="714732">
              <a:lnSpc>
                <a:spcPct val="100000"/>
              </a:lnSpc>
              <a:defRPr spc="0" sz="16000">
                <a:solidFill>
                  <a:srgbClr val="000080"/>
                </a:solidFill>
                <a:latin typeface="Helvetica"/>
                <a:ea typeface="Helvetica"/>
                <a:cs typeface="Helvetica"/>
                <a:sym typeface="Helvetica"/>
              </a:defRPr>
            </a:lvl1pPr>
          </a:lstStyle>
          <a:p>
            <a:pPr/>
            <a:r>
              <a:t>Title Text</a:t>
            </a:r>
          </a:p>
        </p:txBody>
      </p:sp>
      <p:sp>
        <p:nvSpPr>
          <p:cNvPr id="159" name="Body Level One…"/>
          <p:cNvSpPr txBox="1"/>
          <p:nvPr>
            <p:ph type="body" idx="1"/>
          </p:nvPr>
        </p:nvSpPr>
        <p:spPr>
          <a:xfrm>
            <a:off x="4387451" y="3661169"/>
            <a:ext cx="15609097" cy="8840395"/>
          </a:xfrm>
          <a:prstGeom prst="rect">
            <a:avLst/>
          </a:prstGeom>
        </p:spPr>
        <p:txBody>
          <a:bodyPr lIns="71435" tIns="71435" rIns="71435" bIns="71435" anchor="ctr"/>
          <a:lstStyle>
            <a:lvl1pPr marL="543275" indent="-543275" defTabSz="821529">
              <a:lnSpc>
                <a:spcPct val="100000"/>
              </a:lnSpc>
              <a:spcBef>
                <a:spcPts val="5800"/>
              </a:spcBef>
              <a:buSzPct val="75000"/>
              <a:defRPr sz="4400">
                <a:latin typeface="Helvetica Light"/>
                <a:ea typeface="Helvetica Light"/>
                <a:cs typeface="Helvetica Light"/>
                <a:sym typeface="Helvetica Light"/>
              </a:defRPr>
            </a:lvl1pPr>
            <a:lvl2pPr marL="987776" indent="-543276" defTabSz="821529">
              <a:lnSpc>
                <a:spcPct val="100000"/>
              </a:lnSpc>
              <a:spcBef>
                <a:spcPts val="5800"/>
              </a:spcBef>
              <a:buSzPct val="75000"/>
              <a:defRPr sz="4400">
                <a:latin typeface="Helvetica Light"/>
                <a:ea typeface="Helvetica Light"/>
                <a:cs typeface="Helvetica Light"/>
                <a:sym typeface="Helvetica Light"/>
              </a:defRPr>
            </a:lvl2pPr>
            <a:lvl3pPr marL="1432275" indent="-543275" defTabSz="821529">
              <a:lnSpc>
                <a:spcPct val="100000"/>
              </a:lnSpc>
              <a:spcBef>
                <a:spcPts val="5800"/>
              </a:spcBef>
              <a:buSzPct val="75000"/>
              <a:defRPr sz="4400">
                <a:latin typeface="Helvetica Light"/>
                <a:ea typeface="Helvetica Light"/>
                <a:cs typeface="Helvetica Light"/>
                <a:sym typeface="Helvetica Light"/>
              </a:defRPr>
            </a:lvl3pPr>
            <a:lvl4pPr marL="1876775" indent="-543275" defTabSz="821529">
              <a:lnSpc>
                <a:spcPct val="100000"/>
              </a:lnSpc>
              <a:spcBef>
                <a:spcPts val="5800"/>
              </a:spcBef>
              <a:buSzPct val="75000"/>
              <a:defRPr sz="4400">
                <a:latin typeface="Helvetica Light"/>
                <a:ea typeface="Helvetica Light"/>
                <a:cs typeface="Helvetica Light"/>
                <a:sym typeface="Helvetica Light"/>
              </a:defRPr>
            </a:lvl4pPr>
            <a:lvl5pPr marL="2321276" indent="-543276" defTabSz="821529">
              <a:lnSpc>
                <a:spcPct val="100000"/>
              </a:lnSpc>
              <a:spcBef>
                <a:spcPts val="5800"/>
              </a:spcBef>
              <a:buSzPct val="75000"/>
              <a:defRPr sz="4400">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60"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67" name="Title Text"/>
          <p:cNvSpPr txBox="1"/>
          <p:nvPr>
            <p:ph type="title"/>
          </p:nvPr>
        </p:nvSpPr>
        <p:spPr>
          <a:xfrm>
            <a:off x="4387451" y="625077"/>
            <a:ext cx="15609097" cy="3036095"/>
          </a:xfrm>
          <a:prstGeom prst="rect">
            <a:avLst/>
          </a:prstGeom>
        </p:spPr>
        <p:txBody>
          <a:bodyPr lIns="71435" tIns="71435" rIns="71435" bIns="71435" anchor="ctr"/>
          <a:lstStyle>
            <a:lvl1pPr algn="ctr" defTabSz="914400">
              <a:lnSpc>
                <a:spcPct val="100000"/>
              </a:lnSpc>
              <a:defRPr spc="0" sz="11200">
                <a:solidFill>
                  <a:srgbClr val="000080"/>
                </a:solidFill>
                <a:uFill>
                  <a:solidFill>
                    <a:srgbClr val="000000"/>
                  </a:solidFill>
                </a:uFill>
                <a:latin typeface="Calibri"/>
                <a:ea typeface="Calibri"/>
                <a:cs typeface="Calibri"/>
                <a:sym typeface="Calibri"/>
              </a:defRPr>
            </a:lvl1pPr>
          </a:lstStyle>
          <a:p>
            <a:pPr/>
            <a:r>
              <a:t>Title Text</a:t>
            </a:r>
          </a:p>
        </p:txBody>
      </p:sp>
      <p:sp>
        <p:nvSpPr>
          <p:cNvPr id="168" name="Body Level One…"/>
          <p:cNvSpPr txBox="1"/>
          <p:nvPr>
            <p:ph type="body" idx="1"/>
          </p:nvPr>
        </p:nvSpPr>
        <p:spPr>
          <a:xfrm>
            <a:off x="4387451" y="3661169"/>
            <a:ext cx="15609097" cy="8840395"/>
          </a:xfrm>
          <a:prstGeom prst="rect">
            <a:avLst/>
          </a:prstGeom>
        </p:spPr>
        <p:txBody>
          <a:bodyPr lIns="71435" tIns="71435" rIns="71435" bIns="71435" anchor="ctr"/>
          <a:lstStyle>
            <a:lvl1pPr marL="592666" indent="-592666" defTabSz="821529">
              <a:lnSpc>
                <a:spcPct val="100000"/>
              </a:lnSpc>
              <a:spcBef>
                <a:spcPts val="5800"/>
              </a:spcBef>
              <a:buSzPct val="75000"/>
              <a:defRPr>
                <a:latin typeface="Helvetica Light"/>
                <a:ea typeface="Helvetica Light"/>
                <a:cs typeface="Helvetica Light"/>
                <a:sym typeface="Helvetica Light"/>
              </a:defRPr>
            </a:lvl1pPr>
            <a:lvl2pPr marL="1037165" indent="-592665" defTabSz="821529">
              <a:lnSpc>
                <a:spcPct val="100000"/>
              </a:lnSpc>
              <a:spcBef>
                <a:spcPts val="5800"/>
              </a:spcBef>
              <a:buSzPct val="75000"/>
              <a:defRPr>
                <a:latin typeface="Helvetica Light"/>
                <a:ea typeface="Helvetica Light"/>
                <a:cs typeface="Helvetica Light"/>
                <a:sym typeface="Helvetica Light"/>
              </a:defRPr>
            </a:lvl2pPr>
            <a:lvl3pPr marL="1481665" indent="-592665" defTabSz="821529">
              <a:lnSpc>
                <a:spcPct val="100000"/>
              </a:lnSpc>
              <a:spcBef>
                <a:spcPts val="5800"/>
              </a:spcBef>
              <a:buSzPct val="75000"/>
              <a:defRPr>
                <a:latin typeface="Helvetica Light"/>
                <a:ea typeface="Helvetica Light"/>
                <a:cs typeface="Helvetica Light"/>
                <a:sym typeface="Helvetica Light"/>
              </a:defRPr>
            </a:lvl3pPr>
            <a:lvl4pPr marL="1926166" indent="-592666" defTabSz="821529">
              <a:lnSpc>
                <a:spcPct val="100000"/>
              </a:lnSpc>
              <a:spcBef>
                <a:spcPts val="5800"/>
              </a:spcBef>
              <a:buSzPct val="75000"/>
              <a:defRPr>
                <a:latin typeface="Helvetica Light"/>
                <a:ea typeface="Helvetica Light"/>
                <a:cs typeface="Helvetica Light"/>
                <a:sym typeface="Helvetica Light"/>
              </a:defRPr>
            </a:lvl4pPr>
            <a:lvl5pPr marL="2370666" indent="-592666" defTabSz="821529">
              <a:lnSpc>
                <a:spcPct val="100000"/>
              </a:lnSpc>
              <a:spcBef>
                <a:spcPts val="5800"/>
              </a:spcBef>
              <a:buSzPct val="75000"/>
              <a:defRPr>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69" name="Slide Number"/>
          <p:cNvSpPr txBox="1"/>
          <p:nvPr>
            <p:ph type="sldNum" sz="quarter" idx="2"/>
          </p:nvPr>
        </p:nvSpPr>
        <p:spPr>
          <a:xfrm>
            <a:off x="11935816" y="13010554"/>
            <a:ext cx="494510" cy="511173"/>
          </a:xfrm>
          <a:prstGeom prst="rect">
            <a:avLst/>
          </a:prstGeom>
        </p:spPr>
        <p:txBody>
          <a:bodyPr lIns="71435" tIns="71435" rIns="71435" bIns="71435" anchor="t"/>
          <a:lstStyle>
            <a:lvl1pPr defTabSz="821529">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76" name="Title Text"/>
          <p:cNvSpPr txBox="1"/>
          <p:nvPr>
            <p:ph type="title"/>
          </p:nvPr>
        </p:nvSpPr>
        <p:spPr>
          <a:xfrm>
            <a:off x="4387451" y="625075"/>
            <a:ext cx="15609097" cy="3036098"/>
          </a:xfrm>
          <a:prstGeom prst="rect">
            <a:avLst/>
          </a:prstGeom>
        </p:spPr>
        <p:txBody>
          <a:bodyPr lIns="71435" tIns="71435" rIns="71435" bIns="71435" anchor="ctr"/>
          <a:lstStyle>
            <a:lvl1pPr algn="ctr" defTabSz="821529">
              <a:lnSpc>
                <a:spcPct val="100000"/>
              </a:lnSpc>
              <a:defRPr b="0" spc="0" sz="10800">
                <a:latin typeface="Helvetica Light"/>
                <a:ea typeface="Helvetica Light"/>
                <a:cs typeface="Helvetica Light"/>
                <a:sym typeface="Helvetica Light"/>
              </a:defRPr>
            </a:lvl1pPr>
          </a:lstStyle>
          <a:p>
            <a:pPr/>
            <a:r>
              <a:t>Title Text</a:t>
            </a:r>
          </a:p>
        </p:txBody>
      </p:sp>
      <p:sp>
        <p:nvSpPr>
          <p:cNvPr id="177" name="Body Level One…"/>
          <p:cNvSpPr txBox="1"/>
          <p:nvPr>
            <p:ph type="body" idx="1"/>
          </p:nvPr>
        </p:nvSpPr>
        <p:spPr>
          <a:xfrm>
            <a:off x="4387451" y="3661169"/>
            <a:ext cx="15609097" cy="8840395"/>
          </a:xfrm>
          <a:prstGeom prst="rect">
            <a:avLst/>
          </a:prstGeom>
        </p:spPr>
        <p:txBody>
          <a:bodyPr lIns="71435" tIns="71435" rIns="71435" bIns="71435" anchor="ctr"/>
          <a:lstStyle>
            <a:lvl1pPr marL="543275" indent="-543275" defTabSz="821529">
              <a:lnSpc>
                <a:spcPct val="100000"/>
              </a:lnSpc>
              <a:spcBef>
                <a:spcPts val="5800"/>
              </a:spcBef>
              <a:buSzPct val="75000"/>
              <a:defRPr sz="4400">
                <a:latin typeface="Helvetica Light"/>
                <a:ea typeface="Helvetica Light"/>
                <a:cs typeface="Helvetica Light"/>
                <a:sym typeface="Helvetica Light"/>
              </a:defRPr>
            </a:lvl1pPr>
            <a:lvl2pPr marL="987776" indent="-543276" defTabSz="821529">
              <a:lnSpc>
                <a:spcPct val="100000"/>
              </a:lnSpc>
              <a:spcBef>
                <a:spcPts val="5800"/>
              </a:spcBef>
              <a:buSzPct val="75000"/>
              <a:defRPr sz="4400">
                <a:latin typeface="Helvetica Light"/>
                <a:ea typeface="Helvetica Light"/>
                <a:cs typeface="Helvetica Light"/>
                <a:sym typeface="Helvetica Light"/>
              </a:defRPr>
            </a:lvl2pPr>
            <a:lvl3pPr marL="1432275" indent="-543275" defTabSz="821529">
              <a:lnSpc>
                <a:spcPct val="100000"/>
              </a:lnSpc>
              <a:spcBef>
                <a:spcPts val="5800"/>
              </a:spcBef>
              <a:buSzPct val="75000"/>
              <a:defRPr sz="4400">
                <a:latin typeface="Helvetica Light"/>
                <a:ea typeface="Helvetica Light"/>
                <a:cs typeface="Helvetica Light"/>
                <a:sym typeface="Helvetica Light"/>
              </a:defRPr>
            </a:lvl3pPr>
            <a:lvl4pPr marL="1876775" indent="-543275" defTabSz="821529">
              <a:lnSpc>
                <a:spcPct val="100000"/>
              </a:lnSpc>
              <a:spcBef>
                <a:spcPts val="5800"/>
              </a:spcBef>
              <a:buSzPct val="75000"/>
              <a:defRPr sz="4400">
                <a:latin typeface="Helvetica Light"/>
                <a:ea typeface="Helvetica Light"/>
                <a:cs typeface="Helvetica Light"/>
                <a:sym typeface="Helvetica Light"/>
              </a:defRPr>
            </a:lvl4pPr>
            <a:lvl5pPr marL="2321276" indent="-543276" defTabSz="821529">
              <a:lnSpc>
                <a:spcPct val="100000"/>
              </a:lnSpc>
              <a:spcBef>
                <a:spcPts val="5800"/>
              </a:spcBef>
              <a:buSzPct val="75000"/>
              <a:defRPr sz="4400">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78"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85" name="Title Text"/>
          <p:cNvSpPr txBox="1"/>
          <p:nvPr>
            <p:ph type="title"/>
          </p:nvPr>
        </p:nvSpPr>
        <p:spPr>
          <a:xfrm>
            <a:off x="4387450" y="625075"/>
            <a:ext cx="15609099" cy="3036098"/>
          </a:xfrm>
          <a:prstGeom prst="rect">
            <a:avLst/>
          </a:prstGeom>
        </p:spPr>
        <p:txBody>
          <a:bodyPr lIns="71433" tIns="71433" rIns="71433" bIns="71433" anchor="ctr"/>
          <a:lstStyle>
            <a:lvl1pPr algn="ctr" defTabSz="914400">
              <a:lnSpc>
                <a:spcPct val="100000"/>
              </a:lnSpc>
              <a:defRPr spc="0" sz="16000">
                <a:solidFill>
                  <a:srgbClr val="800000"/>
                </a:solidFill>
                <a:uFill>
                  <a:solidFill>
                    <a:srgbClr val="000000"/>
                  </a:solidFill>
                </a:uFill>
                <a:latin typeface="Helvetica"/>
                <a:ea typeface="Helvetica"/>
                <a:cs typeface="Helvetica"/>
                <a:sym typeface="Helvetica"/>
              </a:defRPr>
            </a:lvl1pPr>
          </a:lstStyle>
          <a:p>
            <a:pPr/>
            <a:r>
              <a:t>Title Text</a:t>
            </a:r>
          </a:p>
        </p:txBody>
      </p:sp>
      <p:sp>
        <p:nvSpPr>
          <p:cNvPr id="186" name="Body Level One…"/>
          <p:cNvSpPr txBox="1"/>
          <p:nvPr>
            <p:ph type="body" idx="1"/>
          </p:nvPr>
        </p:nvSpPr>
        <p:spPr>
          <a:xfrm>
            <a:off x="4387450" y="3661167"/>
            <a:ext cx="15609099" cy="8840398"/>
          </a:xfrm>
          <a:prstGeom prst="rect">
            <a:avLst/>
          </a:prstGeom>
        </p:spPr>
        <p:txBody>
          <a:bodyPr lIns="71433" tIns="71433" rIns="71433" bIns="71433" anchor="ctr"/>
          <a:lstStyle>
            <a:lvl1pPr marL="592666" indent="-592666" defTabSz="821527">
              <a:lnSpc>
                <a:spcPct val="100000"/>
              </a:lnSpc>
              <a:spcBef>
                <a:spcPts val="5800"/>
              </a:spcBef>
              <a:buSzPct val="75000"/>
              <a:defRPr>
                <a:latin typeface="Helvetica Light"/>
                <a:ea typeface="Helvetica Light"/>
                <a:cs typeface="Helvetica Light"/>
                <a:sym typeface="Helvetica Light"/>
              </a:defRPr>
            </a:lvl1pPr>
            <a:lvl2pPr marL="1037164" indent="-592664" defTabSz="821527">
              <a:lnSpc>
                <a:spcPct val="100000"/>
              </a:lnSpc>
              <a:spcBef>
                <a:spcPts val="5800"/>
              </a:spcBef>
              <a:buSzPct val="75000"/>
              <a:defRPr>
                <a:latin typeface="Helvetica Light"/>
                <a:ea typeface="Helvetica Light"/>
                <a:cs typeface="Helvetica Light"/>
                <a:sym typeface="Helvetica Light"/>
              </a:defRPr>
            </a:lvl2pPr>
            <a:lvl3pPr marL="1481664" indent="-592664" defTabSz="821527">
              <a:lnSpc>
                <a:spcPct val="100000"/>
              </a:lnSpc>
              <a:spcBef>
                <a:spcPts val="5800"/>
              </a:spcBef>
              <a:buSzPct val="75000"/>
              <a:defRPr>
                <a:latin typeface="Helvetica Light"/>
                <a:ea typeface="Helvetica Light"/>
                <a:cs typeface="Helvetica Light"/>
                <a:sym typeface="Helvetica Light"/>
              </a:defRPr>
            </a:lvl3pPr>
            <a:lvl4pPr marL="1926164" indent="-592663" defTabSz="821527">
              <a:lnSpc>
                <a:spcPct val="100000"/>
              </a:lnSpc>
              <a:spcBef>
                <a:spcPts val="5800"/>
              </a:spcBef>
              <a:buSzPct val="75000"/>
              <a:defRPr>
                <a:latin typeface="Helvetica Light"/>
                <a:ea typeface="Helvetica Light"/>
                <a:cs typeface="Helvetica Light"/>
                <a:sym typeface="Helvetica Light"/>
              </a:defRPr>
            </a:lvl4pPr>
            <a:lvl5pPr marL="2370666" indent="-592666" defTabSz="821527">
              <a:lnSpc>
                <a:spcPct val="100000"/>
              </a:lnSpc>
              <a:spcBef>
                <a:spcPts val="5800"/>
              </a:spcBef>
              <a:buSzPct val="75000"/>
              <a:defRPr>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87" name="Slide Number"/>
          <p:cNvSpPr txBox="1"/>
          <p:nvPr>
            <p:ph type="sldNum" sz="quarter" idx="2"/>
          </p:nvPr>
        </p:nvSpPr>
        <p:spPr>
          <a:xfrm>
            <a:off x="11935817" y="13010554"/>
            <a:ext cx="494507" cy="511169"/>
          </a:xfrm>
          <a:prstGeom prst="rect">
            <a:avLst/>
          </a:prstGeom>
        </p:spPr>
        <p:txBody>
          <a:bodyPr lIns="71433" tIns="71433" rIns="71433" bIns="71433" anchor="t"/>
          <a:lstStyle>
            <a:lvl1pPr defTabSz="821527">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defTabSz="584200">
              <a:defRPr sz="1800">
                <a:solidFill>
                  <a:srgbClr val="000000"/>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https://www.icloud.com/keynote/0bCYYctIKV9_4ICVqtSe5qItQ" TargetMode="External"/><Relationship Id="rId5" Type="http://schemas.openxmlformats.org/officeDocument/2006/relationships/hyperlink" Target="https://www.bradford-delong.com/2020/11/covid-forecasts.html" TargetMode="External"/><Relationship Id="rId6" Type="http://schemas.openxmlformats.org/officeDocument/2006/relationships/image" Target="../media/image2.png"/><Relationship Id="rId7" Type="http://schemas.openxmlformats.org/officeDocument/2006/relationships/image" Target="../media/image3.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hyperlink" Target="https://www.icloud.com/keynote/0bCYYctIKV9_4ICVqtSe5qItQ" TargetMode="External"/><Relationship Id="rId5" Type="http://schemas.openxmlformats.org/officeDocument/2006/relationships/hyperlink" Target="https://www.bradford-delong.com/2020/11/covid-forecasts.html" TargetMode="External"/><Relationship Id="rId6" Type="http://schemas.openxmlformats.org/officeDocument/2006/relationships/image" Target="../media/image2.png"/><Relationship Id="rId7" Type="http://schemas.openxmlformats.org/officeDocument/2006/relationships/image" Target="../media/image4.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hyperlink" Target="https://www.icloud.com/keynote/0bCYYctIKV9_4ICVqtSe5qItQ" TargetMode="External"/><Relationship Id="rId5" Type="http://schemas.openxmlformats.org/officeDocument/2006/relationships/hyperlink" Target="https://www.bradford-delong.com/2020/11/covid-extrapolations-as-of-2020-11-06.html" TargetMode="External"/><Relationship Id="rId6" Type="http://schemas.openxmlformats.org/officeDocument/2006/relationships/image" Target="../media/image5.png"/><Relationship Id="rId7" Type="http://schemas.openxmlformats.org/officeDocument/2006/relationships/image" Target="../media/image2.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hyperlink" Target="https://www.icloud.com/keynote/0bCYYctIKV9_4ICVqtSe5qItQ" TargetMode="External"/><Relationship Id="rId5" Type="http://schemas.openxmlformats.org/officeDocument/2006/relationships/hyperlink" Target="https://www.bradford-delong.com/2020/11/covid-extrapolations-as-of-2020-11-06.html" TargetMode="External"/><Relationship Id="rId6" Type="http://schemas.openxmlformats.org/officeDocument/2006/relationships/image" Target="../media/image2.png"/><Relationship Id="rId7" Type="http://schemas.openxmlformats.org/officeDocument/2006/relationships/image" Target="../media/image6.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tif"/></Relationships>

</file>

<file path=ppt/slides/_rels/slide6.xml.rels><?xml version="1.0" encoding="UTF-8"?>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96" name="delong-this-is-fine.png" descr="delong-this-is-fine.png"/>
          <p:cNvPicPr>
            <a:picLocks noChangeAspect="1"/>
          </p:cNvPicPr>
          <p:nvPr/>
        </p:nvPicPr>
        <p:blipFill>
          <a:blip r:embed="rId3">
            <a:alphaModFix amt="25396"/>
            <a:extLst/>
          </a:blip>
          <a:srcRect l="0" t="0" r="1203" b="0"/>
          <a:stretch>
            <a:fillRect/>
          </a:stretch>
        </p:blipFill>
        <p:spPr>
          <a:xfrm>
            <a:off x="0" y="-3183"/>
            <a:ext cx="24384001" cy="13722366"/>
          </a:xfrm>
          <a:prstGeom prst="rect">
            <a:avLst/>
          </a:prstGeom>
          <a:ln w="12700">
            <a:miter lim="400000"/>
          </a:ln>
        </p:spPr>
      </p:pic>
      <p:sp>
        <p:nvSpPr>
          <p:cNvPr id="197" name="2020-11-26"/>
          <p:cNvSpPr txBox="1"/>
          <p:nvPr/>
        </p:nvSpPr>
        <p:spPr>
          <a:xfrm>
            <a:off x="3716735" y="13228327"/>
            <a:ext cx="20282472" cy="4876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lvl1pPr algn="r" defTabSz="914400">
              <a:spcBef>
                <a:spcPts val="1200"/>
              </a:spcBef>
              <a:defRPr b="1" sz="2000">
                <a:solidFill>
                  <a:srgbClr val="FFFFFF"/>
                </a:solidFill>
                <a:uFill>
                  <a:solidFill>
                    <a:srgbClr val="000000"/>
                  </a:solidFill>
                </a:uFill>
                <a:latin typeface="Helvetica"/>
                <a:ea typeface="Helvetica"/>
                <a:cs typeface="Helvetica"/>
                <a:sym typeface="Helvetica"/>
              </a:defRPr>
            </a:lvl1pPr>
          </a:lstStyle>
          <a:p>
            <a:pPr/>
            <a:r>
              <a:t>2020-11-26</a:t>
            </a:r>
          </a:p>
        </p:txBody>
      </p:sp>
      <p:sp>
        <p:nvSpPr>
          <p:cNvPr id="198" name="The long 20th century will in all likelihood be seen in the future as the watershed in human experience:…"/>
          <p:cNvSpPr txBox="1"/>
          <p:nvPr/>
        </p:nvSpPr>
        <p:spPr>
          <a:xfrm>
            <a:off x="377206" y="10991909"/>
            <a:ext cx="12839877" cy="2084019"/>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lvl1pPr algn="l" defTabSz="821529">
              <a:spcBef>
                <a:spcPts val="1600"/>
              </a:spcBef>
              <a:defRPr b="1" sz="3200">
                <a:solidFill>
                  <a:srgbClr val="000000"/>
                </a:solidFill>
                <a:latin typeface="Times New Roman"/>
                <a:ea typeface="Times New Roman"/>
                <a:cs typeface="Times New Roman"/>
                <a:sym typeface="Times New Roman"/>
              </a:defRPr>
            </a:lvl1pPr>
          </a:lstStyle>
          <a:p>
            <a:pPr/>
            <a:r>
              <a:t>It gives me no pleasure that my simple national model of coronavirus cases—project cases back three weeks from deaths, and then extrapolate case growth out from confirmed case growth and from the number of cases per test—continues to run dead-on…</a:t>
            </a:r>
          </a:p>
        </p:txBody>
      </p:sp>
      <p:sp>
        <p:nvSpPr>
          <p:cNvPr id="199" name="&lt;https://www.icloud.com/keynote/0bCYYctIKV9_4ICVqtSe5qItQ&gt; &lt;https://www.bradford-delong.com/2020/11/covid-forecasts.html&gt;"/>
          <p:cNvSpPr txBox="1"/>
          <p:nvPr/>
        </p:nvSpPr>
        <p:spPr>
          <a:xfrm>
            <a:off x="377206" y="13228327"/>
            <a:ext cx="20282471" cy="4876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algn="l" defTabSz="914400">
              <a:spcBef>
                <a:spcPts val="1200"/>
              </a:spcBef>
              <a:defRPr b="1" sz="2000">
                <a:solidFill>
                  <a:srgbClr val="FFFFFF"/>
                </a:solidFill>
                <a:uFill>
                  <a:solidFill>
                    <a:srgbClr val="000000"/>
                  </a:solidFill>
                </a:uFill>
                <a:latin typeface="Helvetica"/>
                <a:ea typeface="Helvetica"/>
                <a:cs typeface="Helvetica"/>
                <a:sym typeface="Helvetica"/>
              </a:defRPr>
            </a:pPr>
            <a:r>
              <a:t>&lt;</a:t>
            </a:r>
            <a:r>
              <a:rPr>
                <a:hlinkClick r:id="rId4" invalidUrl="" action="" tgtFrame="" tooltip="" history="1" highlightClick="0" endSnd="0"/>
              </a:rPr>
              <a:t>https://www.icloud.com/keynote/0bCYYctIKV9_4ICVqtSe5qItQ</a:t>
            </a:r>
            <a:r>
              <a:t>&gt; &lt;</a:t>
            </a:r>
            <a:r>
              <a:rPr>
                <a:hlinkClick r:id="rId5" invalidUrl="" action="" tgtFrame="" tooltip="" history="1" highlightClick="0" endSnd="0"/>
              </a:rPr>
              <a:t>https://www.bradford-delong.com/2020/11/covid-forecasts.html</a:t>
            </a:r>
            <a:r>
              <a:t>&gt;</a:t>
            </a:r>
          </a:p>
        </p:txBody>
      </p:sp>
      <p:pic>
        <p:nvPicPr>
          <p:cNvPr id="200" name="Image" descr="Image"/>
          <p:cNvPicPr>
            <a:picLocks noChangeAspect="0"/>
          </p:cNvPicPr>
          <p:nvPr/>
        </p:nvPicPr>
        <p:blipFill>
          <a:blip r:embed="rId6">
            <a:extLst/>
          </a:blip>
          <a:srcRect l="0" t="7419" r="0" b="0"/>
          <a:stretch>
            <a:fillRect/>
          </a:stretch>
        </p:blipFill>
        <p:spPr>
          <a:xfrm>
            <a:off x="13217081" y="1507950"/>
            <a:ext cx="10781967" cy="11568039"/>
          </a:xfrm>
          <a:prstGeom prst="rect">
            <a:avLst/>
          </a:prstGeom>
          <a:ln w="12700">
            <a:miter lim="400000"/>
          </a:ln>
        </p:spPr>
      </p:pic>
      <p:pic>
        <p:nvPicPr>
          <p:cNvPr id="201" name="Image" descr="Image"/>
          <p:cNvPicPr>
            <a:picLocks noChangeAspect="1"/>
          </p:cNvPicPr>
          <p:nvPr/>
        </p:nvPicPr>
        <p:blipFill>
          <a:blip r:embed="rId7">
            <a:extLst/>
          </a:blip>
          <a:stretch>
            <a:fillRect/>
          </a:stretch>
        </p:blipFill>
        <p:spPr>
          <a:xfrm>
            <a:off x="377206" y="2285999"/>
            <a:ext cx="12839877" cy="7301851"/>
          </a:xfrm>
          <a:prstGeom prst="rect">
            <a:avLst/>
          </a:prstGeom>
          <a:ln w="12700">
            <a:miter lim="400000"/>
          </a:ln>
        </p:spPr>
      </p:pic>
      <p:sp>
        <p:nvSpPr>
          <p:cNvPr id="202" name="COVID Forecasts: 2020-11-26"/>
          <p:cNvSpPr txBox="1"/>
          <p:nvPr>
            <p:ph type="title"/>
          </p:nvPr>
        </p:nvSpPr>
        <p:spPr>
          <a:xfrm>
            <a:off x="377206" y="-1"/>
            <a:ext cx="23622001" cy="2286001"/>
          </a:xfrm>
          <a:prstGeom prst="rect">
            <a:avLst/>
          </a:prstGeom>
        </p:spPr>
        <p:txBody>
          <a:bodyPr lIns="91436" tIns="91436" rIns="91436" bIns="91436" anchor="ctr"/>
          <a:lstStyle>
            <a:lvl1pPr algn="ctr" defTabSz="758951">
              <a:lnSpc>
                <a:spcPct val="100000"/>
              </a:lnSpc>
              <a:defRPr spc="0" sz="13280">
                <a:solidFill>
                  <a:srgbClr val="000080"/>
                </a:solidFill>
                <a:uFill>
                  <a:solidFill>
                    <a:srgbClr val="000000"/>
                  </a:solidFill>
                </a:uFill>
                <a:latin typeface="Helvetica"/>
                <a:ea typeface="Helvetica"/>
                <a:cs typeface="Helvetica"/>
                <a:sym typeface="Helvetica"/>
              </a:defRPr>
            </a:lvl1pPr>
          </a:lstStyle>
          <a:p>
            <a:pPr/>
            <a:r>
              <a:t>COVID Forecasts: 2020-11-26</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06" name="delong-this-is-fine.png" descr="delong-this-is-fine.png"/>
          <p:cNvPicPr>
            <a:picLocks noChangeAspect="1"/>
          </p:cNvPicPr>
          <p:nvPr/>
        </p:nvPicPr>
        <p:blipFill>
          <a:blip r:embed="rId3">
            <a:alphaModFix amt="25396"/>
            <a:extLst/>
          </a:blip>
          <a:srcRect l="0" t="0" r="1203" b="0"/>
          <a:stretch>
            <a:fillRect/>
          </a:stretch>
        </p:blipFill>
        <p:spPr>
          <a:xfrm>
            <a:off x="0" y="-3183"/>
            <a:ext cx="24384001" cy="13722366"/>
          </a:xfrm>
          <a:prstGeom prst="rect">
            <a:avLst/>
          </a:prstGeom>
          <a:ln w="12700">
            <a:miter lim="400000"/>
          </a:ln>
        </p:spPr>
      </p:pic>
      <p:sp>
        <p:nvSpPr>
          <p:cNvPr id="207" name="2020-11-19"/>
          <p:cNvSpPr txBox="1"/>
          <p:nvPr/>
        </p:nvSpPr>
        <p:spPr>
          <a:xfrm>
            <a:off x="3716735" y="13228327"/>
            <a:ext cx="20282472" cy="4876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lvl1pPr algn="r" defTabSz="914400">
              <a:spcBef>
                <a:spcPts val="1200"/>
              </a:spcBef>
              <a:defRPr b="1" sz="2000">
                <a:solidFill>
                  <a:srgbClr val="FFFFFF"/>
                </a:solidFill>
                <a:uFill>
                  <a:solidFill>
                    <a:srgbClr val="000000"/>
                  </a:solidFill>
                </a:uFill>
                <a:latin typeface="Helvetica"/>
                <a:ea typeface="Helvetica"/>
                <a:cs typeface="Helvetica"/>
                <a:sym typeface="Helvetica"/>
              </a:defRPr>
            </a:lvl1pPr>
          </a:lstStyle>
          <a:p>
            <a:pPr/>
            <a:r>
              <a:t>2020-11-19</a:t>
            </a:r>
          </a:p>
        </p:txBody>
      </p:sp>
      <p:sp>
        <p:nvSpPr>
          <p:cNvPr id="208" name="The long 20th century will in all likelihood be seen in the future as the watershed in human experience:…"/>
          <p:cNvSpPr txBox="1"/>
          <p:nvPr/>
        </p:nvSpPr>
        <p:spPr>
          <a:xfrm>
            <a:off x="377206" y="10991909"/>
            <a:ext cx="12839877" cy="2084019"/>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lvl1pPr algn="l" defTabSz="821529">
              <a:spcBef>
                <a:spcPts val="1600"/>
              </a:spcBef>
              <a:defRPr b="1" sz="3200">
                <a:solidFill>
                  <a:srgbClr val="000000"/>
                </a:solidFill>
                <a:latin typeface="Times New Roman"/>
                <a:ea typeface="Times New Roman"/>
                <a:cs typeface="Times New Roman"/>
                <a:sym typeface="Times New Roman"/>
              </a:defRPr>
            </a:lvl1pPr>
          </a:lstStyle>
          <a:p>
            <a:pPr/>
            <a:r>
              <a:t>It gives me no pleasure that my simple national model of coronavirus cases—project cases back three weeks from deaths, and then extrapolate case growth out from confirmed case growth and from the number of cases per test—continues to run dead-on…</a:t>
            </a:r>
          </a:p>
        </p:txBody>
      </p:sp>
      <p:sp>
        <p:nvSpPr>
          <p:cNvPr id="209" name="COVID Forecasts: 2020-11-19"/>
          <p:cNvSpPr txBox="1"/>
          <p:nvPr>
            <p:ph type="title"/>
          </p:nvPr>
        </p:nvSpPr>
        <p:spPr>
          <a:xfrm>
            <a:off x="377206" y="-1"/>
            <a:ext cx="23622001" cy="2286001"/>
          </a:xfrm>
          <a:prstGeom prst="rect">
            <a:avLst/>
          </a:prstGeom>
        </p:spPr>
        <p:txBody>
          <a:bodyPr lIns="91436" tIns="91436" rIns="91436" bIns="91436" anchor="ctr"/>
          <a:lstStyle>
            <a:lvl1pPr algn="ctr" defTabSz="758951">
              <a:lnSpc>
                <a:spcPct val="100000"/>
              </a:lnSpc>
              <a:defRPr spc="0" sz="13280">
                <a:solidFill>
                  <a:srgbClr val="000080"/>
                </a:solidFill>
                <a:uFill>
                  <a:solidFill>
                    <a:srgbClr val="000000"/>
                  </a:solidFill>
                </a:uFill>
                <a:latin typeface="Helvetica"/>
                <a:ea typeface="Helvetica"/>
                <a:cs typeface="Helvetica"/>
                <a:sym typeface="Helvetica"/>
              </a:defRPr>
            </a:lvl1pPr>
          </a:lstStyle>
          <a:p>
            <a:pPr/>
            <a:r>
              <a:t>COVID Forecasts: 2020-11-19</a:t>
            </a:r>
          </a:p>
        </p:txBody>
      </p:sp>
      <p:sp>
        <p:nvSpPr>
          <p:cNvPr id="210" name="&lt;https://www.icloud.com/keynote/0bCYYctIKV9_4ICVqtSe5qItQ&gt; &lt;https://www.bradford-delong.com/2020/11/covid-forecasts.html&gt;"/>
          <p:cNvSpPr txBox="1"/>
          <p:nvPr/>
        </p:nvSpPr>
        <p:spPr>
          <a:xfrm>
            <a:off x="377206" y="13228327"/>
            <a:ext cx="20282471" cy="4876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algn="l" defTabSz="914400">
              <a:spcBef>
                <a:spcPts val="1200"/>
              </a:spcBef>
              <a:defRPr b="1" sz="2000">
                <a:solidFill>
                  <a:srgbClr val="FFFFFF"/>
                </a:solidFill>
                <a:uFill>
                  <a:solidFill>
                    <a:srgbClr val="000000"/>
                  </a:solidFill>
                </a:uFill>
                <a:latin typeface="Helvetica"/>
                <a:ea typeface="Helvetica"/>
                <a:cs typeface="Helvetica"/>
                <a:sym typeface="Helvetica"/>
              </a:defRPr>
            </a:pPr>
            <a:r>
              <a:t>&lt;</a:t>
            </a:r>
            <a:r>
              <a:rPr>
                <a:hlinkClick r:id="rId4" invalidUrl="" action="" tgtFrame="" tooltip="" history="1" highlightClick="0" endSnd="0"/>
              </a:rPr>
              <a:t>https://www.icloud.com/keynote/0bCYYctIKV9_4ICVqtSe5qItQ</a:t>
            </a:r>
            <a:r>
              <a:t>&gt; &lt;</a:t>
            </a:r>
            <a:r>
              <a:rPr>
                <a:hlinkClick r:id="rId5" invalidUrl="" action="" tgtFrame="" tooltip="" history="1" highlightClick="0" endSnd="0"/>
              </a:rPr>
              <a:t>https://www.bradford-delong.com/2020/11/covid-forecasts.html</a:t>
            </a:r>
            <a:r>
              <a:t>&gt;</a:t>
            </a:r>
          </a:p>
        </p:txBody>
      </p:sp>
      <p:pic>
        <p:nvPicPr>
          <p:cNvPr id="211" name="Image" descr="Image"/>
          <p:cNvPicPr>
            <a:picLocks noChangeAspect="0"/>
          </p:cNvPicPr>
          <p:nvPr/>
        </p:nvPicPr>
        <p:blipFill>
          <a:blip r:embed="rId6">
            <a:extLst/>
          </a:blip>
          <a:srcRect l="0" t="7419" r="0" b="0"/>
          <a:stretch>
            <a:fillRect/>
          </a:stretch>
        </p:blipFill>
        <p:spPr>
          <a:xfrm>
            <a:off x="13217081" y="2622271"/>
            <a:ext cx="10781967" cy="10605902"/>
          </a:xfrm>
          <a:prstGeom prst="rect">
            <a:avLst/>
          </a:prstGeom>
          <a:ln w="12700">
            <a:miter lim="400000"/>
          </a:ln>
        </p:spPr>
      </p:pic>
      <p:pic>
        <p:nvPicPr>
          <p:cNvPr id="212" name="Image" descr="Image"/>
          <p:cNvPicPr>
            <a:picLocks noChangeAspect="1"/>
          </p:cNvPicPr>
          <p:nvPr/>
        </p:nvPicPr>
        <p:blipFill>
          <a:blip r:embed="rId7">
            <a:extLst/>
          </a:blip>
          <a:stretch>
            <a:fillRect/>
          </a:stretch>
        </p:blipFill>
        <p:spPr>
          <a:xfrm>
            <a:off x="377206" y="2286000"/>
            <a:ext cx="12839877" cy="8553510"/>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16" name="delong-this-is-fine.png" descr="delong-this-is-fine.png"/>
          <p:cNvPicPr>
            <a:picLocks noChangeAspect="1"/>
          </p:cNvPicPr>
          <p:nvPr/>
        </p:nvPicPr>
        <p:blipFill>
          <a:blip r:embed="rId3">
            <a:alphaModFix amt="25396"/>
            <a:extLst/>
          </a:blip>
          <a:srcRect l="0" t="0" r="1203" b="0"/>
          <a:stretch>
            <a:fillRect/>
          </a:stretch>
        </p:blipFill>
        <p:spPr>
          <a:xfrm>
            <a:off x="0" y="-3183"/>
            <a:ext cx="24384001" cy="13722366"/>
          </a:xfrm>
          <a:prstGeom prst="rect">
            <a:avLst/>
          </a:prstGeom>
          <a:ln w="12700">
            <a:miter lim="400000"/>
          </a:ln>
        </p:spPr>
      </p:pic>
      <p:sp>
        <p:nvSpPr>
          <p:cNvPr id="217" name="2020-11-06"/>
          <p:cNvSpPr txBox="1"/>
          <p:nvPr/>
        </p:nvSpPr>
        <p:spPr>
          <a:xfrm>
            <a:off x="3716735" y="13228327"/>
            <a:ext cx="20282472" cy="4876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lvl1pPr algn="r" defTabSz="914400">
              <a:spcBef>
                <a:spcPts val="1200"/>
              </a:spcBef>
              <a:defRPr b="1" sz="2000">
                <a:solidFill>
                  <a:srgbClr val="FFFFFF"/>
                </a:solidFill>
                <a:uFill>
                  <a:solidFill>
                    <a:srgbClr val="000000"/>
                  </a:solidFill>
                </a:uFill>
                <a:latin typeface="Helvetica"/>
                <a:ea typeface="Helvetica"/>
                <a:cs typeface="Helvetica"/>
                <a:sym typeface="Helvetica"/>
              </a:defRPr>
            </a:lvl1pPr>
          </a:lstStyle>
          <a:p>
            <a:pPr/>
            <a:r>
              <a:t>2020-11-06</a:t>
            </a:r>
          </a:p>
        </p:txBody>
      </p:sp>
      <p:sp>
        <p:nvSpPr>
          <p:cNvPr id="218" name="The long 20th century will in all likelihood be seen in the future as the watershed in human experience:…"/>
          <p:cNvSpPr txBox="1"/>
          <p:nvPr/>
        </p:nvSpPr>
        <p:spPr>
          <a:xfrm>
            <a:off x="377206" y="2286000"/>
            <a:ext cx="7620001" cy="10789928"/>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lvl1pPr algn="l" defTabSz="821529">
              <a:spcBef>
                <a:spcPts val="1600"/>
              </a:spcBef>
              <a:defRPr b="1" sz="3200">
                <a:solidFill>
                  <a:srgbClr val="000000"/>
                </a:solidFill>
                <a:latin typeface="Times New Roman"/>
                <a:ea typeface="Times New Roman"/>
                <a:cs typeface="Times New Roman"/>
                <a:sym typeface="Times New Roman"/>
              </a:defRPr>
            </a:lvl1pPr>
          </a:lstStyle>
          <a:p>
            <a:pPr/>
            <a:r>
              <a:t>It gives me no pleasure that my simple national model of coronavirus cases—project cases back three weeks from deaths, and then extrapolate case growth out from confirmed case growth and from the number of cases per test—continues to run dead-on…</a:t>
            </a:r>
          </a:p>
        </p:txBody>
      </p:sp>
      <p:sp>
        <p:nvSpPr>
          <p:cNvPr id="219" name="COVID Forecasts: 2020-11-12"/>
          <p:cNvSpPr txBox="1"/>
          <p:nvPr>
            <p:ph type="title"/>
          </p:nvPr>
        </p:nvSpPr>
        <p:spPr>
          <a:xfrm>
            <a:off x="377206" y="-1"/>
            <a:ext cx="23622001" cy="2286001"/>
          </a:xfrm>
          <a:prstGeom prst="rect">
            <a:avLst/>
          </a:prstGeom>
        </p:spPr>
        <p:txBody>
          <a:bodyPr lIns="91436" tIns="91436" rIns="91436" bIns="91436" anchor="ctr"/>
          <a:lstStyle>
            <a:lvl1pPr algn="ctr" defTabSz="758951">
              <a:lnSpc>
                <a:spcPct val="100000"/>
              </a:lnSpc>
              <a:defRPr spc="0" sz="13280">
                <a:solidFill>
                  <a:srgbClr val="000080"/>
                </a:solidFill>
                <a:uFill>
                  <a:solidFill>
                    <a:srgbClr val="000000"/>
                  </a:solidFill>
                </a:uFill>
                <a:latin typeface="Helvetica"/>
                <a:ea typeface="Helvetica"/>
                <a:cs typeface="Helvetica"/>
                <a:sym typeface="Helvetica"/>
              </a:defRPr>
            </a:lvl1pPr>
          </a:lstStyle>
          <a:p>
            <a:pPr/>
            <a:r>
              <a:t>COVID Forecasts: 2020-11-12</a:t>
            </a:r>
          </a:p>
        </p:txBody>
      </p:sp>
      <p:sp>
        <p:nvSpPr>
          <p:cNvPr id="220" name="&lt;https://www.icloud.com/keynote/0bCYYctIKV9_4ICVqtSe5qItQ&gt; &lt;&lt;https://www.bradford-delong.com/2020/11/covid-extrapolations-as-of-2020-11-06.html&gt;"/>
          <p:cNvSpPr txBox="1"/>
          <p:nvPr/>
        </p:nvSpPr>
        <p:spPr>
          <a:xfrm>
            <a:off x="377206" y="13228327"/>
            <a:ext cx="20282471" cy="4876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algn="l" defTabSz="914400">
              <a:spcBef>
                <a:spcPts val="1200"/>
              </a:spcBef>
              <a:defRPr b="1" sz="2000">
                <a:solidFill>
                  <a:srgbClr val="FFFFFF"/>
                </a:solidFill>
                <a:uFill>
                  <a:solidFill>
                    <a:srgbClr val="000000"/>
                  </a:solidFill>
                </a:uFill>
                <a:latin typeface="Helvetica"/>
                <a:ea typeface="Helvetica"/>
                <a:cs typeface="Helvetica"/>
                <a:sym typeface="Helvetica"/>
              </a:defRPr>
            </a:pPr>
            <a:r>
              <a:t>&lt;</a:t>
            </a:r>
            <a:r>
              <a:rPr>
                <a:hlinkClick r:id="rId4" invalidUrl="" action="" tgtFrame="" tooltip="" history="1" highlightClick="0" endSnd="0"/>
              </a:rPr>
              <a:t>https://www.icloud.com/keynote/0bCYYctIKV9_4ICVqtSe5qItQ</a:t>
            </a:r>
            <a:r>
              <a:t>&gt; &lt;&lt;</a:t>
            </a:r>
            <a:r>
              <a:rPr>
                <a:hlinkClick r:id="rId5" invalidUrl="" action="" tgtFrame="" tooltip="" history="1" highlightClick="0" endSnd="0"/>
              </a:rPr>
              <a:t>https://www.bradford-delong.com/2020/11/covid-extrapolations-as-of-2020-11-06.html</a:t>
            </a:r>
            <a:r>
              <a:t>&gt;</a:t>
            </a:r>
          </a:p>
        </p:txBody>
      </p:sp>
      <p:sp>
        <p:nvSpPr>
          <p:cNvPr id="221" name="The long 20th century will in all likelihood be seen in the future as the watershed in human experience:…"/>
          <p:cNvSpPr txBox="1"/>
          <p:nvPr/>
        </p:nvSpPr>
        <p:spPr>
          <a:xfrm>
            <a:off x="16185810" y="2286000"/>
            <a:ext cx="7620001" cy="10789928"/>
          </a:xfrm>
          <a:prstGeom prst="rect">
            <a:avLst/>
          </a:prstGeom>
          <a:ln w="12700">
            <a:miter lim="400000"/>
          </a:ln>
        </p:spPr>
        <p:txBody>
          <a:bodyPr lIns="91436" tIns="91436" rIns="91436" bIns="91436"/>
          <a:lstStyle/>
          <a:p>
            <a:pPr algn="l" defTabSz="821529">
              <a:defRPr b="1" sz="1400">
                <a:solidFill>
                  <a:srgbClr val="000000"/>
                </a:solidFill>
                <a:latin typeface="Helvetica"/>
                <a:ea typeface="Helvetica"/>
                <a:cs typeface="Helvetica"/>
                <a:sym typeface="Helvetica"/>
              </a:defRPr>
            </a:pPr>
          </a:p>
        </p:txBody>
      </p:sp>
      <p:sp>
        <p:nvSpPr>
          <p:cNvPr id="222" name="The long 20th century will in all likelihood be seen in the future as the watershed in human experience:…"/>
          <p:cNvSpPr txBox="1"/>
          <p:nvPr/>
        </p:nvSpPr>
        <p:spPr>
          <a:xfrm>
            <a:off x="8378206" y="2286000"/>
            <a:ext cx="7620001" cy="10789928"/>
          </a:xfrm>
          <a:prstGeom prst="rect">
            <a:avLst/>
          </a:prstGeom>
          <a:ln w="12700">
            <a:miter lim="400000"/>
          </a:ln>
        </p:spPr>
        <p:txBody>
          <a:bodyPr lIns="91436" tIns="91436" rIns="91436" bIns="91436"/>
          <a:lstStyle/>
          <a:p>
            <a:pPr algn="l" defTabSz="821529">
              <a:defRPr b="1" sz="1400">
                <a:solidFill>
                  <a:srgbClr val="000000"/>
                </a:solidFill>
                <a:latin typeface="Helvetica"/>
                <a:ea typeface="Helvetica"/>
                <a:cs typeface="Helvetica"/>
                <a:sym typeface="Helvetica"/>
              </a:defRPr>
            </a:pPr>
          </a:p>
        </p:txBody>
      </p:sp>
      <p:pic>
        <p:nvPicPr>
          <p:cNvPr id="223" name="Image" descr="Image"/>
          <p:cNvPicPr>
            <a:picLocks noChangeAspect="1"/>
          </p:cNvPicPr>
          <p:nvPr/>
        </p:nvPicPr>
        <p:blipFill>
          <a:blip r:embed="rId6">
            <a:extLst/>
          </a:blip>
          <a:srcRect l="0" t="0" r="0" b="27281"/>
          <a:stretch>
            <a:fillRect/>
          </a:stretch>
        </p:blipFill>
        <p:spPr>
          <a:xfrm>
            <a:off x="8378206" y="2286000"/>
            <a:ext cx="7620019" cy="10797076"/>
          </a:xfrm>
          <a:prstGeom prst="rect">
            <a:avLst/>
          </a:prstGeom>
          <a:ln w="12700">
            <a:miter lim="400000"/>
          </a:ln>
        </p:spPr>
      </p:pic>
      <p:pic>
        <p:nvPicPr>
          <p:cNvPr id="224" name="Image" descr="Image"/>
          <p:cNvPicPr>
            <a:picLocks noChangeAspect="0"/>
          </p:cNvPicPr>
          <p:nvPr/>
        </p:nvPicPr>
        <p:blipFill>
          <a:blip r:embed="rId7">
            <a:extLst/>
          </a:blip>
          <a:srcRect l="0" t="7419" r="0" b="0"/>
          <a:stretch>
            <a:fillRect/>
          </a:stretch>
        </p:blipFill>
        <p:spPr>
          <a:xfrm>
            <a:off x="16188706" y="2580187"/>
            <a:ext cx="5328111" cy="6356611"/>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28" name="delong-this-is-fine.png" descr="delong-this-is-fine.png"/>
          <p:cNvPicPr>
            <a:picLocks noChangeAspect="1"/>
          </p:cNvPicPr>
          <p:nvPr/>
        </p:nvPicPr>
        <p:blipFill>
          <a:blip r:embed="rId3">
            <a:alphaModFix amt="25396"/>
            <a:extLst/>
          </a:blip>
          <a:srcRect l="0" t="0" r="1203" b="0"/>
          <a:stretch>
            <a:fillRect/>
          </a:stretch>
        </p:blipFill>
        <p:spPr>
          <a:xfrm>
            <a:off x="0" y="-3183"/>
            <a:ext cx="24384001" cy="13722366"/>
          </a:xfrm>
          <a:prstGeom prst="rect">
            <a:avLst/>
          </a:prstGeom>
          <a:ln w="12700">
            <a:miter lim="400000"/>
          </a:ln>
        </p:spPr>
      </p:pic>
      <p:sp>
        <p:nvSpPr>
          <p:cNvPr id="229" name="2020-11-06"/>
          <p:cNvSpPr txBox="1"/>
          <p:nvPr/>
        </p:nvSpPr>
        <p:spPr>
          <a:xfrm>
            <a:off x="3716735" y="13228327"/>
            <a:ext cx="20282472" cy="4876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lvl1pPr algn="r" defTabSz="914400">
              <a:spcBef>
                <a:spcPts val="1200"/>
              </a:spcBef>
              <a:defRPr b="1" sz="2000">
                <a:solidFill>
                  <a:srgbClr val="FFFFFF"/>
                </a:solidFill>
                <a:uFill>
                  <a:solidFill>
                    <a:srgbClr val="000000"/>
                  </a:solidFill>
                </a:uFill>
                <a:latin typeface="Helvetica"/>
                <a:ea typeface="Helvetica"/>
                <a:cs typeface="Helvetica"/>
                <a:sym typeface="Helvetica"/>
              </a:defRPr>
            </a:lvl1pPr>
          </a:lstStyle>
          <a:p>
            <a:pPr/>
            <a:r>
              <a:t>2020-11-06</a:t>
            </a:r>
          </a:p>
        </p:txBody>
      </p:sp>
      <p:sp>
        <p:nvSpPr>
          <p:cNvPr id="230" name="The long 20th century will in all likelihood be seen in the future as the watershed in human experience:…"/>
          <p:cNvSpPr txBox="1"/>
          <p:nvPr/>
        </p:nvSpPr>
        <p:spPr>
          <a:xfrm>
            <a:off x="377206" y="2286000"/>
            <a:ext cx="7620001" cy="10789928"/>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algn="l" defTabSz="821529">
              <a:spcBef>
                <a:spcPts val="1600"/>
              </a:spcBef>
              <a:defRPr b="1" sz="3200">
                <a:solidFill>
                  <a:srgbClr val="000000"/>
                </a:solidFill>
                <a:latin typeface="Times New Roman"/>
                <a:ea typeface="Times New Roman"/>
                <a:cs typeface="Times New Roman"/>
                <a:sym typeface="Times New Roman"/>
              </a:defRPr>
            </a:pPr>
            <a:r>
              <a:t>It gives me no pleasure that my simple national model of coronavirus cases—project cases back three weeks from deaths, and then extrapolate case growth out from confirmed case growth and from the number of cases per test—is running dead-on:</a:t>
            </a:r>
          </a:p>
          <a:p>
            <a:pPr marL="609600" indent="-609600" algn="l" defTabSz="821529">
              <a:spcBef>
                <a:spcPts val="1600"/>
              </a:spcBef>
              <a:buSzPct val="100000"/>
              <a:buChar char="•"/>
              <a:defRPr b="1" sz="3200">
                <a:solidFill>
                  <a:srgbClr val="000000"/>
                </a:solidFill>
                <a:latin typeface="Times New Roman"/>
                <a:ea typeface="Times New Roman"/>
                <a:cs typeface="Times New Roman"/>
                <a:sym typeface="Times New Roman"/>
              </a:defRPr>
            </a:pPr>
            <a:r>
              <a:t>I forecast a week ago that we would have 6641 deaths in the seven days ending Th 2020-11-05.</a:t>
            </a:r>
          </a:p>
          <a:p>
            <a:pPr marL="609600" indent="-609600" algn="l" defTabSz="821529">
              <a:spcBef>
                <a:spcPts val="1600"/>
              </a:spcBef>
              <a:buSzPct val="100000"/>
              <a:buChar char="•"/>
              <a:defRPr b="1" sz="3200">
                <a:solidFill>
                  <a:srgbClr val="000000"/>
                </a:solidFill>
                <a:latin typeface="Times New Roman"/>
                <a:ea typeface="Times New Roman"/>
                <a:cs typeface="Times New Roman"/>
                <a:sym typeface="Times New Roman"/>
              </a:defRPr>
            </a:pPr>
            <a:r>
              <a:t>We had 6805 deaths.</a:t>
            </a:r>
          </a:p>
          <a:p>
            <a:pPr marL="609600" indent="-609600" algn="l" defTabSz="821529">
              <a:spcBef>
                <a:spcPts val="1600"/>
              </a:spcBef>
              <a:buSzPct val="100000"/>
              <a:buChar char="•"/>
              <a:defRPr b="1" sz="3200">
                <a:solidFill>
                  <a:srgbClr val="000000"/>
                </a:solidFill>
                <a:latin typeface="Times New Roman"/>
                <a:ea typeface="Times New Roman"/>
                <a:cs typeface="Times New Roman"/>
                <a:sym typeface="Times New Roman"/>
              </a:defRPr>
            </a:pPr>
            <a:r>
              <a:t>The model is now predicting that we will see 12893 deaths in the seven days ending on Thanksgiving: Th 2020-11-26. </a:t>
            </a:r>
          </a:p>
          <a:p>
            <a:pPr marL="609600" indent="-609600" algn="l" defTabSz="821529">
              <a:spcBef>
                <a:spcPts val="1600"/>
              </a:spcBef>
              <a:buSzPct val="100000"/>
              <a:buChar char="•"/>
              <a:defRPr b="1" sz="3200">
                <a:solidFill>
                  <a:srgbClr val="000000"/>
                </a:solidFill>
                <a:latin typeface="Times New Roman"/>
                <a:ea typeface="Times New Roman"/>
                <a:cs typeface="Times New Roman"/>
                <a:sym typeface="Times New Roman"/>
              </a:defRPr>
            </a:pPr>
            <a:r>
              <a:t>And if our current inferred last-three-weeks R=1.24 were to continue, we would have 3,671,728 cases in the seven days ending on Thanksgiving.</a:t>
            </a:r>
          </a:p>
        </p:txBody>
      </p:sp>
      <p:sp>
        <p:nvSpPr>
          <p:cNvPr id="231" name="COVID Forecasts: 2020-11-06"/>
          <p:cNvSpPr txBox="1"/>
          <p:nvPr>
            <p:ph type="title"/>
          </p:nvPr>
        </p:nvSpPr>
        <p:spPr>
          <a:xfrm>
            <a:off x="-1" y="-1"/>
            <a:ext cx="24384001" cy="2286001"/>
          </a:xfrm>
          <a:prstGeom prst="rect">
            <a:avLst/>
          </a:prstGeom>
        </p:spPr>
        <p:txBody>
          <a:bodyPr lIns="91436" tIns="91436" rIns="91436" bIns="91436" anchor="ctr"/>
          <a:lstStyle>
            <a:lvl1pPr algn="ctr" defTabSz="777240">
              <a:lnSpc>
                <a:spcPct val="100000"/>
              </a:lnSpc>
              <a:defRPr spc="0" sz="13600">
                <a:solidFill>
                  <a:srgbClr val="000080"/>
                </a:solidFill>
                <a:uFill>
                  <a:solidFill>
                    <a:srgbClr val="000000"/>
                  </a:solidFill>
                </a:uFill>
                <a:latin typeface="Helvetica"/>
                <a:ea typeface="Helvetica"/>
                <a:cs typeface="Helvetica"/>
                <a:sym typeface="Helvetica"/>
              </a:defRPr>
            </a:lvl1pPr>
          </a:lstStyle>
          <a:p>
            <a:pPr/>
            <a:r>
              <a:t>COVID Forecasts: 2020-11-06</a:t>
            </a:r>
          </a:p>
        </p:txBody>
      </p:sp>
      <p:sp>
        <p:nvSpPr>
          <p:cNvPr id="232" name="&lt;https://www.icloud.com/keynote/0bCYYctIKV9_4ICVqtSe5qItQ&gt; &lt;&lt;https://www.bradford-delong.com/2020/11/covid-extrapolations-as-of-2020-11-06.html&gt;"/>
          <p:cNvSpPr txBox="1"/>
          <p:nvPr/>
        </p:nvSpPr>
        <p:spPr>
          <a:xfrm>
            <a:off x="377206" y="13228327"/>
            <a:ext cx="20282471" cy="4876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algn="l" defTabSz="914400">
              <a:spcBef>
                <a:spcPts val="1200"/>
              </a:spcBef>
              <a:defRPr b="1" sz="2000">
                <a:solidFill>
                  <a:srgbClr val="FFFFFF"/>
                </a:solidFill>
                <a:uFill>
                  <a:solidFill>
                    <a:srgbClr val="000000"/>
                  </a:solidFill>
                </a:uFill>
                <a:latin typeface="Helvetica"/>
                <a:ea typeface="Helvetica"/>
                <a:cs typeface="Helvetica"/>
                <a:sym typeface="Helvetica"/>
              </a:defRPr>
            </a:pPr>
            <a:r>
              <a:t>&lt;</a:t>
            </a:r>
            <a:r>
              <a:rPr>
                <a:hlinkClick r:id="rId4" invalidUrl="" action="" tgtFrame="" tooltip="" history="1" highlightClick="0" endSnd="0"/>
              </a:rPr>
              <a:t>https://www.icloud.com/keynote/0bCYYctIKV9_4ICVqtSe5qItQ</a:t>
            </a:r>
            <a:r>
              <a:t>&gt; &lt;&lt;</a:t>
            </a:r>
            <a:r>
              <a:rPr>
                <a:hlinkClick r:id="rId5" invalidUrl="" action="" tgtFrame="" tooltip="" history="1" highlightClick="0" endSnd="0"/>
              </a:rPr>
              <a:t>https://www.bradford-delong.com/2020/11/covid-extrapolations-as-of-2020-11-06.html</a:t>
            </a:r>
            <a:r>
              <a:t>&gt;</a:t>
            </a:r>
          </a:p>
        </p:txBody>
      </p:sp>
      <p:sp>
        <p:nvSpPr>
          <p:cNvPr id="233" name="The long 20th century will in all likelihood be seen in the future as the watershed in human experience:…"/>
          <p:cNvSpPr txBox="1"/>
          <p:nvPr/>
        </p:nvSpPr>
        <p:spPr>
          <a:xfrm>
            <a:off x="16379206" y="2286000"/>
            <a:ext cx="7620001" cy="10789928"/>
          </a:xfrm>
          <a:prstGeom prst="rect">
            <a:avLst/>
          </a:prstGeom>
          <a:ln w="12700">
            <a:miter lim="400000"/>
          </a:ln>
        </p:spPr>
        <p:txBody>
          <a:bodyPr lIns="91436" tIns="91436" rIns="91436" bIns="91436"/>
          <a:lstStyle/>
          <a:p>
            <a:pPr algn="l" defTabSz="821529">
              <a:defRPr b="1" sz="1400">
                <a:solidFill>
                  <a:srgbClr val="000000"/>
                </a:solidFill>
                <a:latin typeface="Helvetica"/>
                <a:ea typeface="Helvetica"/>
                <a:cs typeface="Helvetica"/>
                <a:sym typeface="Helvetica"/>
              </a:defRPr>
            </a:pPr>
          </a:p>
        </p:txBody>
      </p:sp>
      <p:sp>
        <p:nvSpPr>
          <p:cNvPr id="234" name="The long 20th century will in all likelihood be seen in the future as the watershed in human experience:…"/>
          <p:cNvSpPr txBox="1"/>
          <p:nvPr/>
        </p:nvSpPr>
        <p:spPr>
          <a:xfrm>
            <a:off x="8378206" y="2286000"/>
            <a:ext cx="7620001" cy="10789928"/>
          </a:xfrm>
          <a:prstGeom prst="rect">
            <a:avLst/>
          </a:prstGeom>
          <a:ln w="12700">
            <a:miter lim="400000"/>
          </a:ln>
        </p:spPr>
        <p:txBody>
          <a:bodyPr lIns="91436" tIns="91436" rIns="91436" bIns="91436"/>
          <a:lstStyle/>
          <a:p>
            <a:pPr algn="l" defTabSz="821529">
              <a:defRPr b="1" sz="1400">
                <a:solidFill>
                  <a:srgbClr val="000000"/>
                </a:solidFill>
                <a:latin typeface="Helvetica"/>
                <a:ea typeface="Helvetica"/>
                <a:cs typeface="Helvetica"/>
                <a:sym typeface="Helvetica"/>
              </a:defRPr>
            </a:pPr>
          </a:p>
        </p:txBody>
      </p:sp>
      <p:pic>
        <p:nvPicPr>
          <p:cNvPr id="235" name="Image" descr="Image"/>
          <p:cNvPicPr>
            <a:picLocks noChangeAspect="0"/>
          </p:cNvPicPr>
          <p:nvPr/>
        </p:nvPicPr>
        <p:blipFill>
          <a:blip r:embed="rId6">
            <a:extLst/>
          </a:blip>
          <a:srcRect l="0" t="7419" r="0" b="0"/>
          <a:stretch>
            <a:fillRect/>
          </a:stretch>
        </p:blipFill>
        <p:spPr>
          <a:xfrm>
            <a:off x="8378206" y="2286000"/>
            <a:ext cx="7620092" cy="10160000"/>
          </a:xfrm>
          <a:prstGeom prst="rect">
            <a:avLst/>
          </a:prstGeom>
          <a:ln w="12700">
            <a:miter lim="400000"/>
          </a:ln>
        </p:spPr>
      </p:pic>
      <p:pic>
        <p:nvPicPr>
          <p:cNvPr id="236" name="Image" descr="Image"/>
          <p:cNvPicPr>
            <a:picLocks noChangeAspect="0"/>
          </p:cNvPicPr>
          <p:nvPr/>
        </p:nvPicPr>
        <p:blipFill>
          <a:blip r:embed="rId7">
            <a:extLst/>
          </a:blip>
          <a:stretch>
            <a:fillRect/>
          </a:stretch>
        </p:blipFill>
        <p:spPr>
          <a:xfrm>
            <a:off x="16379206" y="2286000"/>
            <a:ext cx="7620001" cy="10160000"/>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0" name="About the Course"/>
          <p:cNvSpPr txBox="1"/>
          <p:nvPr>
            <p:ph type="title" idx="4294967295"/>
          </p:nvPr>
        </p:nvSpPr>
        <p:spPr>
          <a:xfrm>
            <a:off x="3273126" y="-5"/>
            <a:ext cx="17780001" cy="2286001"/>
          </a:xfrm>
          <a:prstGeom prst="rect">
            <a:avLst/>
          </a:prstGeom>
        </p:spPr>
        <p:txBody>
          <a:bodyPr lIns="91436" tIns="91436" rIns="91436" bIns="91436" anchor="ctr"/>
          <a:lstStyle>
            <a:lvl1pPr algn="ctr" defTabSz="777240">
              <a:lnSpc>
                <a:spcPct val="100000"/>
              </a:lnSpc>
              <a:defRPr spc="0" sz="13600">
                <a:solidFill>
                  <a:srgbClr val="800000"/>
                </a:solidFill>
                <a:uFill>
                  <a:solidFill>
                    <a:srgbClr val="000000"/>
                  </a:solidFill>
                </a:uFill>
                <a:latin typeface="Helvetica"/>
                <a:ea typeface="Helvetica"/>
                <a:cs typeface="Helvetica"/>
                <a:sym typeface="Helvetica"/>
              </a:defRPr>
            </a:lvl1pPr>
          </a:lstStyle>
          <a:p>
            <a:pPr/>
            <a:r>
              <a:t>Catch Our Breath</a:t>
            </a:r>
          </a:p>
        </p:txBody>
      </p:sp>
      <p:sp>
        <p:nvSpPr>
          <p:cNvPr id="241" name="The long 20th century will in all likelihood be seen in the future as the watershed in human experience:…"/>
          <p:cNvSpPr txBox="1"/>
          <p:nvPr>
            <p:ph type="body" idx="4294967295"/>
          </p:nvPr>
        </p:nvSpPr>
        <p:spPr>
          <a:xfrm>
            <a:off x="497101" y="2285995"/>
            <a:ext cx="12572024" cy="10795001"/>
          </a:xfrm>
          <a:prstGeom prst="rect">
            <a:avLst/>
          </a:prstGeom>
        </p:spPr>
        <p:txBody>
          <a:bodyPr lIns="91436" tIns="91436" rIns="91436" bIns="91436"/>
          <a:lstStyle/>
          <a:p>
            <a:pPr marL="0" indent="0" defTabSz="914400">
              <a:lnSpc>
                <a:spcPct val="100000"/>
              </a:lnSpc>
              <a:spcBef>
                <a:spcPts val="4000"/>
              </a:spcBef>
              <a:buSzTx/>
              <a:buNone/>
              <a:defRPr b="1" sz="6000">
                <a:uFill>
                  <a:solidFill>
                    <a:srgbClr val="000000"/>
                  </a:solidFill>
                </a:uFill>
                <a:latin typeface="Helvetica"/>
                <a:ea typeface="Helvetica"/>
                <a:cs typeface="Helvetica"/>
                <a:sym typeface="Helvetica"/>
              </a:defRPr>
            </a:pPr>
            <a:r>
              <a:t>Let’s reflect on what we have just heard &amp; seen…</a:t>
            </a:r>
          </a:p>
          <a:p>
            <a:pPr marL="914400" indent="-914400" defTabSz="740662">
              <a:lnSpc>
                <a:spcPct val="100000"/>
              </a:lnSpc>
              <a:spcBef>
                <a:spcPts val="1600"/>
              </a:spcBef>
              <a:buSzPct val="100000"/>
              <a:buAutoNum type="arabicPeriod" startAt="1"/>
              <a:tabLst>
                <a:tab pos="444500" algn="l"/>
              </a:tabLst>
              <a:defRPr>
                <a:uFill>
                  <a:solidFill>
                    <a:srgbClr val="000000"/>
                  </a:solidFill>
                </a:uFill>
                <a:latin typeface="Times New Roman"/>
                <a:ea typeface="Times New Roman"/>
                <a:cs typeface="Times New Roman"/>
                <a:sym typeface="Times New Roman"/>
              </a:defRPr>
            </a:pPr>
            <a:r>
              <a:t>Comments</a:t>
            </a:r>
          </a:p>
          <a:p>
            <a:pPr marL="914400" indent="-914400" defTabSz="740662">
              <a:lnSpc>
                <a:spcPct val="100000"/>
              </a:lnSpc>
              <a:spcBef>
                <a:spcPts val="1600"/>
              </a:spcBef>
              <a:buSzPct val="100000"/>
              <a:buAutoNum type="arabicPeriod" startAt="1"/>
              <a:tabLst>
                <a:tab pos="444500" algn="l"/>
              </a:tabLst>
              <a:defRPr>
                <a:uFill>
                  <a:solidFill>
                    <a:srgbClr val="000000"/>
                  </a:solidFill>
                </a:uFill>
                <a:latin typeface="Times New Roman"/>
                <a:ea typeface="Times New Roman"/>
                <a:cs typeface="Times New Roman"/>
                <a:sym typeface="Times New Roman"/>
              </a:defRPr>
            </a:pPr>
            <a:r>
              <a:t>Questions</a:t>
            </a:r>
          </a:p>
          <a:p>
            <a:pPr marL="914400" indent="-914400" defTabSz="740662">
              <a:lnSpc>
                <a:spcPct val="100000"/>
              </a:lnSpc>
              <a:spcBef>
                <a:spcPts val="1600"/>
              </a:spcBef>
              <a:buSzPct val="100000"/>
              <a:buAutoNum type="arabicPeriod" startAt="1"/>
              <a:tabLst>
                <a:tab pos="444500" algn="l"/>
              </a:tabLst>
              <a:defRPr>
                <a:uFill>
                  <a:solidFill>
                    <a:srgbClr val="000000"/>
                  </a:solidFill>
                </a:uFill>
                <a:latin typeface="Times New Roman"/>
                <a:ea typeface="Times New Roman"/>
                <a:cs typeface="Times New Roman"/>
                <a:sym typeface="Times New Roman"/>
              </a:defRPr>
            </a:pPr>
            <a:r>
              <a:t>Readings</a:t>
            </a:r>
          </a:p>
        </p:txBody>
      </p:sp>
      <p:pic>
        <p:nvPicPr>
          <p:cNvPr id="242" name="Image" descr="Image"/>
          <p:cNvPicPr>
            <a:picLocks noChangeAspect="1"/>
          </p:cNvPicPr>
          <p:nvPr/>
        </p:nvPicPr>
        <p:blipFill>
          <a:blip r:embed="rId2">
            <a:extLst/>
          </a:blip>
          <a:stretch>
            <a:fillRect/>
          </a:stretch>
        </p:blipFill>
        <p:spPr>
          <a:xfrm>
            <a:off x="13069123" y="2285995"/>
            <a:ext cx="11035129" cy="11035126"/>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4" name="About the Course"/>
          <p:cNvSpPr txBox="1"/>
          <p:nvPr>
            <p:ph type="title" idx="4294967295"/>
          </p:nvPr>
        </p:nvSpPr>
        <p:spPr>
          <a:xfrm>
            <a:off x="0" y="-5"/>
            <a:ext cx="24384001" cy="2286001"/>
          </a:xfrm>
          <a:prstGeom prst="rect">
            <a:avLst/>
          </a:prstGeom>
        </p:spPr>
        <p:txBody>
          <a:bodyPr lIns="91436" tIns="91436" rIns="91436" bIns="91436" anchor="ctr"/>
          <a:lstStyle>
            <a:lvl1pPr algn="ctr" defTabSz="768095">
              <a:lnSpc>
                <a:spcPct val="100000"/>
              </a:lnSpc>
              <a:defRPr spc="0" sz="13439">
                <a:solidFill>
                  <a:srgbClr val="800000"/>
                </a:solidFill>
                <a:uFill>
                  <a:solidFill>
                    <a:srgbClr val="000000"/>
                  </a:solidFill>
                </a:uFill>
                <a:latin typeface="Helvetica"/>
                <a:ea typeface="Helvetica"/>
                <a:cs typeface="Helvetica"/>
                <a:sym typeface="Helvetica"/>
              </a:defRPr>
            </a:lvl1pPr>
          </a:lstStyle>
          <a:p>
            <a:pPr/>
            <a:r>
              <a:t>========================</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46" name="delong-this-is-fine.png" descr="delong-this-is-fine.png"/>
          <p:cNvPicPr>
            <a:picLocks noChangeAspect="1"/>
          </p:cNvPicPr>
          <p:nvPr/>
        </p:nvPicPr>
        <p:blipFill>
          <a:blip r:embed="rId2">
            <a:extLst/>
          </a:blip>
          <a:srcRect l="0" t="0" r="1203" b="0"/>
          <a:stretch>
            <a:fillRect/>
          </a:stretch>
        </p:blipFill>
        <p:spPr>
          <a:xfrm>
            <a:off x="0" y="-3183"/>
            <a:ext cx="24384001" cy="13722366"/>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