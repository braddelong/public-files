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1pPr>
    <a:lvl2pPr marL="0" marR="0" indent="2286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2pPr>
    <a:lvl3pPr marL="0" marR="0" indent="4572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3pPr>
    <a:lvl4pPr marL="0" marR="0" indent="6858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4pPr>
    <a:lvl5pPr marL="0" marR="0" indent="9144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5pPr>
    <a:lvl6pPr marL="0" marR="0" indent="11430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6pPr>
    <a:lvl7pPr marL="0" marR="0" indent="13716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7pPr>
    <a:lvl8pPr marL="0" marR="0" indent="16002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8pPr>
    <a:lvl9pPr marL="0" marR="0" indent="18288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b="def" i="def"/>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b="def" i="def"/>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b="def" i="def"/>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b="def" i="def"/>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b="def" i="def"/>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b="def" i="def"/>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16" name="Shape 116"/>
          <p:cNvSpPr/>
          <p:nvPr>
            <p:ph type="sldImg"/>
          </p:nvPr>
        </p:nvSpPr>
        <p:spPr>
          <a:xfrm>
            <a:off x="1143000" y="685800"/>
            <a:ext cx="4572000" cy="3429000"/>
          </a:xfrm>
          <a:prstGeom prst="rect">
            <a:avLst/>
          </a:prstGeom>
        </p:spPr>
        <p:txBody>
          <a:bodyPr/>
          <a:lstStyle/>
          <a:p>
            <a:pPr/>
          </a:p>
        </p:txBody>
      </p:sp>
      <p:sp>
        <p:nvSpPr>
          <p:cNvPr id="117" name="Shape 11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amp; Subtitle">
    <p:spTree>
      <p:nvGrpSpPr>
        <p:cNvPr id="1" name=""/>
        <p:cNvGrpSpPr/>
        <p:nvPr/>
      </p:nvGrpSpPr>
      <p:grpSpPr>
        <a:xfrm>
          <a:off x="0" y="0"/>
          <a:ext cx="0" cy="0"/>
          <a:chOff x="0" y="0"/>
          <a:chExt cx="0" cy="0"/>
        </a:xfrm>
      </p:grpSpPr>
      <p:sp>
        <p:nvSpPr>
          <p:cNvPr id="11" name="Title Text"/>
          <p:cNvSpPr txBox="1"/>
          <p:nvPr>
            <p:ph type="title"/>
          </p:nvPr>
        </p:nvSpPr>
        <p:spPr>
          <a:xfrm>
            <a:off x="905865" y="635508"/>
            <a:ext cx="11112501" cy="4445001"/>
          </a:xfrm>
          <a:prstGeom prst="rect">
            <a:avLst/>
          </a:prstGeom>
        </p:spPr>
        <p:txBody>
          <a:bodyPr/>
          <a:lstStyle/>
          <a:p>
            <a:pPr/>
            <a:r>
              <a:t>Title Text</a:t>
            </a:r>
          </a:p>
        </p:txBody>
      </p:sp>
      <p:sp>
        <p:nvSpPr>
          <p:cNvPr id="12" name="Body Level One…"/>
          <p:cNvSpPr txBox="1"/>
          <p:nvPr>
            <p:ph type="body" sz="half" idx="1"/>
          </p:nvPr>
        </p:nvSpPr>
        <p:spPr>
          <a:xfrm>
            <a:off x="905865" y="6365165"/>
            <a:ext cx="11112501" cy="2540001"/>
          </a:xfrm>
          <a:prstGeom prst="rect">
            <a:avLst/>
          </a:prstGeom>
        </p:spPr>
        <p:txBody>
          <a:bodyPr/>
          <a:lstStyle>
            <a:lvl1pPr marL="0" indent="0" algn="ctr">
              <a:spcBef>
                <a:spcPts val="0"/>
              </a:spcBef>
              <a:buSzTx/>
              <a:buNone/>
              <a:defRPr sz="3700"/>
            </a:lvl1pPr>
            <a:lvl2pPr marL="0" indent="228600" algn="ctr">
              <a:spcBef>
                <a:spcPts val="0"/>
              </a:spcBef>
              <a:buSzTx/>
              <a:buNone/>
              <a:defRPr sz="3700"/>
            </a:lvl2pPr>
            <a:lvl3pPr marL="0" indent="457200" algn="ctr">
              <a:spcBef>
                <a:spcPts val="0"/>
              </a:spcBef>
              <a:buSzTx/>
              <a:buNone/>
              <a:defRPr sz="3700"/>
            </a:lvl3pPr>
            <a:lvl4pPr marL="0" indent="685800" algn="ctr">
              <a:spcBef>
                <a:spcPts val="0"/>
              </a:spcBef>
              <a:buSzTx/>
              <a:buNone/>
              <a:defRPr sz="3700"/>
            </a:lvl4pPr>
            <a:lvl5pPr marL="0" indent="914400" algn="ctr">
              <a:spcBef>
                <a:spcPts val="0"/>
              </a:spcBef>
              <a:buSzTx/>
              <a:buNone/>
              <a:defRPr sz="37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lvl1pPr>
              <a:defRPr>
                <a:latin typeface="Helvetica Neue Thin"/>
                <a:ea typeface="Helvetica Neue Thin"/>
                <a:cs typeface="Helvetica Neue Thin"/>
                <a:sym typeface="Helvetica Neue Thin"/>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Horizontal">
    <p:spTree>
      <p:nvGrpSpPr>
        <p:cNvPr id="1" name=""/>
        <p:cNvGrpSpPr/>
        <p:nvPr/>
      </p:nvGrpSpPr>
      <p:grpSpPr>
        <a:xfrm>
          <a:off x="0" y="0"/>
          <a:ext cx="0" cy="0"/>
          <a:chOff x="0" y="0"/>
          <a:chExt cx="0" cy="0"/>
        </a:xfrm>
      </p:grpSpPr>
      <p:sp>
        <p:nvSpPr>
          <p:cNvPr id="29" name="Image"/>
          <p:cNvSpPr/>
          <p:nvPr>
            <p:ph type="pic" idx="21"/>
          </p:nvPr>
        </p:nvSpPr>
        <p:spPr>
          <a:xfrm>
            <a:off x="1622088" y="289099"/>
            <a:ext cx="9753603" cy="6505789"/>
          </a:xfrm>
          <a:prstGeom prst="rect">
            <a:avLst/>
          </a:prstGeom>
        </p:spPr>
        <p:txBody>
          <a:bodyPr lIns="91439" tIns="45719" rIns="91439" bIns="45719">
            <a:noAutofit/>
          </a:bodyPr>
          <a:lstStyle/>
          <a:p>
            <a:pPr/>
          </a:p>
        </p:txBody>
      </p:sp>
      <p:sp>
        <p:nvSpPr>
          <p:cNvPr id="30" name="Title Text"/>
          <p:cNvSpPr txBox="1"/>
          <p:nvPr>
            <p:ph type="title"/>
          </p:nvPr>
        </p:nvSpPr>
        <p:spPr>
          <a:xfrm>
            <a:off x="1270000" y="6718300"/>
            <a:ext cx="10464800" cy="1422400"/>
          </a:xfrm>
          <a:prstGeom prst="rect">
            <a:avLst/>
          </a:prstGeom>
        </p:spPr>
        <p:txBody>
          <a:bodyPr anchor="b"/>
          <a:lstStyle>
            <a:lvl1pPr>
              <a:defRPr b="0">
                <a:solidFill>
                  <a:srgbClr val="000000"/>
                </a:solidFill>
                <a:latin typeface="+mn-lt"/>
                <a:ea typeface="+mn-ea"/>
                <a:cs typeface="+mn-cs"/>
                <a:sym typeface="Helvetica Neue Medium"/>
              </a:defRPr>
            </a:lvl1pPr>
          </a:lstStyle>
          <a:p>
            <a:pPr/>
            <a:r>
              <a:t>Title Text</a:t>
            </a:r>
          </a:p>
        </p:txBody>
      </p:sp>
      <p:sp>
        <p:nvSpPr>
          <p:cNvPr id="31" name="Body Level One…"/>
          <p:cNvSpPr txBox="1"/>
          <p:nvPr>
            <p:ph type="body" sz="quarter" idx="1"/>
          </p:nvPr>
        </p:nvSpPr>
        <p:spPr>
          <a:xfrm>
            <a:off x="1270000" y="8153400"/>
            <a:ext cx="10464800" cy="1130300"/>
          </a:xfrm>
          <a:prstGeom prst="rect">
            <a:avLst/>
          </a:prstGeom>
        </p:spPr>
        <p:txBody>
          <a:bodyPr/>
          <a:lstStyle>
            <a:lvl1pPr marL="0" indent="0" algn="ctr">
              <a:spcBef>
                <a:spcPts val="0"/>
              </a:spcBef>
              <a:buSzTx/>
              <a:buNone/>
              <a:defRPr sz="3700"/>
            </a:lvl1pPr>
            <a:lvl2pPr marL="0" indent="228600" algn="ctr">
              <a:spcBef>
                <a:spcPts val="0"/>
              </a:spcBef>
              <a:buSzTx/>
              <a:buNone/>
              <a:defRPr sz="3700"/>
            </a:lvl2pPr>
            <a:lvl3pPr marL="0" indent="457200" algn="ctr">
              <a:spcBef>
                <a:spcPts val="0"/>
              </a:spcBef>
              <a:buSzTx/>
              <a:buNone/>
              <a:defRPr sz="3700"/>
            </a:lvl3pPr>
            <a:lvl4pPr marL="0" indent="685800" algn="ctr">
              <a:spcBef>
                <a:spcPts val="0"/>
              </a:spcBef>
              <a:buSzTx/>
              <a:buNone/>
              <a:defRPr sz="3700"/>
            </a:lvl4pPr>
            <a:lvl5pPr marL="0" indent="914400" algn="ctr">
              <a:spcBef>
                <a:spcPts val="0"/>
              </a:spcBef>
              <a:buSzTx/>
              <a:buNone/>
              <a:defRPr sz="3700"/>
            </a:lvl5pPr>
          </a:lstStyle>
          <a:p>
            <a:pPr/>
            <a:r>
              <a:t>Body Level One</a:t>
            </a:r>
          </a:p>
          <a:p>
            <a:pPr lvl="1"/>
            <a:r>
              <a:t>Body Level Two</a:t>
            </a:r>
          </a:p>
          <a:p>
            <a:pPr lvl="2"/>
            <a:r>
              <a:t>Body Level Three</a:t>
            </a:r>
          </a:p>
          <a:p>
            <a:pPr lvl="3"/>
            <a:r>
              <a:t>Body Level Four</a:t>
            </a:r>
          </a:p>
          <a:p>
            <a:pPr lvl="4"/>
            <a:r>
              <a:t>Body Level Five</a:t>
            </a:r>
          </a:p>
        </p:txBody>
      </p:sp>
      <p:sp>
        <p:nvSpPr>
          <p:cNvPr id="3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Center">
    <p:spTree>
      <p:nvGrpSpPr>
        <p:cNvPr id="1" name=""/>
        <p:cNvGrpSpPr/>
        <p:nvPr/>
      </p:nvGrpSpPr>
      <p:grpSpPr>
        <a:xfrm>
          <a:off x="0" y="0"/>
          <a:ext cx="0" cy="0"/>
          <a:chOff x="0" y="0"/>
          <a:chExt cx="0" cy="0"/>
        </a:xfrm>
      </p:grpSpPr>
      <p:sp>
        <p:nvSpPr>
          <p:cNvPr id="39" name="Title Text"/>
          <p:cNvSpPr txBox="1"/>
          <p:nvPr>
            <p:ph type="title"/>
          </p:nvPr>
        </p:nvSpPr>
        <p:spPr>
          <a:xfrm>
            <a:off x="1270000" y="3225800"/>
            <a:ext cx="10464800" cy="3302000"/>
          </a:xfrm>
          <a:prstGeom prst="rect">
            <a:avLst/>
          </a:prstGeom>
        </p:spPr>
        <p:txBody>
          <a:bodyPr/>
          <a:lstStyle>
            <a:lvl1pPr>
              <a:defRPr b="0">
                <a:solidFill>
                  <a:srgbClr val="000000"/>
                </a:solidFill>
                <a:latin typeface="+mn-lt"/>
                <a:ea typeface="+mn-ea"/>
                <a:cs typeface="+mn-cs"/>
                <a:sym typeface="Helvetica Neue Medium"/>
              </a:defRPr>
            </a:lvl1pPr>
          </a:lstStyle>
          <a:p>
            <a:pPr/>
            <a:r>
              <a:t>Title Text</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Vertical">
    <p:spTree>
      <p:nvGrpSpPr>
        <p:cNvPr id="1" name=""/>
        <p:cNvGrpSpPr/>
        <p:nvPr/>
      </p:nvGrpSpPr>
      <p:grpSpPr>
        <a:xfrm>
          <a:off x="0" y="0"/>
          <a:ext cx="0" cy="0"/>
          <a:chOff x="0" y="0"/>
          <a:chExt cx="0" cy="0"/>
        </a:xfrm>
      </p:grpSpPr>
      <p:sp>
        <p:nvSpPr>
          <p:cNvPr id="47" name="Image"/>
          <p:cNvSpPr/>
          <p:nvPr>
            <p:ph type="pic" idx="21"/>
          </p:nvPr>
        </p:nvSpPr>
        <p:spPr>
          <a:xfrm>
            <a:off x="2263775" y="613833"/>
            <a:ext cx="12401550" cy="8267701"/>
          </a:xfrm>
          <a:prstGeom prst="rect">
            <a:avLst/>
          </a:prstGeom>
        </p:spPr>
        <p:txBody>
          <a:bodyPr lIns="91439" tIns="45719" rIns="91439" bIns="45719">
            <a:noAutofit/>
          </a:bodyPr>
          <a:lstStyle/>
          <a:p>
            <a:pPr/>
          </a:p>
        </p:txBody>
      </p:sp>
      <p:sp>
        <p:nvSpPr>
          <p:cNvPr id="48" name="Title Text"/>
          <p:cNvSpPr txBox="1"/>
          <p:nvPr>
            <p:ph type="title"/>
          </p:nvPr>
        </p:nvSpPr>
        <p:spPr>
          <a:xfrm>
            <a:off x="952500" y="635000"/>
            <a:ext cx="5334000" cy="3987800"/>
          </a:xfrm>
          <a:prstGeom prst="rect">
            <a:avLst/>
          </a:prstGeom>
        </p:spPr>
        <p:txBody>
          <a:bodyPr anchor="b"/>
          <a:lstStyle>
            <a:lvl1pPr>
              <a:defRPr b="0" sz="6000">
                <a:solidFill>
                  <a:srgbClr val="000000"/>
                </a:solidFill>
                <a:latin typeface="+mn-lt"/>
                <a:ea typeface="+mn-ea"/>
                <a:cs typeface="+mn-cs"/>
                <a:sym typeface="Helvetica Neue Medium"/>
              </a:defRPr>
            </a:lvl1pPr>
          </a:lstStyle>
          <a:p>
            <a:pPr/>
            <a:r>
              <a:t>Title Text</a:t>
            </a:r>
          </a:p>
        </p:txBody>
      </p:sp>
      <p:sp>
        <p:nvSpPr>
          <p:cNvPr id="49" name="Body Level One…"/>
          <p:cNvSpPr txBox="1"/>
          <p:nvPr>
            <p:ph type="body" sz="quarter" idx="1"/>
          </p:nvPr>
        </p:nvSpPr>
        <p:spPr>
          <a:xfrm>
            <a:off x="952500" y="4724400"/>
            <a:ext cx="5334000" cy="4114800"/>
          </a:xfrm>
          <a:prstGeom prst="rect">
            <a:avLst/>
          </a:prstGeom>
        </p:spPr>
        <p:txBody>
          <a:bodyPr/>
          <a:lstStyle>
            <a:lvl1pPr marL="0" indent="0" algn="ctr">
              <a:spcBef>
                <a:spcPts val="0"/>
              </a:spcBef>
              <a:buSzTx/>
              <a:buNone/>
              <a:defRPr sz="3700"/>
            </a:lvl1pPr>
            <a:lvl2pPr marL="0" indent="228600" algn="ctr">
              <a:spcBef>
                <a:spcPts val="0"/>
              </a:spcBef>
              <a:buSzTx/>
              <a:buNone/>
              <a:defRPr sz="3700"/>
            </a:lvl2pPr>
            <a:lvl3pPr marL="0" indent="457200" algn="ctr">
              <a:spcBef>
                <a:spcPts val="0"/>
              </a:spcBef>
              <a:buSzTx/>
              <a:buNone/>
              <a:defRPr sz="3700"/>
            </a:lvl3pPr>
            <a:lvl4pPr marL="0" indent="685800" algn="ctr">
              <a:spcBef>
                <a:spcPts val="0"/>
              </a:spcBef>
              <a:buSzTx/>
              <a:buNone/>
              <a:defRPr sz="3700"/>
            </a:lvl4pPr>
            <a:lvl5pPr marL="0" indent="914400" algn="ctr">
              <a:spcBef>
                <a:spcPts val="0"/>
              </a:spcBef>
              <a:buSzTx/>
              <a:buNone/>
              <a:defRPr sz="3700"/>
            </a:lvl5pPr>
          </a:lstStyle>
          <a:p>
            <a:pPr/>
            <a:r>
              <a:t>Body Level One</a:t>
            </a:r>
          </a:p>
          <a:p>
            <a:pPr lvl="1"/>
            <a:r>
              <a:t>Body Level Two</a:t>
            </a:r>
          </a:p>
          <a:p>
            <a:pPr lvl="2"/>
            <a:r>
              <a:t>Body Level Three</a:t>
            </a:r>
          </a:p>
          <a:p>
            <a:pPr lvl="3"/>
            <a:r>
              <a:t>Body Level Four</a:t>
            </a:r>
          </a:p>
          <a:p>
            <a:pPr lvl="4"/>
            <a:r>
              <a:t>Body Level Five</a:t>
            </a: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Top">
    <p:spTree>
      <p:nvGrpSpPr>
        <p:cNvPr id="1" name=""/>
        <p:cNvGrpSpPr/>
        <p:nvPr/>
      </p:nvGrpSpPr>
      <p:grpSpPr>
        <a:xfrm>
          <a:off x="0" y="0"/>
          <a:ext cx="0" cy="0"/>
          <a:chOff x="0" y="0"/>
          <a:chExt cx="0" cy="0"/>
        </a:xfrm>
      </p:grpSpPr>
      <p:sp>
        <p:nvSpPr>
          <p:cNvPr id="57" name="Title Text"/>
          <p:cNvSpPr txBox="1"/>
          <p:nvPr>
            <p:ph type="title"/>
          </p:nvPr>
        </p:nvSpPr>
        <p:spPr>
          <a:xfrm>
            <a:off x="952500" y="254000"/>
            <a:ext cx="11099800" cy="2159000"/>
          </a:xfrm>
          <a:prstGeom prst="rect">
            <a:avLst/>
          </a:prstGeom>
        </p:spPr>
        <p:txBody>
          <a:bodyPr/>
          <a:lstStyle>
            <a:lvl1pPr>
              <a:defRPr b="0">
                <a:solidFill>
                  <a:srgbClr val="000000"/>
                </a:solidFill>
                <a:latin typeface="+mn-lt"/>
                <a:ea typeface="+mn-ea"/>
                <a:cs typeface="+mn-cs"/>
                <a:sym typeface="Helvetica Neue Medium"/>
              </a:defRPr>
            </a:lvl1p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5" name="Image"/>
          <p:cNvSpPr/>
          <p:nvPr>
            <p:ph type="pic" idx="21"/>
          </p:nvPr>
        </p:nvSpPr>
        <p:spPr>
          <a:xfrm>
            <a:off x="4086225" y="2586566"/>
            <a:ext cx="9429750" cy="6286501"/>
          </a:xfrm>
          <a:prstGeom prst="rect">
            <a:avLst/>
          </a:prstGeom>
        </p:spPr>
        <p:txBody>
          <a:bodyPr lIns="91439" tIns="45719" rIns="91439" bIns="45719">
            <a:noAutofit/>
          </a:bodyPr>
          <a:lstStyle/>
          <a:p>
            <a:pPr/>
          </a:p>
        </p:txBody>
      </p:sp>
      <p:sp>
        <p:nvSpPr>
          <p:cNvPr id="66" name="Title Text"/>
          <p:cNvSpPr txBox="1"/>
          <p:nvPr>
            <p:ph type="title"/>
          </p:nvPr>
        </p:nvSpPr>
        <p:spPr>
          <a:xfrm>
            <a:off x="952500" y="254000"/>
            <a:ext cx="11099800" cy="2159000"/>
          </a:xfrm>
          <a:prstGeom prst="rect">
            <a:avLst/>
          </a:prstGeom>
        </p:spPr>
        <p:txBody>
          <a:bodyPr/>
          <a:lstStyle>
            <a:lvl1pPr>
              <a:defRPr b="0">
                <a:solidFill>
                  <a:srgbClr val="000000"/>
                </a:solidFill>
                <a:latin typeface="+mn-lt"/>
                <a:ea typeface="+mn-ea"/>
                <a:cs typeface="+mn-cs"/>
                <a:sym typeface="Helvetica Neue Medium"/>
              </a:defRPr>
            </a:lvl1pPr>
          </a:lstStyle>
          <a:p>
            <a:pPr/>
            <a:r>
              <a:t>Title Text</a:t>
            </a:r>
          </a:p>
        </p:txBody>
      </p:sp>
      <p:sp>
        <p:nvSpPr>
          <p:cNvPr id="67" name="Body Level One…"/>
          <p:cNvSpPr txBox="1"/>
          <p:nvPr>
            <p:ph type="body" sz="half" idx="1"/>
          </p:nvPr>
        </p:nvSpPr>
        <p:spPr>
          <a:xfrm>
            <a:off x="952500" y="2590800"/>
            <a:ext cx="5334000" cy="6286500"/>
          </a:xfrm>
          <a:prstGeom prst="rect">
            <a:avLst/>
          </a:prstGeom>
        </p:spPr>
        <p:txBody>
          <a:bodyPr anchor="ctr"/>
          <a:lstStyle>
            <a:lvl1pPr marL="342900" indent="-342900">
              <a:spcBef>
                <a:spcPts val="3200"/>
              </a:spcBef>
              <a:defRPr sz="2800"/>
            </a:lvl1pPr>
            <a:lvl2pPr marL="685800" indent="-342900">
              <a:spcBef>
                <a:spcPts val="3200"/>
              </a:spcBef>
              <a:defRPr sz="2800"/>
            </a:lvl2pPr>
            <a:lvl3pPr marL="1028700" indent="-342900">
              <a:spcBef>
                <a:spcPts val="3200"/>
              </a:spcBef>
              <a:defRPr sz="2800"/>
            </a:lvl3pPr>
            <a:lvl4pPr marL="1371600" indent="-342900">
              <a:spcBef>
                <a:spcPts val="3200"/>
              </a:spcBef>
              <a:defRPr sz="2800"/>
            </a:lvl4pPr>
            <a:lvl5pPr marL="1714500" indent="-342900">
              <a:spcBef>
                <a:spcPts val="32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68" name="Slide Number"/>
          <p:cNvSpPr txBox="1"/>
          <p:nvPr>
            <p:ph type="sldNum" sz="quarter" idx="2"/>
          </p:nvPr>
        </p:nvSpPr>
        <p:spPr>
          <a:xfrm>
            <a:off x="6328884" y="9296400"/>
            <a:ext cx="340259" cy="342900"/>
          </a:xfrm>
          <a:prstGeom prst="rect">
            <a:avLst/>
          </a:prstGeom>
        </p:spPr>
        <p:txBody>
          <a:bodyPr/>
          <a:lstStyle>
            <a:lvl1pPr>
              <a:defRPr>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75" name="Body Level One…"/>
          <p:cNvSpPr txBox="1"/>
          <p:nvPr>
            <p:ph type="body" idx="1"/>
          </p:nvPr>
        </p:nvSpPr>
        <p:spPr>
          <a:xfrm>
            <a:off x="952500" y="1270000"/>
            <a:ext cx="11099800" cy="7213600"/>
          </a:xfrm>
          <a:prstGeom prst="rect">
            <a:avLst/>
          </a:prstGeom>
        </p:spPr>
        <p:txBody>
          <a:bodyPr anchor="ctr"/>
          <a:lstStyle>
            <a:lvl1pPr>
              <a:spcBef>
                <a:spcPts val="4200"/>
              </a:spcBef>
            </a:lvl1pPr>
            <a:lvl2pPr>
              <a:spcBef>
                <a:spcPts val="4200"/>
              </a:spcBef>
            </a:lvl2pPr>
            <a:lvl3pPr>
              <a:spcBef>
                <a:spcPts val="4200"/>
              </a:spcBef>
            </a:lvl3pPr>
            <a:lvl4pPr>
              <a:spcBef>
                <a:spcPts val="4200"/>
              </a:spcBef>
            </a:lvl4pPr>
            <a:lvl5pPr>
              <a:spcBef>
                <a:spcPts val="4200"/>
              </a:spcBef>
            </a:lvl5pPr>
          </a:lstStyle>
          <a:p>
            <a:pPr/>
            <a:r>
              <a:t>Body Level One</a:t>
            </a:r>
          </a:p>
          <a:p>
            <a:pPr lvl="1"/>
            <a:r>
              <a:t>Body Level Two</a:t>
            </a:r>
          </a:p>
          <a:p>
            <a:pPr lvl="2"/>
            <a:r>
              <a:t>Body Level Three</a:t>
            </a:r>
          </a:p>
          <a:p>
            <a:pPr lvl="3"/>
            <a:r>
              <a:t>Body Level Four</a:t>
            </a:r>
          </a:p>
          <a:p>
            <a:pPr lvl="4"/>
            <a:r>
              <a:t>Body Level Five</a:t>
            </a:r>
          </a:p>
        </p:txBody>
      </p:sp>
      <p:sp>
        <p:nvSpPr>
          <p:cNvPr id="7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83" name="Image"/>
          <p:cNvSpPr/>
          <p:nvPr>
            <p:ph type="pic" sz="quarter" idx="21"/>
          </p:nvPr>
        </p:nvSpPr>
        <p:spPr>
          <a:xfrm>
            <a:off x="6680200" y="5029200"/>
            <a:ext cx="6054748" cy="4038600"/>
          </a:xfrm>
          <a:prstGeom prst="rect">
            <a:avLst/>
          </a:prstGeom>
        </p:spPr>
        <p:txBody>
          <a:bodyPr lIns="91439" tIns="45719" rIns="91439" bIns="45719">
            <a:noAutofit/>
          </a:bodyPr>
          <a:lstStyle/>
          <a:p>
            <a:pPr/>
          </a:p>
        </p:txBody>
      </p:sp>
      <p:sp>
        <p:nvSpPr>
          <p:cNvPr id="84" name="Image"/>
          <p:cNvSpPr/>
          <p:nvPr>
            <p:ph type="pic" sz="quarter" idx="22"/>
          </p:nvPr>
        </p:nvSpPr>
        <p:spPr>
          <a:xfrm>
            <a:off x="6502400" y="889000"/>
            <a:ext cx="5867400" cy="3911601"/>
          </a:xfrm>
          <a:prstGeom prst="rect">
            <a:avLst/>
          </a:prstGeom>
        </p:spPr>
        <p:txBody>
          <a:bodyPr lIns="91439" tIns="45719" rIns="91439" bIns="45719">
            <a:noAutofit/>
          </a:bodyPr>
          <a:lstStyle/>
          <a:p>
            <a:pPr/>
          </a:p>
        </p:txBody>
      </p:sp>
      <p:sp>
        <p:nvSpPr>
          <p:cNvPr id="85" name="Image"/>
          <p:cNvSpPr/>
          <p:nvPr>
            <p:ph type="pic" idx="23"/>
          </p:nvPr>
        </p:nvSpPr>
        <p:spPr>
          <a:xfrm>
            <a:off x="-2374900" y="889000"/>
            <a:ext cx="11982450" cy="7988300"/>
          </a:xfrm>
          <a:prstGeom prst="rect">
            <a:avLst/>
          </a:prstGeom>
        </p:spPr>
        <p:txBody>
          <a:bodyPr lIns="91439" tIns="45719" rIns="91439" bIns="45719">
            <a:noAutofit/>
          </a:bodyPr>
          <a:lstStyle/>
          <a:p>
            <a:pPr/>
          </a:p>
        </p:txBody>
      </p:sp>
      <p:sp>
        <p:nvSpPr>
          <p:cNvPr id="8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93" name="–Johnny Appleseed"/>
          <p:cNvSpPr txBox="1"/>
          <p:nvPr>
            <p:ph type="body" sz="quarter" idx="21"/>
          </p:nvPr>
        </p:nvSpPr>
        <p:spPr>
          <a:xfrm>
            <a:off x="1270000" y="6362700"/>
            <a:ext cx="10464800" cy="461366"/>
          </a:xfrm>
          <a:prstGeom prst="rect">
            <a:avLst/>
          </a:prstGeom>
        </p:spPr>
        <p:txBody>
          <a:bodyPr>
            <a:spAutoFit/>
          </a:bodyPr>
          <a:lstStyle>
            <a:lvl1pPr marL="0" indent="0" algn="ctr">
              <a:spcBef>
                <a:spcPts val="0"/>
              </a:spcBef>
              <a:buSzTx/>
              <a:buNone/>
              <a:defRPr i="1" sz="2400"/>
            </a:lvl1pPr>
          </a:lstStyle>
          <a:p>
            <a:pPr/>
            <a:r>
              <a:t>–Johnny Appleseed</a:t>
            </a:r>
          </a:p>
        </p:txBody>
      </p:sp>
      <p:sp>
        <p:nvSpPr>
          <p:cNvPr id="94" name="“Type a quote here.”"/>
          <p:cNvSpPr txBox="1"/>
          <p:nvPr>
            <p:ph type="body" sz="quarter" idx="22"/>
          </p:nvPr>
        </p:nvSpPr>
        <p:spPr>
          <a:xfrm>
            <a:off x="1270000" y="4267112"/>
            <a:ext cx="10464800" cy="609776"/>
          </a:xfrm>
          <a:prstGeom prst="rect">
            <a:avLst/>
          </a:prstGeom>
        </p:spPr>
        <p:txBody>
          <a:bodyPr anchor="ctr">
            <a:spAutoFit/>
          </a:bodyPr>
          <a:lstStyle>
            <a:lvl1pPr marL="0" indent="0" algn="ctr">
              <a:spcBef>
                <a:spcPts val="0"/>
              </a:spcBef>
              <a:buSzTx/>
              <a:buNone/>
              <a:defRPr sz="3400">
                <a:latin typeface="+mn-lt"/>
                <a:ea typeface="+mn-ea"/>
                <a:cs typeface="+mn-cs"/>
                <a:sym typeface="Helvetica Neue Medium"/>
              </a:defRPr>
            </a:lvl1pPr>
          </a:lstStyle>
          <a:p>
            <a:pPr/>
            <a:r>
              <a:t>“Type a quote here.” </a:t>
            </a:r>
          </a:p>
        </p:txBody>
      </p:sp>
      <p:sp>
        <p:nvSpPr>
          <p:cNvPr id="9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02" name="Image"/>
          <p:cNvSpPr/>
          <p:nvPr>
            <p:ph type="pic" idx="21"/>
          </p:nvPr>
        </p:nvSpPr>
        <p:spPr>
          <a:xfrm>
            <a:off x="-949853" y="0"/>
            <a:ext cx="14904506" cy="9944100"/>
          </a:xfrm>
          <a:prstGeom prst="rect">
            <a:avLst/>
          </a:prstGeom>
        </p:spPr>
        <p:txBody>
          <a:bodyPr lIns="91439" tIns="45719" rIns="91439" bIns="45719">
            <a:noAutofit/>
          </a:bodyPr>
          <a:lstStyle/>
          <a:p>
            <a:pPr/>
          </a:p>
        </p:txBody>
      </p:sp>
      <p:sp>
        <p:nvSpPr>
          <p:cNvPr id="10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1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952500" y="0"/>
            <a:ext cx="11112500" cy="1587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Title Text</a:t>
            </a:r>
          </a:p>
        </p:txBody>
      </p:sp>
      <p:sp>
        <p:nvSpPr>
          <p:cNvPr id="3" name="Body Level One…"/>
          <p:cNvSpPr txBox="1"/>
          <p:nvPr>
            <p:ph type="body" idx="1"/>
          </p:nvPr>
        </p:nvSpPr>
        <p:spPr>
          <a:xfrm>
            <a:off x="952500" y="1587500"/>
            <a:ext cx="11112500" cy="73025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6328884" y="9296400"/>
            <a:ext cx="340259" cy="324306"/>
          </a:xfrm>
          <a:prstGeom prst="rect">
            <a:avLst/>
          </a:prstGeom>
          <a:ln w="12700">
            <a:miter lim="400000"/>
          </a:ln>
        </p:spPr>
        <p:txBody>
          <a:bodyPr wrap="none" lIns="50800" tIns="50800" rIns="50800" bIns="50800">
            <a:spAutoFit/>
          </a:bodyPr>
          <a:lstStyle>
            <a:lvl1pPr>
              <a:defRPr b="0" sz="1600">
                <a:latin typeface="Helvetica Neue Light"/>
                <a:ea typeface="Helvetica Neue Light"/>
                <a:cs typeface="Helvetica Neue Light"/>
                <a:sym typeface="Helvetica Neue Light"/>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transition xmlns:p14="http://schemas.microsoft.com/office/powerpoint/2010/main" spd="med" advClick="1"/>
  <p:txStyles>
    <p:titleStyle>
      <a:lvl1pPr marL="0" marR="0" indent="0" algn="ctr" defTabSz="584200" latinLnBrk="0">
        <a:lnSpc>
          <a:spcPct val="100000"/>
        </a:lnSpc>
        <a:spcBef>
          <a:spcPts val="0"/>
        </a:spcBef>
        <a:spcAft>
          <a:spcPts val="0"/>
        </a:spcAft>
        <a:buClrTx/>
        <a:buSzTx/>
        <a:buFontTx/>
        <a:buNone/>
        <a:tabLst/>
        <a:defRPr b="1" baseline="0" cap="none" i="0" spc="0" strike="noStrike" sz="8000" u="none">
          <a:solidFill>
            <a:srgbClr val="800000"/>
          </a:solidFill>
          <a:uFillTx/>
          <a:latin typeface="Helvetica Neue"/>
          <a:ea typeface="Helvetica Neue"/>
          <a:cs typeface="Helvetica Neue"/>
          <a:sym typeface="Helvetica Neue"/>
        </a:defRPr>
      </a:lvl1pPr>
      <a:lvl2pPr marL="0" marR="0" indent="228600" algn="ctr" defTabSz="584200" latinLnBrk="0">
        <a:lnSpc>
          <a:spcPct val="100000"/>
        </a:lnSpc>
        <a:spcBef>
          <a:spcPts val="0"/>
        </a:spcBef>
        <a:spcAft>
          <a:spcPts val="0"/>
        </a:spcAft>
        <a:buClrTx/>
        <a:buSzTx/>
        <a:buFontTx/>
        <a:buNone/>
        <a:tabLst/>
        <a:defRPr b="1" baseline="0" cap="none" i="0" spc="0" strike="noStrike" sz="8000" u="none">
          <a:solidFill>
            <a:srgbClr val="800000"/>
          </a:solidFill>
          <a:uFillTx/>
          <a:latin typeface="Helvetica Neue"/>
          <a:ea typeface="Helvetica Neue"/>
          <a:cs typeface="Helvetica Neue"/>
          <a:sym typeface="Helvetica Neue"/>
        </a:defRPr>
      </a:lvl2pPr>
      <a:lvl3pPr marL="0" marR="0" indent="457200" algn="ctr" defTabSz="584200" latinLnBrk="0">
        <a:lnSpc>
          <a:spcPct val="100000"/>
        </a:lnSpc>
        <a:spcBef>
          <a:spcPts val="0"/>
        </a:spcBef>
        <a:spcAft>
          <a:spcPts val="0"/>
        </a:spcAft>
        <a:buClrTx/>
        <a:buSzTx/>
        <a:buFontTx/>
        <a:buNone/>
        <a:tabLst/>
        <a:defRPr b="1" baseline="0" cap="none" i="0" spc="0" strike="noStrike" sz="8000" u="none">
          <a:solidFill>
            <a:srgbClr val="800000"/>
          </a:solidFill>
          <a:uFillTx/>
          <a:latin typeface="Helvetica Neue"/>
          <a:ea typeface="Helvetica Neue"/>
          <a:cs typeface="Helvetica Neue"/>
          <a:sym typeface="Helvetica Neue"/>
        </a:defRPr>
      </a:lvl3pPr>
      <a:lvl4pPr marL="0" marR="0" indent="685800" algn="ctr" defTabSz="584200" latinLnBrk="0">
        <a:lnSpc>
          <a:spcPct val="100000"/>
        </a:lnSpc>
        <a:spcBef>
          <a:spcPts val="0"/>
        </a:spcBef>
        <a:spcAft>
          <a:spcPts val="0"/>
        </a:spcAft>
        <a:buClrTx/>
        <a:buSzTx/>
        <a:buFontTx/>
        <a:buNone/>
        <a:tabLst/>
        <a:defRPr b="1" baseline="0" cap="none" i="0" spc="0" strike="noStrike" sz="8000" u="none">
          <a:solidFill>
            <a:srgbClr val="800000"/>
          </a:solidFill>
          <a:uFillTx/>
          <a:latin typeface="Helvetica Neue"/>
          <a:ea typeface="Helvetica Neue"/>
          <a:cs typeface="Helvetica Neue"/>
          <a:sym typeface="Helvetica Neue"/>
        </a:defRPr>
      </a:lvl4pPr>
      <a:lvl5pPr marL="0" marR="0" indent="914400" algn="ctr" defTabSz="584200" latinLnBrk="0">
        <a:lnSpc>
          <a:spcPct val="100000"/>
        </a:lnSpc>
        <a:spcBef>
          <a:spcPts val="0"/>
        </a:spcBef>
        <a:spcAft>
          <a:spcPts val="0"/>
        </a:spcAft>
        <a:buClrTx/>
        <a:buSzTx/>
        <a:buFontTx/>
        <a:buNone/>
        <a:tabLst/>
        <a:defRPr b="1" baseline="0" cap="none" i="0" spc="0" strike="noStrike" sz="8000" u="none">
          <a:solidFill>
            <a:srgbClr val="800000"/>
          </a:solidFill>
          <a:uFillTx/>
          <a:latin typeface="Helvetica Neue"/>
          <a:ea typeface="Helvetica Neue"/>
          <a:cs typeface="Helvetica Neue"/>
          <a:sym typeface="Helvetica Neue"/>
        </a:defRPr>
      </a:lvl5pPr>
      <a:lvl6pPr marL="0" marR="0" indent="1143000" algn="ctr" defTabSz="584200" latinLnBrk="0">
        <a:lnSpc>
          <a:spcPct val="100000"/>
        </a:lnSpc>
        <a:spcBef>
          <a:spcPts val="0"/>
        </a:spcBef>
        <a:spcAft>
          <a:spcPts val="0"/>
        </a:spcAft>
        <a:buClrTx/>
        <a:buSzTx/>
        <a:buFontTx/>
        <a:buNone/>
        <a:tabLst/>
        <a:defRPr b="1" baseline="0" cap="none" i="0" spc="0" strike="noStrike" sz="8000" u="none">
          <a:solidFill>
            <a:srgbClr val="800000"/>
          </a:solidFill>
          <a:uFillTx/>
          <a:latin typeface="Helvetica Neue"/>
          <a:ea typeface="Helvetica Neue"/>
          <a:cs typeface="Helvetica Neue"/>
          <a:sym typeface="Helvetica Neue"/>
        </a:defRPr>
      </a:lvl6pPr>
      <a:lvl7pPr marL="0" marR="0" indent="1371600" algn="ctr" defTabSz="584200" latinLnBrk="0">
        <a:lnSpc>
          <a:spcPct val="100000"/>
        </a:lnSpc>
        <a:spcBef>
          <a:spcPts val="0"/>
        </a:spcBef>
        <a:spcAft>
          <a:spcPts val="0"/>
        </a:spcAft>
        <a:buClrTx/>
        <a:buSzTx/>
        <a:buFontTx/>
        <a:buNone/>
        <a:tabLst/>
        <a:defRPr b="1" baseline="0" cap="none" i="0" spc="0" strike="noStrike" sz="8000" u="none">
          <a:solidFill>
            <a:srgbClr val="800000"/>
          </a:solidFill>
          <a:uFillTx/>
          <a:latin typeface="Helvetica Neue"/>
          <a:ea typeface="Helvetica Neue"/>
          <a:cs typeface="Helvetica Neue"/>
          <a:sym typeface="Helvetica Neue"/>
        </a:defRPr>
      </a:lvl7pPr>
      <a:lvl8pPr marL="0" marR="0" indent="1600200" algn="ctr" defTabSz="584200" latinLnBrk="0">
        <a:lnSpc>
          <a:spcPct val="100000"/>
        </a:lnSpc>
        <a:spcBef>
          <a:spcPts val="0"/>
        </a:spcBef>
        <a:spcAft>
          <a:spcPts val="0"/>
        </a:spcAft>
        <a:buClrTx/>
        <a:buSzTx/>
        <a:buFontTx/>
        <a:buNone/>
        <a:tabLst/>
        <a:defRPr b="1" baseline="0" cap="none" i="0" spc="0" strike="noStrike" sz="8000" u="none">
          <a:solidFill>
            <a:srgbClr val="800000"/>
          </a:solidFill>
          <a:uFillTx/>
          <a:latin typeface="Helvetica Neue"/>
          <a:ea typeface="Helvetica Neue"/>
          <a:cs typeface="Helvetica Neue"/>
          <a:sym typeface="Helvetica Neue"/>
        </a:defRPr>
      </a:lvl8pPr>
      <a:lvl9pPr marL="0" marR="0" indent="1828800" algn="ctr" defTabSz="584200" latinLnBrk="0">
        <a:lnSpc>
          <a:spcPct val="100000"/>
        </a:lnSpc>
        <a:spcBef>
          <a:spcPts val="0"/>
        </a:spcBef>
        <a:spcAft>
          <a:spcPts val="0"/>
        </a:spcAft>
        <a:buClrTx/>
        <a:buSzTx/>
        <a:buFontTx/>
        <a:buNone/>
        <a:tabLst/>
        <a:defRPr b="1" baseline="0" cap="none" i="0" spc="0" strike="noStrike" sz="8000" u="none">
          <a:solidFill>
            <a:srgbClr val="800000"/>
          </a:solidFill>
          <a:uFillTx/>
          <a:latin typeface="Helvetica Neue"/>
          <a:ea typeface="Helvetica Neue"/>
          <a:cs typeface="Helvetica Neue"/>
          <a:sym typeface="Helvetica Neue"/>
        </a:defRPr>
      </a:lvl9pPr>
    </p:titleStyle>
    <p:bodyStyle>
      <a:lvl1pPr marL="444500" marR="0" indent="-444500" algn="l" defTabSz="584200" latinLnBrk="0">
        <a:lnSpc>
          <a:spcPct val="100000"/>
        </a:lnSpc>
        <a:spcBef>
          <a:spcPts val="1600"/>
        </a:spcBef>
        <a:spcAft>
          <a:spcPts val="0"/>
        </a:spcAft>
        <a:buClrTx/>
        <a:buSzPct val="145000"/>
        <a:buFontTx/>
        <a:buChar char="•"/>
        <a:tabLst/>
        <a:defRPr b="0" baseline="0" cap="none" i="0" spc="0" strike="noStrike" sz="3200" u="none">
          <a:solidFill>
            <a:srgbClr val="000000"/>
          </a:solidFill>
          <a:uFillTx/>
          <a:latin typeface="Helvetica Neue"/>
          <a:ea typeface="Helvetica Neue"/>
          <a:cs typeface="Helvetica Neue"/>
          <a:sym typeface="Helvetica Neue"/>
        </a:defRPr>
      </a:lvl1pPr>
      <a:lvl2pPr marL="889000" marR="0" indent="-444500" algn="l" defTabSz="584200" latinLnBrk="0">
        <a:lnSpc>
          <a:spcPct val="100000"/>
        </a:lnSpc>
        <a:spcBef>
          <a:spcPts val="1600"/>
        </a:spcBef>
        <a:spcAft>
          <a:spcPts val="0"/>
        </a:spcAft>
        <a:buClrTx/>
        <a:buSzPct val="145000"/>
        <a:buFontTx/>
        <a:buChar char="•"/>
        <a:tabLst/>
        <a:defRPr b="0" baseline="0" cap="none" i="0" spc="0" strike="noStrike" sz="3200" u="none">
          <a:solidFill>
            <a:srgbClr val="000000"/>
          </a:solidFill>
          <a:uFillTx/>
          <a:latin typeface="Helvetica Neue"/>
          <a:ea typeface="Helvetica Neue"/>
          <a:cs typeface="Helvetica Neue"/>
          <a:sym typeface="Helvetica Neue"/>
        </a:defRPr>
      </a:lvl2pPr>
      <a:lvl3pPr marL="1333500" marR="0" indent="-444500" algn="l" defTabSz="584200" latinLnBrk="0">
        <a:lnSpc>
          <a:spcPct val="100000"/>
        </a:lnSpc>
        <a:spcBef>
          <a:spcPts val="1600"/>
        </a:spcBef>
        <a:spcAft>
          <a:spcPts val="0"/>
        </a:spcAft>
        <a:buClrTx/>
        <a:buSzPct val="145000"/>
        <a:buFontTx/>
        <a:buChar char="•"/>
        <a:tabLst/>
        <a:defRPr b="0" baseline="0" cap="none" i="0" spc="0" strike="noStrike" sz="3200" u="none">
          <a:solidFill>
            <a:srgbClr val="000000"/>
          </a:solidFill>
          <a:uFillTx/>
          <a:latin typeface="Helvetica Neue"/>
          <a:ea typeface="Helvetica Neue"/>
          <a:cs typeface="Helvetica Neue"/>
          <a:sym typeface="Helvetica Neue"/>
        </a:defRPr>
      </a:lvl3pPr>
      <a:lvl4pPr marL="1778000" marR="0" indent="-444500" algn="l" defTabSz="584200" latinLnBrk="0">
        <a:lnSpc>
          <a:spcPct val="100000"/>
        </a:lnSpc>
        <a:spcBef>
          <a:spcPts val="1600"/>
        </a:spcBef>
        <a:spcAft>
          <a:spcPts val="0"/>
        </a:spcAft>
        <a:buClrTx/>
        <a:buSzPct val="145000"/>
        <a:buFontTx/>
        <a:buChar char="•"/>
        <a:tabLst/>
        <a:defRPr b="0" baseline="0" cap="none" i="0" spc="0" strike="noStrike" sz="3200" u="none">
          <a:solidFill>
            <a:srgbClr val="000000"/>
          </a:solidFill>
          <a:uFillTx/>
          <a:latin typeface="Helvetica Neue"/>
          <a:ea typeface="Helvetica Neue"/>
          <a:cs typeface="Helvetica Neue"/>
          <a:sym typeface="Helvetica Neue"/>
        </a:defRPr>
      </a:lvl4pPr>
      <a:lvl5pPr marL="2222500" marR="0" indent="-444500" algn="l" defTabSz="584200" latinLnBrk="0">
        <a:lnSpc>
          <a:spcPct val="100000"/>
        </a:lnSpc>
        <a:spcBef>
          <a:spcPts val="1600"/>
        </a:spcBef>
        <a:spcAft>
          <a:spcPts val="0"/>
        </a:spcAft>
        <a:buClrTx/>
        <a:buSzPct val="145000"/>
        <a:buFontTx/>
        <a:buChar char="•"/>
        <a:tabLst/>
        <a:defRPr b="0" baseline="0" cap="none" i="0" spc="0" strike="noStrike" sz="3200" u="none">
          <a:solidFill>
            <a:srgbClr val="000000"/>
          </a:solidFill>
          <a:uFillTx/>
          <a:latin typeface="Helvetica Neue"/>
          <a:ea typeface="Helvetica Neue"/>
          <a:cs typeface="Helvetica Neue"/>
          <a:sym typeface="Helvetica Neue"/>
        </a:defRPr>
      </a:lvl5pPr>
      <a:lvl6pPr marL="2667000" marR="0" indent="-444500" algn="l" defTabSz="584200" latinLnBrk="0">
        <a:lnSpc>
          <a:spcPct val="100000"/>
        </a:lnSpc>
        <a:spcBef>
          <a:spcPts val="1600"/>
        </a:spcBef>
        <a:spcAft>
          <a:spcPts val="0"/>
        </a:spcAft>
        <a:buClrTx/>
        <a:buSzPct val="145000"/>
        <a:buFontTx/>
        <a:buChar char="•"/>
        <a:tabLst/>
        <a:defRPr b="0" baseline="0" cap="none" i="0" spc="0" strike="noStrike" sz="3200" u="none">
          <a:solidFill>
            <a:srgbClr val="000000"/>
          </a:solidFill>
          <a:uFillTx/>
          <a:latin typeface="Helvetica Neue"/>
          <a:ea typeface="Helvetica Neue"/>
          <a:cs typeface="Helvetica Neue"/>
          <a:sym typeface="Helvetica Neue"/>
        </a:defRPr>
      </a:lvl6pPr>
      <a:lvl7pPr marL="3111500" marR="0" indent="-444500" algn="l" defTabSz="584200" latinLnBrk="0">
        <a:lnSpc>
          <a:spcPct val="100000"/>
        </a:lnSpc>
        <a:spcBef>
          <a:spcPts val="1600"/>
        </a:spcBef>
        <a:spcAft>
          <a:spcPts val="0"/>
        </a:spcAft>
        <a:buClrTx/>
        <a:buSzPct val="145000"/>
        <a:buFontTx/>
        <a:buChar char="•"/>
        <a:tabLst/>
        <a:defRPr b="0" baseline="0" cap="none" i="0" spc="0" strike="noStrike" sz="3200" u="none">
          <a:solidFill>
            <a:srgbClr val="000000"/>
          </a:solidFill>
          <a:uFillTx/>
          <a:latin typeface="Helvetica Neue"/>
          <a:ea typeface="Helvetica Neue"/>
          <a:cs typeface="Helvetica Neue"/>
          <a:sym typeface="Helvetica Neue"/>
        </a:defRPr>
      </a:lvl7pPr>
      <a:lvl8pPr marL="3556000" marR="0" indent="-444500" algn="l" defTabSz="584200" latinLnBrk="0">
        <a:lnSpc>
          <a:spcPct val="100000"/>
        </a:lnSpc>
        <a:spcBef>
          <a:spcPts val="1600"/>
        </a:spcBef>
        <a:spcAft>
          <a:spcPts val="0"/>
        </a:spcAft>
        <a:buClrTx/>
        <a:buSzPct val="145000"/>
        <a:buFontTx/>
        <a:buChar char="•"/>
        <a:tabLst/>
        <a:defRPr b="0" baseline="0" cap="none" i="0" spc="0" strike="noStrike" sz="3200" u="none">
          <a:solidFill>
            <a:srgbClr val="000000"/>
          </a:solidFill>
          <a:uFillTx/>
          <a:latin typeface="Helvetica Neue"/>
          <a:ea typeface="Helvetica Neue"/>
          <a:cs typeface="Helvetica Neue"/>
          <a:sym typeface="Helvetica Neue"/>
        </a:defRPr>
      </a:lvl8pPr>
      <a:lvl9pPr marL="4000500" marR="0" indent="-444500" algn="l" defTabSz="584200" latinLnBrk="0">
        <a:lnSpc>
          <a:spcPct val="100000"/>
        </a:lnSpc>
        <a:spcBef>
          <a:spcPts val="1600"/>
        </a:spcBef>
        <a:spcAft>
          <a:spcPts val="0"/>
        </a:spcAft>
        <a:buClrTx/>
        <a:buSzPct val="145000"/>
        <a:buFontTx/>
        <a:buChar char="•"/>
        <a:tabLst/>
        <a:defRPr b="0" baseline="0" cap="none" i="0" spc="0" strike="noStrike" sz="3200" u="none">
          <a:solidFill>
            <a:srgbClr val="000000"/>
          </a:solidFill>
          <a:uFillTx/>
          <a:latin typeface="Helvetica Neue"/>
          <a:ea typeface="Helvetica Neue"/>
          <a:cs typeface="Helvetica Neue"/>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1pPr>
      <a:lvl2pPr marL="0" marR="0" indent="228600" algn="ctr" defTabSz="584200"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2pPr>
      <a:lvl3pPr marL="0" marR="0" indent="457200" algn="ctr" defTabSz="584200"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3pPr>
      <a:lvl4pPr marL="0" marR="0" indent="685800" algn="ctr" defTabSz="584200"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4pPr>
      <a:lvl5pPr marL="0" marR="0" indent="914400" algn="ctr" defTabSz="584200"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5pPr>
      <a:lvl6pPr marL="0" marR="0" indent="1143000" algn="ctr" defTabSz="584200"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6pPr>
      <a:lvl7pPr marL="0" marR="0" indent="1371600" algn="ctr" defTabSz="584200"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7pPr>
      <a:lvl8pPr marL="0" marR="0" indent="1600200" algn="ctr" defTabSz="584200"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8pPr>
      <a:lvl9pPr marL="0" marR="0" indent="1828800" algn="ctr" defTabSz="584200"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bradford-delong.com" TargetMode="Externa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9" name="INET Edinburgh Panel: “Comparative Advantage”: The Advantage of the Comparatively Powerful?…"/>
          <p:cNvSpPr txBox="1"/>
          <p:nvPr>
            <p:ph type="ctrTitle"/>
          </p:nvPr>
        </p:nvSpPr>
        <p:spPr>
          <a:prstGeom prst="rect">
            <a:avLst/>
          </a:prstGeom>
        </p:spPr>
        <p:txBody>
          <a:bodyPr/>
          <a:lstStyle/>
          <a:p>
            <a:pPr defTabSz="426466">
              <a:defRPr sz="3650"/>
            </a:pPr>
            <a:r>
              <a:t>INET Edinburgh Panel: “Comparative Advantage”: The Advantage of the Comparatively Powerful?</a:t>
            </a:r>
          </a:p>
          <a:p>
            <a:pPr defTabSz="426466">
              <a:defRPr sz="5840"/>
            </a:pPr>
          </a:p>
          <a:p>
            <a:pPr defTabSz="426466">
              <a:defRPr sz="7300"/>
            </a:pPr>
            <a:r>
              <a:t>Ricardo’s Big Idea and Its Vicissitudes</a:t>
            </a:r>
          </a:p>
        </p:txBody>
      </p:sp>
      <p:sp>
        <p:nvSpPr>
          <p:cNvPr id="120" name="J. Bradford DeLong…"/>
          <p:cNvSpPr txBox="1"/>
          <p:nvPr>
            <p:ph type="subTitle" sz="half" idx="1"/>
          </p:nvPr>
        </p:nvSpPr>
        <p:spPr>
          <a:prstGeom prst="rect">
            <a:avLst/>
          </a:prstGeom>
        </p:spPr>
        <p:txBody>
          <a:bodyPr/>
          <a:lstStyle/>
          <a:p>
            <a:pPr defTabSz="420624">
              <a:defRPr sz="2664"/>
            </a:pPr>
            <a:r>
              <a:t>J. Bradford DeLong</a:t>
            </a:r>
          </a:p>
          <a:p>
            <a:pPr defTabSz="420624">
              <a:defRPr sz="2664"/>
            </a:pPr>
            <a:r>
              <a:rPr u="sng">
                <a:hlinkClick r:id="rId2" invalidUrl="" action="" tgtFrame="" tooltip="" history="1" highlightClick="0" endSnd="0"/>
              </a:rPr>
              <a:t>http://bradford-delong.com</a:t>
            </a:r>
          </a:p>
          <a:p>
            <a:pPr defTabSz="420624">
              <a:defRPr sz="2664"/>
            </a:pPr>
          </a:p>
          <a:p>
            <a:pPr defTabSz="420624">
              <a:defRPr sz="2664"/>
            </a:pPr>
            <a:r>
              <a:t>Last edited: 2017-10-19</a:t>
            </a:r>
          </a:p>
          <a:p>
            <a:pPr defTabSz="420624">
              <a:defRPr sz="2664"/>
            </a:pPr>
            <a:r>
              <a:t>https://www.icloud.com/keynote/0QMFGpAUFCjqhdfLULfDbLE4g</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2" name="Overview"/>
          <p:cNvSpPr txBox="1"/>
          <p:nvPr>
            <p:ph type="title"/>
          </p:nvPr>
        </p:nvSpPr>
        <p:spPr>
          <a:prstGeom prst="rect">
            <a:avLst/>
          </a:prstGeom>
        </p:spPr>
        <p:txBody>
          <a:bodyPr/>
          <a:lstStyle/>
          <a:p>
            <a:pPr/>
            <a:r>
              <a:t>Overview</a:t>
            </a:r>
          </a:p>
        </p:txBody>
      </p:sp>
      <p:sp>
        <p:nvSpPr>
          <p:cNvPr id="123" name="The doctrine of “comparative advantage”:…"/>
          <p:cNvSpPr txBox="1"/>
          <p:nvPr>
            <p:ph type="body" idx="1"/>
          </p:nvPr>
        </p:nvSpPr>
        <p:spPr>
          <a:prstGeom prst="rect">
            <a:avLst/>
          </a:prstGeom>
        </p:spPr>
        <p:txBody>
          <a:bodyPr/>
          <a:lstStyle/>
          <a:p>
            <a:pPr marL="333375" indent="-333375" defTabSz="438150">
              <a:spcBef>
                <a:spcPts val="1200"/>
              </a:spcBef>
              <a:defRPr sz="2400"/>
            </a:pPr>
            <a:r>
              <a:t>The doctrine of “comparative advantage”:</a:t>
            </a:r>
          </a:p>
          <a:p>
            <a:pPr lvl="1" marL="666750" indent="-333375" defTabSz="438150">
              <a:spcBef>
                <a:spcPts val="1200"/>
              </a:spcBef>
              <a:defRPr sz="2400"/>
            </a:pPr>
            <a:r>
              <a:t>Solves a particular theoretical problem for Ricardo</a:t>
            </a:r>
          </a:p>
          <a:p>
            <a:pPr lvl="2" marL="1000125" indent="-333375" defTabSz="438150">
              <a:spcBef>
                <a:spcPts val="1200"/>
              </a:spcBef>
              <a:defRPr sz="2400"/>
            </a:pPr>
            <a:r>
              <a:t>Reconciling the LToV with different relative productivities in different nations</a:t>
            </a:r>
          </a:p>
          <a:p>
            <a:pPr lvl="2" marL="1000125" indent="-333375" defTabSz="438150">
              <a:spcBef>
                <a:spcPts val="1200"/>
              </a:spcBef>
              <a:defRPr sz="2400"/>
            </a:pPr>
            <a:r>
              <a:t>By using Hume’s “On the Balance of Trade”: specie flow and QToM</a:t>
            </a:r>
          </a:p>
          <a:p>
            <a:pPr lvl="1" marL="666750" indent="-333375" defTabSz="438150">
              <a:spcBef>
                <a:spcPts val="1200"/>
              </a:spcBef>
              <a:defRPr sz="2400"/>
            </a:pPr>
            <a:r>
              <a:t>As a bonus, produces “optimal” production specialization</a:t>
            </a:r>
          </a:p>
          <a:p>
            <a:pPr marL="333375" indent="-333375" defTabSz="438150">
              <a:spcBef>
                <a:spcPts val="1200"/>
              </a:spcBef>
              <a:defRPr sz="2400"/>
            </a:pPr>
            <a:r>
              <a:t>A lot of holes in the optimality argument…</a:t>
            </a:r>
          </a:p>
          <a:p>
            <a:pPr marL="333375" indent="-333375" defTabSz="438150">
              <a:spcBef>
                <a:spcPts val="1200"/>
              </a:spcBef>
              <a:defRPr sz="2400"/>
            </a:pPr>
            <a:r>
              <a:t>An “esoteric” doctrine: we teach comparative advantage </a:t>
            </a:r>
            <a:r>
              <a:rPr i="1"/>
              <a:t>simplicity </a:t>
            </a:r>
            <a:r>
              <a:t>because</a:t>
            </a:r>
          </a:p>
          <a:p>
            <a:pPr lvl="1" marL="666750" indent="-333375" defTabSz="438150">
              <a:spcBef>
                <a:spcPts val="1200"/>
              </a:spcBef>
              <a:defRPr sz="2400"/>
            </a:pPr>
            <a:r>
              <a:t>The </a:t>
            </a:r>
            <a:r>
              <a:rPr i="1"/>
              <a:t>real</a:t>
            </a:r>
            <a:r>
              <a:t> arguments for free trade are too complex</a:t>
            </a:r>
          </a:p>
          <a:p>
            <a:pPr marL="333375" indent="-333375" defTabSz="438150">
              <a:spcBef>
                <a:spcPts val="1200"/>
              </a:spcBef>
              <a:defRPr sz="2400"/>
            </a:pPr>
            <a:r>
              <a:t>“Esoteric” doctrine more or less convincing, according to taste, ideology, &amp;c….</a:t>
            </a:r>
          </a:p>
          <a:p>
            <a:pPr marL="333375" indent="-333375" defTabSz="438150">
              <a:spcBef>
                <a:spcPts val="1200"/>
              </a:spcBef>
              <a:defRPr sz="2400"/>
            </a:pPr>
            <a:r>
              <a:t>And neglect the Negishi social welfare weights:</a:t>
            </a:r>
          </a:p>
          <a:p>
            <a:pPr lvl="1" marL="666750" indent="-333375" defTabSz="438150">
              <a:spcBef>
                <a:spcPts val="1200"/>
              </a:spcBef>
              <a:defRPr sz="2400"/>
            </a:pPr>
            <a:r>
              <a:t>The market is a machine for satisfying the wealthy</a:t>
            </a:r>
          </a:p>
          <a:p>
            <a:pPr lvl="1" marL="666750" indent="-333375" defTabSz="438150">
              <a:spcBef>
                <a:spcPts val="1200"/>
              </a:spcBef>
              <a:defRPr sz="2400"/>
            </a:pPr>
            <a:r>
              <a:t>Because the market maximizes a SWF in which your weight is proportion to your wealth (or the cube of your wealth)</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 name="David Ricardo: The Apotheosis of the Market"/>
          <p:cNvSpPr txBox="1"/>
          <p:nvPr>
            <p:ph type="title"/>
          </p:nvPr>
        </p:nvSpPr>
        <p:spPr>
          <a:prstGeom prst="rect">
            <a:avLst/>
          </a:prstGeom>
        </p:spPr>
        <p:txBody>
          <a:bodyPr/>
          <a:lstStyle>
            <a:lvl1pPr defTabSz="350520">
              <a:defRPr sz="4800"/>
            </a:lvl1pPr>
          </a:lstStyle>
          <a:p>
            <a:pPr/>
            <a:r>
              <a:t>David Ricardo: The Apotheosis of the Market</a:t>
            </a:r>
          </a:p>
        </p:txBody>
      </p:sp>
      <p:sp>
        <p:nvSpPr>
          <p:cNvPr id="126" name="David Ricardo: Principles of Political Economy and Taxation (1817):…"/>
          <p:cNvSpPr txBox="1"/>
          <p:nvPr>
            <p:ph type="body" idx="1"/>
          </p:nvPr>
        </p:nvSpPr>
        <p:spPr>
          <a:xfrm>
            <a:off x="952500" y="1587500"/>
            <a:ext cx="7698516" cy="7302500"/>
          </a:xfrm>
          <a:prstGeom prst="rect">
            <a:avLst/>
          </a:prstGeom>
        </p:spPr>
        <p:txBody>
          <a:bodyPr/>
          <a:lstStyle/>
          <a:p>
            <a:pPr marL="346709" indent="-346709" defTabSz="455675">
              <a:spcBef>
                <a:spcPts val="1200"/>
              </a:spcBef>
              <a:defRPr sz="2496"/>
            </a:pPr>
            <a:r>
              <a:rPr b="1"/>
              <a:t>David Ricardo: </a:t>
            </a:r>
            <a:r>
              <a:rPr i="1"/>
              <a:t>Principles of Political Economy and Taxation</a:t>
            </a:r>
            <a:r>
              <a:t> (1817):</a:t>
            </a:r>
          </a:p>
          <a:p>
            <a:pPr lvl="1" marL="693419" indent="-346709" defTabSz="455675">
              <a:spcBef>
                <a:spcPts val="1200"/>
              </a:spcBef>
              <a:defRPr sz="2496"/>
            </a:pPr>
            <a:r>
              <a:t>“Under a system of perfectly free commerce, each country naturally devotes its capital and labour to such employments as are most beneficial to each. This pursuit of individual advantage is admirably connected with the universal good of the whole… distribut[ing] labour most effectively and most economically… increasing the general mass of productions… diffus[ing] general benefit, and bind[ing] together by one common tie of interest and intercourse, the universal society….</a:t>
            </a:r>
          </a:p>
          <a:p>
            <a:pPr lvl="1" marL="693419" indent="-346709" defTabSz="455675">
              <a:spcBef>
                <a:spcPts val="1200"/>
              </a:spcBef>
              <a:defRPr sz="2496"/>
            </a:pPr>
            <a:r>
              <a:t>“It is this principle which determines that wine shall be made in France and Portugal, that corn shall be grown in America and Poland, and that hardware and other goods shall be manufactured in England…”</a:t>
            </a:r>
          </a:p>
        </p:txBody>
      </p:sp>
      <p:pic>
        <p:nvPicPr>
          <p:cNvPr id="127" name="david_ricardo_-_Google_Search.png" descr="david_ricardo_-_Google_Search.png"/>
          <p:cNvPicPr>
            <a:picLocks noChangeAspect="1"/>
          </p:cNvPicPr>
          <p:nvPr/>
        </p:nvPicPr>
        <p:blipFill>
          <a:blip r:embed="rId2">
            <a:extLst/>
          </a:blip>
          <a:stretch>
            <a:fillRect/>
          </a:stretch>
        </p:blipFill>
        <p:spPr>
          <a:xfrm>
            <a:off x="8651015" y="1587500"/>
            <a:ext cx="3413985" cy="7302500"/>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9" name="David Ricardo: Trade and Comparative Advantage in Equilibrium"/>
          <p:cNvSpPr txBox="1"/>
          <p:nvPr>
            <p:ph type="title"/>
          </p:nvPr>
        </p:nvSpPr>
        <p:spPr>
          <a:prstGeom prst="rect">
            <a:avLst/>
          </a:prstGeom>
        </p:spPr>
        <p:txBody>
          <a:bodyPr/>
          <a:lstStyle>
            <a:lvl1pPr defTabSz="344677">
              <a:defRPr sz="4719"/>
            </a:lvl1pPr>
          </a:lstStyle>
          <a:p>
            <a:pPr/>
            <a:r>
              <a:t>David Ricardo: Trade and Comparative Advantage in Equilibrium</a:t>
            </a:r>
          </a:p>
        </p:txBody>
      </p:sp>
      <p:sp>
        <p:nvSpPr>
          <p:cNvPr id="130" name="David Ricardo: Principles of Political Economy and Taxation (1817):…"/>
          <p:cNvSpPr txBox="1"/>
          <p:nvPr>
            <p:ph type="body" idx="1"/>
          </p:nvPr>
        </p:nvSpPr>
        <p:spPr>
          <a:xfrm>
            <a:off x="952500" y="1587500"/>
            <a:ext cx="7884742" cy="7302500"/>
          </a:xfrm>
          <a:prstGeom prst="rect">
            <a:avLst/>
          </a:prstGeom>
        </p:spPr>
        <p:txBody>
          <a:bodyPr/>
          <a:lstStyle/>
          <a:p>
            <a:pPr marL="342264" indent="-342264" defTabSz="449833">
              <a:spcBef>
                <a:spcPts val="1200"/>
              </a:spcBef>
              <a:defRPr sz="2464"/>
            </a:pPr>
            <a:r>
              <a:rPr b="1"/>
              <a:t>David Ricardo: </a:t>
            </a:r>
            <a:r>
              <a:rPr i="1"/>
              <a:t>Principles of Political Economy and Taxation</a:t>
            </a:r>
            <a:r>
              <a:t> (1817):</a:t>
            </a:r>
          </a:p>
          <a:p>
            <a:pPr lvl="1" marL="684529" indent="-342264" defTabSz="449833">
              <a:spcBef>
                <a:spcPts val="1200"/>
              </a:spcBef>
              <a:defRPr sz="2464"/>
            </a:pPr>
            <a:r>
              <a:t>“England may… produce the cloth… [with] the labour of 100 men for one year; and... the wine... 120 men.... England would therefore find it her interest to import wine, and to purchase it by the exportation of cloth. To produce the wine in Portugal.. 80 men... and… the cloth... 90 men.… </a:t>
            </a:r>
          </a:p>
          <a:p>
            <a:pPr lvl="1" marL="684529" indent="-342264" defTabSz="449833">
              <a:spcBef>
                <a:spcPts val="1200"/>
              </a:spcBef>
              <a:defRPr sz="2464"/>
            </a:pPr>
            <a:r>
              <a:t>“It would therefore be advantageous for her to export wine in exchange for cloth…notwithstanding that the commodity imported by Portugal could be produced there with less labour than in England…. It would be advantageous to her rather to employ her capital in the production of wine, for which she would obtain more cloth from England, than she could produce by diverting a portion of her capital from the cultivation of vines to the manufacture of cloth…”</a:t>
            </a:r>
          </a:p>
        </p:txBody>
      </p:sp>
      <p:pic>
        <p:nvPicPr>
          <p:cNvPr id="131" name="david_ricardo_-_Google_Search.png" descr="david_ricardo_-_Google_Search.png"/>
          <p:cNvPicPr>
            <a:picLocks noChangeAspect="1"/>
          </p:cNvPicPr>
          <p:nvPr/>
        </p:nvPicPr>
        <p:blipFill>
          <a:blip r:embed="rId2">
            <a:extLst/>
          </a:blip>
          <a:stretch>
            <a:fillRect/>
          </a:stretch>
        </p:blipFill>
        <p:spPr>
          <a:xfrm>
            <a:off x="8837241" y="1587500"/>
            <a:ext cx="3413985" cy="7302500"/>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3" name="Comparative Advantage Solves an Intellectual Problem for Ricardo"/>
          <p:cNvSpPr txBox="1"/>
          <p:nvPr>
            <p:ph type="title"/>
          </p:nvPr>
        </p:nvSpPr>
        <p:spPr>
          <a:prstGeom prst="rect">
            <a:avLst/>
          </a:prstGeom>
        </p:spPr>
        <p:txBody>
          <a:bodyPr/>
          <a:lstStyle>
            <a:lvl1pPr defTabSz="350520">
              <a:defRPr sz="4800"/>
            </a:lvl1pPr>
          </a:lstStyle>
          <a:p>
            <a:pPr/>
            <a:r>
              <a:t>Comparative Advantage Solves an Intellectual Problem for Ricardo</a:t>
            </a:r>
          </a:p>
        </p:txBody>
      </p:sp>
      <p:sp>
        <p:nvSpPr>
          <p:cNvPr id="134" name="Ricardo’s intellectual problem:…"/>
          <p:cNvSpPr txBox="1"/>
          <p:nvPr>
            <p:ph type="body" idx="1"/>
          </p:nvPr>
        </p:nvSpPr>
        <p:spPr>
          <a:xfrm>
            <a:off x="952500" y="1587500"/>
            <a:ext cx="7231809" cy="7302500"/>
          </a:xfrm>
          <a:prstGeom prst="rect">
            <a:avLst/>
          </a:prstGeom>
        </p:spPr>
        <p:txBody>
          <a:bodyPr/>
          <a:lstStyle/>
          <a:p>
            <a:pPr marL="373379" indent="-373379" defTabSz="490727">
              <a:spcBef>
                <a:spcPts val="1300"/>
              </a:spcBef>
              <a:defRPr sz="2688"/>
            </a:pPr>
            <a:r>
              <a:t>Ricardo’s intellectual problem:</a:t>
            </a:r>
          </a:p>
          <a:p>
            <a:pPr lvl="1" marL="746759" indent="-373379" defTabSz="490727">
              <a:spcBef>
                <a:spcPts val="1300"/>
              </a:spcBef>
              <a:defRPr sz="2688"/>
            </a:pPr>
            <a:r>
              <a:t>Wages-fund working-capital theory of production…</a:t>
            </a:r>
          </a:p>
          <a:p>
            <a:pPr lvl="1" marL="746759" indent="-373379" defTabSz="490727">
              <a:spcBef>
                <a:spcPts val="1300"/>
              </a:spcBef>
              <a:defRPr sz="2688"/>
            </a:pPr>
            <a:r>
              <a:t>Labor-value prices within each country…</a:t>
            </a:r>
          </a:p>
          <a:p>
            <a:pPr lvl="1" marL="746759" indent="-373379" defTabSz="490727">
              <a:spcBef>
                <a:spcPts val="1300"/>
              </a:spcBef>
              <a:defRPr sz="2688"/>
            </a:pPr>
            <a:r>
              <a:t>How then is:</a:t>
            </a:r>
          </a:p>
          <a:p>
            <a:pPr lvl="2" marL="1120139" indent="-373379" defTabSz="490727">
              <a:spcBef>
                <a:spcPts val="1300"/>
              </a:spcBef>
              <a:defRPr sz="2688"/>
            </a:pPr>
            <a:r>
              <a:t>Trade possible should one country be more productive at making everything than another?</a:t>
            </a:r>
          </a:p>
          <a:p>
            <a:pPr lvl="2" marL="1120139" indent="-373379" defTabSz="490727">
              <a:spcBef>
                <a:spcPts val="1300"/>
              </a:spcBef>
              <a:defRPr sz="2688"/>
            </a:pPr>
            <a:r>
              <a:t>Shouldn’t all capitalist production move to the more efficient country?</a:t>
            </a:r>
          </a:p>
          <a:p>
            <a:pPr lvl="3" marL="1493519" indent="-373379" defTabSz="490727">
              <a:spcBef>
                <a:spcPts val="1300"/>
              </a:spcBef>
              <a:defRPr sz="2688"/>
            </a:pPr>
            <a:r>
              <a:t>Leaving only subsistence agriculture in the less efficient?</a:t>
            </a:r>
          </a:p>
          <a:p>
            <a:pPr lvl="4" marL="1866900" indent="-373379" defTabSz="490727">
              <a:spcBef>
                <a:spcPts val="1300"/>
              </a:spcBef>
              <a:defRPr sz="2688"/>
            </a:pPr>
            <a:r>
              <a:t>Lewis/Harris-Todaro framework in the background?</a:t>
            </a:r>
          </a:p>
        </p:txBody>
      </p:sp>
      <p:pic>
        <p:nvPicPr>
          <p:cNvPr id="135" name="comparative_advantage_portugal_england_-_Google_Search.png" descr="comparative_advantage_portugal_england_-_Google_Search.png"/>
          <p:cNvPicPr>
            <a:picLocks noChangeAspect="0"/>
          </p:cNvPicPr>
          <p:nvPr/>
        </p:nvPicPr>
        <p:blipFill>
          <a:blip r:embed="rId2">
            <a:extLst/>
          </a:blip>
          <a:stretch>
            <a:fillRect/>
          </a:stretch>
        </p:blipFill>
        <p:spPr>
          <a:xfrm>
            <a:off x="8184308" y="1587500"/>
            <a:ext cx="3880693" cy="7302500"/>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Comparative Advantage as Ricardo’s Solution"/>
          <p:cNvSpPr txBox="1"/>
          <p:nvPr>
            <p:ph type="title"/>
          </p:nvPr>
        </p:nvSpPr>
        <p:spPr>
          <a:prstGeom prst="rect">
            <a:avLst/>
          </a:prstGeom>
        </p:spPr>
        <p:txBody>
          <a:bodyPr/>
          <a:lstStyle>
            <a:lvl1pPr defTabSz="350520">
              <a:defRPr sz="4800"/>
            </a:lvl1pPr>
          </a:lstStyle>
          <a:p>
            <a:pPr/>
            <a:r>
              <a:t>Comparative Advantage as Ricardo’s Solution</a:t>
            </a:r>
          </a:p>
        </p:txBody>
      </p:sp>
      <p:sp>
        <p:nvSpPr>
          <p:cNvPr id="138" name="Assume: No international capital mobility…"/>
          <p:cNvSpPr txBox="1"/>
          <p:nvPr>
            <p:ph type="body" idx="1"/>
          </p:nvPr>
        </p:nvSpPr>
        <p:spPr>
          <a:xfrm>
            <a:off x="952500" y="1587500"/>
            <a:ext cx="7231809" cy="7302500"/>
          </a:xfrm>
          <a:prstGeom prst="rect">
            <a:avLst/>
          </a:prstGeom>
        </p:spPr>
        <p:txBody>
          <a:bodyPr/>
          <a:lstStyle/>
          <a:p>
            <a:pPr marL="311150" indent="-311150" defTabSz="408940">
              <a:spcBef>
                <a:spcPts val="1100"/>
              </a:spcBef>
              <a:defRPr sz="2240"/>
            </a:pPr>
            <a:r>
              <a:t>Assume: No international capital mobility</a:t>
            </a:r>
          </a:p>
          <a:p>
            <a:pPr marL="311150" indent="-311150" defTabSz="408940">
              <a:spcBef>
                <a:spcPts val="1100"/>
              </a:spcBef>
              <a:defRPr sz="2240"/>
            </a:pPr>
            <a:r>
              <a:t>Assume: Specie flow to balance payments in the event of unbalanced trade</a:t>
            </a:r>
          </a:p>
          <a:p>
            <a:pPr marL="311150" indent="-311150" defTabSz="408940">
              <a:spcBef>
                <a:spcPts val="1100"/>
              </a:spcBef>
              <a:defRPr sz="2240"/>
            </a:pPr>
            <a:r>
              <a:t>Assume: Labor theory of value within each country</a:t>
            </a:r>
          </a:p>
          <a:p>
            <a:pPr marL="311150" indent="-311150" defTabSz="408940">
              <a:spcBef>
                <a:spcPts val="1100"/>
              </a:spcBef>
              <a:defRPr sz="2240"/>
            </a:pPr>
            <a:r>
              <a:t>Assume: Quantity theory of money driven by specie stocks</a:t>
            </a:r>
          </a:p>
          <a:p>
            <a:pPr marL="311150" indent="-311150" defTabSz="408940">
              <a:spcBef>
                <a:spcPts val="1100"/>
              </a:spcBef>
              <a:defRPr sz="2240"/>
            </a:pPr>
            <a:r>
              <a:t>Hence </a:t>
            </a:r>
          </a:p>
          <a:p>
            <a:pPr lvl="1" marL="622300" indent="-311150" defTabSz="408940">
              <a:spcBef>
                <a:spcPts val="1100"/>
              </a:spcBef>
              <a:defRPr sz="2240"/>
            </a:pPr>
            <a:r>
              <a:t>Local labor value relative prices within each country</a:t>
            </a:r>
          </a:p>
          <a:p>
            <a:pPr lvl="1" marL="622300" indent="-311150" defTabSz="408940">
              <a:spcBef>
                <a:spcPts val="1100"/>
              </a:spcBef>
              <a:defRPr sz="2240"/>
            </a:pPr>
            <a:r>
              <a:t>But countries have different overall price levels</a:t>
            </a:r>
          </a:p>
          <a:p>
            <a:pPr lvl="1" marL="622300" indent="-311150" defTabSz="408940">
              <a:spcBef>
                <a:spcPts val="1100"/>
              </a:spcBef>
              <a:defRPr sz="2240"/>
            </a:pPr>
            <a:r>
              <a:t>Hence trade profitable to merchants who buy at labor value relative prices in one country and sell at labor value relative prices in the other</a:t>
            </a:r>
          </a:p>
          <a:p>
            <a:pPr lvl="1" marL="622300" indent="-311150" defTabSz="408940">
              <a:spcBef>
                <a:spcPts val="1100"/>
              </a:spcBef>
              <a:defRPr sz="2240"/>
            </a:pPr>
            <a:r>
              <a:t>Specialization according to comparative advantage in equilibrium</a:t>
            </a:r>
          </a:p>
          <a:p>
            <a:pPr lvl="1" marL="622300" indent="-311150" defTabSz="408940">
              <a:spcBef>
                <a:spcPts val="1100"/>
              </a:spcBef>
              <a:defRPr sz="2240"/>
            </a:pPr>
            <a:r>
              <a:t>And money is a veil: terms of trade are </a:t>
            </a:r>
            <a:r>
              <a:rPr i="1"/>
              <a:t>as if</a:t>
            </a:r>
            <a:r>
              <a:t> barter…</a:t>
            </a:r>
          </a:p>
        </p:txBody>
      </p:sp>
      <p:pic>
        <p:nvPicPr>
          <p:cNvPr id="139" name="comparative_advantage_portugal_england_-_Google_Search.png" descr="comparative_advantage_portugal_england_-_Google_Search.png"/>
          <p:cNvPicPr>
            <a:picLocks noChangeAspect="0"/>
          </p:cNvPicPr>
          <p:nvPr/>
        </p:nvPicPr>
        <p:blipFill>
          <a:blip r:embed="rId2">
            <a:extLst/>
          </a:blip>
          <a:stretch>
            <a:fillRect/>
          </a:stretch>
        </p:blipFill>
        <p:spPr>
          <a:xfrm>
            <a:off x="8184308" y="1587500"/>
            <a:ext cx="3880693" cy="7302500"/>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1" name="Note: David Ricardo’s “Comparative Advantage” Is a Complex Argument"/>
          <p:cNvSpPr txBox="1"/>
          <p:nvPr>
            <p:ph type="title"/>
          </p:nvPr>
        </p:nvSpPr>
        <p:spPr>
          <a:prstGeom prst="rect">
            <a:avLst/>
          </a:prstGeom>
        </p:spPr>
        <p:txBody>
          <a:bodyPr/>
          <a:lstStyle>
            <a:lvl1pPr defTabSz="350520">
              <a:defRPr sz="4800"/>
            </a:lvl1pPr>
          </a:lstStyle>
          <a:p>
            <a:pPr/>
            <a:r>
              <a:t>Note: David Ricardo’s “Comparative Advantage” Is a Complex Argument</a:t>
            </a:r>
          </a:p>
        </p:txBody>
      </p:sp>
      <p:sp>
        <p:nvSpPr>
          <p:cNvPr id="142" name="Ricardo’s assumptions:…"/>
          <p:cNvSpPr txBox="1"/>
          <p:nvPr>
            <p:ph type="body" idx="1"/>
          </p:nvPr>
        </p:nvSpPr>
        <p:spPr>
          <a:xfrm>
            <a:off x="952500" y="1587500"/>
            <a:ext cx="7231809" cy="7302500"/>
          </a:xfrm>
          <a:prstGeom prst="rect">
            <a:avLst/>
          </a:prstGeom>
        </p:spPr>
        <p:txBody>
          <a:bodyPr/>
          <a:lstStyle/>
          <a:p>
            <a:pPr marL="320040" indent="-320040" defTabSz="420624">
              <a:spcBef>
                <a:spcPts val="1100"/>
              </a:spcBef>
              <a:defRPr sz="2304"/>
            </a:pPr>
            <a:r>
              <a:t>Ricardo’s assumptions:</a:t>
            </a:r>
          </a:p>
          <a:p>
            <a:pPr lvl="1" marL="640080" indent="-320040" defTabSz="420624">
              <a:spcBef>
                <a:spcPts val="1100"/>
              </a:spcBef>
              <a:defRPr sz="2304"/>
            </a:pPr>
            <a:r>
              <a:t>Working-capital-in-advance production technologies</a:t>
            </a:r>
          </a:p>
          <a:p>
            <a:pPr lvl="1" marL="640080" indent="-320040" defTabSz="420624">
              <a:spcBef>
                <a:spcPts val="1100"/>
              </a:spcBef>
              <a:defRPr sz="2304"/>
            </a:pPr>
            <a:r>
              <a:t>Labor value prices (within a country)</a:t>
            </a:r>
          </a:p>
          <a:p>
            <a:pPr lvl="1" marL="640080" indent="-320040" defTabSz="420624">
              <a:spcBef>
                <a:spcPts val="1100"/>
              </a:spcBef>
              <a:defRPr sz="2304"/>
            </a:pPr>
            <a:r>
              <a:t>Country- and sector-specific labor productivities</a:t>
            </a:r>
          </a:p>
          <a:p>
            <a:pPr lvl="1" marL="640080" indent="-320040" defTabSz="420624">
              <a:spcBef>
                <a:spcPts val="1100"/>
              </a:spcBef>
              <a:defRPr sz="2304"/>
            </a:pPr>
            <a:r>
              <a:t>Specie flows to balance international payments</a:t>
            </a:r>
          </a:p>
          <a:p>
            <a:pPr lvl="1" marL="640080" indent="-320040" defTabSz="420624">
              <a:spcBef>
                <a:spcPts val="1100"/>
              </a:spcBef>
              <a:defRPr sz="2304"/>
            </a:pPr>
            <a:r>
              <a:t>A nation-level quantity theory of money depending on specie stocks</a:t>
            </a:r>
          </a:p>
          <a:p>
            <a:pPr lvl="1" marL="640080" indent="-320040" defTabSz="420624">
              <a:spcBef>
                <a:spcPts val="1100"/>
              </a:spcBef>
              <a:defRPr sz="2304"/>
            </a:pPr>
            <a:r>
              <a:t>No international capital mobility</a:t>
            </a:r>
          </a:p>
          <a:p>
            <a:pPr marL="320040" indent="-320040" defTabSz="420624">
              <a:spcBef>
                <a:spcPts val="1100"/>
              </a:spcBef>
              <a:defRPr sz="2304"/>
            </a:pPr>
            <a:r>
              <a:t>Ricardo’s conclusions:</a:t>
            </a:r>
          </a:p>
          <a:p>
            <a:pPr lvl="1" marL="640080" indent="-320040" defTabSz="420624">
              <a:spcBef>
                <a:spcPts val="1100"/>
              </a:spcBef>
              <a:defRPr sz="2304"/>
            </a:pPr>
            <a:r>
              <a:t>Surplus from trade captured by merchants</a:t>
            </a:r>
          </a:p>
          <a:p>
            <a:pPr lvl="1" marL="640080" indent="-320040" defTabSz="420624">
              <a:spcBef>
                <a:spcPts val="1100"/>
              </a:spcBef>
              <a:defRPr sz="2304"/>
            </a:pPr>
            <a:r>
              <a:t>Money a veil</a:t>
            </a:r>
          </a:p>
          <a:p>
            <a:pPr lvl="1" marL="640080" indent="-320040" defTabSz="420624">
              <a:spcBef>
                <a:spcPts val="1100"/>
              </a:spcBef>
              <a:defRPr sz="2304"/>
            </a:pPr>
            <a:r>
              <a:t>Optimal international specialization</a:t>
            </a:r>
          </a:p>
          <a:p>
            <a:pPr marL="320040" indent="-320040" defTabSz="420624">
              <a:spcBef>
                <a:spcPts val="1100"/>
              </a:spcBef>
              <a:defRPr sz="2304"/>
            </a:pPr>
            <a:r>
              <a:t>“Free trade best because comparative advantage” a very stripped-down version…</a:t>
            </a:r>
          </a:p>
        </p:txBody>
      </p:sp>
      <p:pic>
        <p:nvPicPr>
          <p:cNvPr id="143" name="comparative_advantage_portugal_england_-_Google_Search.png" descr="comparative_advantage_portugal_england_-_Google_Search.png"/>
          <p:cNvPicPr>
            <a:picLocks noChangeAspect="0"/>
          </p:cNvPicPr>
          <p:nvPr/>
        </p:nvPicPr>
        <p:blipFill>
          <a:blip r:embed="rId2">
            <a:extLst/>
          </a:blip>
          <a:stretch>
            <a:fillRect/>
          </a:stretch>
        </p:blipFill>
        <p:spPr>
          <a:xfrm>
            <a:off x="8184308" y="1587500"/>
            <a:ext cx="3880693" cy="7302500"/>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Note: David Hume: The Demolition[?] of “Mercantilism”"/>
          <p:cNvSpPr txBox="1"/>
          <p:nvPr>
            <p:ph type="title"/>
          </p:nvPr>
        </p:nvSpPr>
        <p:spPr>
          <a:prstGeom prst="rect">
            <a:avLst/>
          </a:prstGeom>
        </p:spPr>
        <p:txBody>
          <a:bodyPr/>
          <a:lstStyle/>
          <a:p>
            <a:pPr lvl="1" indent="137160" defTabSz="350520">
              <a:defRPr sz="4800"/>
            </a:pPr>
            <a:r>
              <a:t>Note: David Hume: The Demolition[?] of “Mercantilism”</a:t>
            </a:r>
          </a:p>
        </p:txBody>
      </p:sp>
      <p:sp>
        <p:nvSpPr>
          <p:cNvPr id="146" name="Use reason to dispel prejudice and “superstition”…"/>
          <p:cNvSpPr txBox="1"/>
          <p:nvPr>
            <p:ph type="body" idx="1"/>
          </p:nvPr>
        </p:nvSpPr>
        <p:spPr>
          <a:xfrm>
            <a:off x="952500" y="1587500"/>
            <a:ext cx="7134115" cy="7302500"/>
          </a:xfrm>
          <a:prstGeom prst="rect">
            <a:avLst/>
          </a:prstGeom>
        </p:spPr>
        <p:txBody>
          <a:bodyPr/>
          <a:lstStyle/>
          <a:p>
            <a:pPr marL="426719" indent="-426719" defTabSz="560831">
              <a:spcBef>
                <a:spcPts val="1500"/>
              </a:spcBef>
              <a:defRPr sz="3072"/>
            </a:pPr>
            <a:r>
              <a:t>Use reason to dispel prejudice and “superstition”</a:t>
            </a:r>
          </a:p>
          <a:p>
            <a:pPr marL="426719" indent="-426719" defTabSz="560831">
              <a:spcBef>
                <a:spcPts val="1500"/>
              </a:spcBef>
              <a:defRPr sz="3072"/>
            </a:pPr>
            <a:r>
              <a:t>Systems thinking, emergent properties, and stable equilibrium</a:t>
            </a:r>
          </a:p>
          <a:p>
            <a:pPr marL="426719" indent="-426719" defTabSz="560831">
              <a:spcBef>
                <a:spcPts val="1500"/>
              </a:spcBef>
              <a:defRPr sz="3072"/>
            </a:pPr>
            <a:r>
              <a:t>Of the Balance of Trade (1752): Conclusion</a:t>
            </a:r>
          </a:p>
          <a:p>
            <a:pPr lvl="1" marL="853439" indent="-426719" defTabSz="560831">
              <a:spcBef>
                <a:spcPts val="1500"/>
              </a:spcBef>
              <a:defRPr sz="3072"/>
            </a:pPr>
            <a:r>
              <a:t>“A government has great reason to preserve with care its people and its manufactures. Its money, it may safely trust to the course of human affairs, without fear or jealousy. Or if it ever give attention to this latter circumstance, it ought only to be so far as it affects the former…”</a:t>
            </a:r>
          </a:p>
        </p:txBody>
      </p:sp>
      <p:pic>
        <p:nvPicPr>
          <p:cNvPr id="147" name="File_Painting_of_David_Hume_jpg_-_Wikipedia.png" descr="File_Painting_of_David_Hume_jpg_-_Wikipedia.png"/>
          <p:cNvPicPr>
            <a:picLocks noChangeAspect="1"/>
          </p:cNvPicPr>
          <p:nvPr/>
        </p:nvPicPr>
        <p:blipFill>
          <a:blip r:embed="rId2">
            <a:extLst/>
          </a:blip>
          <a:stretch>
            <a:fillRect/>
          </a:stretch>
        </p:blipFill>
        <p:spPr>
          <a:xfrm>
            <a:off x="8086614" y="1587500"/>
            <a:ext cx="3978386" cy="7302500"/>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9" name="Note: David Hume: The Appeal to Emergent Properties of Equilibrium"/>
          <p:cNvSpPr txBox="1"/>
          <p:nvPr>
            <p:ph type="title"/>
          </p:nvPr>
        </p:nvSpPr>
        <p:spPr>
          <a:prstGeom prst="rect">
            <a:avLst/>
          </a:prstGeom>
        </p:spPr>
        <p:txBody>
          <a:bodyPr/>
          <a:lstStyle>
            <a:lvl1pPr defTabSz="350520">
              <a:defRPr sz="4800"/>
            </a:lvl1pPr>
          </a:lstStyle>
          <a:p>
            <a:pPr/>
            <a:r>
              <a:t>Note: David Hume: The Appeal to Emergent Properties of Equilibrium</a:t>
            </a:r>
          </a:p>
        </p:txBody>
      </p:sp>
      <p:sp>
        <p:nvSpPr>
          <p:cNvPr id="150" name="Of the Balance of Trade (1752): Argument:…"/>
          <p:cNvSpPr txBox="1"/>
          <p:nvPr>
            <p:ph type="body" idx="1"/>
          </p:nvPr>
        </p:nvSpPr>
        <p:spPr>
          <a:xfrm>
            <a:off x="952500" y="1587500"/>
            <a:ext cx="7466808" cy="7302500"/>
          </a:xfrm>
          <a:prstGeom prst="rect">
            <a:avLst/>
          </a:prstGeom>
        </p:spPr>
        <p:txBody>
          <a:bodyPr/>
          <a:lstStyle/>
          <a:p>
            <a:pPr marL="324485" indent="-324485" defTabSz="426466">
              <a:spcBef>
                <a:spcPts val="1100"/>
              </a:spcBef>
              <a:defRPr sz="2336"/>
            </a:pPr>
            <a:r>
              <a:t>Of the Balance of Trade (1752): Argument:</a:t>
            </a:r>
          </a:p>
          <a:p>
            <a:pPr lvl="1" marL="648970" indent="-324485" defTabSz="426466">
              <a:spcBef>
                <a:spcPts val="1100"/>
              </a:spcBef>
              <a:defRPr sz="2336"/>
            </a:pPr>
            <a:r>
              <a:t>“Suppose four-fifths of all the money in GREAT BRITAIN to be annihilated in one night…. Must not the price of all labour and commodities sink in proportion, and every thing be sold as cheap as they were in those ages? What nation could then dispute with us in any foreign market?… In how little time, therefore, must this bring back the money which we had lost, and raise us to the level of all the neighbouring nations?…”</a:t>
            </a:r>
          </a:p>
          <a:p>
            <a:pPr marL="324485" indent="-324485" defTabSz="426466">
              <a:spcBef>
                <a:spcPts val="1100"/>
              </a:spcBef>
              <a:defRPr sz="2336"/>
            </a:pPr>
            <a:r>
              <a:t>Note: not a completely convincing argument:</a:t>
            </a:r>
          </a:p>
          <a:p>
            <a:pPr lvl="1" marL="648970" indent="-324485" defTabSz="426466">
              <a:spcBef>
                <a:spcPts val="1100"/>
              </a:spcBef>
              <a:defRPr sz="2336"/>
            </a:pPr>
            <a:r>
              <a:t>Much more an argument that there are powerful limits to “mercantilist” policies that seek to bring specie within the potential control of a government than a refutation</a:t>
            </a:r>
          </a:p>
          <a:p>
            <a:pPr lvl="1" marL="648970" indent="-324485" defTabSz="426466">
              <a:spcBef>
                <a:spcPts val="1100"/>
              </a:spcBef>
              <a:defRPr sz="2336"/>
            </a:pPr>
            <a:r>
              <a:t>The refutation comes with Adam Smith’s redefinition of the goal of state policy as a wealthy nation…</a:t>
            </a:r>
          </a:p>
        </p:txBody>
      </p:sp>
      <p:pic>
        <p:nvPicPr>
          <p:cNvPr id="151" name="Photos_for_The_David_Hume_Tower_-_Yelp.png" descr="Photos_for_The_David_Hume_Tower_-_Yelp.png"/>
          <p:cNvPicPr>
            <a:picLocks noChangeAspect="1"/>
          </p:cNvPicPr>
          <p:nvPr/>
        </p:nvPicPr>
        <p:blipFill>
          <a:blip r:embed="rId2">
            <a:extLst/>
          </a:blip>
          <a:stretch>
            <a:fillRect/>
          </a:stretch>
        </p:blipFill>
        <p:spPr>
          <a:xfrm>
            <a:off x="8419307" y="1587500"/>
            <a:ext cx="3645693" cy="7302500"/>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3" name="Holes in David Ricardo’s Argument for Free Trade as in Some Sense “Optimal&quot;"/>
          <p:cNvSpPr txBox="1"/>
          <p:nvPr>
            <p:ph type="title"/>
          </p:nvPr>
        </p:nvSpPr>
        <p:spPr>
          <a:prstGeom prst="rect">
            <a:avLst/>
          </a:prstGeom>
        </p:spPr>
        <p:txBody>
          <a:bodyPr/>
          <a:lstStyle>
            <a:lvl1pPr defTabSz="332993">
              <a:defRPr sz="4560"/>
            </a:lvl1pPr>
          </a:lstStyle>
          <a:p>
            <a:pPr/>
            <a:r>
              <a:t>Holes in David Ricardo’s Argument for Free Trade as in Some Sense “Optimal"</a:t>
            </a:r>
          </a:p>
        </p:txBody>
      </p:sp>
      <p:sp>
        <p:nvSpPr>
          <p:cNvPr id="154" name="Hole 1: Optimal tariff…"/>
          <p:cNvSpPr txBox="1"/>
          <p:nvPr>
            <p:ph type="body" sz="half" idx="1"/>
          </p:nvPr>
        </p:nvSpPr>
        <p:spPr>
          <a:xfrm>
            <a:off x="952500" y="1587500"/>
            <a:ext cx="6795560" cy="7302500"/>
          </a:xfrm>
          <a:prstGeom prst="rect">
            <a:avLst/>
          </a:prstGeom>
        </p:spPr>
        <p:txBody>
          <a:bodyPr/>
          <a:lstStyle/>
          <a:p>
            <a:pPr marL="293370" indent="-293370" defTabSz="385572">
              <a:spcBef>
                <a:spcPts val="1000"/>
              </a:spcBef>
              <a:defRPr sz="2112"/>
            </a:pPr>
            <a:r>
              <a:t>Hole 1: Optimal tariff</a:t>
            </a:r>
          </a:p>
          <a:p>
            <a:pPr lvl="1" marL="586740" indent="-293370" defTabSz="385572">
              <a:spcBef>
                <a:spcPts val="1000"/>
              </a:spcBef>
              <a:defRPr sz="2112"/>
            </a:pPr>
            <a:r>
              <a:t>Shift the terms-of-trade in your favor</a:t>
            </a:r>
          </a:p>
          <a:p>
            <a:pPr marL="293370" indent="-293370" defTabSz="385572">
              <a:spcBef>
                <a:spcPts val="1000"/>
              </a:spcBef>
              <a:defRPr sz="2112"/>
            </a:pPr>
            <a:r>
              <a:t>Hole 2: Un- and underemployment</a:t>
            </a:r>
          </a:p>
          <a:p>
            <a:pPr lvl="1" marL="586740" indent="-293370" defTabSz="385572">
              <a:spcBef>
                <a:spcPts val="1000"/>
              </a:spcBef>
              <a:defRPr sz="2112"/>
            </a:pPr>
            <a:r>
              <a:t>Exports move workers from subsistence agriculture to capitalist production</a:t>
            </a:r>
          </a:p>
          <a:p>
            <a:pPr lvl="1" marL="586740" indent="-293370" defTabSz="385572">
              <a:spcBef>
                <a:spcPts val="1000"/>
              </a:spcBef>
              <a:defRPr sz="2112"/>
            </a:pPr>
            <a:r>
              <a:t>Exports reduce industrial unemployment</a:t>
            </a:r>
          </a:p>
          <a:p>
            <a:pPr marL="293370" indent="-293370" defTabSz="385572">
              <a:spcBef>
                <a:spcPts val="1000"/>
              </a:spcBef>
              <a:defRPr sz="2112"/>
            </a:pPr>
            <a:r>
              <a:t>Hole 3: Externalities as sources of economic growth</a:t>
            </a:r>
          </a:p>
          <a:p>
            <a:pPr lvl="1" marL="586740" indent="-293370" defTabSz="385572">
              <a:spcBef>
                <a:spcPts val="1000"/>
              </a:spcBef>
              <a:defRPr sz="2112"/>
            </a:pPr>
            <a:r>
              <a:t>Economies of scale</a:t>
            </a:r>
          </a:p>
          <a:p>
            <a:pPr lvl="1" marL="586740" indent="-293370" defTabSz="385572">
              <a:spcBef>
                <a:spcPts val="1000"/>
              </a:spcBef>
              <a:defRPr sz="2112"/>
            </a:pPr>
            <a:r>
              <a:t>Learning-by-doing</a:t>
            </a:r>
          </a:p>
          <a:p>
            <a:pPr lvl="1" marL="586740" indent="-293370" defTabSz="385572">
              <a:spcBef>
                <a:spcPts val="1000"/>
              </a:spcBef>
              <a:defRPr sz="2112"/>
            </a:pPr>
            <a:r>
              <a:t>More broadly, communities of engineering practice</a:t>
            </a:r>
          </a:p>
          <a:p>
            <a:pPr lvl="1" marL="586740" indent="-293370" defTabSz="385572">
              <a:spcBef>
                <a:spcPts val="1000"/>
              </a:spcBef>
              <a:defRPr sz="2112"/>
            </a:pPr>
            <a:r>
              <a:t>Focus of inventive activity</a:t>
            </a:r>
          </a:p>
          <a:p>
            <a:pPr marL="293370" indent="-293370" defTabSz="385572">
              <a:spcBef>
                <a:spcPts val="1000"/>
              </a:spcBef>
              <a:defRPr sz="2112"/>
            </a:pPr>
            <a:r>
              <a:t>Hole 4: Internal distribution</a:t>
            </a:r>
          </a:p>
          <a:p>
            <a:pPr lvl="1" marL="586740" indent="-293370" defTabSz="385572">
              <a:spcBef>
                <a:spcPts val="1000"/>
              </a:spcBef>
              <a:defRPr sz="2112"/>
            </a:pPr>
            <a:r>
              <a:t>Market does not seek “greatest good of the greatest number”</a:t>
            </a:r>
          </a:p>
          <a:p>
            <a:pPr lvl="2" marL="880110" indent="-293370" defTabSz="385572">
              <a:spcBef>
                <a:spcPts val="1000"/>
              </a:spcBef>
              <a:defRPr sz="2112"/>
            </a:pPr>
            <a:r>
              <a:t>Hence the late 19th C. “social Darwinist” redefinition of the social welfare function</a:t>
            </a:r>
          </a:p>
        </p:txBody>
      </p:sp>
      <p:pic>
        <p:nvPicPr>
          <p:cNvPr id="155" name="optimal_tariff_-_Google_Search.png" descr="optimal_tariff_-_Google_Search.png"/>
          <p:cNvPicPr>
            <a:picLocks noChangeAspect="0"/>
          </p:cNvPicPr>
          <p:nvPr/>
        </p:nvPicPr>
        <p:blipFill>
          <a:blip r:embed="rId2">
            <a:extLst/>
          </a:blip>
          <a:stretch>
            <a:fillRect/>
          </a:stretch>
        </p:blipFill>
        <p:spPr>
          <a:xfrm>
            <a:off x="7645986" y="1587500"/>
            <a:ext cx="4419014" cy="7302500"/>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 name="Hence the “Esoteric” Arguments for Teaching Comparative Advantage"/>
          <p:cNvSpPr txBox="1"/>
          <p:nvPr>
            <p:ph type="title"/>
          </p:nvPr>
        </p:nvSpPr>
        <p:spPr>
          <a:prstGeom prst="rect">
            <a:avLst/>
          </a:prstGeom>
        </p:spPr>
        <p:txBody>
          <a:bodyPr/>
          <a:lstStyle>
            <a:lvl1pPr defTabSz="350520">
              <a:defRPr sz="4800"/>
            </a:lvl1pPr>
          </a:lstStyle>
          <a:p>
            <a:pPr/>
            <a:r>
              <a:t>Hence the “Esoteric” Arguments for Teaching Comparative Advantage</a:t>
            </a:r>
          </a:p>
        </p:txBody>
      </p:sp>
      <p:sp>
        <p:nvSpPr>
          <p:cNvPr id="158" name="Optimal tariff rebuttal: unstable in a game theory sense…"/>
          <p:cNvSpPr txBox="1"/>
          <p:nvPr>
            <p:ph type="body" idx="1"/>
          </p:nvPr>
        </p:nvSpPr>
        <p:spPr>
          <a:prstGeom prst="rect">
            <a:avLst/>
          </a:prstGeom>
        </p:spPr>
        <p:txBody>
          <a:bodyPr/>
          <a:lstStyle/>
          <a:p>
            <a:pPr marL="391159" indent="-391159" defTabSz="514095">
              <a:spcBef>
                <a:spcPts val="1400"/>
              </a:spcBef>
              <a:defRPr sz="2816"/>
            </a:pPr>
            <a:r>
              <a:t>Optimal tariff rebuttal: </a:t>
            </a:r>
            <a:r>
              <a:rPr b="1"/>
              <a:t>unstable in a game theory sense</a:t>
            </a:r>
            <a:endParaRPr b="1"/>
          </a:p>
          <a:p>
            <a:pPr marL="391159" indent="-391159" defTabSz="514095">
              <a:spcBef>
                <a:spcPts val="1400"/>
              </a:spcBef>
              <a:defRPr sz="2816"/>
            </a:pPr>
            <a:r>
              <a:t>Un- and underemployment rebuttal: </a:t>
            </a:r>
            <a:r>
              <a:rPr b="1"/>
              <a:t>better macro policy superior tool</a:t>
            </a:r>
          </a:p>
          <a:p>
            <a:pPr marL="391159" indent="-391159" defTabSz="514095">
              <a:spcBef>
                <a:spcPts val="1400"/>
              </a:spcBef>
              <a:defRPr sz="2816"/>
            </a:pPr>
            <a:r>
              <a:t>Externalities as sources of economic growth rebuttal: </a:t>
            </a:r>
            <a:r>
              <a:rPr b="1"/>
              <a:t>industrial policy a trap</a:t>
            </a:r>
          </a:p>
          <a:p>
            <a:pPr lvl="1" marL="782319" indent="-391159" defTabSz="514095">
              <a:spcBef>
                <a:spcPts val="1400"/>
              </a:spcBef>
              <a:defRPr b="1" sz="2816"/>
            </a:pPr>
            <a:r>
              <a:t>Very few countries have both the administrative competence and the administrative autonomy to successfully conduct industrial policy</a:t>
            </a:r>
          </a:p>
          <a:p>
            <a:pPr marL="391159" indent="-391159" defTabSz="514095">
              <a:spcBef>
                <a:spcPts val="1400"/>
              </a:spcBef>
              <a:defRPr sz="2816"/>
            </a:pPr>
            <a:r>
              <a:t>Internal distribution rebuttal: </a:t>
            </a:r>
            <a:endParaRPr b="1"/>
          </a:p>
          <a:p>
            <a:pPr lvl="1" marL="782319" indent="-391159" defTabSz="514095">
              <a:spcBef>
                <a:spcPts val="1400"/>
              </a:spcBef>
              <a:defRPr b="1" sz="2816"/>
            </a:pPr>
            <a:r>
              <a:t>“social Darwinist” redefinition of the social welfare function</a:t>
            </a:r>
          </a:p>
          <a:p>
            <a:pPr lvl="1" marL="782319" indent="-391159" defTabSz="514095">
              <a:spcBef>
                <a:spcPts val="1400"/>
              </a:spcBef>
              <a:defRPr b="1" sz="2816"/>
            </a:pPr>
            <a:r>
              <a:t>the same political system that produced unequal wealth distribution cannot be trusted</a:t>
            </a:r>
          </a:p>
          <a:p>
            <a:pPr lvl="1" marL="782319" indent="-391159" defTabSz="514095">
              <a:spcBef>
                <a:spcPts val="1400"/>
              </a:spcBef>
              <a:defRPr b="1" sz="2816"/>
            </a:pPr>
            <a:r>
              <a:t>ignore…</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0" name="Hole 5: External Distribution"/>
          <p:cNvSpPr txBox="1"/>
          <p:nvPr>
            <p:ph type="title"/>
          </p:nvPr>
        </p:nvSpPr>
        <p:spPr>
          <a:prstGeom prst="rect">
            <a:avLst/>
          </a:prstGeom>
        </p:spPr>
        <p:txBody>
          <a:bodyPr/>
          <a:lstStyle>
            <a:lvl1pPr defTabSz="473201">
              <a:defRPr sz="6480"/>
            </a:lvl1pPr>
          </a:lstStyle>
          <a:p>
            <a:pPr/>
            <a:r>
              <a:t>Hole 5: External Distribution</a:t>
            </a:r>
          </a:p>
        </p:txBody>
      </p:sp>
      <p:sp>
        <p:nvSpPr>
          <p:cNvPr id="161" name="Even if the internal distribution of wealth in each country is acceptable……"/>
          <p:cNvSpPr txBox="1"/>
          <p:nvPr>
            <p:ph type="body" idx="1"/>
          </p:nvPr>
        </p:nvSpPr>
        <p:spPr>
          <a:xfrm>
            <a:off x="952500" y="1587500"/>
            <a:ext cx="7386082" cy="7302500"/>
          </a:xfrm>
          <a:prstGeom prst="rect">
            <a:avLst/>
          </a:prstGeom>
        </p:spPr>
        <p:txBody>
          <a:bodyPr/>
          <a:lstStyle/>
          <a:p>
            <a:pPr marL="355600" indent="-355600" defTabSz="467359">
              <a:spcBef>
                <a:spcPts val="1200"/>
              </a:spcBef>
              <a:defRPr sz="2560"/>
            </a:pPr>
            <a:r>
              <a:t>Even if the internal distribution of wealth in each country is acceptable…</a:t>
            </a:r>
          </a:p>
          <a:p>
            <a:pPr marL="355600" indent="-355600" defTabSz="467359">
              <a:spcBef>
                <a:spcPts val="1200"/>
              </a:spcBef>
              <a:defRPr sz="2560"/>
            </a:pPr>
            <a:r>
              <a:t>Remember: Negishi social welfare weights:</a:t>
            </a:r>
          </a:p>
          <a:p>
            <a:pPr lvl="1" marL="711200" indent="-355600" defTabSz="467359">
              <a:spcBef>
                <a:spcPts val="1200"/>
              </a:spcBef>
              <a:defRPr sz="2560"/>
            </a:pPr>
            <a:r>
              <a:t>Market maximizes a social welfare function…</a:t>
            </a:r>
          </a:p>
          <a:p>
            <a:pPr lvl="1" marL="711200" indent="-355600" defTabSz="467359">
              <a:spcBef>
                <a:spcPts val="1200"/>
              </a:spcBef>
              <a:defRPr sz="2560"/>
            </a:pPr>
            <a:r>
              <a:t>The market’s social welfare function is a weighted sum of individual utilities…</a:t>
            </a:r>
          </a:p>
          <a:p>
            <a:pPr lvl="1" marL="711200" indent="-355600" defTabSz="467359">
              <a:spcBef>
                <a:spcPts val="1200"/>
              </a:spcBef>
              <a:defRPr sz="2560"/>
            </a:pPr>
            <a:r>
              <a:t>Where each individual’s weight ω is the inverse of their individual marginal utility of wealth W:</a:t>
            </a:r>
          </a:p>
          <a:p>
            <a:pPr lvl="2" marL="1066800" indent="-355600" defTabSz="467359">
              <a:spcBef>
                <a:spcPts val="1200"/>
              </a:spcBef>
              <a:defRPr sz="2560"/>
            </a:pPr>
            <a:r>
              <a:t>[U = ln(W)] ⇒ [ω = W]</a:t>
            </a:r>
          </a:p>
          <a:p>
            <a:pPr lvl="2" marL="1066800" indent="-355600" defTabSz="467359">
              <a:spcBef>
                <a:spcPts val="1200"/>
              </a:spcBef>
              <a:defRPr sz="2560"/>
            </a:pPr>
            <a:r>
              <a:t>[U = -(W</a:t>
            </a:r>
            <a:r>
              <a:rPr baseline="31999"/>
              <a:t>-2</a:t>
            </a:r>
            <a:r>
              <a:t>)/2] ⇒ [ω = W</a:t>
            </a:r>
            <a:r>
              <a:rPr baseline="31999"/>
              <a:t>3</a:t>
            </a:r>
            <a:r>
              <a:t>]</a:t>
            </a:r>
          </a:p>
          <a:p>
            <a:pPr marL="355600" indent="-355600" defTabSz="467359">
              <a:spcBef>
                <a:spcPts val="1200"/>
              </a:spcBef>
              <a:defRPr sz="2560"/>
            </a:pPr>
            <a:r>
              <a:t>In that sense, “comparative advantage” </a:t>
            </a:r>
            <a:r>
              <a:rPr i="1"/>
              <a:t>has </a:t>
            </a:r>
            <a:r>
              <a:t>to be the advantage of the comparatively well-off. It cannot be otherwise</a:t>
            </a:r>
          </a:p>
        </p:txBody>
      </p:sp>
      <p:pic>
        <p:nvPicPr>
          <p:cNvPr id="162" name="WELFARE_ECONOMICS_AND_EXISTENCE_OF_AN_EQUILIBRIUM_FOR_A_COMPETITIVE_ECONOMY_-_Negishi_-_1960_-_Metroeconomica_-_Wiley_Online_Library.png" descr="WELFARE_ECONOMICS_AND_EXISTENCE_OF_AN_EQUILIBRIUM_FOR_A_COMPETITIVE_ECONOMY_-_Negishi_-_1960_-_Metroeconomica_-_Wiley_Online_Library.png"/>
          <p:cNvPicPr>
            <a:picLocks noChangeAspect="0"/>
          </p:cNvPicPr>
          <p:nvPr/>
        </p:nvPicPr>
        <p:blipFill>
          <a:blip r:embed="rId2">
            <a:extLst/>
          </a:blip>
          <a:stretch>
            <a:fillRect/>
          </a:stretch>
        </p:blipFill>
        <p:spPr>
          <a:xfrm>
            <a:off x="8247977" y="1587500"/>
            <a:ext cx="3817023" cy="7302500"/>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2200" u="none" kumimoji="0" normalizeH="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2200" u="none" kumimoji="0" normalizeH="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