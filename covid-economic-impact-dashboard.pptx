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 marL="1037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 marL="1481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 marL="1926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 marL="2370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714732">
              <a:lnSpc>
                <a:spcPct val="100000"/>
              </a:lnSpc>
              <a:defRPr spc="0" sz="16000">
                <a:solidFill>
                  <a:srgbClr val="00008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/>
          <p:nvPr>
            <p:ph type="title"/>
          </p:nvPr>
        </p:nvSpPr>
        <p:spPr>
          <a:xfrm>
            <a:off x="4387451" y="625077"/>
            <a:ext cx="15609097" cy="3036095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914400">
              <a:lnSpc>
                <a:spcPct val="100000"/>
              </a:lnSpc>
              <a:defRPr spc="0" sz="112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1935816" y="13010554"/>
            <a:ext cx="494510" cy="5111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7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itle Text"/>
          <p:cNvSpPr txBox="1"/>
          <p:nvPr>
            <p:ph type="title"/>
          </p:nvPr>
        </p:nvSpPr>
        <p:spPr>
          <a:xfrm>
            <a:off x="4387450" y="625075"/>
            <a:ext cx="15609099" cy="3036098"/>
          </a:xfrm>
          <a:prstGeom prst="rect">
            <a:avLst/>
          </a:prstGeom>
        </p:spPr>
        <p:txBody>
          <a:bodyPr lIns="71433" tIns="71433" rIns="71433" bIns="71433" anchor="ctr"/>
          <a:lstStyle>
            <a:lvl1pPr algn="ctr" defTabSz="914400">
              <a:lnSpc>
                <a:spcPct val="100000"/>
              </a:lnSpc>
              <a:defRPr spc="0" sz="160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6" name="Body Level One…"/>
          <p:cNvSpPr txBox="1"/>
          <p:nvPr>
            <p:ph type="body" idx="1"/>
          </p:nvPr>
        </p:nvSpPr>
        <p:spPr>
          <a:xfrm>
            <a:off x="4387450" y="3661167"/>
            <a:ext cx="15609099" cy="8840398"/>
          </a:xfrm>
          <a:prstGeom prst="rect">
            <a:avLst/>
          </a:prstGeom>
        </p:spPr>
        <p:txBody>
          <a:bodyPr lIns="71433" tIns="71433" rIns="71433" bIns="71433" anchor="ctr"/>
          <a:lstStyle>
            <a:lvl1pPr marL="592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4" indent="-592664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4" indent="-592663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7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11935817" y="13010554"/>
            <a:ext cx="494507" cy="511169"/>
          </a:xfrm>
          <a:prstGeom prst="rect">
            <a:avLst/>
          </a:prstGeom>
        </p:spPr>
        <p:txBody>
          <a:bodyPr lIns="71433" tIns="71433" rIns="71433" bIns="71433" anchor="t"/>
          <a:lstStyle>
            <a:lvl1pPr defTabSz="821527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research.stlouisfed.org/useraccount/dashboard/56322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https://www.icloud.com/keynote/0vOsaU6aylqz37jfdq6WfvS5Q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he long 20th century will in all likelihood be seen in the future as the watershed in human experience:…"/>
          <p:cNvSpPr txBox="1"/>
          <p:nvPr/>
        </p:nvSpPr>
        <p:spPr>
          <a:xfrm>
            <a:off x="16404606" y="2286000"/>
            <a:ext cx="7620001" cy="10789928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/>
          <a:lstStyle/>
          <a:p>
            <a:pPr algn="l" defTabSz="821529">
              <a:defRPr b="1" sz="2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pic>
        <p:nvPicPr>
          <p:cNvPr id="197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5396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2020-11-05"/>
          <p:cNvSpPr txBox="1"/>
          <p:nvPr/>
        </p:nvSpPr>
        <p:spPr>
          <a:xfrm>
            <a:off x="9530118" y="13075927"/>
            <a:ext cx="14494489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2020-11-05</a:t>
            </a:r>
          </a:p>
        </p:txBody>
      </p:sp>
      <p:sp>
        <p:nvSpPr>
          <p:cNvPr id="199" name="The long 20th century will in all likelihood be seen in the future as the watershed in human experience:…"/>
          <p:cNvSpPr txBox="1"/>
          <p:nvPr/>
        </p:nvSpPr>
        <p:spPr>
          <a:xfrm>
            <a:off x="402606" y="2286000"/>
            <a:ext cx="1270000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740662">
              <a:tabLst>
                <a:tab pos="444500" algn="l"/>
              </a:tabLst>
              <a:defRPr b="1" sz="60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Five Takeaways:</a:t>
            </a:r>
          </a:p>
          <a:p>
            <a:pPr algn="l" defTabSz="740662"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571500" indent="-571500" algn="l" defTabSz="740662">
              <a:buSzPct val="100000"/>
              <a:buAutoNum type="arabicPeriod" startAt="1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Recovery bounceback halfway from the April lowpoint</a:t>
            </a:r>
          </a:p>
          <a:p>
            <a:pPr marL="571500" indent="-571500" algn="l" defTabSz="740662">
              <a:buSzPct val="100000"/>
              <a:buAutoNum type="arabicPeriod" startAt="1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But there it has stalled</a:t>
            </a:r>
          </a:p>
          <a:p>
            <a:pPr marL="571500" indent="-571500" algn="l" defTabSz="740662">
              <a:buSzPct val="100000"/>
              <a:buAutoNum type="arabicPeriod" startAt="1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Continued huge amounts of apparent churn, with 800,000 new UI applications each week</a:t>
            </a:r>
          </a:p>
          <a:p>
            <a:pPr marL="571500" indent="-571500" algn="l" defTabSz="740662">
              <a:buSzPct val="100000"/>
              <a:buAutoNum type="arabicPeriod" startAt="1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Decline in continued UI claims half reemployment, half benefits expiration or ration-by-hassle</a:t>
            </a:r>
          </a:p>
          <a:p>
            <a:pPr marL="571500" indent="-571500" algn="l" defTabSz="740662">
              <a:buSzPct val="100000"/>
              <a:buAutoNum type="arabicPeriod" startAt="1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Pent-up savings? Or depressed incomes? Which will dominate in its effects on demand?</a:t>
            </a:r>
          </a:p>
          <a:p>
            <a:pPr algn="l" defTabSz="740662"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71500" indent="-571500" algn="l" defTabSz="740662">
              <a:spcBef>
                <a:spcPts val="2100"/>
              </a:spcBef>
              <a:buSzPct val="100000"/>
              <a:buChar char="•"/>
              <a:tabLst>
                <a:tab pos="444500" algn="l"/>
              </a:tabLst>
              <a:defRPr sz="45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COVID Dashboard (FRED): &lt;</a:t>
            </a:r>
            <a:r>
              <a:rPr u="sng">
                <a:hlinkClick r:id="rId3" invalidUrl="" action="" tgtFrame="" tooltip="" history="1" highlightClick="0" endSnd="0"/>
              </a:rPr>
              <a:t>https://research.stlouisfed.org/useraccount/dashboard/56322</a:t>
            </a:r>
            <a:r>
              <a:t>&gt;</a:t>
            </a:r>
          </a:p>
        </p:txBody>
      </p:sp>
      <p:sp>
        <p:nvSpPr>
          <p:cNvPr id="200" name="COVID Economic Impact"/>
          <p:cNvSpPr txBox="1"/>
          <p:nvPr>
            <p:ph type="title"/>
          </p:nvPr>
        </p:nvSpPr>
        <p:spPr>
          <a:xfrm>
            <a:off x="402606" y="-1"/>
            <a:ext cx="23622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COVID Economic Impact</a:t>
            </a:r>
          </a:p>
        </p:txBody>
      </p:sp>
      <p:sp>
        <p:nvSpPr>
          <p:cNvPr id="201" name="The long 20th century will in all likelihood be seen in the future as the watershed in human experience:…"/>
          <p:cNvSpPr txBox="1"/>
          <p:nvPr/>
        </p:nvSpPr>
        <p:spPr>
          <a:xfrm>
            <a:off x="16404606" y="2286000"/>
            <a:ext cx="7620001" cy="10789928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/>
          <a:lstStyle/>
          <a:p>
            <a:pPr algn="l" defTabSz="821529">
              <a:def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202" name="Image" descr="Imag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690606" y="2286000"/>
            <a:ext cx="5334001" cy="533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Image" descr="Imag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690606" y="7741927"/>
            <a:ext cx="5334001" cy="533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Image" descr="Imag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211846" y="2286000"/>
            <a:ext cx="5334001" cy="533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Image" descr="Imag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3211846" y="7741927"/>
            <a:ext cx="5334001" cy="533400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&lt;https://www.icloud.com/keynote/0vOsaU6aylqz37jfdq6WfvS5Q&gt;"/>
          <p:cNvSpPr txBox="1"/>
          <p:nvPr/>
        </p:nvSpPr>
        <p:spPr>
          <a:xfrm>
            <a:off x="402606" y="13075928"/>
            <a:ext cx="14494488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</a:t>
            </a:r>
            <a:r>
              <a:rPr>
                <a:hlinkClick r:id="rId8" invalidUrl="" action="" tgtFrame="" tooltip="" history="1" highlightClick="0" endSnd="0"/>
              </a:rPr>
              <a:t>https://www.icloud.com/keynote/0vOsaU6aylqz37jfdq6WfvS5Q</a:t>
            </a:r>
            <a:r>
              <a:t>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delong-this-is-fine.png" descr="delong-this-is-fine.png"/>
          <p:cNvPicPr>
            <a:picLocks noChangeAspect="1"/>
          </p:cNvPicPr>
          <p:nvPr/>
        </p:nvPicPr>
        <p:blipFill>
          <a:blip r:embed="rId2"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Back Shortly…"/>
          <p:cNvSpPr txBox="1"/>
          <p:nvPr/>
        </p:nvSpPr>
        <p:spPr>
          <a:xfrm>
            <a:off x="-175265" y="0"/>
            <a:ext cx="24559265" cy="421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7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Back Shortly…</a:t>
            </a:r>
          </a:p>
        </p:txBody>
      </p:sp>
      <p:sp>
        <p:nvSpPr>
          <p:cNvPr id="210" name="Brad DeLong’s Office Hours"/>
          <p:cNvSpPr txBox="1"/>
          <p:nvPr/>
        </p:nvSpPr>
        <p:spPr>
          <a:xfrm>
            <a:off x="-175265" y="12699999"/>
            <a:ext cx="24559265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000">
                <a:solidFill>
                  <a:srgbClr val="8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Brad DeLong’s Office Hours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About the Course"/>
          <p:cNvSpPr txBox="1"/>
          <p:nvPr>
            <p:ph type="title" idx="4294967295"/>
          </p:nvPr>
        </p:nvSpPr>
        <p:spPr>
          <a:xfrm>
            <a:off x="3273126" y="-5"/>
            <a:ext cx="17780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Catch Our Breath</a:t>
            </a:r>
          </a:p>
        </p:txBody>
      </p:sp>
      <p:sp>
        <p:nvSpPr>
          <p:cNvPr id="213" name="The long 20th century will in all likelihood be seen in the future as the watershed in human experience:…"/>
          <p:cNvSpPr txBox="1"/>
          <p:nvPr>
            <p:ph type="body" idx="4294967295"/>
          </p:nvPr>
        </p:nvSpPr>
        <p:spPr>
          <a:xfrm>
            <a:off x="497101" y="2285995"/>
            <a:ext cx="12572024" cy="10795001"/>
          </a:xfrm>
          <a:prstGeom prst="rect">
            <a:avLst/>
          </a:prstGeom>
        </p:spPr>
        <p:txBody>
          <a:bodyPr lIns="91436" tIns="91436" rIns="91436" bIns="91436"/>
          <a:lstStyle/>
          <a:p>
            <a:pPr marL="0" indent="0" defTabSz="914400">
              <a:lnSpc>
                <a:spcPct val="100000"/>
              </a:lnSpc>
              <a:spcBef>
                <a:spcPts val="4000"/>
              </a:spcBef>
              <a:buSzTx/>
              <a:buNone/>
              <a:defRPr b="1" sz="6000"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Let’s reflect on what we have just heard &amp; seen…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Comments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Questions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Readings</a:t>
            </a:r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69123" y="2285995"/>
            <a:ext cx="11035129" cy="11035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About the Course"/>
          <p:cNvSpPr txBox="1"/>
          <p:nvPr>
            <p:ph type="title" idx="4294967295"/>
          </p:nvPr>
        </p:nvSpPr>
        <p:spPr>
          <a:xfrm>
            <a:off x="0" y="-5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68095">
              <a:lnSpc>
                <a:spcPct val="100000"/>
              </a:lnSpc>
              <a:defRPr spc="0" sz="13439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========================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delong-this-is-fine.png" descr="delong-this-is-fine.png"/>
          <p:cNvPicPr>
            <a:picLocks noChangeAspect="1"/>
          </p:cNvPicPr>
          <p:nvPr/>
        </p:nvPicPr>
        <p:blipFill>
          <a:blip r:embed="rId2"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