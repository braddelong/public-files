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9" name="Shape 109"/>
          <p:cNvSpPr/>
          <p:nvPr>
            <p:ph type="sldImg"/>
          </p:nvPr>
        </p:nvSpPr>
        <p:spPr>
          <a:xfrm>
            <a:off x="1143000" y="685800"/>
            <a:ext cx="4572000" cy="3429000"/>
          </a:xfrm>
          <a:prstGeom prst="rect">
            <a:avLst/>
          </a:prstGeom>
        </p:spPr>
        <p:txBody>
          <a:bodyPr/>
          <a:lstStyle/>
          <a:p>
            <a:pPr/>
          </a:p>
        </p:txBody>
      </p:sp>
      <p:sp>
        <p:nvSpPr>
          <p:cNvPr id="110" name="Shape 11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Shape 163"/>
          <p:cNvSpPr/>
          <p:nvPr>
            <p:ph type="sldImg"/>
          </p:nvPr>
        </p:nvSpPr>
        <p:spPr>
          <a:prstGeom prst="rect">
            <a:avLst/>
          </a:prstGeom>
        </p:spPr>
        <p:txBody>
          <a:bodyPr/>
          <a:lstStyle/>
          <a:p>
            <a:pPr/>
          </a:p>
        </p:txBody>
      </p:sp>
      <p:sp>
        <p:nvSpPr>
          <p:cNvPr id="164" name="Shape 164"/>
          <p:cNvSpPr/>
          <p:nvPr>
            <p:ph type="body" sz="quarter" idx="1"/>
          </p:nvPr>
        </p:nvSpPr>
        <p:spPr>
          <a:prstGeom prst="rect">
            <a:avLst/>
          </a:prstGeom>
        </p:spPr>
        <p:txBody>
          <a:bodyPr/>
          <a:lstStyle/>
          <a:p>
            <a:pPr defTabSz="457200">
              <a:lnSpc>
                <a:spcPct val="125000"/>
              </a:lnSpc>
              <a:defRPr sz="2400">
                <a:latin typeface="Avenir Roman"/>
                <a:ea typeface="Avenir Roman"/>
                <a:cs typeface="Avenir Roman"/>
                <a:sym typeface="Avenir Roman"/>
              </a:defRPr>
            </a:pPr>
            <a:r>
              <a:t>From a cynical perspective the interesting question might be not why was there economic stagnation in much and absolute economic decline in some ofemerging markets, but why there was rapid growth in other portions. Chile, Mexico, southern Brazil, and Panama in Latin America; Algeria in Saharan and Botswana in sub-Saharan Africa; and Hong Kong, Malaysia, Singapore, South Korea, Taiwan, Thailand, and now, of course, China in Asia are countries that have made impressive strides toward closing the relative material prosperity gap vis-a-vis the global north in the post-World War II era. How have they managed to do this? What have been the key factors separating successful from unsuccessful episodes of economic development?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 natural conclusion from emerging-market history is that successful economic development is difficult without either a limited government or a developmental state: the logic of politics is that of favors performed, wealth redistributed, inﬂuence exercised, and taxes collected; that is very different from the logic of economic growth. Only a state that is limited in the amount of damage it can do to the economy, or a state that is secure enough, independent enough, and committed to rapid economic growth can avoid this development trap.</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These are the two roads to successful rapid development: “neoliberalism,” on the one hand; and the so-called “developmental state” approach that has been so successful in East Asia on the other. Either insulate the economy from the (semi-predatory) government so that the government’s attempts to tilt the distribution of income in favor of the politically powerful are relatively ineffective and do little harm, or create a government bureaucracy whose first goal is development, and which views interests as its tools to be used in promoting economic growth, rather than as its masters.</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These pressures have, in the post-World War II period at least, been strong enough to counteract the natural tendency for poor countries to learn rapidly about technology and catch up to rich ones. There is no clear reason on the horizon for these pressures to diminish. Optimists hope that the record of economic failure provided by much third world experience in the past generation will lead to the creation of intellectual pressures for reform strong enough to overcome the bias for stagnation. </a:t>
            </a:r>
            <a:br/>
            <a:br/>
            <a:r>
              <a:t>And if ideas truly are the decisive forces making history in the long run, perhaps the optimists are right.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If the optimists are wrong, then we are all in big trouble. Successful handling of the future’s global environmental problems, and successful long-run stabilization of human populations, hinges on successful industrialization in the third world and the consequent—rapid—passage through the demographic transition.</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One way to read the economic history is as repeated attempts to produce the second: to create a pro-growth “developmental state.” Yet in the last analysis there is nothing worse than state-led development led by an anti-developmental state. And that was what too many post-independence Asian and African and too many post-World War II Latin American states turned out to be.</a:t>
            </a:r>
          </a:p>
          <a:p>
            <a:pPr defTabSz="457200">
              <a:lnSpc>
                <a:spcPct val="125000"/>
              </a:lnSpc>
              <a:defRPr sz="2400">
                <a:latin typeface="Avenir Roman"/>
                <a:ea typeface="Avenir Roman"/>
                <a:cs typeface="Avenir Roman"/>
                <a:sym typeface="Avenir Roman"/>
              </a:defRPr>
            </a:pPr>
          </a:p>
          <a:p>
            <a:pPr defTabSz="457200">
              <a:lnSpc>
                <a:spcPct val="125000"/>
              </a:lnSpc>
              <a:defRPr sz="2400">
                <a:latin typeface="Avenir Roman"/>
                <a:ea typeface="Avenir Roman"/>
                <a:cs typeface="Avenir Roman"/>
                <a:sym typeface="Avenir Roman"/>
              </a:defRPr>
            </a:pPr>
            <a:r>
              <a:t>Thus starting in the 1980s hopes for development—outside of the Pacific Rim, where the successful “developmental state” has been was already clearly a reality— shifted in the direction of “neoliberalism.” It seemed better to try to limit the state’s involvement in the process of development, because its interventions were more likely to be destructive than constructive. Rely, instead, on the world market as a source of demand, and on the requirements for integration into the world market and cooperation with the international agencies set up after World War II as a source of good-enough governance.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Vertical Text">
    <p:spTree>
      <p:nvGrpSpPr>
        <p:cNvPr id="1" name=""/>
        <p:cNvGrpSpPr/>
        <p:nvPr/>
      </p:nvGrpSpPr>
      <p:grpSpPr>
        <a:xfrm>
          <a:off x="0" y="0"/>
          <a:ext cx="0" cy="0"/>
          <a:chOff x="0" y="0"/>
          <a:chExt cx="0" cy="0"/>
        </a:xfrm>
      </p:grpSpPr>
      <p:sp>
        <p:nvSpPr>
          <p:cNvPr id="92" name="Title Text"/>
          <p:cNvSpPr txBox="1"/>
          <p:nvPr>
            <p:ph type="title"/>
          </p:nvPr>
        </p:nvSpPr>
        <p:spPr>
          <a:prstGeom prst="rect">
            <a:avLst/>
          </a:prstGeom>
        </p:spPr>
        <p:txBody>
          <a:bodyPr/>
          <a:lstStyle/>
          <a:p>
            <a:pPr/>
            <a:r>
              <a:t>Title Text</a:t>
            </a:r>
          </a:p>
        </p:txBody>
      </p:sp>
      <p:sp>
        <p:nvSpPr>
          <p:cNvPr id="9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 Title and Text">
    <p:spTree>
      <p:nvGrpSpPr>
        <p:cNvPr id="1" name=""/>
        <p:cNvGrpSpPr/>
        <p:nvPr/>
      </p:nvGrpSpPr>
      <p:grpSpPr>
        <a:xfrm>
          <a:off x="0" y="0"/>
          <a:ext cx="0" cy="0"/>
          <a:chOff x="0" y="0"/>
          <a:chExt cx="0" cy="0"/>
        </a:xfrm>
      </p:grpSpPr>
      <p:sp>
        <p:nvSpPr>
          <p:cNvPr id="101" name="Title Text"/>
          <p:cNvSpPr txBox="1"/>
          <p:nvPr>
            <p:ph type="title"/>
          </p:nvPr>
        </p:nvSpPr>
        <p:spPr>
          <a:xfrm>
            <a:off x="6629400" y="274638"/>
            <a:ext cx="2057400" cy="5851526"/>
          </a:xfrm>
          <a:prstGeom prst="rect">
            <a:avLst/>
          </a:prstGeom>
        </p:spPr>
        <p:txBody>
          <a:bodyPr/>
          <a:lstStyle/>
          <a:p>
            <a:pPr/>
            <a:r>
              <a:t>Title Text</a:t>
            </a:r>
          </a:p>
        </p:txBody>
      </p:sp>
      <p:sp>
        <p:nvSpPr>
          <p:cNvPr id="102" name="Body Level One…"/>
          <p:cNvSpPr txBox="1"/>
          <p:nvPr>
            <p:ph type="body" idx="1"/>
          </p:nvPr>
        </p:nvSpPr>
        <p:spPr>
          <a:xfrm>
            <a:off x="457200" y="274638"/>
            <a:ext cx="6019800" cy="58515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04292"/>
            <a:ext cx="258624" cy="269241"/>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courses.berkeley.edu/courses/1497095/files/77911767" TargetMode="External"/><Relationship Id="rId3" Type="http://schemas.openxmlformats.org/officeDocument/2006/relationships/hyperlink" Target="https://bcourses.berkeley.edu/courses/1497095/files/77911766" TargetMode="External"/><Relationship Id="rId4" Type="http://schemas.openxmlformats.org/officeDocument/2006/relationships/hyperlink" Target="https://www.brown.edu/Research/AAAH/" TargetMode="External"/><Relationship Id="rId5" Type="http://schemas.openxmlformats.org/officeDocument/2006/relationships/hyperlink" Target="https://berkeley-kanopy-com.libproxy.berkeley.edu/video/race-power-illusion-0" TargetMode="Externa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urworldindata.org/" TargetMode="External"/><Relationship Id="rId3"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mailto:tjcarlson@berkeley.edu" TargetMode="External"/><Relationship Id="rId4" Type="http://schemas.openxmlformats.org/officeDocument/2006/relationships/hyperlink" Target="mailto:casey.finnerty@berkeley.edu" TargetMode="External"/><Relationship Id="rId5" Type="http://schemas.openxmlformats.org/officeDocument/2006/relationships/hyperlink" Target="mailto:adrian.hinkle@berkeley.edu" TargetMode="External"/><Relationship Id="rId6" Type="http://schemas.openxmlformats.org/officeDocument/2006/relationships/hyperlink" Target="mailto:mdhoskote@berkeley.edu" TargetMode="External"/><Relationship Id="rId7" Type="http://schemas.openxmlformats.org/officeDocument/2006/relationships/hyperlink" Target="mailto:kelly_conway@berkeley.edu" TargetMode="External"/><Relationship Id="rId8" Type="http://schemas.openxmlformats.org/officeDocument/2006/relationships/hyperlink" Target="mailto:haley.wohlever@berkeley.edu" TargetMode="External"/><Relationship Id="rId9" Type="http://schemas.openxmlformats.org/officeDocument/2006/relationships/hyperlink" Target="mailto:hanna_seo@berkeley.edu" TargetMode="External"/><Relationship Id="rId10" Type="http://schemas.openxmlformats.org/officeDocument/2006/relationships/hyperlink" Target="mailto:sara_mahmoud@berkeley.edu" TargetMode="External"/><Relationship Id="rId11" Type="http://schemas.openxmlformats.org/officeDocument/2006/relationships/hyperlink" Target="mailto:margielauter@berkeley.edu" TargetMode="External"/><Relationship Id="rId12" Type="http://schemas.openxmlformats.org/officeDocument/2006/relationships/hyperlink" Target="mailto:dana_geffner@berkeley.edu"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Development Engineering 215: Global Poverty Challenges and Hopes: A Perspective for Development Engineers"/>
          <p:cNvSpPr txBox="1"/>
          <p:nvPr>
            <p:ph type="title" idx="4294967295"/>
          </p:nvPr>
        </p:nvSpPr>
        <p:spPr>
          <a:xfrm>
            <a:off x="685799" y="530740"/>
            <a:ext cx="7772401" cy="2429430"/>
          </a:xfrm>
          <a:prstGeom prst="rect">
            <a:avLst/>
          </a:prstGeom>
        </p:spPr>
        <p:txBody>
          <a:bodyPr/>
          <a:lstStyle>
            <a:lvl1pPr defTabSz="310895">
              <a:defRPr b="1" sz="3808">
                <a:solidFill>
                  <a:srgbClr val="800000"/>
                </a:solidFill>
                <a:uFill>
                  <a:solidFill>
                    <a:srgbClr val="000000"/>
                  </a:solidFill>
                </a:uFill>
              </a:defRPr>
            </a:lvl1pPr>
          </a:lstStyle>
          <a:p>
            <a:pPr/>
            <a:r>
              <a:t>Development Engineering 215: Global Poverty Challenges and Hopes: A Perspective for Development Engineers </a:t>
            </a:r>
          </a:p>
        </p:txBody>
      </p:sp>
      <p:sp>
        <p:nvSpPr>
          <p:cNvPr id="113" name="J. Bradford DeLong…"/>
          <p:cNvSpPr txBox="1"/>
          <p:nvPr>
            <p:ph type="body" sz="half" idx="4294967295"/>
          </p:nvPr>
        </p:nvSpPr>
        <p:spPr>
          <a:xfrm>
            <a:off x="994997" y="3280857"/>
            <a:ext cx="6991279" cy="2953204"/>
          </a:xfrm>
          <a:prstGeom prst="rect">
            <a:avLst/>
          </a:prstGeom>
        </p:spPr>
        <p:txBody>
          <a:bodyPr/>
          <a:lstStyle/>
          <a:p>
            <a:pPr marL="0" indent="0" algn="ctr" defTabSz="457200">
              <a:lnSpc>
                <a:spcPct val="80000"/>
              </a:lnSpc>
              <a:spcBef>
                <a:spcPts val="400"/>
              </a:spcBef>
              <a:buSzTx/>
              <a:buNone/>
              <a:defRPr sz="2400">
                <a:uFill>
                  <a:solidFill>
                    <a:srgbClr val="000000"/>
                  </a:solidFill>
                </a:uFill>
              </a:defRPr>
            </a:pPr>
            <a:r>
              <a:rPr>
                <a:solidFill>
                  <a:srgbClr val="898989"/>
                </a:solidFill>
                <a:uFill>
                  <a:solidFill>
                    <a:srgbClr val="898989"/>
                  </a:solidFill>
                </a:uFill>
              </a:rPr>
              <a:t>J. Bradford DeLong</a:t>
            </a:r>
            <a:endParaRPr>
              <a:solidFill>
                <a:srgbClr val="898989"/>
              </a:solidFill>
              <a:uFill>
                <a:solidFill>
                  <a:srgbClr val="898989"/>
                </a:solidFill>
              </a:uFill>
            </a:endParaRPr>
          </a:p>
          <a:p>
            <a:pPr marL="0" indent="0" algn="ctr" defTabSz="457200">
              <a:lnSpc>
                <a:spcPct val="80000"/>
              </a:lnSpc>
              <a:spcBef>
                <a:spcPts val="400"/>
              </a:spcBef>
              <a:buSzTx/>
              <a:buNone/>
              <a:defRPr sz="2400">
                <a:uFill>
                  <a:solidFill>
                    <a:srgbClr val="000000"/>
                  </a:solidFill>
                </a:uFill>
              </a:defRPr>
            </a:pPr>
            <a:r>
              <a:rPr>
                <a:solidFill>
                  <a:srgbClr val="898989"/>
                </a:solidFill>
                <a:uFill>
                  <a:solidFill>
                    <a:srgbClr val="898989"/>
                  </a:solidFill>
                </a:uFill>
              </a:rPr>
              <a:t>Professor of Economics and Chief Economist Blum Center for Developing Economies, U.C. Berkeley</a:t>
            </a:r>
            <a:endParaRPr>
              <a:solidFill>
                <a:srgbClr val="898989"/>
              </a:solidFill>
              <a:uFill>
                <a:solidFill>
                  <a:srgbClr val="898989"/>
                </a:solidFill>
              </a:uFill>
            </a:endParaRPr>
          </a:p>
          <a:p>
            <a:pPr marL="0" indent="0" algn="ctr" defTabSz="457200">
              <a:lnSpc>
                <a:spcPct val="80000"/>
              </a:lnSpc>
              <a:spcBef>
                <a:spcPts val="400"/>
              </a:spcBef>
              <a:buSzTx/>
              <a:buNone/>
              <a:defRPr sz="2400">
                <a:uFill>
                  <a:solidFill>
                    <a:srgbClr val="000000"/>
                  </a:solidFill>
                </a:uFill>
              </a:defRPr>
            </a:pPr>
            <a:endParaRPr>
              <a:solidFill>
                <a:srgbClr val="898989"/>
              </a:solidFill>
              <a:uFill>
                <a:solidFill>
                  <a:srgbClr val="898989"/>
                </a:solidFill>
              </a:uFill>
            </a:endParaRPr>
          </a:p>
          <a:p>
            <a:pPr marL="0" indent="0" algn="ctr" defTabSz="457200">
              <a:lnSpc>
                <a:spcPct val="80000"/>
              </a:lnSpc>
              <a:spcBef>
                <a:spcPts val="400"/>
              </a:spcBef>
              <a:buSzTx/>
              <a:buNone/>
              <a:defRPr sz="1600">
                <a:uFill>
                  <a:solidFill>
                    <a:srgbClr val="000000"/>
                  </a:solidFill>
                </a:uFill>
              </a:defRPr>
            </a:pPr>
            <a:r>
              <a:rPr>
                <a:solidFill>
                  <a:srgbClr val="898989"/>
                </a:solidFill>
                <a:uFill>
                  <a:solidFill>
                    <a:srgbClr val="898989"/>
                  </a:solidFill>
                </a:uFill>
              </a:rPr>
              <a:t>Th 2020-09-10 12:00 Noon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Joeva Rock Says: GPP 115 Live"/>
          <p:cNvSpPr txBox="1"/>
          <p:nvPr>
            <p:ph type="title" idx="4294967295"/>
          </p:nvPr>
        </p:nvSpPr>
        <p:spPr>
          <a:xfrm>
            <a:off x="457199" y="-1"/>
            <a:ext cx="8229601" cy="1143002"/>
          </a:xfrm>
          <a:prstGeom prst="rect">
            <a:avLst/>
          </a:prstGeom>
        </p:spPr>
        <p:txBody>
          <a:bodyPr/>
          <a:lstStyle>
            <a:lvl1pPr defTabSz="242315">
              <a:defRPr b="1" sz="4240">
                <a:solidFill>
                  <a:srgbClr val="000080"/>
                </a:solidFill>
                <a:uFill>
                  <a:solidFill>
                    <a:srgbClr val="000000"/>
                  </a:solidFill>
                </a:uFill>
                <a:latin typeface="+mj-lt"/>
                <a:ea typeface="+mj-ea"/>
                <a:cs typeface="+mj-cs"/>
                <a:sym typeface="Helvetica"/>
              </a:defRPr>
            </a:lvl1pPr>
          </a:lstStyle>
          <a:p>
            <a:pPr/>
            <a:r>
              <a:t>Joeva Rock Says: GPP 115 Live</a:t>
            </a:r>
          </a:p>
        </p:txBody>
      </p:sp>
      <p:sp>
        <p:nvSpPr>
          <p:cNvPr id="116" name="From Joeva Rock:…"/>
          <p:cNvSpPr txBox="1"/>
          <p:nvPr>
            <p:ph type="body" idx="4294967295"/>
          </p:nvPr>
        </p:nvSpPr>
        <p:spPr>
          <a:xfrm>
            <a:off x="457199" y="1143000"/>
            <a:ext cx="8229601" cy="5218543"/>
          </a:xfrm>
          <a:prstGeom prst="rect">
            <a:avLst/>
          </a:prstGeom>
        </p:spPr>
        <p:txBody>
          <a:bodyPr/>
          <a:lstStyle/>
          <a:p>
            <a:pPr marL="0" indent="0" defTabSz="457200">
              <a:spcBef>
                <a:spcPts val="800"/>
              </a:spcBef>
              <a:buSzTx/>
              <a:buFontTx/>
              <a:buNone/>
              <a:defRPr b="1" sz="3000">
                <a:uFill>
                  <a:solidFill>
                    <a:srgbClr val="000000"/>
                  </a:solidFill>
                </a:uFill>
                <a:latin typeface="+mj-lt"/>
                <a:ea typeface="+mj-ea"/>
                <a:cs typeface="+mj-cs"/>
                <a:sym typeface="Helvetica"/>
              </a:defRPr>
            </a:pPr>
            <a:r>
              <a:t>From Joeva Rock: </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September 22nd, 2-3:30p (Week 5)</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October 6th, 2-3:30p (Week 7)</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October 20th, 2-3:30p (Week 9)</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October 27th, 2-3:30p (Week 10)</a:t>
            </a:r>
          </a:p>
          <a:p>
            <a:pPr marL="304800" indent="-304800" defTabSz="457200">
              <a:spcBef>
                <a:spcPts val="800"/>
              </a:spcBef>
              <a:buFontTx/>
              <a:defRPr sz="2400">
                <a:uFill>
                  <a:solidFill>
                    <a:srgbClr val="000000"/>
                  </a:solidFill>
                </a:uFill>
                <a:latin typeface="Times New Roman"/>
                <a:ea typeface="Times New Roman"/>
                <a:cs typeface="Times New Roman"/>
                <a:sym typeface="Times New Roman"/>
              </a:defRPr>
            </a:pPr>
            <a:r>
              <a:t>Tu November 10th, 2-3:30p (Week 12)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Eight Questions"/>
          <p:cNvSpPr txBox="1"/>
          <p:nvPr>
            <p:ph type="title" idx="4294967295"/>
          </p:nvPr>
        </p:nvSpPr>
        <p:spPr>
          <a:xfrm>
            <a:off x="457199" y="-1"/>
            <a:ext cx="8229601" cy="1143002"/>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Eight Questions</a:t>
            </a:r>
          </a:p>
        </p:txBody>
      </p:sp>
      <p:sp>
        <p:nvSpPr>
          <p:cNvPr id="119" name="From Casey Finnerty:…"/>
          <p:cNvSpPr txBox="1"/>
          <p:nvPr>
            <p:ph type="body" idx="4294967295"/>
          </p:nvPr>
        </p:nvSpPr>
        <p:spPr>
          <a:xfrm>
            <a:off x="457199" y="1143000"/>
            <a:ext cx="8229601" cy="5218543"/>
          </a:xfrm>
          <a:prstGeom prst="rect">
            <a:avLst/>
          </a:prstGeom>
        </p:spPr>
        <p:txBody>
          <a:bodyPr/>
          <a:lstStyle/>
          <a:p>
            <a:pPr marL="0" indent="0" defTabSz="425195">
              <a:buSzTx/>
              <a:buFontTx/>
              <a:buNone/>
              <a:defRPr b="1" sz="2790">
                <a:uFill>
                  <a:solidFill>
                    <a:srgbClr val="000000"/>
                  </a:solidFill>
                </a:uFill>
                <a:latin typeface="+mj-lt"/>
                <a:ea typeface="+mj-ea"/>
                <a:cs typeface="+mj-cs"/>
                <a:sym typeface="Helvetica"/>
              </a:defRPr>
            </a:pPr>
            <a:r>
              <a:t>From Casey Finnerty: </a:t>
            </a:r>
          </a:p>
          <a:p>
            <a:pPr marL="283463" indent="-283463" defTabSz="425195">
              <a:buFontTx/>
              <a:buAutoNum type="arabicPeriod" startAt="1"/>
              <a:defRPr sz="2232">
                <a:uFill>
                  <a:solidFill>
                    <a:srgbClr val="000000"/>
                  </a:solidFill>
                </a:uFill>
                <a:latin typeface="Times New Roman"/>
                <a:ea typeface="Times New Roman"/>
                <a:cs typeface="Times New Roman"/>
                <a:sym typeface="Times New Roman"/>
              </a:defRPr>
            </a:pPr>
            <a:r>
              <a:t>Why do “developed” countries intervene in “developing” countries?</a:t>
            </a:r>
          </a:p>
          <a:p>
            <a:pPr marL="283463" indent="-283463" defTabSz="425195">
              <a:buFontTx/>
              <a:buAutoNum type="arabicPeriod" startAt="1"/>
              <a:defRPr sz="2232">
                <a:uFill>
                  <a:solidFill>
                    <a:srgbClr val="000000"/>
                  </a:solidFill>
                </a:uFill>
                <a:latin typeface="Times New Roman"/>
                <a:ea typeface="Times New Roman"/>
                <a:cs typeface="Times New Roman"/>
                <a:sym typeface="Times New Roman"/>
              </a:defRPr>
            </a:pPr>
            <a:r>
              <a:t>What would happen if "developed" countries stopped?</a:t>
            </a:r>
          </a:p>
          <a:p>
            <a:pPr marL="283463" indent="-283463" defTabSz="425195">
              <a:buFontTx/>
              <a:buAutoNum type="arabicPeriod" startAt="1"/>
              <a:defRPr sz="2232">
                <a:uFill>
                  <a:solidFill>
                    <a:srgbClr val="000000"/>
                  </a:solidFill>
                </a:uFill>
                <a:latin typeface="Times New Roman"/>
                <a:ea typeface="Times New Roman"/>
                <a:cs typeface="Times New Roman"/>
                <a:sym typeface="Times New Roman"/>
              </a:defRPr>
            </a:pPr>
            <a:r>
              <a:t>How could addressing poverty in the US affect poverty abroad?</a:t>
            </a:r>
          </a:p>
          <a:p>
            <a:pPr marL="283463" indent="-283463" defTabSz="425195">
              <a:buFontTx/>
              <a:buAutoNum type="arabicPeriod" startAt="1"/>
              <a:defRPr sz="2232">
                <a:uFill>
                  <a:solidFill>
                    <a:srgbClr val="000000"/>
                  </a:solidFill>
                </a:uFill>
                <a:latin typeface="Times New Roman"/>
                <a:ea typeface="Times New Roman"/>
                <a:cs typeface="Times New Roman"/>
                <a:sym typeface="Times New Roman"/>
              </a:defRPr>
            </a:pPr>
            <a:r>
              <a:t>What metrics should we use to measure inequality?</a:t>
            </a:r>
          </a:p>
          <a:p>
            <a:pPr marL="283463" indent="-283463" defTabSz="425195">
              <a:buFontTx/>
              <a:buAutoNum type="arabicPeriod" startAt="1"/>
              <a:defRPr sz="2232">
                <a:uFill>
                  <a:solidFill>
                    <a:srgbClr val="000000"/>
                  </a:solidFill>
                </a:uFill>
                <a:latin typeface="Times New Roman"/>
                <a:ea typeface="Times New Roman"/>
                <a:cs typeface="Times New Roman"/>
                <a:sym typeface="Times New Roman"/>
              </a:defRPr>
            </a:pPr>
            <a:r>
              <a:t>What would a moral economy (as opposed to a market economy) look like today? What are some modern examples of moral economies?</a:t>
            </a:r>
          </a:p>
          <a:p>
            <a:pPr marL="283463" indent="-283463" defTabSz="425195">
              <a:buFontTx/>
              <a:buAutoNum type="arabicPeriod" startAt="1"/>
              <a:defRPr sz="2232">
                <a:uFill>
                  <a:solidFill>
                    <a:srgbClr val="000000"/>
                  </a:solidFill>
                </a:uFill>
                <a:latin typeface="Times New Roman"/>
                <a:ea typeface="Times New Roman"/>
                <a:cs typeface="Times New Roman"/>
                <a:sym typeface="Times New Roman"/>
              </a:defRPr>
            </a:pPr>
            <a:r>
              <a:t>What role does reparations have in development work?</a:t>
            </a:r>
          </a:p>
          <a:p>
            <a:pPr marL="283463" indent="-283463" defTabSz="425195">
              <a:buFontTx/>
              <a:buAutoNum type="arabicPeriod" startAt="1"/>
              <a:defRPr sz="2232">
                <a:uFill>
                  <a:solidFill>
                    <a:srgbClr val="000000"/>
                  </a:solidFill>
                </a:uFill>
                <a:latin typeface="Times New Roman"/>
                <a:ea typeface="Times New Roman"/>
                <a:cs typeface="Times New Roman"/>
                <a:sym typeface="Times New Roman"/>
              </a:defRPr>
            </a:pPr>
            <a:r>
              <a:t>What tools can we use to identify root causes of inequality, as opposed to symptoms?</a:t>
            </a:r>
          </a:p>
          <a:p>
            <a:pPr marL="283463" indent="-283463" defTabSz="425195">
              <a:buFontTx/>
              <a:buAutoNum type="arabicPeriod" startAt="1"/>
              <a:defRPr sz="2232">
                <a:uFill>
                  <a:solidFill>
                    <a:srgbClr val="000000"/>
                  </a:solidFill>
                </a:uFill>
                <a:latin typeface="Times New Roman"/>
                <a:ea typeface="Times New Roman"/>
                <a:cs typeface="Times New Roman"/>
                <a:sym typeface="Times New Roman"/>
              </a:defRPr>
            </a:pPr>
            <a:r>
              <a:t>How is [our] research entrenched in capitalism? How can [our] research be decoupled from capitalism?</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Readings"/>
          <p:cNvSpPr txBox="1"/>
          <p:nvPr>
            <p:ph type="title" idx="4294967295"/>
          </p:nvPr>
        </p:nvSpPr>
        <p:spPr>
          <a:xfrm>
            <a:off x="457199" y="-1"/>
            <a:ext cx="8229601" cy="1143002"/>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Readings</a:t>
            </a:r>
          </a:p>
        </p:txBody>
      </p:sp>
      <p:sp>
        <p:nvSpPr>
          <p:cNvPr id="122" name="Required:…"/>
          <p:cNvSpPr txBox="1"/>
          <p:nvPr>
            <p:ph type="body" idx="4294967295"/>
          </p:nvPr>
        </p:nvSpPr>
        <p:spPr>
          <a:xfrm>
            <a:off x="457199" y="1143000"/>
            <a:ext cx="8229601" cy="5218543"/>
          </a:xfrm>
          <a:prstGeom prst="rect">
            <a:avLst/>
          </a:prstGeom>
        </p:spPr>
        <p:txBody>
          <a:bodyPr/>
          <a:lstStyle/>
          <a:p>
            <a:pPr marL="0" indent="0" defTabSz="352043">
              <a:spcBef>
                <a:spcPts val="600"/>
              </a:spcBef>
              <a:buSzTx/>
              <a:buFontTx/>
              <a:buNone/>
              <a:defRPr b="1" sz="2309">
                <a:uFill>
                  <a:solidFill>
                    <a:srgbClr val="000000"/>
                  </a:solidFill>
                </a:uFill>
                <a:latin typeface="+mj-lt"/>
                <a:ea typeface="+mj-ea"/>
                <a:cs typeface="+mj-cs"/>
                <a:sym typeface="Helvetica"/>
              </a:defRPr>
            </a:pPr>
            <a:r>
              <a:t>Required: </a:t>
            </a:r>
          </a:p>
          <a:p>
            <a:pPr marL="234695" indent="-234695" defTabSz="352043">
              <a:spcBef>
                <a:spcPts val="600"/>
              </a:spcBef>
              <a:buFontTx/>
              <a:buAutoNum type="arabicPeriod" startAt="1"/>
              <a:defRPr sz="1848">
                <a:uFill>
                  <a:solidFill>
                    <a:srgbClr val="000000"/>
                  </a:solidFill>
                </a:uFill>
                <a:latin typeface="Times New Roman"/>
                <a:ea typeface="Times New Roman"/>
                <a:cs typeface="Times New Roman"/>
                <a:sym typeface="Times New Roman"/>
              </a:defRPr>
            </a:pPr>
            <a:r>
              <a:t>Logan: Why Can’t People Feed Themselves? &lt;</a:t>
            </a:r>
            <a:r>
              <a:rPr u="sng">
                <a:solidFill>
                  <a:srgbClr val="0000FF"/>
                </a:solidFill>
                <a:uFill>
                  <a:solidFill>
                    <a:srgbClr val="0000FF"/>
                  </a:solidFill>
                </a:uFill>
                <a:hlinkClick r:id="rId2" invalidUrl="" action="" tgtFrame="" tooltip="" history="1" highlightClick="0" endSnd="0"/>
              </a:rPr>
              <a:t>https://bcourses.berkeley.edu/courses/1497095/files/77911767</a:t>
            </a:r>
            <a:r>
              <a:t>&gt;</a:t>
            </a:r>
          </a:p>
          <a:p>
            <a:pPr marL="234695" indent="-234695" defTabSz="352043">
              <a:spcBef>
                <a:spcPts val="600"/>
              </a:spcBef>
              <a:buFontTx/>
              <a:buAutoNum type="arabicPeriod" startAt="1"/>
              <a:defRPr sz="1848">
                <a:uFill>
                  <a:solidFill>
                    <a:srgbClr val="000000"/>
                  </a:solidFill>
                </a:uFill>
                <a:latin typeface="Times New Roman"/>
                <a:ea typeface="Times New Roman"/>
                <a:cs typeface="Times New Roman"/>
                <a:sym typeface="Times New Roman"/>
              </a:defRPr>
            </a:pPr>
            <a:r>
              <a:t>Rodney: How Europe Underdeveloped Africa &lt;</a:t>
            </a:r>
            <a:r>
              <a:rPr u="sng">
                <a:solidFill>
                  <a:srgbClr val="0000FF"/>
                </a:solidFill>
                <a:uFill>
                  <a:solidFill>
                    <a:srgbClr val="0000FF"/>
                  </a:solidFill>
                </a:uFill>
                <a:hlinkClick r:id="rId3" invalidUrl="" action="" tgtFrame="" tooltip="" history="1" highlightClick="0" endSnd="0"/>
              </a:rPr>
              <a:t>https://bcourses.berkeley.edu/courses/1497095/files/77911766</a:t>
            </a:r>
            <a:r>
              <a:t>&gt;</a:t>
            </a:r>
          </a:p>
          <a:p>
            <a:pPr marL="234695" indent="-234695" defTabSz="352043">
              <a:spcBef>
                <a:spcPts val="600"/>
              </a:spcBef>
              <a:buFontTx/>
              <a:buAutoNum type="arabicPeriod" startAt="1"/>
              <a:defRPr sz="1848">
                <a:uFill>
                  <a:solidFill>
                    <a:srgbClr val="000000"/>
                  </a:solidFill>
                </a:uFill>
                <a:latin typeface="Times New Roman"/>
                <a:ea typeface="Times New Roman"/>
                <a:cs typeface="Times New Roman"/>
                <a:sym typeface="Times New Roman"/>
              </a:defRPr>
            </a:pPr>
            <a:r>
              <a:t>Hickel: The Divide (chapter 3)</a:t>
            </a:r>
          </a:p>
          <a:p>
            <a:pPr lvl="1" marL="469391" indent="-234695" defTabSz="352043">
              <a:spcBef>
                <a:spcPts val="600"/>
              </a:spcBef>
              <a:buFontTx/>
              <a:buChar char="•"/>
              <a:defRPr sz="1848">
                <a:uFill>
                  <a:solidFill>
                    <a:srgbClr val="000000"/>
                  </a:solidFill>
                </a:uFill>
                <a:latin typeface="Times New Roman"/>
                <a:ea typeface="Times New Roman"/>
                <a:cs typeface="Times New Roman"/>
                <a:sym typeface="Times New Roman"/>
              </a:defRPr>
            </a:pPr>
            <a:r>
              <a:t>Commercial Revolution</a:t>
            </a:r>
          </a:p>
          <a:p>
            <a:pPr lvl="1" marL="469391" indent="-234695" defTabSz="352043">
              <a:spcBef>
                <a:spcPts val="600"/>
              </a:spcBef>
              <a:buFontTx/>
              <a:buChar char="•"/>
              <a:defRPr sz="1848">
                <a:uFill>
                  <a:solidFill>
                    <a:srgbClr val="000000"/>
                  </a:solidFill>
                </a:uFill>
                <a:latin typeface="Times New Roman"/>
                <a:ea typeface="Times New Roman"/>
                <a:cs typeface="Times New Roman"/>
                <a:sym typeface="Times New Roman"/>
              </a:defRPr>
            </a:pPr>
            <a:r>
              <a:t>“Reversal of fortune”</a:t>
            </a:r>
          </a:p>
          <a:p>
            <a:pPr lvl="1" marL="469391" indent="-234695" defTabSz="352043">
              <a:spcBef>
                <a:spcPts val="600"/>
              </a:spcBef>
              <a:buFontTx/>
              <a:buChar char="•"/>
              <a:defRPr sz="1848">
                <a:uFill>
                  <a:solidFill>
                    <a:srgbClr val="000000"/>
                  </a:solidFill>
                </a:uFill>
                <a:latin typeface="Times New Roman"/>
                <a:ea typeface="Times New Roman"/>
                <a:cs typeface="Times New Roman"/>
                <a:sym typeface="Times New Roman"/>
              </a:defRPr>
            </a:pPr>
            <a:r>
              <a:t>Capitalism</a:t>
            </a:r>
          </a:p>
          <a:p>
            <a:pPr lvl="2" marL="704087" indent="-234695" defTabSz="352043">
              <a:spcBef>
                <a:spcPts val="600"/>
              </a:spcBef>
              <a:buFontTx/>
              <a:defRPr sz="1848">
                <a:uFill>
                  <a:solidFill>
                    <a:srgbClr val="000000"/>
                  </a:solidFill>
                </a:uFill>
                <a:latin typeface="Times New Roman"/>
                <a:ea typeface="Times New Roman"/>
                <a:cs typeface="Times New Roman"/>
                <a:sym typeface="Times New Roman"/>
              </a:defRPr>
            </a:pPr>
            <a:r>
              <a:t>Slavery vs. getting people to enslave themselves</a:t>
            </a:r>
          </a:p>
          <a:p>
            <a:pPr marL="0" indent="0" defTabSz="352043">
              <a:spcBef>
                <a:spcPts val="600"/>
              </a:spcBef>
              <a:buSzTx/>
              <a:buFontTx/>
              <a:buNone/>
              <a:defRPr b="1" sz="2309">
                <a:uFill>
                  <a:solidFill>
                    <a:srgbClr val="000000"/>
                  </a:solidFill>
                </a:uFill>
                <a:latin typeface="+mj-lt"/>
                <a:ea typeface="+mj-ea"/>
                <a:cs typeface="+mj-cs"/>
                <a:sym typeface="Helvetica"/>
              </a:defRPr>
            </a:pPr>
          </a:p>
          <a:p>
            <a:pPr marL="0" indent="0" defTabSz="352043">
              <a:spcBef>
                <a:spcPts val="600"/>
              </a:spcBef>
              <a:buSzTx/>
              <a:buFontTx/>
              <a:buNone/>
              <a:defRPr b="1" sz="2309">
                <a:uFill>
                  <a:solidFill>
                    <a:srgbClr val="000000"/>
                  </a:solidFill>
                </a:uFill>
                <a:latin typeface="+mj-lt"/>
                <a:ea typeface="+mj-ea"/>
                <a:cs typeface="+mj-cs"/>
                <a:sym typeface="Helvetica"/>
              </a:defRPr>
            </a:pPr>
            <a:r>
              <a:t>Additional: </a:t>
            </a:r>
          </a:p>
          <a:p>
            <a:pPr marL="234695" indent="-234695" defTabSz="352043">
              <a:spcBef>
                <a:spcPts val="600"/>
              </a:spcBef>
              <a:buFontTx/>
              <a:buAutoNum type="arabicPeriod" startAt="4"/>
              <a:defRPr sz="1848">
                <a:uFill>
                  <a:solidFill>
                    <a:srgbClr val="000000"/>
                  </a:solidFill>
                </a:uFill>
                <a:latin typeface="Times New Roman"/>
                <a:ea typeface="Times New Roman"/>
                <a:cs typeface="Times New Roman"/>
                <a:sym typeface="Times New Roman"/>
              </a:defRPr>
            </a:pPr>
            <a:r>
              <a:t>Animated Atlas of African History &lt;</a:t>
            </a:r>
            <a:r>
              <a:rPr u="sng">
                <a:solidFill>
                  <a:srgbClr val="0000FF"/>
                </a:solidFill>
                <a:uFill>
                  <a:solidFill>
                    <a:srgbClr val="0000FF"/>
                  </a:solidFill>
                </a:uFill>
                <a:hlinkClick r:id="rId4" invalidUrl="" action="" tgtFrame="" tooltip="" history="1" highlightClick="0" endSnd="0"/>
              </a:rPr>
              <a:t>https://www.brown.edu/Research/AAAH/</a:t>
            </a:r>
            <a:r>
              <a:t>&gt;</a:t>
            </a:r>
          </a:p>
          <a:p>
            <a:pPr marL="234695" indent="-234695" defTabSz="352043">
              <a:spcBef>
                <a:spcPts val="600"/>
              </a:spcBef>
              <a:buFontTx/>
              <a:buAutoNum type="arabicPeriod" startAt="4"/>
              <a:defRPr sz="1848">
                <a:uFill>
                  <a:solidFill>
                    <a:srgbClr val="000000"/>
                  </a:solidFill>
                </a:uFill>
                <a:latin typeface="Times New Roman"/>
                <a:ea typeface="Times New Roman"/>
                <a:cs typeface="Times New Roman"/>
                <a:sym typeface="Times New Roman"/>
              </a:defRPr>
            </a:pPr>
            <a:r>
              <a:t>Race: The Power of an Illusion &lt;</a:t>
            </a:r>
            <a:r>
              <a:rPr u="sng">
                <a:solidFill>
                  <a:srgbClr val="0000FF"/>
                </a:solidFill>
                <a:uFill>
                  <a:solidFill>
                    <a:srgbClr val="0000FF"/>
                  </a:solidFill>
                </a:uFill>
                <a:hlinkClick r:id="rId5" invalidUrl="" action="" tgtFrame="" tooltip="" history="1" highlightClick="0" endSnd="0"/>
              </a:rPr>
              <a:t>https://berkeley-kanopy-com.libproxy.berkeley.edu/video/race-power-illusion-0</a:t>
            </a:r>
            <a:r>
              <a:t>&gt;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Ca. 1500"/>
          <p:cNvSpPr txBox="1"/>
          <p:nvPr>
            <p:ph type="title" idx="4294967295"/>
          </p:nvPr>
        </p:nvSpPr>
        <p:spPr>
          <a:xfrm>
            <a:off x="457199" y="-1"/>
            <a:ext cx="8229601" cy="1143002"/>
          </a:xfrm>
          <a:prstGeom prst="rect">
            <a:avLst/>
          </a:prstGeom>
        </p:spPr>
        <p:txBody>
          <a:bodyPr/>
          <a:lstStyle>
            <a:lvl1pPr defTabSz="393192">
              <a:defRPr b="1" sz="6880">
                <a:solidFill>
                  <a:srgbClr val="000080"/>
                </a:solidFill>
                <a:uFill>
                  <a:solidFill>
                    <a:srgbClr val="000000"/>
                  </a:solidFill>
                </a:uFill>
                <a:latin typeface="+mj-lt"/>
                <a:ea typeface="+mj-ea"/>
                <a:cs typeface="+mj-cs"/>
                <a:sym typeface="Helvetica"/>
              </a:defRPr>
            </a:lvl1pPr>
          </a:lstStyle>
          <a:p>
            <a:pPr/>
            <a:r>
              <a:t>Ca. 1500</a:t>
            </a:r>
          </a:p>
        </p:txBody>
      </p:sp>
      <p:sp>
        <p:nvSpPr>
          <p:cNvPr id="125" name="Malthusianism?…"/>
          <p:cNvSpPr txBox="1"/>
          <p:nvPr>
            <p:ph type="body" sz="quarter" idx="4294967295"/>
          </p:nvPr>
        </p:nvSpPr>
        <p:spPr>
          <a:xfrm>
            <a:off x="457199" y="1143000"/>
            <a:ext cx="4448162" cy="2406287"/>
          </a:xfrm>
          <a:prstGeom prst="rect">
            <a:avLst/>
          </a:prstGeom>
        </p:spPr>
        <p:txBody>
          <a:bodyPr/>
          <a:lstStyle/>
          <a:p>
            <a:pPr marL="0" indent="0" defTabSz="457200">
              <a:spcBef>
                <a:spcPts val="800"/>
              </a:spcBef>
              <a:buSzTx/>
              <a:buFontTx/>
              <a:buNone/>
              <a:defRPr b="1" sz="3000">
                <a:uFill>
                  <a:solidFill>
                    <a:srgbClr val="000000"/>
                  </a:solidFill>
                </a:uFill>
                <a:latin typeface="+mj-lt"/>
                <a:ea typeface="+mj-ea"/>
                <a:cs typeface="+mj-cs"/>
                <a:sym typeface="Helvetica"/>
              </a:defRPr>
            </a:pPr>
            <a:r>
              <a:t>Malthusianism? </a:t>
            </a:r>
          </a:p>
          <a:p>
            <a:pPr marL="304800" indent="-304800"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What limits food insecurity?</a:t>
            </a:r>
          </a:p>
          <a:p>
            <a:pPr marL="304800" indent="-304800"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What does each society’s upper class do?</a:t>
            </a:r>
          </a:p>
          <a:p>
            <a:pPr marL="304800" indent="-304800" defTabSz="457200">
              <a:spcBef>
                <a:spcPts val="800"/>
              </a:spcBef>
              <a:buFontTx/>
              <a:buAutoNum type="arabicPeriod" startAt="1"/>
              <a:defRPr sz="2400">
                <a:uFill>
                  <a:solidFill>
                    <a:srgbClr val="000000"/>
                  </a:solidFill>
                </a:uFill>
                <a:latin typeface="Times New Roman"/>
                <a:ea typeface="Times New Roman"/>
                <a:cs typeface="Times New Roman"/>
                <a:sym typeface="Times New Roman"/>
              </a:defRPr>
            </a:pPr>
            <a:r>
              <a:t>Foragers vs. farmers…</a:t>
            </a:r>
          </a:p>
        </p:txBody>
      </p:sp>
      <p:pic>
        <p:nvPicPr>
          <p:cNvPr id="126" name="Image" descr="Image"/>
          <p:cNvPicPr>
            <a:picLocks noChangeAspect="0"/>
          </p:cNvPicPr>
          <p:nvPr/>
        </p:nvPicPr>
        <p:blipFill>
          <a:blip r:embed="rId2">
            <a:extLst/>
          </a:blip>
          <a:stretch>
            <a:fillRect/>
          </a:stretch>
        </p:blipFill>
        <p:spPr>
          <a:xfrm>
            <a:off x="4905361" y="1143000"/>
            <a:ext cx="4121554" cy="2437713"/>
          </a:xfrm>
          <a:prstGeom prst="rect">
            <a:avLst/>
          </a:prstGeom>
          <a:ln w="12700">
            <a:miter lim="400000"/>
          </a:ln>
        </p:spPr>
      </p:pic>
      <p:pic>
        <p:nvPicPr>
          <p:cNvPr id="127" name="Image" descr="Image"/>
          <p:cNvPicPr>
            <a:picLocks noChangeAspect="1"/>
          </p:cNvPicPr>
          <p:nvPr/>
        </p:nvPicPr>
        <p:blipFill>
          <a:blip r:embed="rId3">
            <a:extLst/>
          </a:blip>
          <a:stretch>
            <a:fillRect/>
          </a:stretch>
        </p:blipFill>
        <p:spPr>
          <a:xfrm>
            <a:off x="126536" y="3580712"/>
            <a:ext cx="4585127" cy="3277288"/>
          </a:xfrm>
          <a:prstGeom prst="rect">
            <a:avLst/>
          </a:prstGeom>
          <a:ln w="12700">
            <a:miter lim="400000"/>
          </a:ln>
        </p:spPr>
      </p:pic>
      <p:pic>
        <p:nvPicPr>
          <p:cNvPr id="128" name="Image" descr="Image"/>
          <p:cNvPicPr>
            <a:picLocks noChangeAspect="1"/>
          </p:cNvPicPr>
          <p:nvPr/>
        </p:nvPicPr>
        <p:blipFill>
          <a:blip r:embed="rId4">
            <a:extLst/>
          </a:blip>
          <a:stretch>
            <a:fillRect/>
          </a:stretch>
        </p:blipFill>
        <p:spPr>
          <a:xfrm>
            <a:off x="4905361" y="3858660"/>
            <a:ext cx="4121554" cy="2908522"/>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itle 1"/>
          <p:cNvSpPr txBox="1"/>
          <p:nvPr>
            <p:ph type="title"/>
          </p:nvPr>
        </p:nvSpPr>
        <p:spPr>
          <a:prstGeom prst="rect">
            <a:avLst/>
          </a:prstGeom>
        </p:spPr>
        <p:txBody>
          <a:bodyPr/>
          <a:lstStyle>
            <a:lvl1pPr defTabSz="704087">
              <a:defRPr b="1" sz="6160">
                <a:solidFill>
                  <a:srgbClr val="000080"/>
                </a:solidFill>
                <a:latin typeface="+mj-lt"/>
                <a:ea typeface="+mj-ea"/>
                <a:cs typeface="+mj-cs"/>
                <a:sym typeface="Helvetica"/>
              </a:defRPr>
            </a:lvl1pPr>
          </a:lstStyle>
          <a:p>
            <a:pPr/>
            <a:r>
              <a:t>The Great Divergence</a:t>
            </a:r>
          </a:p>
        </p:txBody>
      </p:sp>
      <p:pic>
        <p:nvPicPr>
          <p:cNvPr id="131" name="Picture 2" descr="Picture 2"/>
          <p:cNvPicPr>
            <a:picLocks noChangeAspect="1"/>
          </p:cNvPicPr>
          <p:nvPr/>
        </p:nvPicPr>
        <p:blipFill>
          <a:blip r:embed="rId2">
            <a:extLst/>
          </a:blip>
          <a:stretch>
            <a:fillRect/>
          </a:stretch>
        </p:blipFill>
        <p:spPr>
          <a:xfrm>
            <a:off x="609600" y="1600200"/>
            <a:ext cx="8247851" cy="4602163"/>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Industrialization &amp; Deindustrialization"/>
          <p:cNvSpPr txBox="1"/>
          <p:nvPr>
            <p:ph type="title" idx="4294967295"/>
          </p:nvPr>
        </p:nvSpPr>
        <p:spPr>
          <a:xfrm>
            <a:off x="457199" y="-1"/>
            <a:ext cx="8229601" cy="1143002"/>
          </a:xfrm>
          <a:prstGeom prst="rect">
            <a:avLst/>
          </a:prstGeom>
        </p:spPr>
        <p:txBody>
          <a:bodyPr/>
          <a:lstStyle>
            <a:lvl1pPr defTabSz="201168">
              <a:defRPr b="1" sz="3520">
                <a:solidFill>
                  <a:srgbClr val="000080"/>
                </a:solidFill>
                <a:uFill>
                  <a:solidFill>
                    <a:srgbClr val="000000"/>
                  </a:solidFill>
                </a:uFill>
                <a:latin typeface="+mj-lt"/>
                <a:ea typeface="+mj-ea"/>
                <a:cs typeface="+mj-cs"/>
                <a:sym typeface="Helvetica"/>
              </a:defRPr>
            </a:lvl1pPr>
          </a:lstStyle>
          <a:p>
            <a:pPr/>
            <a:r>
              <a:t>Industrialization &amp; Deindustrialization</a:t>
            </a:r>
          </a:p>
        </p:txBody>
      </p:sp>
      <p:sp>
        <p:nvSpPr>
          <p:cNvPr id="134" name="World mfg. pdn per capita:…"/>
          <p:cNvSpPr txBox="1"/>
          <p:nvPr>
            <p:ph type="body" sz="half" idx="4294967295"/>
          </p:nvPr>
        </p:nvSpPr>
        <p:spPr>
          <a:xfrm>
            <a:off x="457199" y="1143000"/>
            <a:ext cx="8229601" cy="1908313"/>
          </a:xfrm>
          <a:prstGeom prst="rect">
            <a:avLst/>
          </a:prstGeom>
        </p:spPr>
        <p:txBody>
          <a:bodyPr/>
          <a:lstStyle/>
          <a:p>
            <a:pPr marL="0" indent="0" defTabSz="306324">
              <a:spcBef>
                <a:spcPts val="500"/>
              </a:spcBef>
              <a:buSzTx/>
              <a:buFontTx/>
              <a:buNone/>
              <a:defRPr b="1" sz="2010">
                <a:uFill>
                  <a:solidFill>
                    <a:srgbClr val="000000"/>
                  </a:solidFill>
                </a:uFill>
                <a:latin typeface="+mj-lt"/>
                <a:ea typeface="+mj-ea"/>
                <a:cs typeface="+mj-cs"/>
                <a:sym typeface="Helvetica"/>
              </a:defRPr>
            </a:pPr>
            <a:r>
              <a:t>World mfg. pdn per capita:</a:t>
            </a:r>
          </a:p>
          <a:p>
            <a:pPr marL="204215" indent="-204215" defTabSz="306324">
              <a:spcBef>
                <a:spcPts val="500"/>
              </a:spcBef>
              <a:buFontTx/>
              <a:defRPr sz="1608">
                <a:uFill>
                  <a:solidFill>
                    <a:srgbClr val="000000"/>
                  </a:solidFill>
                </a:uFill>
                <a:latin typeface="Times New Roman"/>
                <a:ea typeface="Times New Roman"/>
                <a:cs typeface="Times New Roman"/>
                <a:sym typeface="Times New Roman"/>
              </a:defRPr>
            </a:pPr>
            <a:r>
              <a:t>1500: 100</a:t>
            </a:r>
          </a:p>
          <a:p>
            <a:pPr marL="204215" indent="-204215" defTabSz="306324">
              <a:spcBef>
                <a:spcPts val="500"/>
              </a:spcBef>
              <a:buFontTx/>
              <a:defRPr sz="1608">
                <a:uFill>
                  <a:solidFill>
                    <a:srgbClr val="000000"/>
                  </a:solidFill>
                </a:uFill>
                <a:latin typeface="Times New Roman"/>
                <a:ea typeface="Times New Roman"/>
                <a:cs typeface="Times New Roman"/>
                <a:sym typeface="Times New Roman"/>
              </a:defRPr>
            </a:pPr>
            <a:r>
              <a:t>1770: 140</a:t>
            </a:r>
          </a:p>
          <a:p>
            <a:pPr marL="204215" indent="-204215" defTabSz="306324">
              <a:spcBef>
                <a:spcPts val="500"/>
              </a:spcBef>
              <a:buFontTx/>
              <a:defRPr sz="1608">
                <a:uFill>
                  <a:solidFill>
                    <a:srgbClr val="000000"/>
                  </a:solidFill>
                </a:uFill>
                <a:latin typeface="Times New Roman"/>
                <a:ea typeface="Times New Roman"/>
                <a:cs typeface="Times New Roman"/>
                <a:sym typeface="Times New Roman"/>
              </a:defRPr>
            </a:pPr>
            <a:r>
              <a:t>1870: 180</a:t>
            </a:r>
          </a:p>
          <a:p>
            <a:pPr marL="204215" indent="-204215" defTabSz="306324">
              <a:spcBef>
                <a:spcPts val="500"/>
              </a:spcBef>
              <a:buFontTx/>
              <a:defRPr sz="1608">
                <a:uFill>
                  <a:solidFill>
                    <a:srgbClr val="000000"/>
                  </a:solidFill>
                </a:uFill>
                <a:latin typeface="Times New Roman"/>
                <a:ea typeface="Times New Roman"/>
                <a:cs typeface="Times New Roman"/>
                <a:sym typeface="Times New Roman"/>
              </a:defRPr>
            </a:pPr>
            <a:r>
              <a:t>1950: 1100</a:t>
            </a:r>
          </a:p>
          <a:p>
            <a:pPr marL="204215" indent="-204215" defTabSz="306324">
              <a:spcBef>
                <a:spcPts val="500"/>
              </a:spcBef>
              <a:buFontTx/>
              <a:defRPr sz="1608">
                <a:uFill>
                  <a:solidFill>
                    <a:srgbClr val="000000"/>
                  </a:solidFill>
                </a:uFill>
                <a:latin typeface="Times New Roman"/>
                <a:ea typeface="Times New Roman"/>
                <a:cs typeface="Times New Roman"/>
                <a:sym typeface="Times New Roman"/>
              </a:defRPr>
            </a:pPr>
            <a:r>
              <a:t>2020: 4500</a:t>
            </a:r>
          </a:p>
        </p:txBody>
      </p:sp>
      <p:pic>
        <p:nvPicPr>
          <p:cNvPr id="135" name="Image" descr="Image"/>
          <p:cNvPicPr>
            <a:picLocks noChangeAspect="1"/>
          </p:cNvPicPr>
          <p:nvPr/>
        </p:nvPicPr>
        <p:blipFill>
          <a:blip r:embed="rId2">
            <a:extLst/>
          </a:blip>
          <a:stretch>
            <a:fillRect/>
          </a:stretch>
        </p:blipFill>
        <p:spPr>
          <a:xfrm>
            <a:off x="457199" y="3051312"/>
            <a:ext cx="8229601" cy="3638242"/>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Guesses at Global Growth"/>
          <p:cNvSpPr txBox="1"/>
          <p:nvPr>
            <p:ph type="title" idx="4294967295"/>
          </p:nvPr>
        </p:nvSpPr>
        <p:spPr>
          <a:xfrm>
            <a:off x="457199" y="-1"/>
            <a:ext cx="8229601" cy="1143002"/>
          </a:xfrm>
          <a:prstGeom prst="rect">
            <a:avLst/>
          </a:prstGeom>
        </p:spPr>
        <p:txBody>
          <a:bodyPr/>
          <a:lstStyle>
            <a:lvl1pPr defTabSz="292607">
              <a:defRPr b="1" sz="5119">
                <a:solidFill>
                  <a:srgbClr val="000080"/>
                </a:solidFill>
                <a:uFill>
                  <a:solidFill>
                    <a:srgbClr val="000000"/>
                  </a:solidFill>
                </a:uFill>
                <a:latin typeface="+mj-lt"/>
                <a:ea typeface="+mj-ea"/>
                <a:cs typeface="+mj-cs"/>
                <a:sym typeface="Helvetica"/>
              </a:defRPr>
            </a:lvl1pPr>
          </a:lstStyle>
          <a:p>
            <a:pPr/>
            <a:r>
              <a:t>Guesses at Global Growth</a:t>
            </a:r>
          </a:p>
        </p:txBody>
      </p:sp>
      <p:sp>
        <p:nvSpPr>
          <p:cNvPr id="138" name="Still a Malthusian world in 1500:…"/>
          <p:cNvSpPr txBox="1"/>
          <p:nvPr>
            <p:ph type="body" sz="half" idx="4294967295"/>
          </p:nvPr>
        </p:nvSpPr>
        <p:spPr>
          <a:xfrm>
            <a:off x="457199" y="1143000"/>
            <a:ext cx="8229601" cy="2823341"/>
          </a:xfrm>
          <a:prstGeom prst="rect">
            <a:avLst/>
          </a:prstGeom>
        </p:spPr>
        <p:txBody>
          <a:bodyPr/>
          <a:lstStyle/>
          <a:p>
            <a:pPr marL="0" indent="0" defTabSz="402336">
              <a:buSzTx/>
              <a:buFontTx/>
              <a:buNone/>
              <a:defRPr b="1" sz="2640">
                <a:uFill>
                  <a:solidFill>
                    <a:srgbClr val="000000"/>
                  </a:solidFill>
                </a:uFill>
                <a:latin typeface="+mj-lt"/>
                <a:ea typeface="+mj-ea"/>
                <a:cs typeface="+mj-cs"/>
                <a:sym typeface="Helvetica"/>
              </a:defRPr>
            </a:pPr>
            <a:r>
              <a:t>Still a Malthusian world in 1500:</a:t>
            </a:r>
          </a:p>
          <a:p>
            <a:pPr marL="268223" indent="-268223" defTabSz="402336">
              <a:buFontTx/>
              <a:defRPr sz="2112">
                <a:uFill>
                  <a:solidFill>
                    <a:srgbClr val="000000"/>
                  </a:solidFill>
                </a:uFill>
                <a:latin typeface="Times New Roman"/>
                <a:ea typeface="Times New Roman"/>
                <a:cs typeface="Times New Roman"/>
                <a:sym typeface="Times New Roman"/>
              </a:defRPr>
            </a:pPr>
            <a:r>
              <a:t>What limits food insecurity? What does each society’s upper class do?</a:t>
            </a:r>
          </a:p>
          <a:p>
            <a:pPr marL="268223" indent="-268223" defTabSz="402336">
              <a:buFontTx/>
              <a:defRPr sz="2112">
                <a:uFill>
                  <a:solidFill>
                    <a:srgbClr val="000000"/>
                  </a:solidFill>
                </a:uFill>
                <a:latin typeface="Times New Roman"/>
                <a:ea typeface="Times New Roman"/>
                <a:cs typeface="Times New Roman"/>
                <a:sym typeface="Times New Roman"/>
              </a:defRPr>
            </a:pPr>
            <a:r>
              <a:t>Not thereafter:</a:t>
            </a:r>
          </a:p>
          <a:p>
            <a:pPr lvl="1" marL="603504" indent="-268223" defTabSz="402336">
              <a:buFontTx/>
              <a:buChar char="•"/>
              <a:defRPr sz="2112">
                <a:uFill>
                  <a:solidFill>
                    <a:srgbClr val="000000"/>
                  </a:solidFill>
                </a:uFill>
                <a:latin typeface="Times New Roman"/>
                <a:ea typeface="Times New Roman"/>
                <a:cs typeface="Times New Roman"/>
                <a:sym typeface="Times New Roman"/>
              </a:defRPr>
            </a:pPr>
            <a:r>
              <a:t>How the watersheds of technology generation after 1500?</a:t>
            </a:r>
          </a:p>
          <a:p>
            <a:pPr lvl="1" marL="603504" indent="-268223" defTabSz="402336">
              <a:buFontTx/>
              <a:buChar char="•"/>
              <a:defRPr sz="2112">
                <a:uFill>
                  <a:solidFill>
                    <a:srgbClr val="000000"/>
                  </a:solidFill>
                </a:uFill>
                <a:latin typeface="Times New Roman"/>
                <a:ea typeface="Times New Roman"/>
                <a:cs typeface="Times New Roman"/>
                <a:sym typeface="Times New Roman"/>
              </a:defRPr>
            </a:pPr>
            <a:r>
              <a:t>How does western Europe become “the core”?</a:t>
            </a:r>
          </a:p>
          <a:p>
            <a:pPr lvl="1" marL="603504" indent="-268223" defTabSz="402336">
              <a:buFontTx/>
              <a:buChar char="•"/>
              <a:defRPr sz="2112">
                <a:uFill>
                  <a:solidFill>
                    <a:srgbClr val="000000"/>
                  </a:solidFill>
                </a:uFill>
                <a:latin typeface="Times New Roman"/>
                <a:ea typeface="Times New Roman"/>
                <a:cs typeface="Times New Roman"/>
                <a:sym typeface="Times New Roman"/>
              </a:defRPr>
            </a:pPr>
            <a:r>
              <a:t>Markets &amp; free labor in the core structure enslavement at the periphery…</a:t>
            </a:r>
          </a:p>
        </p:txBody>
      </p:sp>
      <p:pic>
        <p:nvPicPr>
          <p:cNvPr id="139" name="Image" descr="Image"/>
          <p:cNvPicPr>
            <a:picLocks noChangeAspect="1"/>
          </p:cNvPicPr>
          <p:nvPr/>
        </p:nvPicPr>
        <p:blipFill>
          <a:blip r:embed="rId2">
            <a:extLst/>
          </a:blip>
          <a:stretch>
            <a:fillRect/>
          </a:stretch>
        </p:blipFill>
        <p:spPr>
          <a:xfrm>
            <a:off x="457199" y="3966340"/>
            <a:ext cx="8229601" cy="2623458"/>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Max Roser et al.: Our World in Data"/>
          <p:cNvSpPr txBox="1"/>
          <p:nvPr>
            <p:ph type="title" idx="4294967295"/>
          </p:nvPr>
        </p:nvSpPr>
        <p:spPr>
          <a:xfrm>
            <a:off x="457199" y="-1"/>
            <a:ext cx="8229601" cy="1143002"/>
          </a:xfrm>
          <a:prstGeom prst="rect">
            <a:avLst/>
          </a:prstGeom>
        </p:spPr>
        <p:txBody>
          <a:bodyPr/>
          <a:lstStyle/>
          <a:p>
            <a:pPr defTabSz="246888">
              <a:defRPr b="1" sz="4320">
                <a:solidFill>
                  <a:srgbClr val="000080"/>
                </a:solidFill>
                <a:uFill>
                  <a:solidFill>
                    <a:srgbClr val="000000"/>
                  </a:solidFill>
                </a:uFill>
              </a:defRPr>
            </a:pPr>
            <a:r>
              <a:t>Max Roser </a:t>
            </a:r>
            <a:r>
              <a:rPr i="1"/>
              <a:t>et </a:t>
            </a:r>
            <a:r>
              <a:t>al.: Our World in Data</a:t>
            </a:r>
          </a:p>
        </p:txBody>
      </p:sp>
      <p:sp>
        <p:nvSpPr>
          <p:cNvPr id="142" name="&lt;https://ourworldindata.org/&gt;…"/>
          <p:cNvSpPr txBox="1"/>
          <p:nvPr>
            <p:ph type="body" idx="4294967295"/>
          </p:nvPr>
        </p:nvSpPr>
        <p:spPr>
          <a:xfrm>
            <a:off x="457199" y="1143000"/>
            <a:ext cx="5238595" cy="5218543"/>
          </a:xfrm>
          <a:prstGeom prst="rect">
            <a:avLst/>
          </a:prstGeom>
        </p:spPr>
        <p:txBody>
          <a:bodyPr/>
          <a:lstStyle/>
          <a:p>
            <a:pPr marL="291465" indent="-291465" defTabSz="388620">
              <a:defRPr sz="2040">
                <a:uFill>
                  <a:solidFill>
                    <a:srgbClr val="000000"/>
                  </a:solidFill>
                </a:uFill>
              </a:defRPr>
            </a:pPr>
            <a:r>
              <a:t>&lt;</a:t>
            </a:r>
            <a:r>
              <a:rPr u="sng">
                <a:solidFill>
                  <a:srgbClr val="0000FF"/>
                </a:solidFill>
                <a:uFillTx/>
                <a:hlinkClick r:id="rId2" invalidUrl="" action="" tgtFrame="" tooltip="" history="1" highlightClick="0" endSnd="0"/>
              </a:rPr>
              <a:t>https://ourworldindata.org/</a:t>
            </a:r>
            <a:r>
              <a:t>&gt;</a:t>
            </a:r>
          </a:p>
          <a:p>
            <a:pPr lvl="1" marL="680085" indent="-291465" defTabSz="388620">
              <a:buChar char="•"/>
              <a:defRPr sz="2040">
                <a:uFill>
                  <a:solidFill>
                    <a:srgbClr val="000000"/>
                  </a:solidFill>
                </a:uFill>
              </a:defRPr>
            </a:pPr>
            <a:r>
              <a:t>Stasis at the bottom—people whose lives are still not that distinguishable from all of our pre-industrial ancestors</a:t>
            </a:r>
          </a:p>
          <a:p>
            <a:pPr lvl="2" marL="1068705" indent="-291465" defTabSz="388620">
              <a:defRPr sz="2040">
                <a:uFill>
                  <a:solidFill>
                    <a:srgbClr val="000000"/>
                  </a:solidFill>
                </a:uFill>
              </a:defRPr>
            </a:pPr>
            <a:r>
              <a:t>How is such an atrocity </a:t>
            </a:r>
            <a:r>
              <a:rPr i="1"/>
              <a:t>possible</a:t>
            </a:r>
            <a:r>
              <a:t> in a world as rich and as connected as ours is?</a:t>
            </a:r>
          </a:p>
          <a:p>
            <a:pPr lvl="1" marL="680085" indent="-291465" defTabSz="388620">
              <a:buChar char="•"/>
              <a:defRPr sz="2040">
                <a:uFill>
                  <a:solidFill>
                    <a:srgbClr val="000000"/>
                  </a:solidFill>
                </a:uFill>
              </a:defRPr>
            </a:pPr>
            <a:r>
              <a:t>1800-1975: Industrial Revolution, Modern Economic Growth—and the creation of the First and Third Worlds</a:t>
            </a:r>
          </a:p>
          <a:p>
            <a:pPr lvl="2" marL="1068705" indent="-291465" defTabSz="388620">
              <a:defRPr sz="2040">
                <a:uFill>
                  <a:solidFill>
                    <a:srgbClr val="000000"/>
                  </a:solidFill>
                </a:uFill>
              </a:defRPr>
            </a:pPr>
            <a:r>
              <a:t>The “development of underdevelopment”</a:t>
            </a:r>
          </a:p>
          <a:p>
            <a:pPr lvl="1" marL="680085" indent="-291465" defTabSz="388620">
              <a:buChar char="•"/>
              <a:defRPr sz="2040">
                <a:uFill>
                  <a:solidFill>
                    <a:srgbClr val="000000"/>
                  </a:solidFill>
                </a:uFill>
              </a:defRPr>
            </a:pPr>
            <a:r>
              <a:t>1975-2015: China stands up; India gets off the ground—back to one bell-shape</a:t>
            </a:r>
          </a:p>
          <a:p>
            <a:pPr lvl="2" marL="1068705" indent="-291465" defTabSz="388620">
              <a:defRPr sz="2040">
                <a:uFill>
                  <a:solidFill>
                    <a:srgbClr val="000000"/>
                  </a:solidFill>
                </a:uFill>
              </a:defRPr>
            </a:pPr>
            <a:r>
              <a:t>With a lower African tail…</a:t>
            </a:r>
          </a:p>
        </p:txBody>
      </p:sp>
      <p:pic>
        <p:nvPicPr>
          <p:cNvPr id="143" name="Image" descr="Image"/>
          <p:cNvPicPr>
            <a:picLocks noChangeAspect="0"/>
          </p:cNvPicPr>
          <p:nvPr/>
        </p:nvPicPr>
        <p:blipFill>
          <a:blip r:embed="rId3">
            <a:extLst/>
          </a:blip>
          <a:stretch>
            <a:fillRect/>
          </a:stretch>
        </p:blipFill>
        <p:spPr>
          <a:xfrm>
            <a:off x="5695793" y="1143000"/>
            <a:ext cx="2991007" cy="5484899"/>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Guesses at “Global North” Growth"/>
          <p:cNvSpPr txBox="1"/>
          <p:nvPr>
            <p:ph type="title" idx="4294967295"/>
          </p:nvPr>
        </p:nvSpPr>
        <p:spPr>
          <a:xfrm>
            <a:off x="457199" y="-1"/>
            <a:ext cx="8229601" cy="1143002"/>
          </a:xfrm>
          <a:prstGeom prst="rect">
            <a:avLst/>
          </a:prstGeom>
        </p:spPr>
        <p:txBody>
          <a:bodyPr/>
          <a:lstStyle>
            <a:lvl1pPr defTabSz="219455">
              <a:defRPr b="1" sz="3839">
                <a:solidFill>
                  <a:srgbClr val="000080"/>
                </a:solidFill>
                <a:uFill>
                  <a:solidFill>
                    <a:srgbClr val="000000"/>
                  </a:solidFill>
                </a:uFill>
                <a:latin typeface="+mj-lt"/>
                <a:ea typeface="+mj-ea"/>
                <a:cs typeface="+mj-cs"/>
                <a:sym typeface="Helvetica"/>
              </a:defRPr>
            </a:lvl1pPr>
          </a:lstStyle>
          <a:p>
            <a:pPr/>
            <a:r>
              <a:t>Guesses at “Global North” Growth</a:t>
            </a:r>
          </a:p>
        </p:txBody>
      </p:sp>
      <p:sp>
        <p:nvSpPr>
          <p:cNvPr id="146" name="What determines who joins the global north?:…"/>
          <p:cNvSpPr txBox="1"/>
          <p:nvPr>
            <p:ph type="body" idx="4294967295"/>
          </p:nvPr>
        </p:nvSpPr>
        <p:spPr>
          <a:xfrm>
            <a:off x="457199" y="1143000"/>
            <a:ext cx="8229601" cy="3385913"/>
          </a:xfrm>
          <a:prstGeom prst="rect">
            <a:avLst/>
          </a:prstGeom>
        </p:spPr>
        <p:txBody>
          <a:bodyPr/>
          <a:lstStyle/>
          <a:p>
            <a:pPr marL="0" indent="0" defTabSz="329184">
              <a:spcBef>
                <a:spcPts val="500"/>
              </a:spcBef>
              <a:buSzTx/>
              <a:buFontTx/>
              <a:buNone/>
              <a:defRPr b="1" sz="2160">
                <a:uFill>
                  <a:solidFill>
                    <a:srgbClr val="000000"/>
                  </a:solidFill>
                </a:uFill>
                <a:latin typeface="+mj-lt"/>
                <a:ea typeface="+mj-ea"/>
                <a:cs typeface="+mj-cs"/>
                <a:sym typeface="Helvetica"/>
              </a:defRPr>
            </a:pPr>
            <a:r>
              <a:t>What determines who joins the global north?:</a:t>
            </a:r>
          </a:p>
          <a:p>
            <a:pPr marL="219456" indent="-219456" defTabSz="329184">
              <a:spcBef>
                <a:spcPts val="500"/>
              </a:spcBef>
              <a:buFontTx/>
              <a:defRPr sz="1728">
                <a:uFill>
                  <a:solidFill>
                    <a:srgbClr val="000000"/>
                  </a:solidFill>
                </a:uFill>
                <a:latin typeface="Times New Roman"/>
                <a:ea typeface="Times New Roman"/>
                <a:cs typeface="Times New Roman"/>
                <a:sym typeface="Times New Roman"/>
              </a:defRPr>
            </a:pPr>
            <a:r>
              <a:t>Hungary and Portugal and Finland and Korea can and do; Argentina and Sri Lanka and Ghana cannot (do not?)</a:t>
            </a:r>
          </a:p>
          <a:p>
            <a:pPr marL="219456" indent="-219456" defTabSz="329184">
              <a:spcBef>
                <a:spcPts val="500"/>
              </a:spcBef>
              <a:buFontTx/>
              <a:defRPr sz="1728">
                <a:uFill>
                  <a:solidFill>
                    <a:srgbClr val="000000"/>
                  </a:solidFill>
                </a:uFill>
                <a:latin typeface="Times New Roman"/>
                <a:ea typeface="Times New Roman"/>
                <a:cs typeface="Times New Roman"/>
                <a:sym typeface="Times New Roman"/>
              </a:defRPr>
            </a:pPr>
            <a:r>
              <a:t>The Black Death of 1346-8 &amp; subsequent “European” marriage patterns…</a:t>
            </a:r>
          </a:p>
          <a:p>
            <a:pPr marL="219456" indent="-219456" defTabSz="329184">
              <a:spcBef>
                <a:spcPts val="500"/>
              </a:spcBef>
              <a:buFontTx/>
              <a:defRPr sz="1728">
                <a:uFill>
                  <a:solidFill>
                    <a:srgbClr val="000000"/>
                  </a:solidFill>
                </a:uFill>
                <a:latin typeface="Times New Roman"/>
                <a:ea typeface="Times New Roman"/>
                <a:cs typeface="Times New Roman"/>
                <a:sym typeface="Times New Roman"/>
              </a:defRPr>
            </a:pPr>
            <a:r>
              <a:t>Inequality as the big enchilada: global north vs. the rest: </a:t>
            </a:r>
          </a:p>
          <a:p>
            <a:pPr lvl="1" marL="493776" indent="-219456" defTabSz="329184">
              <a:spcBef>
                <a:spcPts val="500"/>
              </a:spcBef>
              <a:buFontTx/>
              <a:buChar char="•"/>
              <a:defRPr sz="1728">
                <a:uFill>
                  <a:solidFill>
                    <a:srgbClr val="000000"/>
                  </a:solidFill>
                </a:uFill>
                <a:latin typeface="Times New Roman"/>
                <a:ea typeface="Times New Roman"/>
                <a:cs typeface="Times New Roman"/>
                <a:sym typeface="Times New Roman"/>
              </a:defRPr>
            </a:pPr>
            <a:r>
              <a:t>10% of population, 1.3x SoL in 1870</a:t>
            </a:r>
          </a:p>
          <a:p>
            <a:pPr lvl="1" marL="493776" indent="-219456" defTabSz="329184">
              <a:spcBef>
                <a:spcPts val="500"/>
              </a:spcBef>
              <a:buFontTx/>
              <a:buChar char="•"/>
              <a:defRPr sz="1728">
                <a:uFill>
                  <a:solidFill>
                    <a:srgbClr val="000000"/>
                  </a:solidFill>
                </a:uFill>
                <a:latin typeface="Times New Roman"/>
                <a:ea typeface="Times New Roman"/>
                <a:cs typeface="Times New Roman"/>
                <a:sym typeface="Times New Roman"/>
              </a:defRPr>
            </a:pPr>
            <a:r>
              <a:t>15% of population, 2.8x SoL in 1870</a:t>
            </a:r>
          </a:p>
          <a:p>
            <a:pPr lvl="1" marL="493776" indent="-219456" defTabSz="329184">
              <a:spcBef>
                <a:spcPts val="500"/>
              </a:spcBef>
              <a:buFontTx/>
              <a:buChar char="•"/>
              <a:defRPr sz="1728">
                <a:uFill>
                  <a:solidFill>
                    <a:srgbClr val="000000"/>
                  </a:solidFill>
                </a:uFill>
                <a:latin typeface="Times New Roman"/>
                <a:ea typeface="Times New Roman"/>
                <a:cs typeface="Times New Roman"/>
                <a:sym typeface="Times New Roman"/>
              </a:defRPr>
            </a:pPr>
            <a:r>
              <a:t>11% of population, 6.3x SoL in 2020</a:t>
            </a:r>
          </a:p>
          <a:p>
            <a:pPr marL="219456" indent="-219456" defTabSz="329184">
              <a:spcBef>
                <a:spcPts val="500"/>
              </a:spcBef>
              <a:buFontTx/>
              <a:defRPr sz="1728">
                <a:uFill>
                  <a:solidFill>
                    <a:srgbClr val="000000"/>
                  </a:solidFill>
                </a:uFill>
                <a:latin typeface="Times New Roman"/>
                <a:ea typeface="Times New Roman"/>
                <a:cs typeface="Times New Roman"/>
                <a:sym typeface="Times New Roman"/>
              </a:defRPr>
            </a:pPr>
            <a:r>
              <a:t>Resource extraction from the global south</a:t>
            </a:r>
          </a:p>
          <a:p>
            <a:pPr marL="219456" indent="-219456" defTabSz="329184">
              <a:spcBef>
                <a:spcPts val="500"/>
              </a:spcBef>
              <a:buFontTx/>
              <a:defRPr sz="1728">
                <a:uFill>
                  <a:solidFill>
                    <a:srgbClr val="000000"/>
                  </a:solidFill>
                </a:uFill>
                <a:latin typeface="Times New Roman"/>
                <a:ea typeface="Times New Roman"/>
                <a:cs typeface="Times New Roman"/>
                <a:sym typeface="Times New Roman"/>
              </a:defRPr>
            </a:pPr>
            <a:r>
              <a:t>Latin America’s internal colonization?</a:t>
            </a:r>
          </a:p>
        </p:txBody>
      </p:sp>
      <p:pic>
        <p:nvPicPr>
          <p:cNvPr id="147" name="Image" descr="Image"/>
          <p:cNvPicPr>
            <a:picLocks noChangeAspect="1"/>
          </p:cNvPicPr>
          <p:nvPr/>
        </p:nvPicPr>
        <p:blipFill>
          <a:blip r:embed="rId2">
            <a:extLst/>
          </a:blip>
          <a:stretch>
            <a:fillRect/>
          </a:stretch>
        </p:blipFill>
        <p:spPr>
          <a:xfrm>
            <a:off x="457199" y="4528912"/>
            <a:ext cx="8229601" cy="202591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Nineteenth Century Development"/>
          <p:cNvSpPr txBox="1"/>
          <p:nvPr>
            <p:ph type="title" idx="4294967295"/>
          </p:nvPr>
        </p:nvSpPr>
        <p:spPr>
          <a:xfrm>
            <a:off x="457199" y="-1"/>
            <a:ext cx="8229601" cy="1143002"/>
          </a:xfrm>
          <a:prstGeom prst="rect">
            <a:avLst/>
          </a:prstGeom>
        </p:spPr>
        <p:txBody>
          <a:bodyPr/>
          <a:lstStyle>
            <a:lvl1pPr defTabSz="228600">
              <a:defRPr b="1" sz="4000">
                <a:solidFill>
                  <a:srgbClr val="000080"/>
                </a:solidFill>
                <a:uFill>
                  <a:solidFill>
                    <a:srgbClr val="000000"/>
                  </a:solidFill>
                </a:uFill>
                <a:latin typeface="+mj-lt"/>
                <a:ea typeface="+mj-ea"/>
                <a:cs typeface="+mj-cs"/>
                <a:sym typeface="Helvetica"/>
              </a:defRPr>
            </a:lvl1pPr>
          </a:lstStyle>
          <a:p>
            <a:pPr/>
            <a:r>
              <a:t>Nineteenth Century Development</a:t>
            </a:r>
          </a:p>
        </p:txBody>
      </p:sp>
      <p:sp>
        <p:nvSpPr>
          <p:cNvPr id="150" name="Transition from agricultural or handicraft to industrialization:…"/>
          <p:cNvSpPr txBox="1"/>
          <p:nvPr>
            <p:ph type="body" idx="4294967295"/>
          </p:nvPr>
        </p:nvSpPr>
        <p:spPr>
          <a:xfrm>
            <a:off x="457199" y="1143000"/>
            <a:ext cx="8229601" cy="5376903"/>
          </a:xfrm>
          <a:prstGeom prst="rect">
            <a:avLst/>
          </a:prstGeom>
        </p:spPr>
        <p:txBody>
          <a:bodyPr/>
          <a:lstStyle/>
          <a:p>
            <a:pPr marL="0" indent="0" defTabSz="416052">
              <a:buSzTx/>
              <a:buFontTx/>
              <a:buNone/>
              <a:defRPr b="1" sz="2730">
                <a:uFill>
                  <a:solidFill>
                    <a:srgbClr val="000000"/>
                  </a:solidFill>
                </a:uFill>
                <a:latin typeface="+mj-lt"/>
                <a:ea typeface="+mj-ea"/>
                <a:cs typeface="+mj-cs"/>
                <a:sym typeface="Helvetica"/>
              </a:defRPr>
            </a:pPr>
            <a:r>
              <a:t>Transition from agricultural or handicraft to industrialization:</a:t>
            </a:r>
          </a:p>
          <a:p>
            <a:pPr marL="277368" indent="-277368" defTabSz="416052">
              <a:buFontTx/>
              <a:defRPr sz="2184">
                <a:uFill>
                  <a:solidFill>
                    <a:srgbClr val="000000"/>
                  </a:solidFill>
                </a:uFill>
                <a:latin typeface="Times New Roman"/>
                <a:ea typeface="Times New Roman"/>
                <a:cs typeface="Times New Roman"/>
                <a:sym typeface="Times New Roman"/>
              </a:defRPr>
            </a:pPr>
            <a:r>
              <a:t>Problem: extremely cheap machine-made manufactured imports from Great Britain</a:t>
            </a:r>
          </a:p>
          <a:p>
            <a:pPr marL="277368" indent="-277368" defTabSz="416052">
              <a:buFontTx/>
              <a:defRPr sz="2184">
                <a:uFill>
                  <a:solidFill>
                    <a:srgbClr val="000000"/>
                  </a:solidFill>
                </a:uFill>
                <a:latin typeface="Times New Roman"/>
                <a:ea typeface="Times New Roman"/>
                <a:cs typeface="Times New Roman"/>
                <a:sym typeface="Times New Roman"/>
              </a:defRPr>
            </a:pPr>
            <a:r>
              <a:t>But you need to industrialize to nurture the communities of engineering practice essential for technological diffusion</a:t>
            </a:r>
          </a:p>
          <a:p>
            <a:pPr marL="277368" indent="-277368" defTabSz="416052">
              <a:buFontTx/>
              <a:defRPr sz="2184">
                <a:uFill>
                  <a:solidFill>
                    <a:srgbClr val="000000"/>
                  </a:solidFill>
                </a:uFill>
                <a:latin typeface="Times New Roman"/>
                <a:ea typeface="Times New Roman"/>
                <a:cs typeface="Times New Roman"/>
                <a:sym typeface="Times New Roman"/>
              </a:defRPr>
            </a:pPr>
            <a:r>
              <a:t>Standard development strategy response:</a:t>
            </a:r>
          </a:p>
          <a:p>
            <a:pPr lvl="1" marL="624078" indent="-277368" defTabSz="416052">
              <a:buFontTx/>
              <a:buChar char="•"/>
              <a:defRPr sz="2184">
                <a:uFill>
                  <a:solidFill>
                    <a:srgbClr val="000000"/>
                  </a:solidFill>
                </a:uFill>
                <a:latin typeface="Times New Roman"/>
                <a:ea typeface="Times New Roman"/>
                <a:cs typeface="Times New Roman"/>
                <a:sym typeface="Times New Roman"/>
              </a:defRPr>
            </a:pPr>
            <a:r>
              <a:t>internal improvements (to deepen the division of labor)</a:t>
            </a:r>
          </a:p>
          <a:p>
            <a:pPr lvl="1" marL="624078" indent="-277368" defTabSz="416052">
              <a:buFontTx/>
              <a:buChar char="•"/>
              <a:defRPr sz="2184">
                <a:uFill>
                  <a:solidFill>
                    <a:srgbClr val="000000"/>
                  </a:solidFill>
                </a:uFill>
                <a:latin typeface="Times New Roman"/>
                <a:ea typeface="Times New Roman"/>
                <a:cs typeface="Times New Roman"/>
                <a:sym typeface="Times New Roman"/>
              </a:defRPr>
            </a:pPr>
            <a:r>
              <a:t>investment banks (to mobilize savings for entrepreneurship)</a:t>
            </a:r>
          </a:p>
          <a:p>
            <a:pPr lvl="1" marL="624078" indent="-277368" defTabSz="416052">
              <a:buFontTx/>
              <a:buChar char="•"/>
              <a:defRPr sz="2184">
                <a:uFill>
                  <a:solidFill>
                    <a:srgbClr val="000000"/>
                  </a:solidFill>
                </a:uFill>
                <a:latin typeface="Times New Roman"/>
                <a:ea typeface="Times New Roman"/>
                <a:cs typeface="Times New Roman"/>
                <a:sym typeface="Times New Roman"/>
              </a:defRPr>
            </a:pPr>
            <a:r>
              <a:t>universal education (to create the labor force that can handle the requirements of modern commerce and industry)</a:t>
            </a:r>
          </a:p>
          <a:p>
            <a:pPr lvl="1" marL="624078" indent="-277368" defTabSz="416052">
              <a:buFontTx/>
              <a:buChar char="•"/>
              <a:defRPr sz="2184">
                <a:uFill>
                  <a:solidFill>
                    <a:srgbClr val="000000"/>
                  </a:solidFill>
                </a:uFill>
                <a:latin typeface="Times New Roman"/>
                <a:ea typeface="Times New Roman"/>
                <a:cs typeface="Times New Roman"/>
                <a:sym typeface="Times New Roman"/>
              </a:defRPr>
            </a:pPr>
            <a:r>
              <a:t>external tariffs (to keep your engineering-supporting industries from being blown away by the gales of English (and later American and German) competition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Need to Adopt the “Standard Package”"/>
          <p:cNvSpPr txBox="1"/>
          <p:nvPr>
            <p:ph type="title" idx="4294967295"/>
          </p:nvPr>
        </p:nvSpPr>
        <p:spPr>
          <a:xfrm>
            <a:off x="457199" y="-1"/>
            <a:ext cx="8229601" cy="1143002"/>
          </a:xfrm>
          <a:prstGeom prst="rect">
            <a:avLst/>
          </a:prstGeom>
        </p:spPr>
        <p:txBody>
          <a:bodyPr/>
          <a:lstStyle>
            <a:lvl1pPr defTabSz="196596">
              <a:defRPr b="1" sz="3440">
                <a:solidFill>
                  <a:srgbClr val="000080"/>
                </a:solidFill>
                <a:uFill>
                  <a:solidFill>
                    <a:srgbClr val="000000"/>
                  </a:solidFill>
                </a:uFill>
                <a:latin typeface="+mj-lt"/>
                <a:ea typeface="+mj-ea"/>
                <a:cs typeface="+mj-cs"/>
                <a:sym typeface="Helvetica"/>
              </a:defRPr>
            </a:lvl1pPr>
          </a:lstStyle>
          <a:p>
            <a:pPr/>
            <a:r>
              <a:t>Need to Adopt the “Standard Package”</a:t>
            </a:r>
          </a:p>
        </p:txBody>
      </p:sp>
      <p:sp>
        <p:nvSpPr>
          <p:cNvPr id="153" name="Infrastructure, banks, schools, and tariffs:…"/>
          <p:cNvSpPr txBox="1"/>
          <p:nvPr>
            <p:ph type="body" idx="4294967295"/>
          </p:nvPr>
        </p:nvSpPr>
        <p:spPr>
          <a:xfrm>
            <a:off x="457199" y="1143000"/>
            <a:ext cx="8229601" cy="5376903"/>
          </a:xfrm>
          <a:prstGeom prst="rect">
            <a:avLst/>
          </a:prstGeom>
        </p:spPr>
        <p:txBody>
          <a:bodyPr/>
          <a:lstStyle/>
          <a:p>
            <a:pPr marL="0" indent="0" defTabSz="434340">
              <a:buSzTx/>
              <a:buFontTx/>
              <a:buNone/>
              <a:defRPr b="1" sz="2850">
                <a:uFill>
                  <a:solidFill>
                    <a:srgbClr val="000000"/>
                  </a:solidFill>
                </a:uFill>
                <a:latin typeface="+mj-lt"/>
                <a:ea typeface="+mj-ea"/>
                <a:cs typeface="+mj-cs"/>
                <a:sym typeface="Helvetica"/>
              </a:defRPr>
            </a:pPr>
            <a:r>
              <a:t>Infrastructure, banks, schools, and tariffs:</a:t>
            </a:r>
          </a:p>
          <a:p>
            <a:pPr marL="289559" indent="-289559" defTabSz="434340">
              <a:buFontTx/>
              <a:defRPr sz="2280">
                <a:uFill>
                  <a:solidFill>
                    <a:srgbClr val="000000"/>
                  </a:solidFill>
                </a:uFill>
                <a:latin typeface="Times New Roman"/>
                <a:ea typeface="Times New Roman"/>
                <a:cs typeface="Times New Roman"/>
                <a:sym typeface="Times New Roman"/>
              </a:defRPr>
            </a:pPr>
            <a:r>
              <a:t>Colonies could not follow such strategies:</a:t>
            </a:r>
          </a:p>
          <a:p>
            <a:pPr lvl="1" marL="651509" indent="-289559" defTabSz="434340">
              <a:buFontTx/>
              <a:buChar char="•"/>
              <a:defRPr sz="2280">
                <a:uFill>
                  <a:solidFill>
                    <a:srgbClr val="000000"/>
                  </a:solidFill>
                </a:uFill>
                <a:latin typeface="Times New Roman"/>
                <a:ea typeface="Times New Roman"/>
                <a:cs typeface="Times New Roman"/>
                <a:sym typeface="Times New Roman"/>
              </a:defRPr>
            </a:pPr>
            <a:r>
              <a:t>economic policies subordinated to the interests of the colonizer</a:t>
            </a:r>
          </a:p>
          <a:p>
            <a:pPr lvl="1" marL="651509" indent="-289559" defTabSz="434340">
              <a:buFontTx/>
              <a:buChar char="•"/>
              <a:defRPr sz="2280">
                <a:uFill>
                  <a:solidFill>
                    <a:srgbClr val="000000"/>
                  </a:solidFill>
                </a:uFill>
                <a:latin typeface="Times New Roman"/>
                <a:ea typeface="Times New Roman"/>
                <a:cs typeface="Times New Roman"/>
                <a:sym typeface="Times New Roman"/>
              </a:defRPr>
            </a:pPr>
            <a:r>
              <a:t>Latin America internally colonized by its Castilian-descended elite</a:t>
            </a:r>
          </a:p>
          <a:p>
            <a:pPr marL="289559" indent="-289559" defTabSz="434340">
              <a:buFontTx/>
              <a:defRPr sz="2280">
                <a:uFill>
                  <a:solidFill>
                    <a:srgbClr val="000000"/>
                  </a:solidFill>
                </a:uFill>
                <a:latin typeface="Times New Roman"/>
                <a:ea typeface="Times New Roman"/>
                <a:cs typeface="Times New Roman"/>
                <a:sym typeface="Times New Roman"/>
              </a:defRPr>
            </a:pPr>
            <a:r>
              <a:t>Independent countries could:</a:t>
            </a:r>
          </a:p>
          <a:p>
            <a:pPr lvl="1" marL="651509" indent="-289559" defTabSz="434340">
              <a:buFontTx/>
              <a:buChar char="•"/>
              <a:defRPr sz="2280">
                <a:uFill>
                  <a:solidFill>
                    <a:srgbClr val="000000"/>
                  </a:solidFill>
                </a:uFill>
                <a:latin typeface="Times New Roman"/>
                <a:ea typeface="Times New Roman"/>
                <a:cs typeface="Times New Roman"/>
                <a:sym typeface="Times New Roman"/>
              </a:defRPr>
            </a:pPr>
            <a:r>
              <a:t>Japan</a:t>
            </a:r>
          </a:p>
          <a:p>
            <a:pPr marL="289559" indent="-289559" defTabSz="434340">
              <a:buFontTx/>
              <a:defRPr sz="2280">
                <a:uFill>
                  <a:solidFill>
                    <a:srgbClr val="000000"/>
                  </a:solidFill>
                </a:uFill>
                <a:latin typeface="Times New Roman"/>
                <a:ea typeface="Times New Roman"/>
                <a:cs typeface="Times New Roman"/>
                <a:sym typeface="Times New Roman"/>
              </a:defRPr>
            </a:pPr>
            <a:r>
              <a:t>Elsewhere:</a:t>
            </a:r>
          </a:p>
          <a:p>
            <a:pPr lvl="1" marL="651509" indent="-289559" defTabSz="434340">
              <a:buFontTx/>
              <a:buChar char="•"/>
              <a:defRPr sz="2280">
                <a:uFill>
                  <a:solidFill>
                    <a:srgbClr val="000000"/>
                  </a:solidFill>
                </a:uFill>
                <a:latin typeface="Times New Roman"/>
                <a:ea typeface="Times New Roman"/>
                <a:cs typeface="Times New Roman"/>
                <a:sym typeface="Times New Roman"/>
              </a:defRPr>
            </a:pPr>
            <a:r>
              <a:t>Handicraft manufacturing vanished and machine-based grew only slowly</a:t>
            </a:r>
          </a:p>
          <a:p>
            <a:pPr lvl="1" marL="651509" indent="-289559" defTabSz="434340">
              <a:buFontTx/>
              <a:buChar char="•"/>
              <a:defRPr sz="2280">
                <a:uFill>
                  <a:solidFill>
                    <a:srgbClr val="000000"/>
                  </a:solidFill>
                </a:uFill>
                <a:latin typeface="Times New Roman"/>
                <a:ea typeface="Times New Roman"/>
                <a:cs typeface="Times New Roman"/>
                <a:sym typeface="Times New Roman"/>
              </a:defRPr>
            </a:pPr>
            <a:r>
              <a:t>Asian and Middle Eastern labour forces were redeployed into agriculture: underdeveloped exporters of wheat, cotton, rice, and other primary products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he Idea of “Development”"/>
          <p:cNvSpPr txBox="1"/>
          <p:nvPr>
            <p:ph type="title" idx="4294967295"/>
          </p:nvPr>
        </p:nvSpPr>
        <p:spPr>
          <a:xfrm>
            <a:off x="457199" y="-1"/>
            <a:ext cx="8229601" cy="1143002"/>
          </a:xfrm>
          <a:prstGeom prst="rect">
            <a:avLst/>
          </a:prstGeom>
        </p:spPr>
        <p:txBody>
          <a:bodyPr/>
          <a:lstStyle>
            <a:lvl1pPr defTabSz="283463">
              <a:defRPr b="1" sz="4960">
                <a:solidFill>
                  <a:srgbClr val="000080"/>
                </a:solidFill>
                <a:uFill>
                  <a:solidFill>
                    <a:srgbClr val="000000"/>
                  </a:solidFill>
                </a:uFill>
                <a:latin typeface="+mj-lt"/>
                <a:ea typeface="+mj-ea"/>
                <a:cs typeface="+mj-cs"/>
                <a:sym typeface="Helvetica"/>
              </a:defRPr>
            </a:lvl1pPr>
          </a:lstStyle>
          <a:p>
            <a:pPr/>
            <a:r>
              <a:t>The Idea of “Development”</a:t>
            </a:r>
          </a:p>
        </p:txBody>
      </p:sp>
      <p:sp>
        <p:nvSpPr>
          <p:cNvPr id="156" name="Karl Marx (1867): Capital:…"/>
          <p:cNvSpPr txBox="1"/>
          <p:nvPr>
            <p:ph type="body" idx="4294967295"/>
          </p:nvPr>
        </p:nvSpPr>
        <p:spPr>
          <a:xfrm>
            <a:off x="457199" y="1143000"/>
            <a:ext cx="8229601" cy="5218543"/>
          </a:xfrm>
          <a:prstGeom prst="rect">
            <a:avLst/>
          </a:prstGeom>
        </p:spPr>
        <p:txBody>
          <a:bodyPr/>
          <a:lstStyle/>
          <a:p>
            <a:pPr marL="0" indent="0" defTabSz="416052">
              <a:buSzTx/>
              <a:buFontTx/>
              <a:buNone/>
              <a:defRPr sz="2184">
                <a:uFill>
                  <a:solidFill>
                    <a:srgbClr val="000000"/>
                  </a:solidFill>
                </a:uFill>
                <a:latin typeface="+mj-lt"/>
                <a:ea typeface="+mj-ea"/>
                <a:cs typeface="+mj-cs"/>
                <a:sym typeface="Helvetica"/>
              </a:defRPr>
            </a:pPr>
            <a:r>
              <a:rPr b="1"/>
              <a:t>Karl Marx</a:t>
            </a:r>
            <a:r>
              <a:t> (1867): </a:t>
            </a:r>
            <a:r>
              <a:rPr i="1"/>
              <a:t>Capital</a:t>
            </a:r>
            <a:r>
              <a:t>: </a:t>
            </a:r>
          </a:p>
          <a:p>
            <a:pPr marL="312039" indent="-312039" defTabSz="416052">
              <a:defRPr sz="2184">
                <a:uFill>
                  <a:solidFill>
                    <a:srgbClr val="000000"/>
                  </a:solidFill>
                </a:uFill>
                <a:latin typeface="Times New Roman"/>
                <a:ea typeface="Times New Roman"/>
                <a:cs typeface="Times New Roman"/>
                <a:sym typeface="Times New Roman"/>
              </a:defRPr>
            </a:pPr>
            <a:r>
              <a:t>“The physicist either observes physical phenomena where they occur in their most typical form and most free from disturbing influence, or, wherever possible, he makes experiments under conditions that assure the occurrence of the phenomenon in its normality. In this work I have to examine the capitalist mode of production.... Their classic ground is England. That is the reason why England is used as the chief illustration.... If... the German reader... in optimist fashion comforts himself with the thought that in Germany things are not nearly so bad; I must plainly tell him, 'De te fabula narratur!’ [‘It’s the story of you’ – Horace].... </a:t>
            </a:r>
          </a:p>
          <a:p>
            <a:pPr marL="312039" indent="-312039" defTabSz="416052">
              <a:defRPr sz="2184">
                <a:uFill>
                  <a:solidFill>
                    <a:srgbClr val="000000"/>
                  </a:solidFill>
                </a:uFill>
                <a:latin typeface="Times New Roman"/>
                <a:ea typeface="Times New Roman"/>
                <a:cs typeface="Times New Roman"/>
                <a:sym typeface="Times New Roman"/>
              </a:defRPr>
            </a:pPr>
            <a:r>
              <a:t>“The natural laws of capitalist production... [are] working with iron necessity towards inevitable results. The country that is more developed industrially only shows, to the less developed, the image of its own future…” </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itle 1"/>
          <p:cNvSpPr txBox="1"/>
          <p:nvPr>
            <p:ph type="title"/>
          </p:nvPr>
        </p:nvSpPr>
        <p:spPr>
          <a:prstGeom prst="rect">
            <a:avLst/>
          </a:prstGeom>
        </p:spPr>
        <p:txBody>
          <a:bodyPr/>
          <a:lstStyle>
            <a:lvl1pPr defTabSz="731520">
              <a:defRPr b="1" sz="6400">
                <a:solidFill>
                  <a:srgbClr val="000080"/>
                </a:solidFill>
                <a:latin typeface="+mj-lt"/>
                <a:ea typeface="+mj-ea"/>
                <a:cs typeface="+mj-cs"/>
                <a:sym typeface="Helvetica"/>
              </a:defRPr>
            </a:lvl1pPr>
          </a:lstStyle>
          <a:p>
            <a:pPr/>
            <a:r>
              <a:t>Eras of Development</a:t>
            </a:r>
          </a:p>
        </p:txBody>
      </p:sp>
      <p:sp>
        <p:nvSpPr>
          <p:cNvPr id="159" name="Content Placeholder 2"/>
          <p:cNvSpPr txBox="1"/>
          <p:nvPr>
            <p:ph type="body" idx="1"/>
          </p:nvPr>
        </p:nvSpPr>
        <p:spPr>
          <a:xfrm>
            <a:off x="457200" y="1600200"/>
            <a:ext cx="8229600" cy="4525963"/>
          </a:xfrm>
          <a:prstGeom prst="rect">
            <a:avLst/>
          </a:prstGeom>
        </p:spPr>
        <p:txBody>
          <a:bodyPr/>
          <a:lstStyle/>
          <a:p>
            <a:pPr marL="224663" indent="-224663" defTabSz="557784">
              <a:spcBef>
                <a:spcPts val="400"/>
              </a:spcBef>
              <a:defRPr sz="1769">
                <a:latin typeface="Times New Roman"/>
                <a:ea typeface="Times New Roman"/>
                <a:cs typeface="Times New Roman"/>
                <a:sym typeface="Times New Roman"/>
              </a:defRPr>
            </a:pPr>
            <a:r>
              <a:t>Post-WWII Truman: “hand up”—technocratic: infrastructure, institutions, technologies</a:t>
            </a:r>
          </a:p>
          <a:p>
            <a:pPr lvl="1" marL="449326" indent="-224663" defTabSz="557784">
              <a:spcBef>
                <a:spcPts val="400"/>
              </a:spcBef>
              <a:buChar char="•"/>
              <a:defRPr sz="1769">
                <a:latin typeface="Times New Roman"/>
                <a:ea typeface="Times New Roman"/>
                <a:cs typeface="Times New Roman"/>
                <a:sym typeface="Times New Roman"/>
              </a:defRPr>
            </a:pPr>
            <a:r>
              <a:t>The “drive to high mass consumption”</a:t>
            </a:r>
          </a:p>
          <a:p>
            <a:pPr lvl="1" marL="449326" indent="-224663" defTabSz="557784">
              <a:spcBef>
                <a:spcPts val="400"/>
              </a:spcBef>
              <a:buChar char="•"/>
              <a:defRPr sz="1769">
                <a:latin typeface="Times New Roman"/>
                <a:ea typeface="Times New Roman"/>
                <a:cs typeface="Times New Roman"/>
                <a:sym typeface="Times New Roman"/>
              </a:defRPr>
            </a:pPr>
            <a:r>
              <a:t>Division of labor depends on the extent of the market; cf.: Adam Smith: Wealth of Nations</a:t>
            </a:r>
          </a:p>
          <a:p>
            <a:pPr lvl="1" marL="449326" indent="-224663" defTabSz="557784">
              <a:spcBef>
                <a:spcPts val="400"/>
              </a:spcBef>
              <a:buChar char="•"/>
              <a:defRPr sz="1769">
                <a:latin typeface="Times New Roman"/>
                <a:ea typeface="Times New Roman"/>
                <a:cs typeface="Times New Roman"/>
                <a:sym typeface="Times New Roman"/>
              </a:defRPr>
            </a:pPr>
            <a:r>
              <a:t>Institutionalization via Bretton Woods macro NGOs (World Bank, IMF) and other institutions (USAID)</a:t>
            </a:r>
          </a:p>
          <a:p>
            <a:pPr marL="224663" indent="-224663" defTabSz="557784">
              <a:spcBef>
                <a:spcPts val="400"/>
              </a:spcBef>
              <a:defRPr sz="1769">
                <a:latin typeface="Times New Roman"/>
                <a:ea typeface="Times New Roman"/>
                <a:cs typeface="Times New Roman"/>
                <a:sym typeface="Times New Roman"/>
              </a:defRPr>
            </a:pPr>
            <a:r>
              <a:t>Karl Polanyiesque: A “Great Transformation”</a:t>
            </a:r>
          </a:p>
          <a:p>
            <a:pPr lvl="1" marL="449326" indent="-224663" defTabSz="557784">
              <a:spcBef>
                <a:spcPts val="400"/>
              </a:spcBef>
              <a:buChar char="•"/>
              <a:defRPr sz="1769">
                <a:latin typeface="Times New Roman"/>
                <a:ea typeface="Times New Roman"/>
                <a:cs typeface="Times New Roman"/>
                <a:sym typeface="Times New Roman"/>
              </a:defRPr>
            </a:pPr>
            <a:r>
              <a:t>In contrast to a belief in the “system of natural liberty”</a:t>
            </a:r>
          </a:p>
          <a:p>
            <a:pPr lvl="1" marL="449326" indent="-224663" defTabSz="557784">
              <a:spcBef>
                <a:spcPts val="400"/>
              </a:spcBef>
              <a:buChar char="•"/>
              <a:defRPr sz="1769">
                <a:latin typeface="Times New Roman"/>
                <a:ea typeface="Times New Roman"/>
                <a:cs typeface="Times New Roman"/>
                <a:sym typeface="Times New Roman"/>
              </a:defRPr>
            </a:pPr>
            <a:r>
              <a:t>Human institutions and practices need to be transformed for industrialization to take hold</a:t>
            </a:r>
          </a:p>
          <a:p>
            <a:pPr lvl="2" marL="673988" indent="-224663" defTabSz="557784">
              <a:spcBef>
                <a:spcPts val="400"/>
              </a:spcBef>
              <a:defRPr sz="1769">
                <a:latin typeface="Times New Roman"/>
                <a:ea typeface="Times New Roman"/>
                <a:cs typeface="Times New Roman"/>
                <a:sym typeface="Times New Roman"/>
              </a:defRPr>
            </a:pPr>
            <a:r>
              <a:t>Market economy/market society/“double movement”</a:t>
            </a:r>
          </a:p>
          <a:p>
            <a:pPr marL="224663" indent="-224663" defTabSz="557784">
              <a:spcBef>
                <a:spcPts val="400"/>
              </a:spcBef>
              <a:defRPr sz="1769">
                <a:latin typeface="Times New Roman"/>
                <a:ea typeface="Times New Roman"/>
                <a:cs typeface="Times New Roman"/>
                <a:sym typeface="Times New Roman"/>
              </a:defRPr>
            </a:pPr>
            <a:r>
              <a:t>“Washington Consensus” of neoliberalism did not produce hoped-for results. Or did it?</a:t>
            </a:r>
          </a:p>
          <a:p>
            <a:pPr lvl="1" marL="449326" indent="-224663" defTabSz="557784">
              <a:spcBef>
                <a:spcPts val="400"/>
              </a:spcBef>
              <a:buChar char="•"/>
              <a:defRPr sz="1769">
                <a:latin typeface="Times New Roman"/>
                <a:ea typeface="Times New Roman"/>
                <a:cs typeface="Times New Roman"/>
                <a:sym typeface="Times New Roman"/>
              </a:defRPr>
            </a:pPr>
            <a:r>
              <a:t>If a country cannot run a public utility water system in the public interest, why would you think it be able to conduct a privatization auction in the public interest?</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About the Course"/>
          <p:cNvSpPr txBox="1"/>
          <p:nvPr>
            <p:ph type="title" idx="4294967295"/>
          </p:nvPr>
        </p:nvSpPr>
        <p:spPr>
          <a:xfrm>
            <a:off x="112563" y="-3"/>
            <a:ext cx="8890001" cy="1143001"/>
          </a:xfrm>
          <a:prstGeom prst="rect">
            <a:avLst/>
          </a:prstGeom>
        </p:spPr>
        <p:txBody>
          <a:bodyPr lIns="45718" tIns="45718" rIns="45718" bIns="45718"/>
          <a:lstStyle>
            <a:lvl1pPr defTabSz="393192">
              <a:defRPr b="1" sz="6880">
                <a:solidFill>
                  <a:srgbClr val="000080"/>
                </a:solidFill>
                <a:uFill>
                  <a:solidFill>
                    <a:srgbClr val="000000"/>
                  </a:solidFill>
                </a:uFill>
                <a:latin typeface="+mj-lt"/>
                <a:ea typeface="+mj-ea"/>
                <a:cs typeface="+mj-cs"/>
                <a:sym typeface="Helvetica"/>
              </a:defRPr>
            </a:lvl1pPr>
          </a:lstStyle>
          <a:p>
            <a:pPr/>
            <a:r>
              <a:t>People</a:t>
            </a:r>
          </a:p>
        </p:txBody>
      </p:sp>
      <p:sp>
        <p:nvSpPr>
          <p:cNvPr id="162" name="The long 20th century will in all likelihood be seen in the future as the watershed in human experience:…"/>
          <p:cNvSpPr txBox="1"/>
          <p:nvPr/>
        </p:nvSpPr>
        <p:spPr>
          <a:xfrm>
            <a:off x="112563" y="1142997"/>
            <a:ext cx="8890001" cy="53975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defTabSz="410764">
              <a:spcBef>
                <a:spcPts val="900"/>
              </a:spcBef>
              <a:defRPr b="1" sz="1900">
                <a:latin typeface="+mj-lt"/>
                <a:ea typeface="+mj-ea"/>
                <a:cs typeface="+mj-cs"/>
                <a:sym typeface="Helvetica"/>
              </a:defRPr>
            </a:pPr>
            <a:r>
              <a:t>Brad DeLong delong@econ.berkeley.edu</a:t>
            </a:r>
          </a:p>
          <a:p>
            <a:pPr marL="342899" indent="-342899" defTabSz="410764">
              <a:spcBef>
                <a:spcPts val="800"/>
              </a:spcBef>
              <a:buSzPct val="100000"/>
              <a:buChar char="•"/>
              <a:defRPr sz="1900">
                <a:latin typeface="Times New Roman"/>
                <a:ea typeface="Times New Roman"/>
                <a:cs typeface="Times New Roman"/>
                <a:sym typeface="Times New Roman"/>
              </a:defRPr>
            </a:pPr>
            <a:r>
              <a:t>Tvetene Carlson </a:t>
            </a:r>
            <a:r>
              <a:rPr u="sng">
                <a:solidFill>
                  <a:srgbClr val="0000FF"/>
                </a:solidFill>
                <a:uFill>
                  <a:solidFill>
                    <a:srgbClr val="0000FF"/>
                  </a:solidFill>
                </a:uFill>
                <a:hlinkClick r:id="rId3" invalidUrl="" action="" tgtFrame="" tooltip="" history="1" highlightClick="0" endSnd="0"/>
              </a:rPr>
              <a:t>tjcarlson@berkeley.edu</a:t>
            </a:r>
            <a:r>
              <a:t> 3034966195 G Civil &amp; Environmental Eng MS, Civil &amp; Environmenta</a:t>
            </a:r>
          </a:p>
          <a:p>
            <a:pPr marL="342899" indent="-342899" defTabSz="410764">
              <a:spcBef>
                <a:spcPts val="800"/>
              </a:spcBef>
              <a:buSzPct val="100000"/>
              <a:buChar char="•"/>
              <a:defRPr sz="1900">
                <a:latin typeface="Times New Roman"/>
                <a:ea typeface="Times New Roman"/>
                <a:cs typeface="Times New Roman"/>
                <a:sym typeface="Times New Roman"/>
              </a:defRPr>
            </a:pPr>
            <a:r>
              <a:t>Casey Finnerty </a:t>
            </a:r>
            <a:r>
              <a:rPr u="sng">
                <a:solidFill>
                  <a:srgbClr val="0000FF"/>
                </a:solidFill>
                <a:uFill>
                  <a:solidFill>
                    <a:srgbClr val="0000FF"/>
                  </a:solidFill>
                </a:uFill>
                <a:hlinkClick r:id="rId4" invalidUrl="" action="" tgtFrame="" tooltip="" history="1" highlightClick="0" endSnd="0"/>
              </a:rPr>
              <a:t>casey.finnerty@berkeley.edu</a:t>
            </a:r>
            <a:r>
              <a:t> 20956015 G Civil &amp; Environmental Eng PhD</a:t>
            </a:r>
          </a:p>
          <a:p>
            <a:pPr marL="342899" indent="-342899" defTabSz="410764">
              <a:spcBef>
                <a:spcPts val="800"/>
              </a:spcBef>
              <a:buSzPct val="100000"/>
              <a:buChar char="•"/>
              <a:defRPr sz="1900">
                <a:latin typeface="Times New Roman"/>
                <a:ea typeface="Times New Roman"/>
                <a:cs typeface="Times New Roman"/>
                <a:sym typeface="Times New Roman"/>
              </a:defRPr>
            </a:pPr>
            <a:r>
              <a:t>Adrian Hinkle </a:t>
            </a:r>
            <a:r>
              <a:rPr u="sng">
                <a:solidFill>
                  <a:srgbClr val="0000FF"/>
                </a:solidFill>
                <a:uFill>
                  <a:solidFill>
                    <a:srgbClr val="0000FF"/>
                  </a:solidFill>
                </a:uFill>
                <a:hlinkClick r:id="rId5" invalidUrl="" action="" tgtFrame="" tooltip="" history="1" highlightClick="0" endSnd="0"/>
              </a:rPr>
              <a:t>adrian.hinkle@berkeley.edu</a:t>
            </a:r>
            <a:r>
              <a:t> 3034272154 G Civil &amp; Environmental Eng PhD</a:t>
            </a:r>
          </a:p>
          <a:p>
            <a:pPr marL="342899" indent="-342899" defTabSz="410764">
              <a:spcBef>
                <a:spcPts val="800"/>
              </a:spcBef>
              <a:buSzPct val="100000"/>
              <a:buChar char="•"/>
              <a:defRPr sz="1900">
                <a:latin typeface="Times New Roman"/>
                <a:ea typeface="Times New Roman"/>
                <a:cs typeface="Times New Roman"/>
                <a:sym typeface="Times New Roman"/>
              </a:defRPr>
            </a:pPr>
            <a:r>
              <a:t>Mekhala Hoskote </a:t>
            </a:r>
            <a:r>
              <a:rPr u="sng">
                <a:solidFill>
                  <a:srgbClr val="0000FF"/>
                </a:solidFill>
                <a:uFill>
                  <a:solidFill>
                    <a:srgbClr val="0000FF"/>
                  </a:solidFill>
                </a:uFill>
                <a:hlinkClick r:id="rId6" invalidUrl="" action="" tgtFrame="" tooltip="" history="1" highlightClick="0" endSnd="0"/>
              </a:rPr>
              <a:t>mdhoskote@berkeley.edu</a:t>
            </a:r>
            <a:r>
              <a:t> 24205468 G Health &amp; Medical Sciences MS</a:t>
            </a:r>
          </a:p>
          <a:p>
            <a:pPr marL="342899" indent="-342899" defTabSz="410764">
              <a:spcBef>
                <a:spcPts val="800"/>
              </a:spcBef>
              <a:buSzPct val="100000"/>
              <a:buChar char="•"/>
              <a:defRPr sz="1900">
                <a:latin typeface="Times New Roman"/>
                <a:ea typeface="Times New Roman"/>
                <a:cs typeface="Times New Roman"/>
                <a:sym typeface="Times New Roman"/>
              </a:defRPr>
            </a:pPr>
            <a:r>
              <a:t>Kelly Conway </a:t>
            </a:r>
            <a:r>
              <a:rPr u="sng">
                <a:solidFill>
                  <a:srgbClr val="0000FF"/>
                </a:solidFill>
                <a:uFill>
                  <a:solidFill>
                    <a:srgbClr val="0000FF"/>
                  </a:solidFill>
                </a:uFill>
                <a:hlinkClick r:id="rId7" invalidUrl="" action="" tgtFrame="" tooltip="" history="1" highlightClick="0" endSnd="0"/>
              </a:rPr>
              <a:t>kelly_conway@berkeley.edu</a:t>
            </a:r>
          </a:p>
          <a:p>
            <a:pPr marL="342899" indent="-342899" defTabSz="410764">
              <a:spcBef>
                <a:spcPts val="800"/>
              </a:spcBef>
              <a:buSzPct val="100000"/>
              <a:buChar char="•"/>
              <a:defRPr sz="1900">
                <a:latin typeface="Times New Roman"/>
                <a:ea typeface="Times New Roman"/>
                <a:cs typeface="Times New Roman"/>
                <a:sym typeface="Times New Roman"/>
              </a:defRPr>
            </a:pPr>
            <a:r>
              <a:t>Haley Wohlever </a:t>
            </a:r>
            <a:r>
              <a:rPr u="sng">
                <a:solidFill>
                  <a:srgbClr val="0000FF"/>
                </a:solidFill>
                <a:uFill>
                  <a:solidFill>
                    <a:srgbClr val="0000FF"/>
                  </a:solidFill>
                </a:uFill>
                <a:hlinkClick r:id="rId8" invalidUrl="" action="" tgtFrame="" tooltip="" history="1" highlightClick="0" endSnd="0"/>
              </a:rPr>
              <a:t>haley.wohlever@berkeley.edu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Hanna Seo </a:t>
            </a:r>
            <a:r>
              <a:rPr u="sng">
                <a:solidFill>
                  <a:srgbClr val="0000FF"/>
                </a:solidFill>
                <a:uFill>
                  <a:solidFill>
                    <a:srgbClr val="0000FF"/>
                  </a:solidFill>
                </a:uFill>
                <a:hlinkClick r:id="rId9" invalidUrl="" action="" tgtFrame="" tooltip="" history="1" highlightClick="0" endSnd="0"/>
              </a:rPr>
              <a:t>hanna_seo@berkeley.edu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Sara Mahmoud </a:t>
            </a:r>
            <a:r>
              <a:rPr u="sng">
                <a:solidFill>
                  <a:srgbClr val="0000FF"/>
                </a:solidFill>
                <a:uFill>
                  <a:solidFill>
                    <a:srgbClr val="0000FF"/>
                  </a:solidFill>
                </a:uFill>
                <a:hlinkClick r:id="rId10" invalidUrl="" action="" tgtFrame="" tooltip="" history="1" highlightClick="0" endSnd="0"/>
              </a:rPr>
              <a:t>sara_mahmoud@berkeley.edu</a:t>
            </a:r>
          </a:p>
          <a:p>
            <a:pPr marL="342899" indent="-342899" defTabSz="410764">
              <a:spcBef>
                <a:spcPts val="800"/>
              </a:spcBef>
              <a:buSzPct val="100000"/>
              <a:buChar char="•"/>
              <a:defRPr sz="1900">
                <a:latin typeface="Times New Roman"/>
                <a:ea typeface="Times New Roman"/>
                <a:cs typeface="Times New Roman"/>
                <a:sym typeface="Times New Roman"/>
              </a:defRPr>
            </a:pPr>
            <a:r>
              <a:t>Margie Lauter </a:t>
            </a:r>
            <a:r>
              <a:rPr u="sng">
                <a:solidFill>
                  <a:srgbClr val="0000FF"/>
                </a:solidFill>
                <a:uFill>
                  <a:solidFill>
                    <a:srgbClr val="0000FF"/>
                  </a:solidFill>
                </a:uFill>
                <a:hlinkClick r:id="rId11" invalidUrl="" action="" tgtFrame="" tooltip="" history="1" highlightClick="0" endSnd="0"/>
              </a:rPr>
              <a:t>margielauter@berkeley.edu</a:t>
            </a:r>
            <a:r>
              <a:t> </a:t>
            </a:r>
          </a:p>
          <a:p>
            <a:pPr marL="342899" indent="-342899" defTabSz="410764">
              <a:spcBef>
                <a:spcPts val="800"/>
              </a:spcBef>
              <a:buSzPct val="100000"/>
              <a:buChar char="•"/>
              <a:defRPr sz="1900">
                <a:latin typeface="Times New Roman"/>
                <a:ea typeface="Times New Roman"/>
                <a:cs typeface="Times New Roman"/>
                <a:sym typeface="Times New Roman"/>
              </a:defRPr>
            </a:pPr>
            <a:r>
              <a:t>Dana Geffner </a:t>
            </a:r>
            <a:r>
              <a:rPr u="sng">
                <a:solidFill>
                  <a:srgbClr val="0000FF"/>
                </a:solidFill>
                <a:uFill>
                  <a:solidFill>
                    <a:srgbClr val="0000FF"/>
                  </a:solidFill>
                </a:uFill>
                <a:hlinkClick r:id="rId12" invalidUrl="" action="" tgtFrame="" tooltip="" history="1" highlightClick="0" endSnd="0"/>
              </a:rPr>
              <a:t>dana_geffner@berkeley.edu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