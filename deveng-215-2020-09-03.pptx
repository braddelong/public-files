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Shape 133"/>
          <p:cNvSpPr/>
          <p:nvPr>
            <p:ph type="sldImg"/>
          </p:nvPr>
        </p:nvSpPr>
        <p:spPr>
          <a:prstGeom prst="rect">
            <a:avLst/>
          </a:prstGeom>
        </p:spPr>
        <p:txBody>
          <a:bodyPr/>
          <a:lstStyle/>
          <a:p>
            <a:pPr/>
          </a:p>
        </p:txBody>
      </p:sp>
      <p:sp>
        <p:nvSpPr>
          <p:cNvPr id="134" name="Shape 134"/>
          <p:cNvSpPr/>
          <p:nvPr>
            <p:ph type="body" sz="quarter" idx="1"/>
          </p:nvPr>
        </p:nvSpPr>
        <p:spPr>
          <a:prstGeom prst="rect">
            <a:avLst/>
          </a:prstGeom>
        </p:spPr>
        <p:txBody>
          <a:bodyPr/>
          <a:lstStyle/>
          <a:p>
            <a:pPr defTabSz="457200">
              <a:lnSpc>
                <a:spcPct val="125000"/>
              </a:lnSpc>
              <a:defRPr sz="2400">
                <a:latin typeface="Avenir Roman"/>
                <a:ea typeface="Avenir Roman"/>
                <a:cs typeface="Avenir Roman"/>
                <a:sym typeface="Avenir Roman"/>
              </a:defRPr>
            </a:pPr>
            <a:r>
              <a:t>From a cynical perspective the interesting question might be not why was there economic stagnation in much and absolute economic decline in some ofemerging markets, but why there was rapid growth in other portions. Chile, Mexico, southern Brazil, and Panama in Latin America; Algeria in Saharan and Botswana in sub-Saharan Africa; and Hong Kong, Malaysia, Singapore, South Korea, Taiwan, Thailand, and now, of course, China in Asia are countries that have made impressive strides toward closing the relative material prosperity gap vis-a-vis the global north in the post-World War II era. How have they managed to do this? What have been the key factors separating successful from unsuccessful episodes of economic development?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 natural conclusion from emerging-market history is that successful economic development is difficult without either a limited government or a developmental state: the logic of politics is that of favors performed, wealth redistributed, inﬂuence exercised, and taxes collected; that is very different from the logic of economic growth. Only a state that is limited in the amount of damage it can do to the economy, or a state that is secure enough, independent enough, and committed to rapid economic growth can avoid this development trap.</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are the two roads to successful rapid development: “neoliberalism,” on the one hand; and the so-called “developmental state” approach that has been so successful in East Asia on the other. Either insulate the economy from the (semi-predatory) government so that the government’s attempts to tilt the distribution of income in favor of the politically powerful are relatively ineffective and do little harm, or create a government bureaucracy whose first goal is development, and which views interests as its tools to be used in promoting economic growth, rather than as its masters.</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pressures have, in the post-World War II period at least, been strong enough to counteract the natural tendency for poor countries to learn rapidly about technology and catch up to rich ones. There is no clear reason on the horizon for these pressures to diminish. Optimists hope that the record of economic failure provided by much third world experience in the past generation will lead to the creation of intellectual pressures for reform strong enough to overcome the bias for stagnation. </a:t>
            </a:r>
            <a:br/>
            <a:br/>
            <a:r>
              <a:t>And if ideas truly are the decisive forces making history in the long run, perhaps the optimists are right.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If the optimists are wrong, then we are all in big trouble. Successful handling of the future’s global environmental problems, and successful long-run stabilization of human populations, hinges on successful industrialization in the third world and the consequent—rapid—passage through the demographic transition.</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One way to read the economic history is as repeated attempts to produce the second: to create a pro-growth “developmental state.” Yet in the last analysis there is nothing worse than state-led development led by an anti-developmental state. And that was what too many post-independence Asian and African and too many post-World War II Latin American states turned out to be.</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Thus starting in the 1980s hopes for development—outside of the Pacific Rim, where the successful “developmental state” has been was already clearly a reality— shifted in the direction of “neoliberalism.” It seemed better to try to limit the state’s involvement in the process of development, because its interventions were more likely to be destructive than constructive. Rely, instead, on the world market as a source of demand, and on the requirements for integration into the world market and cooperation with the international agencies set up after World War II as a source of good-enough governance.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1" name="Title Text"/>
          <p:cNvSpPr txBox="1"/>
          <p:nvPr>
            <p:ph type="title"/>
          </p:nvPr>
        </p:nvSpPr>
        <p:spPr>
          <a:xfrm>
            <a:off x="6629400" y="274638"/>
            <a:ext cx="2057400" cy="5851526"/>
          </a:xfrm>
          <a:prstGeom prst="rect">
            <a:avLst/>
          </a:prstGeom>
        </p:spPr>
        <p:txBody>
          <a:bodyPr/>
          <a:lstStyle/>
          <a:p>
            <a:pPr/>
            <a:r>
              <a:t>Title Text</a:t>
            </a:r>
          </a:p>
        </p:txBody>
      </p:sp>
      <p:sp>
        <p:nvSpPr>
          <p:cNvPr id="102" name="Body Level One…"/>
          <p:cNvSpPr txBox="1"/>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04292"/>
            <a:ext cx="258624" cy="26924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courses.berkeley.edu/courses/1497095"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mailto:tjcarlson@berkeley.edu" TargetMode="External"/><Relationship Id="rId4" Type="http://schemas.openxmlformats.org/officeDocument/2006/relationships/hyperlink" Target="mailto:casey.finnerty@berkeley.edu" TargetMode="External"/><Relationship Id="rId5" Type="http://schemas.openxmlformats.org/officeDocument/2006/relationships/hyperlink" Target="mailto:adrian.hinkle@berkeley.edu" TargetMode="External"/><Relationship Id="rId6" Type="http://schemas.openxmlformats.org/officeDocument/2006/relationships/hyperlink" Target="mailto:mdhoskote@berkeley.edu" TargetMode="External"/><Relationship Id="rId7" Type="http://schemas.openxmlformats.org/officeDocument/2006/relationships/hyperlink" Target="mailto:kelly_conway@berkeley.edu" TargetMode="External"/><Relationship Id="rId8" Type="http://schemas.openxmlformats.org/officeDocument/2006/relationships/hyperlink" Target="mailto:haley.wohlever@berkeley.edu" TargetMode="External"/><Relationship Id="rId9" Type="http://schemas.openxmlformats.org/officeDocument/2006/relationships/hyperlink" Target="mailto:hanna_seo@berkeley.edu" TargetMode="External"/><Relationship Id="rId10" Type="http://schemas.openxmlformats.org/officeDocument/2006/relationships/hyperlink" Target="mailto:sara_mahmoud@berkeley.edu" TargetMode="External"/><Relationship Id="rId11" Type="http://schemas.openxmlformats.org/officeDocument/2006/relationships/hyperlink" Target="mailto:margielauter@berkeley.edu" TargetMode="External"/><Relationship Id="rId12" Type="http://schemas.openxmlformats.org/officeDocument/2006/relationships/hyperlink" Target="mailto:dana_geffner@berkeley.edu"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Development Engineering 215: Global Poverty Challenges and Hopes: A Perspective for Development Engineers"/>
          <p:cNvSpPr txBox="1"/>
          <p:nvPr>
            <p:ph type="title" idx="4294967295"/>
          </p:nvPr>
        </p:nvSpPr>
        <p:spPr>
          <a:xfrm>
            <a:off x="685799" y="530740"/>
            <a:ext cx="7772401" cy="2429430"/>
          </a:xfrm>
          <a:prstGeom prst="rect">
            <a:avLst/>
          </a:prstGeom>
        </p:spPr>
        <p:txBody>
          <a:bodyPr/>
          <a:lstStyle>
            <a:lvl1pPr defTabSz="310895">
              <a:defRPr b="1" sz="3808">
                <a:solidFill>
                  <a:srgbClr val="800000"/>
                </a:solidFill>
                <a:uFill>
                  <a:solidFill>
                    <a:srgbClr val="000000"/>
                  </a:solidFill>
                </a:uFill>
              </a:defRPr>
            </a:lvl1pPr>
          </a:lstStyle>
          <a:p>
            <a:pPr/>
            <a:r>
              <a:t>Development Engineering 215: Global Poverty Challenges and Hopes: A Perspective for Development Engineers </a:t>
            </a:r>
          </a:p>
        </p:txBody>
      </p:sp>
      <p:sp>
        <p:nvSpPr>
          <p:cNvPr id="113" name="J. Bradford DeLong…"/>
          <p:cNvSpPr txBox="1"/>
          <p:nvPr>
            <p:ph type="body" sz="half" idx="4294967295"/>
          </p:nvPr>
        </p:nvSpPr>
        <p:spPr>
          <a:xfrm>
            <a:off x="994997" y="3280857"/>
            <a:ext cx="6991279" cy="2953204"/>
          </a:xfrm>
          <a:prstGeom prst="rect">
            <a:avLst/>
          </a:prstGeom>
        </p:spPr>
        <p:txBody>
          <a:bodyPr/>
          <a:lstStyle/>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J. Bradford DeLong</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Professor of Economics and Chief Economist Blum Center for Developing Economies, U.C. Berkeley</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r>
              <a:rPr>
                <a:solidFill>
                  <a:srgbClr val="898989"/>
                </a:solidFill>
                <a:uFill>
                  <a:solidFill>
                    <a:srgbClr val="898989"/>
                  </a:solidFill>
                </a:uFill>
              </a:rPr>
              <a:t>Th 2020-09-03 12:00 Noon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Introduction"/>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Introduction</a:t>
            </a:r>
          </a:p>
        </p:txBody>
      </p:sp>
      <p:sp>
        <p:nvSpPr>
          <p:cNvPr id="116" name="Despair: At most 8% of the world’s population has a standard of living more than half of today’s U.S. median. Rejoice: the world today is so much fabulously richer than it was in 1800. That is a miracle. Recoil: our knowledge—of how to run governments; o"/>
          <p:cNvSpPr txBox="1"/>
          <p:nvPr>
            <p:ph type="body" idx="4294967295"/>
          </p:nvPr>
        </p:nvSpPr>
        <p:spPr>
          <a:xfrm>
            <a:off x="457199" y="1143000"/>
            <a:ext cx="8229601" cy="5218543"/>
          </a:xfrm>
          <a:prstGeom prst="rect">
            <a:avLst/>
          </a:prstGeom>
        </p:spPr>
        <p:txBody>
          <a:bodyPr/>
          <a:lstStyle/>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rPr b="1"/>
              <a:t>Despair</a:t>
            </a:r>
            <a:r>
              <a:t>: At most 8% of the world’s population has a standard of living more than half of today’s U.S. median. </a:t>
            </a:r>
            <a:r>
              <a:rPr b="1"/>
              <a:t>Rejoice</a:t>
            </a:r>
            <a:r>
              <a:t>: the world today is so much fabulously richer than it was in 1800. That is a miracle. </a:t>
            </a:r>
            <a:r>
              <a:rPr b="1"/>
              <a:t>Recoil</a:t>
            </a:r>
            <a:r>
              <a:t>: our knowledge—of how to run governments; of how to organize markets, firms, and property; and of how to apply science and technology—is so sketchily and unevenly distributed around the world, leaving only a small part of it as what we would see as rich and huge chunks of it as what we do see as desperately poor, is a scandal, and a crime against humanity.</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Today the median household’s standard of living in the United States, Switzerland, or Singapore is 55 times $1.90 a day. Yet 9% of humanity today—700 million people—lives below that dire poverty line. Half the world’s population lives at less than $7 a day. 20% of humanity at less than $3.</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Except for the last generation’s worth, all of technological progress has been open-sourced by the workings of the global patent system. All of the organizational and business models of the most productive firms and value chain networks in the world are public: open to inspection. Anyone who can gain access to one of the nine billion telephones currently existing can dial-up anybody else—although not necessarily gain an answer. There are readily scheduled or easily chartered transportation services that allow people to reach nearly any point of land (save for pieces of Antarctica) on the globe in twenty-four hours. Non-perishable goods can be carried around the world for pennies: twenty dollars per cubic foot is the current quoted price for Shanghai-Long Beach. And services can be delivered for less over those nine billion phones and other network connections. The world today is—in communications and transportations—tiny.</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How can it be that a world that is so much richer and so much smaller than the world of two centuries ago is so much more unequal—that we still have 9% of the globe’s population at a living standard that is (save for public health, and access to the village phone) little distinguished from those of our pre-industrial ancestors?</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And what can sociology, economics, political science, and history tell us about the answer to that question, and about the future question: what can we do about it?</a:t>
            </a: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p>
          <a:p>
            <a:pPr marL="0" indent="0" defTabSz="224027">
              <a:spcBef>
                <a:spcPts val="400"/>
              </a:spcBef>
              <a:buSzTx/>
              <a:buFontTx/>
              <a:buNone/>
              <a:defRPr sz="1176">
                <a:uFill>
                  <a:solidFill>
                    <a:srgbClr val="000000"/>
                  </a:solidFill>
                </a:uFill>
                <a:latin typeface="Times New Roman"/>
                <a:ea typeface="Times New Roman"/>
                <a:cs typeface="Times New Roman"/>
                <a:sym typeface="Times New Roman"/>
              </a:defRPr>
            </a:pPr>
            <a:r>
              <a:t>What do future development engineers need to know in addition to knowing the engineering—what do they need to know about the economics, the political economy, the sociology, the anthropology, and the institutions—in order to be effective and competent?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Development”"/>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“Development”</a:t>
            </a:r>
          </a:p>
        </p:txBody>
      </p:sp>
      <p:sp>
        <p:nvSpPr>
          <p:cNvPr id="119" name="Three Big Questions:…"/>
          <p:cNvSpPr txBox="1"/>
          <p:nvPr>
            <p:ph type="body" idx="4294967295"/>
          </p:nvPr>
        </p:nvSpPr>
        <p:spPr>
          <a:xfrm>
            <a:off x="457199" y="1143000"/>
            <a:ext cx="8229601" cy="5218543"/>
          </a:xfrm>
          <a:prstGeom prst="rect">
            <a:avLst/>
          </a:prstGeom>
        </p:spPr>
        <p:txBody>
          <a:bodyPr/>
          <a:lstStyle/>
          <a:p>
            <a:pPr marL="0" indent="0" defTabSz="457200">
              <a:spcBef>
                <a:spcPts val="800"/>
              </a:spcBef>
              <a:buSzTx/>
              <a:buFontTx/>
              <a:buNone/>
              <a:defRPr sz="2400">
                <a:uFill>
                  <a:solidFill>
                    <a:srgbClr val="000000"/>
                  </a:solidFill>
                </a:uFill>
                <a:latin typeface="+mj-lt"/>
                <a:ea typeface="+mj-ea"/>
                <a:cs typeface="+mj-cs"/>
                <a:sym typeface="Helvetica"/>
              </a:defRPr>
            </a:pPr>
            <a:r>
              <a:rPr b="1"/>
              <a:t>Three Big Questions:</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How can it be that a world that is so much richer and so much smaller than the world of two centuries ago is so much more unequal—that we still have 9% of the globe’s population at a living standard that is little distinguished from those of our pre-industrial ancestors?</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can sociology, economics, political science, and history tell us about the answer to that question, and about the future question: what can we do about it?</a:t>
            </a:r>
          </a:p>
          <a:p>
            <a:pPr marL="320842" indent="-320842"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do future development engineers need to know in addition to knowing the engineering—what do they need to know about the economics, the political economy, the sociology, the anthropology, and the institutions—in order to be effective and competent?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DevEng 215 &amp; GPP 115"/>
          <p:cNvSpPr txBox="1"/>
          <p:nvPr>
            <p:ph type="title" idx="4294967295"/>
          </p:nvPr>
        </p:nvSpPr>
        <p:spPr>
          <a:xfrm>
            <a:off x="457199" y="-1"/>
            <a:ext cx="8229601" cy="1143002"/>
          </a:xfrm>
          <a:prstGeom prst="rect">
            <a:avLst/>
          </a:prstGeom>
        </p:spPr>
        <p:txBody>
          <a:bodyPr/>
          <a:lstStyle>
            <a:lvl1pPr defTabSz="333756">
              <a:defRPr b="1" sz="5840">
                <a:solidFill>
                  <a:srgbClr val="000080"/>
                </a:solidFill>
                <a:uFill>
                  <a:solidFill>
                    <a:srgbClr val="000000"/>
                  </a:solidFill>
                </a:uFill>
                <a:latin typeface="+mj-lt"/>
                <a:ea typeface="+mj-ea"/>
                <a:cs typeface="+mj-cs"/>
                <a:sym typeface="Helvetica"/>
              </a:defRPr>
            </a:lvl1pPr>
          </a:lstStyle>
          <a:p>
            <a:pPr/>
            <a:r>
              <a:t>DevEng 215 &amp; GPP 115</a:t>
            </a:r>
          </a:p>
        </p:txBody>
      </p:sp>
      <p:sp>
        <p:nvSpPr>
          <p:cNvPr id="122" name="GPP 115:…"/>
          <p:cNvSpPr txBox="1"/>
          <p:nvPr>
            <p:ph type="body" idx="4294967295"/>
          </p:nvPr>
        </p:nvSpPr>
        <p:spPr>
          <a:xfrm>
            <a:off x="457199" y="1143000"/>
            <a:ext cx="8229601" cy="5218543"/>
          </a:xfrm>
          <a:prstGeom prst="rect">
            <a:avLst/>
          </a:prstGeom>
        </p:spPr>
        <p:txBody>
          <a:bodyPr/>
          <a:lstStyle/>
          <a:p>
            <a:pPr marL="0" indent="0" defTabSz="429768">
              <a:buSzTx/>
              <a:buFontTx/>
              <a:buNone/>
              <a:defRPr sz="2256">
                <a:uFill>
                  <a:solidFill>
                    <a:srgbClr val="000000"/>
                  </a:solidFill>
                </a:uFill>
                <a:latin typeface="+mj-lt"/>
                <a:ea typeface="+mj-ea"/>
                <a:cs typeface="+mj-cs"/>
                <a:sym typeface="Helvetica"/>
              </a:defRPr>
            </a:pPr>
            <a:r>
              <a:rPr b="1"/>
              <a:t>GPP 115:</a:t>
            </a:r>
          </a:p>
          <a:p>
            <a:pPr marL="226193" indent="-226193" defTabSz="429768">
              <a:buFontTx/>
              <a:defRPr sz="2256">
                <a:uFill>
                  <a:solidFill>
                    <a:srgbClr val="000000"/>
                  </a:solidFill>
                </a:uFill>
                <a:latin typeface="Times New Roman"/>
                <a:ea typeface="Times New Roman"/>
                <a:cs typeface="Times New Roman"/>
                <a:sym typeface="Times New Roman"/>
              </a:defRPr>
            </a:pPr>
            <a:r>
              <a:t>Joeva Rock</a:t>
            </a:r>
          </a:p>
          <a:p>
            <a:pPr marL="226193" indent="-226193" defTabSz="429768">
              <a:buFontTx/>
              <a:defRPr sz="2256">
                <a:uFill>
                  <a:solidFill>
                    <a:srgbClr val="000000"/>
                  </a:solidFill>
                </a:uFill>
                <a:latin typeface="Times New Roman"/>
                <a:ea typeface="Times New Roman"/>
                <a:cs typeface="Times New Roman"/>
                <a:sym typeface="Times New Roman"/>
              </a:defRPr>
            </a:pPr>
            <a:r>
              <a:t>&lt;</a:t>
            </a:r>
            <a:r>
              <a:rPr u="sng">
                <a:solidFill>
                  <a:srgbClr val="0000FF"/>
                </a:solidFill>
                <a:uFill>
                  <a:solidFill>
                    <a:srgbClr val="0000FF"/>
                  </a:solidFill>
                </a:uFill>
                <a:hlinkClick r:id="rId2" invalidUrl="" action="" tgtFrame="" tooltip="" history="1" highlightClick="0" endSnd="0"/>
              </a:rPr>
              <a:t>https://bcourses.berkeley.edu/courses/1497095</a:t>
            </a:r>
            <a:r>
              <a:t>&gt;</a:t>
            </a:r>
          </a:p>
          <a:p>
            <a:pPr marL="226193" indent="-226193" defTabSz="429768">
              <a:buFontTx/>
              <a:defRPr sz="2256">
                <a:uFill>
                  <a:solidFill>
                    <a:srgbClr val="000000"/>
                  </a:solidFill>
                </a:uFill>
                <a:latin typeface="Times New Roman"/>
                <a:ea typeface="Times New Roman"/>
                <a:cs typeface="Times New Roman"/>
                <a:sym typeface="Times New Roman"/>
              </a:defRPr>
            </a:pPr>
            <a:r>
              <a:t>What do we know?</a:t>
            </a:r>
          </a:p>
          <a:p>
            <a:pPr marL="0" indent="0" defTabSz="429768">
              <a:buSzTx/>
              <a:buFontTx/>
              <a:buNone/>
              <a:defRPr sz="2256">
                <a:uFill>
                  <a:solidFill>
                    <a:srgbClr val="000000"/>
                  </a:solidFill>
                </a:uFill>
                <a:latin typeface="+mj-lt"/>
                <a:ea typeface="+mj-ea"/>
                <a:cs typeface="+mj-cs"/>
                <a:sym typeface="Helvetica"/>
              </a:defRPr>
            </a:pPr>
          </a:p>
          <a:p>
            <a:pPr marL="0" indent="0" defTabSz="429768">
              <a:buSzTx/>
              <a:buFontTx/>
              <a:buNone/>
              <a:defRPr sz="2256">
                <a:uFill>
                  <a:solidFill>
                    <a:srgbClr val="000000"/>
                  </a:solidFill>
                </a:uFill>
                <a:latin typeface="+mj-lt"/>
                <a:ea typeface="+mj-ea"/>
                <a:cs typeface="+mj-cs"/>
                <a:sym typeface="Helvetica"/>
              </a:defRPr>
            </a:pPr>
            <a:r>
              <a:rPr b="1"/>
              <a:t>DevEng 215:</a:t>
            </a:r>
          </a:p>
          <a:p>
            <a:pPr marL="226193" indent="-226193" defTabSz="429768">
              <a:buFontTx/>
              <a:defRPr sz="2256">
                <a:uFill>
                  <a:solidFill>
                    <a:srgbClr val="000000"/>
                  </a:solidFill>
                </a:uFill>
                <a:latin typeface="Times New Roman"/>
                <a:ea typeface="Times New Roman"/>
                <a:cs typeface="Times New Roman"/>
                <a:sym typeface="Times New Roman"/>
              </a:defRPr>
            </a:pPr>
            <a:r>
              <a:t>What can we do?</a:t>
            </a:r>
          </a:p>
          <a:p>
            <a:pPr marL="226193" indent="-226193" defTabSz="429768">
              <a:buFontTx/>
              <a:defRPr sz="2256">
                <a:uFill>
                  <a:solidFill>
                    <a:srgbClr val="000000"/>
                  </a:solidFill>
                </a:uFill>
                <a:latin typeface="Times New Roman"/>
                <a:ea typeface="Times New Roman"/>
                <a:cs typeface="Times New Roman"/>
                <a:sym typeface="Times New Roman"/>
              </a:defRPr>
            </a:pPr>
            <a:r>
              <a:t>What do we need to watch out for?</a:t>
            </a:r>
          </a:p>
          <a:p>
            <a:pPr marL="226193" indent="-226193" defTabSz="429768">
              <a:buFontTx/>
              <a:defRPr sz="2256">
                <a:uFill>
                  <a:solidFill>
                    <a:srgbClr val="000000"/>
                  </a:solidFill>
                </a:uFill>
                <a:latin typeface="Times New Roman"/>
                <a:ea typeface="Times New Roman"/>
                <a:cs typeface="Times New Roman"/>
                <a:sym typeface="Times New Roman"/>
              </a:defRPr>
            </a:pPr>
            <a:r>
              <a:t>How can we leverage GPP for DevEng</a:t>
            </a:r>
          </a:p>
          <a:p>
            <a:pPr lvl="1" marL="584333" indent="-226193" defTabSz="429768">
              <a:buFontTx/>
              <a:buChar char="•"/>
              <a:defRPr sz="2256">
                <a:uFill>
                  <a:solidFill>
                    <a:srgbClr val="000000"/>
                  </a:solidFill>
                </a:uFill>
                <a:latin typeface="Times New Roman"/>
                <a:ea typeface="Times New Roman"/>
                <a:cs typeface="Times New Roman"/>
                <a:sym typeface="Times New Roman"/>
              </a:defRPr>
            </a:pPr>
            <a:r>
              <a:t>Given that the Blum Center has very little resources for this…</a:t>
            </a:r>
          </a:p>
          <a:p>
            <a:pPr marL="226193" indent="-226193" defTabSz="429768">
              <a:buFontTx/>
              <a:defRPr sz="2256">
                <a:uFill>
                  <a:solidFill>
                    <a:srgbClr val="000000"/>
                  </a:solidFill>
                </a:uFill>
                <a:latin typeface="Times New Roman"/>
                <a:ea typeface="Times New Roman"/>
                <a:cs typeface="Times New Roman"/>
                <a:sym typeface="Times New Roman"/>
              </a:defRPr>
            </a:pPr>
            <a:r>
              <a:t>DevEng: Development </a:t>
            </a:r>
            <a:r>
              <a:rPr i="1"/>
              <a:t>Engineering?</a:t>
            </a:r>
            <a:endParaRPr i="1"/>
          </a:p>
          <a:p>
            <a:pPr marL="226193" indent="-226193" defTabSz="429768">
              <a:buFontTx/>
              <a:defRPr sz="2256">
                <a:uFill>
                  <a:solidFill>
                    <a:srgbClr val="000000"/>
                  </a:solidFill>
                </a:uFill>
                <a:latin typeface="Times New Roman"/>
                <a:ea typeface="Times New Roman"/>
                <a:cs typeface="Times New Roman"/>
                <a:sym typeface="Times New Roman"/>
              </a:defRPr>
            </a:pPr>
            <a:r>
              <a:t>DevEng: Engineering </a:t>
            </a:r>
            <a:r>
              <a:rPr i="1"/>
              <a:t>Development?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Plan of Course"/>
          <p:cNvSpPr txBox="1"/>
          <p:nvPr>
            <p:ph type="title" idx="4294967295"/>
          </p:nvPr>
        </p:nvSpPr>
        <p:spPr>
          <a:xfrm>
            <a:off x="107246" y="0"/>
            <a:ext cx="8890001" cy="1143001"/>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Plan of Course</a:t>
            </a:r>
          </a:p>
        </p:txBody>
      </p:sp>
      <p:sp>
        <p:nvSpPr>
          <p:cNvPr id="125" name="Imagining the “end of poverty” &amp; Millennial development—Brad 2020-09-03…"/>
          <p:cNvSpPr txBox="1"/>
          <p:nvPr>
            <p:ph type="body" sz="half" idx="4294967295"/>
          </p:nvPr>
        </p:nvSpPr>
        <p:spPr>
          <a:xfrm>
            <a:off x="107246" y="1053898"/>
            <a:ext cx="4318001" cy="5461001"/>
          </a:xfrm>
          <a:prstGeom prst="rect">
            <a:avLst/>
          </a:prstGeom>
        </p:spPr>
        <p:txBody>
          <a:bodyPr/>
          <a:lstStyle/>
          <a:p>
            <a:pPr marL="0" indent="0" defTabSz="429768">
              <a:buSzTx/>
              <a:buFontTx/>
              <a:buNone/>
              <a:defRPr sz="1692">
                <a:uFill>
                  <a:solidFill>
                    <a:srgbClr val="000000"/>
                  </a:solidFill>
                </a:uFill>
                <a:latin typeface="Times New Roman"/>
                <a:ea typeface="Times New Roman"/>
                <a:cs typeface="Times New Roman"/>
                <a:sym typeface="Times New Roman"/>
              </a:defRPr>
            </a:pPr>
            <a:r>
              <a:t>Imagining the “end of poverty” &amp; Millennial development—Brad 2020-09-03</a:t>
            </a:r>
          </a:p>
          <a:p>
            <a:pPr marL="0" indent="0" defTabSz="429768">
              <a:buSzTx/>
              <a:buFontTx/>
              <a:buNone/>
              <a:defRPr sz="1692">
                <a:uFill>
                  <a:solidFill>
                    <a:srgbClr val="000000"/>
                  </a:solidFill>
                </a:uFill>
                <a:latin typeface="Times New Roman"/>
                <a:ea typeface="Times New Roman"/>
                <a:cs typeface="Times New Roman"/>
                <a:sym typeface="Times New Roman"/>
              </a:defRPr>
            </a:pPr>
            <a:r>
              <a:t>Colonial &amp; imperial beginnings—Adrian 2020-09-10</a:t>
            </a:r>
          </a:p>
          <a:p>
            <a:pPr marL="0" indent="0" defTabSz="429768">
              <a:buSzTx/>
              <a:buFontTx/>
              <a:buNone/>
              <a:defRPr sz="1692">
                <a:uFill>
                  <a:solidFill>
                    <a:srgbClr val="000000"/>
                  </a:solidFill>
                </a:uFill>
                <a:latin typeface="Times New Roman"/>
                <a:ea typeface="Times New Roman"/>
                <a:cs typeface="Times New Roman"/>
                <a:sym typeface="Times New Roman"/>
              </a:defRPr>
            </a:pPr>
            <a:r>
              <a:t>Modernization to “development” 2020-09-17</a:t>
            </a:r>
          </a:p>
          <a:p>
            <a:pPr marL="0" indent="0" defTabSz="429768">
              <a:buSzTx/>
              <a:buFontTx/>
              <a:buNone/>
              <a:defRPr sz="1692">
                <a:uFill>
                  <a:solidFill>
                    <a:srgbClr val="000000"/>
                  </a:solidFill>
                </a:uFill>
                <a:latin typeface="Times New Roman"/>
                <a:ea typeface="Times New Roman"/>
                <a:cs typeface="Times New Roman"/>
                <a:sym typeface="Times New Roman"/>
              </a:defRPr>
            </a:pPr>
            <a:r>
              <a:t>Inventing “development” 2020-09-24</a:t>
            </a:r>
          </a:p>
          <a:p>
            <a:pPr marL="0" indent="0" defTabSz="429768">
              <a:buSzTx/>
              <a:buFontTx/>
              <a:buNone/>
              <a:defRPr sz="1692">
                <a:uFill>
                  <a:solidFill>
                    <a:srgbClr val="000000"/>
                  </a:solidFill>
                </a:uFill>
                <a:latin typeface="Times New Roman"/>
                <a:ea typeface="Times New Roman"/>
                <a:cs typeface="Times New Roman"/>
                <a:sym typeface="Times New Roman"/>
              </a:defRPr>
            </a:pPr>
            <a:r>
              <a:t>Globalization 2020-10-01</a:t>
            </a:r>
          </a:p>
          <a:p>
            <a:pPr marL="0" indent="0" defTabSz="429768">
              <a:buSzTx/>
              <a:buFontTx/>
              <a:buNone/>
              <a:defRPr sz="1692">
                <a:uFill>
                  <a:solidFill>
                    <a:srgbClr val="000000"/>
                  </a:solidFill>
                </a:uFill>
                <a:latin typeface="Times New Roman"/>
                <a:ea typeface="Times New Roman"/>
                <a:cs typeface="Times New Roman"/>
                <a:sym typeface="Times New Roman"/>
              </a:defRPr>
            </a:pPr>
            <a:r>
              <a:t>Philanthropy 2020-10-08</a:t>
            </a:r>
          </a:p>
          <a:p>
            <a:pPr marL="0" indent="0" defTabSz="429768">
              <a:buSzTx/>
              <a:buFontTx/>
              <a:buNone/>
              <a:defRPr sz="1692">
                <a:uFill>
                  <a:solidFill>
                    <a:srgbClr val="000000"/>
                  </a:solidFill>
                </a:uFill>
                <a:latin typeface="Times New Roman"/>
                <a:ea typeface="Times New Roman"/>
                <a:cs typeface="Times New Roman"/>
                <a:sym typeface="Times New Roman"/>
              </a:defRPr>
            </a:pPr>
          </a:p>
          <a:p>
            <a:pPr marL="0" indent="0" defTabSz="429768">
              <a:buSzTx/>
              <a:buFontTx/>
              <a:buNone/>
              <a:defRPr sz="1692">
                <a:uFill>
                  <a:solidFill>
                    <a:srgbClr val="000000"/>
                  </a:solidFill>
                </a:uFill>
                <a:latin typeface="Times New Roman"/>
                <a:ea typeface="Times New Roman"/>
                <a:cs typeface="Times New Roman"/>
                <a:sym typeface="Times New Roman"/>
              </a:defRPr>
            </a:pPr>
            <a:r>
              <a:t>Disaster capitalism: Katrina 2020-10-22</a:t>
            </a:r>
          </a:p>
          <a:p>
            <a:pPr marL="0" indent="0" defTabSz="429768">
              <a:buSzTx/>
              <a:buFontTx/>
              <a:buNone/>
              <a:defRPr sz="1692">
                <a:uFill>
                  <a:solidFill>
                    <a:srgbClr val="000000"/>
                  </a:solidFill>
                </a:uFill>
                <a:latin typeface="Times New Roman"/>
                <a:ea typeface="Times New Roman"/>
                <a:cs typeface="Times New Roman"/>
                <a:sym typeface="Times New Roman"/>
              </a:defRPr>
            </a:pPr>
            <a:r>
              <a:t>Disaster capitalism: Maria 2020-10-29</a:t>
            </a:r>
          </a:p>
          <a:p>
            <a:pPr marL="0" indent="0" defTabSz="429768">
              <a:buSzTx/>
              <a:buFontTx/>
              <a:buNone/>
              <a:defRPr sz="1692">
                <a:uFill>
                  <a:solidFill>
                    <a:srgbClr val="000000"/>
                  </a:solidFill>
                </a:uFill>
                <a:latin typeface="Times New Roman"/>
                <a:ea typeface="Times New Roman"/>
                <a:cs typeface="Times New Roman"/>
                <a:sym typeface="Times New Roman"/>
              </a:defRPr>
            </a:pPr>
            <a:r>
              <a:t>The business of agriculture 2020-11-05</a:t>
            </a:r>
          </a:p>
          <a:p>
            <a:pPr marL="0" indent="0" defTabSz="429768">
              <a:buSzTx/>
              <a:buFontTx/>
              <a:buNone/>
              <a:defRPr sz="1692">
                <a:uFill>
                  <a:solidFill>
                    <a:srgbClr val="000000"/>
                  </a:solidFill>
                </a:uFill>
                <a:latin typeface="Times New Roman"/>
                <a:ea typeface="Times New Roman"/>
                <a:cs typeface="Times New Roman"/>
                <a:sym typeface="Times New Roman"/>
              </a:defRPr>
            </a:pPr>
            <a:r>
              <a:t>Sovereignty over food 2020-11-12</a:t>
            </a:r>
          </a:p>
          <a:p>
            <a:pPr marL="0" indent="0" defTabSz="429768">
              <a:buSzTx/>
              <a:buFontTx/>
              <a:buNone/>
              <a:defRPr sz="1692">
                <a:uFill>
                  <a:solidFill>
                    <a:srgbClr val="000000"/>
                  </a:solidFill>
                </a:uFill>
                <a:latin typeface="Times New Roman"/>
                <a:ea typeface="Times New Roman"/>
                <a:cs typeface="Times New Roman"/>
                <a:sym typeface="Times New Roman"/>
              </a:defRPr>
            </a:pPr>
            <a:r>
              <a:t>Health infrastructure 2020-11-19</a:t>
            </a:r>
          </a:p>
          <a:p>
            <a:pPr marL="0" indent="0" defTabSz="429768">
              <a:buSzTx/>
              <a:buFontTx/>
              <a:buNone/>
              <a:defRPr sz="1692">
                <a:uFill>
                  <a:solidFill>
                    <a:srgbClr val="000000"/>
                  </a:solidFill>
                </a:uFill>
                <a:latin typeface="Times New Roman"/>
                <a:ea typeface="Times New Roman"/>
                <a:cs typeface="Times New Roman"/>
                <a:sym typeface="Times New Roman"/>
              </a:defRPr>
            </a:pPr>
            <a:r>
              <a:t>Health citizenship 2020-11-25 (rescheduled)</a:t>
            </a:r>
          </a:p>
          <a:p>
            <a:pPr marL="0" indent="0" defTabSz="429768">
              <a:buSzTx/>
              <a:buFontTx/>
              <a:buNone/>
              <a:defRPr sz="1692">
                <a:uFill>
                  <a:solidFill>
                    <a:srgbClr val="000000"/>
                  </a:solidFill>
                </a:uFill>
                <a:latin typeface="Times New Roman"/>
                <a:ea typeface="Times New Roman"/>
                <a:cs typeface="Times New Roman"/>
                <a:sym typeface="Times New Roman"/>
              </a:defRPr>
            </a:pPr>
            <a:r>
              <a:t>Global citizenship 2020-12-03</a:t>
            </a:r>
          </a:p>
        </p:txBody>
      </p:sp>
      <p:sp>
        <p:nvSpPr>
          <p:cNvPr id="126" name="Be willing to lead (or at least step in to fill awkward pauses and direct discussion in a productive direction) one (or maybe two) Thursday class sessions:…"/>
          <p:cNvSpPr txBox="1"/>
          <p:nvPr/>
        </p:nvSpPr>
        <p:spPr>
          <a:xfrm>
            <a:off x="4679246" y="1053898"/>
            <a:ext cx="4318001" cy="54610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40631" indent="-240631" defTabSz="457200">
              <a:spcBef>
                <a:spcPts val="800"/>
              </a:spcBef>
              <a:buSzPct val="100000"/>
              <a:buChar char="•"/>
              <a:defRPr sz="1500">
                <a:uFill>
                  <a:solidFill>
                    <a:srgbClr val="000000"/>
                  </a:solidFill>
                </a:uFill>
                <a:latin typeface="Times New Roman"/>
                <a:ea typeface="Times New Roman"/>
                <a:cs typeface="Times New Roman"/>
                <a:sym typeface="Times New Roman"/>
              </a:defRPr>
            </a:pPr>
            <a:r>
              <a:t>Be willing to lead (or at least step in to fill awkward pauses and direct discussion in a productive direction) one (or maybe two) Thursday class sessions:</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Circulate a list of seven questions for thought about the GPP 115 readings/lectures for that week</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Suggest at least one additional reading/video/object in the world to engage with that would have been the next thing to add to the course materials</a:t>
            </a:r>
          </a:p>
          <a:p>
            <a:pPr lvl="1" marL="609600" indent="-228600" defTabSz="457200">
              <a:spcBef>
                <a:spcPts val="800"/>
              </a:spcBef>
              <a:buSzPct val="100000"/>
              <a:buAutoNum type="arabicPeriod" startAt="1"/>
              <a:defRPr sz="1500">
                <a:uFill>
                  <a:solidFill>
                    <a:srgbClr val="000000"/>
                  </a:solidFill>
                </a:uFill>
                <a:latin typeface="Times New Roman"/>
                <a:ea typeface="Times New Roman"/>
                <a:cs typeface="Times New Roman"/>
                <a:sym typeface="Times New Roman"/>
              </a:defRPr>
            </a:pPr>
            <a:r>
              <a:t>Ask Joeva if the DevEng 215 students can present to GPP 115</a:t>
            </a:r>
          </a:p>
          <a:p>
            <a:pPr marL="240631" indent="-240631" defTabSz="457200">
              <a:spcBef>
                <a:spcPts val="800"/>
              </a:spcBef>
              <a:buSzPct val="100000"/>
              <a:buChar char="•"/>
              <a:defRPr sz="1500">
                <a:uFill>
                  <a:solidFill>
                    <a:srgbClr val="000000"/>
                  </a:solidFill>
                </a:uFill>
                <a:latin typeface="Times New Roman"/>
                <a:ea typeface="Times New Roman"/>
                <a:cs typeface="Times New Roman"/>
                <a:sym typeface="Times New Roman"/>
              </a:defRPr>
            </a:pPr>
            <a:r>
              <a:t>By mid December, come up with a prospectus for what a DevEng-relevant chapter of your Ph.D. dissertation might be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even Questions for Week 1"/>
          <p:cNvSpPr txBox="1"/>
          <p:nvPr>
            <p:ph type="title" idx="4294967295"/>
          </p:nvPr>
        </p:nvSpPr>
        <p:spPr>
          <a:xfrm>
            <a:off x="107246" y="0"/>
            <a:ext cx="8890001" cy="1143001"/>
          </a:xfrm>
          <a:prstGeom prst="rect">
            <a:avLst/>
          </a:prstGeom>
        </p:spPr>
        <p:txBody>
          <a:bodyPr/>
          <a:lstStyle>
            <a:lvl1pPr defTabSz="292607">
              <a:defRPr b="1" sz="5119">
                <a:solidFill>
                  <a:srgbClr val="000080"/>
                </a:solidFill>
                <a:uFill>
                  <a:solidFill>
                    <a:srgbClr val="000000"/>
                  </a:solidFill>
                </a:uFill>
                <a:latin typeface="+mj-lt"/>
                <a:ea typeface="+mj-ea"/>
                <a:cs typeface="+mj-cs"/>
                <a:sym typeface="Helvetica"/>
              </a:defRPr>
            </a:lvl1pPr>
          </a:lstStyle>
          <a:p>
            <a:pPr/>
            <a:r>
              <a:t>Seven Questions for Week 1</a:t>
            </a:r>
          </a:p>
        </p:txBody>
      </p:sp>
      <p:sp>
        <p:nvSpPr>
          <p:cNvPr id="129" name="Hickel, Marcos, Perspectives, Talwalker, Sachs, Easterly, Kanbur &amp; Sumner:…"/>
          <p:cNvSpPr txBox="1"/>
          <p:nvPr>
            <p:ph type="body" idx="4294967295"/>
          </p:nvPr>
        </p:nvSpPr>
        <p:spPr>
          <a:xfrm>
            <a:off x="107246" y="1053898"/>
            <a:ext cx="8890001" cy="5461001"/>
          </a:xfrm>
          <a:prstGeom prst="rect">
            <a:avLst/>
          </a:prstGeom>
        </p:spPr>
        <p:txBody>
          <a:bodyPr/>
          <a:lstStyle/>
          <a:p>
            <a:pPr marL="0" indent="0" defTabSz="406908">
              <a:buSzTx/>
              <a:buFontTx/>
              <a:buNone/>
              <a:defRPr b="1" sz="1602">
                <a:uFill>
                  <a:solidFill>
                    <a:srgbClr val="000000"/>
                  </a:solidFill>
                </a:uFill>
                <a:latin typeface="+mj-lt"/>
                <a:ea typeface="+mj-ea"/>
                <a:cs typeface="+mj-cs"/>
                <a:sym typeface="Helvetica"/>
              </a:defRPr>
            </a:pPr>
            <a:r>
              <a:t>Hickel, Marcos, </a:t>
            </a:r>
            <a:r>
              <a:rPr i="1"/>
              <a:t>Perspectives</a:t>
            </a:r>
            <a:r>
              <a:t>, Talwalker, Sachs, Easterly, Kanbur &amp; Sumner:</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Hickel: Odious debt, pharmaceutical IP &amp; grey-market transactions, global north agricultural subsidies &amp; export programs—how do those narrow possibilities for economic development in the village of Mpaka on the road from Manzini in Eswatini to Maputo in Mozambique?</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Subcommander Marcos writes that, for progressive intellectuals, “fight[ing] the power of images with nothing but words” is “to their considerable disadvantage”. Why does he think it is to their disadvantage?</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As we approached 2015, could we have “be[en] proud of steady progress on many fronts, including reducing poverty, expanding access to improved water sources, increasing primary school enrolment of girls, and lowering child and maternal mortality rates”? Did “these results represent a steadfast commitment to improving the human condition, and a validation of the approach embodied in the MDGs”?</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Clare Talwalker: how can we make progress in reducing global poverty in a world in which (a) the market economy focuses its attention on satisfying the preferences and desires of the rich, and (b) the “loyalty” of the rich to the world’s poor is very thin?</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Jeff Sachs believes in “Big Pushes”. Why?</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Bill Easterly believes in “gardening” and in grass-roots. Why?</a:t>
            </a:r>
          </a:p>
          <a:p>
            <a:pPr marL="214162" indent="-214162" defTabSz="406908">
              <a:buFontTx/>
              <a:buAutoNum type="arabicPeriod" startAt="1"/>
              <a:defRPr sz="1602">
                <a:uFill>
                  <a:solidFill>
                    <a:srgbClr val="000000"/>
                  </a:solidFill>
                </a:uFill>
                <a:latin typeface="Times New Roman"/>
                <a:ea typeface="Times New Roman"/>
                <a:cs typeface="Times New Roman"/>
                <a:sym typeface="Times New Roman"/>
              </a:defRPr>
            </a:pPr>
            <a:r>
              <a:t>Kanbur &amp; Sumner: How is it that from 1990 to 2012 deep global poverty changed from their being huge numbers of very poor people in poor countries, to there being (predominantly) very poor people in middle-income countries?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About the Course"/>
          <p:cNvSpPr txBox="1"/>
          <p:nvPr>
            <p:ph type="title" idx="4294967295"/>
          </p:nvPr>
        </p:nvSpPr>
        <p:spPr>
          <a:xfrm>
            <a:off x="112563" y="-3"/>
            <a:ext cx="8890001" cy="1143001"/>
          </a:xfrm>
          <a:prstGeom prst="rect">
            <a:avLst/>
          </a:prstGeom>
        </p:spPr>
        <p:txBody>
          <a:bodyPr lIns="45718" tIns="45718" rIns="45718" bIns="45718"/>
          <a:lstStyle>
            <a:lvl1pPr defTabSz="393192">
              <a:defRPr b="1" sz="6880">
                <a:solidFill>
                  <a:srgbClr val="000080"/>
                </a:solidFill>
                <a:uFill>
                  <a:solidFill>
                    <a:srgbClr val="000000"/>
                  </a:solidFill>
                </a:uFill>
                <a:latin typeface="+mj-lt"/>
                <a:ea typeface="+mj-ea"/>
                <a:cs typeface="+mj-cs"/>
                <a:sym typeface="Helvetica"/>
              </a:defRPr>
            </a:lvl1pPr>
          </a:lstStyle>
          <a:p>
            <a:pPr/>
            <a:r>
              <a:t>People</a:t>
            </a:r>
          </a:p>
        </p:txBody>
      </p:sp>
      <p:sp>
        <p:nvSpPr>
          <p:cNvPr id="132" name="The long 20th century will in all likelihood be seen in the future as the watershed in human experience:…"/>
          <p:cNvSpPr txBox="1"/>
          <p:nvPr/>
        </p:nvSpPr>
        <p:spPr>
          <a:xfrm>
            <a:off x="112563" y="1142997"/>
            <a:ext cx="8890001" cy="53975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defTabSz="410764">
              <a:spcBef>
                <a:spcPts val="900"/>
              </a:spcBef>
              <a:defRPr b="1" sz="1900">
                <a:latin typeface="+mj-lt"/>
                <a:ea typeface="+mj-ea"/>
                <a:cs typeface="+mj-cs"/>
                <a:sym typeface="Helvetica"/>
              </a:defRPr>
            </a:pPr>
            <a:r>
              <a:t>Brad DeLong delong@econ.berkeley.edu</a:t>
            </a:r>
          </a:p>
          <a:p>
            <a:pPr marL="342899" indent="-342899" defTabSz="410764">
              <a:spcBef>
                <a:spcPts val="800"/>
              </a:spcBef>
              <a:buSzPct val="100000"/>
              <a:buChar char="•"/>
              <a:defRPr sz="1900">
                <a:latin typeface="Times New Roman"/>
                <a:ea typeface="Times New Roman"/>
                <a:cs typeface="Times New Roman"/>
                <a:sym typeface="Times New Roman"/>
              </a:defRPr>
            </a:pPr>
            <a:r>
              <a:t>Tvetene Carlson </a:t>
            </a:r>
            <a:r>
              <a:rPr u="sng">
                <a:solidFill>
                  <a:srgbClr val="0000FF"/>
                </a:solidFill>
                <a:uFill>
                  <a:solidFill>
                    <a:srgbClr val="0000FF"/>
                  </a:solidFill>
                </a:uFill>
                <a:hlinkClick r:id="rId3" invalidUrl="" action="" tgtFrame="" tooltip="" history="1" highlightClick="0" endSnd="0"/>
              </a:rPr>
              <a:t>tjcarlson@berkeley.edu</a:t>
            </a:r>
            <a:r>
              <a:t> 3034966195 G Civil &amp; Environmental Eng MS, Civil &amp; Environmenta</a:t>
            </a:r>
          </a:p>
          <a:p>
            <a:pPr marL="342899" indent="-342899" defTabSz="410764">
              <a:spcBef>
                <a:spcPts val="800"/>
              </a:spcBef>
              <a:buSzPct val="100000"/>
              <a:buChar char="•"/>
              <a:defRPr sz="1900">
                <a:latin typeface="Times New Roman"/>
                <a:ea typeface="Times New Roman"/>
                <a:cs typeface="Times New Roman"/>
                <a:sym typeface="Times New Roman"/>
              </a:defRPr>
            </a:pPr>
            <a:r>
              <a:t>Casey Finnerty </a:t>
            </a:r>
            <a:r>
              <a:rPr u="sng">
                <a:solidFill>
                  <a:srgbClr val="0000FF"/>
                </a:solidFill>
                <a:uFill>
                  <a:solidFill>
                    <a:srgbClr val="0000FF"/>
                  </a:solidFill>
                </a:uFill>
                <a:hlinkClick r:id="rId4" invalidUrl="" action="" tgtFrame="" tooltip="" history="1" highlightClick="0" endSnd="0"/>
              </a:rPr>
              <a:t>casey.finnerty@berkeley.edu</a:t>
            </a:r>
            <a:r>
              <a:t> 20956015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Adrian Hinkle </a:t>
            </a:r>
            <a:r>
              <a:rPr u="sng">
                <a:solidFill>
                  <a:srgbClr val="0000FF"/>
                </a:solidFill>
                <a:uFill>
                  <a:solidFill>
                    <a:srgbClr val="0000FF"/>
                  </a:solidFill>
                </a:uFill>
                <a:hlinkClick r:id="rId5" invalidUrl="" action="" tgtFrame="" tooltip="" history="1" highlightClick="0" endSnd="0"/>
              </a:rPr>
              <a:t>adrian.hinkle@berkeley.edu</a:t>
            </a:r>
            <a:r>
              <a:t> 3034272154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Mekhala Hoskote </a:t>
            </a:r>
            <a:r>
              <a:rPr u="sng">
                <a:solidFill>
                  <a:srgbClr val="0000FF"/>
                </a:solidFill>
                <a:uFill>
                  <a:solidFill>
                    <a:srgbClr val="0000FF"/>
                  </a:solidFill>
                </a:uFill>
                <a:hlinkClick r:id="rId6" invalidUrl="" action="" tgtFrame="" tooltip="" history="1" highlightClick="0" endSnd="0"/>
              </a:rPr>
              <a:t>mdhoskote@berkeley.edu</a:t>
            </a:r>
            <a:r>
              <a:t> 24205468 G Health &amp; Medical Sciences MS</a:t>
            </a:r>
          </a:p>
          <a:p>
            <a:pPr marL="342899" indent="-342899" defTabSz="410764">
              <a:spcBef>
                <a:spcPts val="800"/>
              </a:spcBef>
              <a:buSzPct val="100000"/>
              <a:buChar char="•"/>
              <a:defRPr sz="1900">
                <a:latin typeface="Times New Roman"/>
                <a:ea typeface="Times New Roman"/>
                <a:cs typeface="Times New Roman"/>
                <a:sym typeface="Times New Roman"/>
              </a:defRPr>
            </a:pPr>
            <a:r>
              <a:t>Kelly Conway </a:t>
            </a:r>
            <a:r>
              <a:rPr u="sng">
                <a:solidFill>
                  <a:srgbClr val="0000FF"/>
                </a:solidFill>
                <a:uFill>
                  <a:solidFill>
                    <a:srgbClr val="0000FF"/>
                  </a:solidFill>
                </a:uFill>
                <a:hlinkClick r:id="rId7" invalidUrl="" action="" tgtFrame="" tooltip="" history="1" highlightClick="0" endSnd="0"/>
              </a:rPr>
              <a:t>kelly_conway@berkeley.edu</a:t>
            </a:r>
          </a:p>
          <a:p>
            <a:pPr marL="342899" indent="-342899" defTabSz="410764">
              <a:spcBef>
                <a:spcPts val="800"/>
              </a:spcBef>
              <a:buSzPct val="100000"/>
              <a:buChar char="•"/>
              <a:defRPr sz="1900">
                <a:latin typeface="Times New Roman"/>
                <a:ea typeface="Times New Roman"/>
                <a:cs typeface="Times New Roman"/>
                <a:sym typeface="Times New Roman"/>
              </a:defRPr>
            </a:pPr>
            <a:r>
              <a:t>Haley Wohlever </a:t>
            </a:r>
            <a:r>
              <a:rPr u="sng">
                <a:solidFill>
                  <a:srgbClr val="0000FF"/>
                </a:solidFill>
                <a:uFill>
                  <a:solidFill>
                    <a:srgbClr val="0000FF"/>
                  </a:solidFill>
                </a:uFill>
                <a:hlinkClick r:id="rId8" invalidUrl="" action="" tgtFrame="" tooltip="" history="1" highlightClick="0" endSnd="0"/>
              </a:rPr>
              <a:t>haley.wohlever@berkeley.edu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Hanna Seo </a:t>
            </a:r>
            <a:r>
              <a:rPr u="sng">
                <a:solidFill>
                  <a:srgbClr val="0000FF"/>
                </a:solidFill>
                <a:uFill>
                  <a:solidFill>
                    <a:srgbClr val="0000FF"/>
                  </a:solidFill>
                </a:uFill>
                <a:hlinkClick r:id="rId9" invalidUrl="" action="" tgtFrame="" tooltip="" history="1" highlightClick="0" endSnd="0"/>
              </a:rPr>
              <a:t>hanna_seo@berkeley.edu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Sara Mahmoud </a:t>
            </a:r>
            <a:r>
              <a:rPr u="sng">
                <a:solidFill>
                  <a:srgbClr val="0000FF"/>
                </a:solidFill>
                <a:uFill>
                  <a:solidFill>
                    <a:srgbClr val="0000FF"/>
                  </a:solidFill>
                </a:uFill>
                <a:hlinkClick r:id="rId10" invalidUrl="" action="" tgtFrame="" tooltip="" history="1" highlightClick="0" endSnd="0"/>
              </a:rPr>
              <a:t>sara_mahmoud@berkeley.edu</a:t>
            </a:r>
          </a:p>
          <a:p>
            <a:pPr marL="342899" indent="-342899" defTabSz="410764">
              <a:spcBef>
                <a:spcPts val="800"/>
              </a:spcBef>
              <a:buSzPct val="100000"/>
              <a:buChar char="•"/>
              <a:defRPr sz="1900">
                <a:latin typeface="Times New Roman"/>
                <a:ea typeface="Times New Roman"/>
                <a:cs typeface="Times New Roman"/>
                <a:sym typeface="Times New Roman"/>
              </a:defRPr>
            </a:pPr>
            <a:r>
              <a:t>Margie Lauter </a:t>
            </a:r>
            <a:r>
              <a:rPr u="sng">
                <a:solidFill>
                  <a:srgbClr val="0000FF"/>
                </a:solidFill>
                <a:uFill>
                  <a:solidFill>
                    <a:srgbClr val="0000FF"/>
                  </a:solidFill>
                </a:uFill>
                <a:hlinkClick r:id="rId11" invalidUrl="" action="" tgtFrame="" tooltip="" history="1" highlightClick="0" endSnd="0"/>
              </a:rPr>
              <a:t>margielauter@berkeley.edu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Dana Geffner </a:t>
            </a:r>
            <a:r>
              <a:rPr u="sng">
                <a:solidFill>
                  <a:srgbClr val="0000FF"/>
                </a:solidFill>
                <a:uFill>
                  <a:solidFill>
                    <a:srgbClr val="0000FF"/>
                  </a:solidFill>
                </a:uFill>
                <a:hlinkClick r:id="rId12" invalidUrl="" action="" tgtFrame="" tooltip="" history="1" highlightClick="0" endSnd="0"/>
              </a:rPr>
              <a:t>dana_geffner@berkeley.edu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