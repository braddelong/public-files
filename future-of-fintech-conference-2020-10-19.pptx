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media/image1.jpeg" ContentType="image/jpeg"/>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201" name="Shape 201"/>
          <p:cNvSpPr/>
          <p:nvPr>
            <p:ph type="sldImg"/>
          </p:nvPr>
        </p:nvSpPr>
        <p:spPr>
          <a:xfrm>
            <a:off x="1143000" y="685800"/>
            <a:ext cx="4572000" cy="3429000"/>
          </a:xfrm>
          <a:prstGeom prst="rect">
            <a:avLst/>
          </a:prstGeom>
        </p:spPr>
        <p:txBody>
          <a:bodyPr/>
          <a:lstStyle/>
          <a:p>
            <a:pPr/>
          </a:p>
        </p:txBody>
      </p:sp>
      <p:sp>
        <p:nvSpPr>
          <p:cNvPr id="202" name="Shape 20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Shape 210"/>
          <p:cNvSpPr/>
          <p:nvPr>
            <p:ph type="sldImg"/>
          </p:nvPr>
        </p:nvSpPr>
        <p:spPr>
          <a:prstGeom prst="rect">
            <a:avLst/>
          </a:prstGeom>
        </p:spPr>
        <p:txBody>
          <a:bodyPr/>
          <a:lstStyle/>
          <a:p>
            <a:pPr/>
          </a:p>
        </p:txBody>
      </p:sp>
      <p:sp>
        <p:nvSpPr>
          <p:cNvPr id="211" name="Shape 211"/>
          <p:cNvSpPr/>
          <p:nvPr>
            <p:ph type="body" sz="quarter" idx="1"/>
          </p:nvPr>
        </p:nvSpPr>
        <p:spPr>
          <a:prstGeom prst="rect">
            <a:avLst/>
          </a:prstGeom>
        </p:spPr>
        <p:txBody>
          <a:bodyPr/>
          <a:lstStyle/>
          <a:p>
            <a:pPr/>
            <a:r>
              <a:t>The focus of good work in economic history is always this: History creates problems and opportunities for economic actors. They  then have to respond. What is most interesting is how they respond, and what the unintended consequences are. The master move of economics is always that the market combines individual actions to produce something that nobody expected or necessarily wanted: that is what we expect out of our narratives, and that is what we have gotten so far in this session. </a:t>
            </a:r>
          </a:p>
          <a:p>
            <a:pPr/>
            <a:r>
              <a:t> </a:t>
            </a:r>
          </a:p>
          <a:p>
            <a:pPr/>
            <a:r>
              <a:t>What we have heard is a chartalist-plus approach, an approach that I think that is broadly correct. The state and its payments are the foundation on which private entrepreneurs seek to gain wealth and advantage. The state with its payments and taxing flows is the anchor of their positions. The state is much more than just a very large organization that keeps itself functioning by collecting and then distributing a huge amount of wealth. Moving in the slipstream of the state's operations can gain you an awful lot of thick-market and trust benefits. </a:t>
            </a:r>
          </a:p>
          <a:p>
            <a:pPr/>
            <a:r>
              <a:t> </a:t>
            </a:r>
          </a:p>
          <a:p>
            <a:pPr/>
            <a:r>
              <a:t>The state is also a first mover—or maybe a last mover. When it innovates (or adopts and adapts others’ innovations), it solidifies the market by setting what the expectational equilibrium will be. It is also a regulator and the adjudicator. It has people who ultimately can say what you can and cannot do. In the old days they carried spears and now it is people with guns, but ultimately they can say ‘this is your wealth, and this is not’.</a:t>
            </a:r>
          </a:p>
          <a:p>
            <a:pPr/>
            <a:r>
              <a:t> </a:t>
            </a:r>
          </a:p>
          <a:p>
            <a:pPr/>
            <a:r>
              <a:t>In that role, the state is a foreclosure of potential options that private sector entities might want to undertake. It is also often an appropriator of things that private sector entities wish to do. The state inherently has sources of advantage the private sector does not. The South Sea Company's business model was a sound one: ‘We are going to take the many untradeable issues of British national debt created since the Glorious Revolution, consolidate them, and then sell them and trade them in a thick market. We will then capture all of  the thick-market marketability edges as our profit, and we will divide it among the founding shareholders. And you can buy now and get in on the ground floor, for we are already trading on a when-issued basis.”</a:t>
            </a:r>
          </a:p>
          <a:p>
            <a:pPr/>
            <a:r>
              <a:t> </a:t>
            </a:r>
          </a:p>
          <a:p>
            <a:pPr/>
            <a:r>
              <a:t>It was a wonderful business model. But ultimately it was the big player, the Bank of England, that successfully executed that business model. It was not the South Sea Company. Isaac Newton is supposed to have famously said that he could calculate the motions of heavenly bodies, but not the madness of crowds. But he ought to have been able to calculate the motion of a very large, better-positioned state actor, better placed to execute a now-public and potentially very profitable business plan.</a:t>
            </a:r>
          </a:p>
          <a:p>
            <a:pPr/>
            <a:r>
              <a:t> </a:t>
            </a:r>
          </a:p>
          <a:p>
            <a:pPr/>
            <a:r>
              <a:t>We have successful state money. We then have private entrepreneurs, trying to do as they do and find  things that reap the benefits of successful state money. The payments flows, assets, and liabilities created by these entrepreneurs have to be cheaper than and also have to be safe enough to be attractive for those who would otherwise use state money. And in placid times they are. They always are. Until they aren't. And then they stop being safe enough, things get very fraught.</a:t>
            </a:r>
          </a:p>
          <a:p>
            <a:pPr/>
            <a:r>
              <a:t> </a:t>
            </a:r>
          </a:p>
          <a:p>
            <a:pPr/>
            <a:r>
              <a:t>Perhaps the key insight is that economies are always impelled to seek find ways to widen circles of trust. This is an insight I stole from economist Partha Dasgupta. You can deepen your individual division of labor, but your own ability to produce things as limited. Thus you face a world in which there are lots of commodities that you need that you cannot produce, and for which you must trade. Trade starts out with gift exchange or commodity exchange, but only with those who trust. Your division of labor is limited to your friends, your neighbors, and your family. I would not trust some of my neighbors. I definitely would not trust some of my family, when it comes to engaging in reciprocal but not contemporaneously balanced trade. </a:t>
            </a:r>
          </a:p>
          <a:p>
            <a:pPr/>
            <a:r>
              <a:t> </a:t>
            </a:r>
          </a:p>
          <a:p>
            <a:pPr/>
            <a:r>
              <a:t>But things become easier with some kind of state institutio, like a temple, or the treasury of the Great King. Those institutions have permanence and credibility. You can deal with them. In fact, you have to deal with them: They are already collecting tithes and taxes from you, and you might as well piggyback as much as you can of your trade on those flows.. </a:t>
            </a:r>
          </a:p>
          <a:p>
            <a:pPr/>
            <a:r>
              <a:t> </a:t>
            </a:r>
          </a:p>
          <a:p>
            <a:pPr/>
            <a:r>
              <a:t>And then you have the invention of money! These little things made of precious metal that the Great King will accept in payment for taxes. He will also crucify anyone who counterfeits them, or adulterates them. And all of a sudden your circle of trust for commodity exchange has widened. Now your circle of commodity is made up of everyone who can show you the money. This is a great and wonderful thing. </a:t>
            </a:r>
          </a:p>
          <a:p>
            <a:pPr/>
            <a:r>
              <a:t> </a:t>
            </a:r>
          </a:p>
          <a:p>
            <a:pPr/>
            <a:r>
              <a:t>But counterfeiting, adulteration, clipping, plus carrying large chests of coins around is difficult and costly. I winced when I watched the heist movie, The Italian Job, as the posse dropped a chest of gold down four stories into the getaway motorboat. I know enough about physics to know that that chest would have smashed the bottom of any boat, and promptly gone to the bottom of the Venetian lagoon. </a:t>
            </a:r>
          </a:p>
          <a:p>
            <a:pPr/>
            <a:r>
              <a:t> </a:t>
            </a:r>
          </a:p>
          <a:p>
            <a:pPr/>
            <a:r>
              <a:t>People move from coins of gold or silver with the picture of the Great King on them to bullion,, to bullion being kept somewhere in someone's basement, to bullion that is not earmarked for you but is the fractional-reserve backing for ledger entries,  to trust that  the transactions of a large organization that has money coming in and going out are sufficient liquidity  backing for the  This is the dance that we always do over time. We see it going in payments from money to merchant credit, to bills of exchange, to deposit banks, to large state actors. Those as anchors seem to work well.</a:t>
            </a:r>
          </a:p>
          <a:p>
            <a:pPr/>
            <a:r>
              <a:t> </a:t>
            </a:r>
          </a:p>
          <a:p>
            <a:pPr/>
            <a:r>
              <a:t>But those large anchor organizations need to be only semi-state actors. There needs to be efficient insulation of financial regulation from the fiscal needs of the state. The health of the financial system must be prioritized over the fact that the state can use this to get a little bit more seigniorage. And the state always pushes this margin.</a:t>
            </a:r>
          </a:p>
          <a:p>
            <a:pPr/>
            <a:r>
              <a:t> </a:t>
            </a:r>
          </a:p>
          <a:p>
            <a:pPr/>
            <a:r>
              <a:t>Thus the organizations that succeed in the long run are those that are somehow sufficiently insulated from the fiscal needs of the state to prioritize the financial system:  state-like enough to be concerned with the public interest rather than simply at some point taking the money and running. But they need to be non-state enough to prioritize the convenience of bankers over the goals of the high politicians. </a:t>
            </a:r>
          </a:p>
          <a:p>
            <a:pPr/>
            <a:r>
              <a:t> </a:t>
            </a:r>
          </a:p>
          <a:p>
            <a:pPr/>
            <a:r>
              <a:t>And underneath this all there is always regulatory arbitrage by private entities. Their liabilities are, also, safe enough until they are not. And this is going to make the state nervous. If someone shows up and is large enough to actually begin taking on a state-like role, the central bank is going to get very nervous about who is the boss here and how will a crisis be handled.</a:t>
            </a:r>
          </a:p>
          <a:p>
            <a:pPr/>
            <a:r>
              <a:t> </a:t>
            </a:r>
          </a:p>
          <a:p>
            <a:pPr/>
            <a:r>
              <a:t>Thus the state is in tension: regulator and anchor,  first mover and validator. And we also need to be thinking of the state as closer of some. Maybe it forecloses some private options because they are too risky. Maybe because they are too profitable, and it wants to skim the cream itself. Maybe because these options upset the current balance of forces within the state. The state is going to seek to grab much of the thick-market benefits of being the hub. </a:t>
            </a:r>
          </a:p>
          <a:p>
            <a:pPr/>
            <a:r>
              <a:t> </a:t>
            </a:r>
          </a:p>
          <a:p>
            <a:pPr/>
            <a:r>
              <a:t>We began with trust in commodity exchange at the start. Then we moved to trust in payments that make trust in commodity exchange not a problem. And finally we move to trust in long-term financing. This topic is, potentially, very fraught as we go forward now in this era of ‘ secular stagnation. Today it seems that is not so much saving as rather risk bearing capacity and entrepreneurial vision that are the places in which the economy feels constrained, rather than in the creation of liquidity, or even in the flows of savings. </a:t>
            </a:r>
          </a:p>
          <a:p>
            <a:pPr/>
            <a:r>
              <a:t> </a:t>
            </a:r>
          </a:p>
          <a:p>
            <a:pPr/>
            <a:r>
              <a:t>So let me stop there by saying, as Barry Eichengreen did at the start: What is our financial future? Ant Financial? VISA? FacebookPay? Or  ????. </a:t>
            </a:r>
          </a:p>
          <a:p>
            <a:pPr/>
          </a:p>
          <a:p>
            <a:pPr/>
            <a:r>
              <a:t>1400 words</a:t>
            </a:r>
          </a:p>
          <a:p>
            <a:pPr/>
          </a:p>
          <a:p>
            <a:pPr/>
          </a:p>
          <a:p>
            <a:pPr/>
          </a:p>
          <a:p>
            <a:pPr/>
            <a:r>
              <a:t>Comment on: Stephen Quinn &amp; William Roberds: On the Evolution of Payments Systems</a:t>
            </a:r>
          </a:p>
          <a:p>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0" name="Shape 260"/>
          <p:cNvSpPr/>
          <p:nvPr>
            <p:ph type="sldImg"/>
          </p:nvPr>
        </p:nvSpPr>
        <p:spPr>
          <a:prstGeom prst="rect">
            <a:avLst/>
          </a:prstGeom>
        </p:spPr>
        <p:txBody>
          <a:bodyPr/>
          <a:lstStyle/>
          <a:p>
            <a:pPr/>
          </a:p>
        </p:txBody>
      </p:sp>
      <p:sp>
        <p:nvSpPr>
          <p:cNvPr id="261" name="Shape 26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Other dimensions could be large value v small value payments, privacy, etc.</a:t>
            </a:r>
          </a:p>
          <a:p>
            <a:pPr defTabSz="914400">
              <a:lnSpc>
                <a:spcPct val="100000"/>
              </a:lnSpc>
              <a:defRPr sz="1200">
                <a:latin typeface="Calibri"/>
                <a:ea typeface="Calibri"/>
                <a:cs typeface="Calibri"/>
                <a:sym typeface="Calibri"/>
              </a:defRPr>
            </a:pPr>
            <a:r>
              <a:t>Successful state money is what people want to use when not obliged to.</a:t>
            </a:r>
          </a:p>
          <a:p>
            <a:pPr defTabSz="914400">
              <a:lnSpc>
                <a:spcPct val="100000"/>
              </a:lnSpc>
              <a:defRPr sz="1200">
                <a:latin typeface="Calibri"/>
                <a:ea typeface="Calibri"/>
                <a:cs typeface="Calibri"/>
                <a:sym typeface="Calibri"/>
              </a:defRPr>
            </a:pPr>
            <a:r>
              <a:t>Very hard to be less risky than a successful state money.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5" name="Shape 285"/>
          <p:cNvSpPr/>
          <p:nvPr>
            <p:ph type="sldImg"/>
          </p:nvPr>
        </p:nvSpPr>
        <p:spPr>
          <a:prstGeom prst="rect">
            <a:avLst/>
          </a:prstGeom>
        </p:spPr>
        <p:txBody>
          <a:bodyPr/>
          <a:lstStyle/>
          <a:p>
            <a:pPr/>
          </a:p>
        </p:txBody>
      </p:sp>
      <p:sp>
        <p:nvSpPr>
          <p:cNvPr id="286" name="Shape 286"/>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Innovations move along a cost/risk trade off from the anchor.</a:t>
            </a:r>
          </a:p>
          <a:p>
            <a:pPr defTabSz="914400">
              <a:lnSpc>
                <a:spcPct val="100000"/>
              </a:lnSpc>
              <a:defRPr sz="1200">
                <a:latin typeface="Calibri"/>
                <a:ea typeface="Calibri"/>
                <a:cs typeface="Calibri"/>
                <a:sym typeface="Calibri"/>
              </a:defRPr>
            </a:pPr>
            <a:r>
              <a:t>The nodes are combinations of firms, instruments, and supporting technology.</a:t>
            </a:r>
          </a:p>
          <a:p>
            <a:pPr defTabSz="914400">
              <a:lnSpc>
                <a:spcPct val="100000"/>
              </a:lnSpc>
              <a:defRPr sz="1200">
                <a:latin typeface="Calibri"/>
                <a:ea typeface="Calibri"/>
                <a:cs typeface="Calibri"/>
                <a:sym typeface="Calibri"/>
              </a:defRPr>
            </a:pPr>
            <a:r>
              <a:t>Innovation requires rule of law and sufficiently non-expropriative government.</a:t>
            </a:r>
          </a:p>
          <a:p>
            <a:pPr defTabSz="914400">
              <a:lnSpc>
                <a:spcPct val="100000"/>
              </a:lnSpc>
              <a:defRPr sz="1200">
                <a:latin typeface="Calibri"/>
                <a:ea typeface="Calibri"/>
                <a:cs typeface="Calibri"/>
                <a:sym typeface="Calibri"/>
              </a:defRPr>
            </a:pPr>
            <a:r>
              <a:t>Model emphasized payments heterogeneity.</a:t>
            </a:r>
          </a:p>
          <a:p>
            <a:pPr defTabSz="914400">
              <a:lnSpc>
                <a:spcPct val="100000"/>
              </a:lnSpc>
              <a:defRPr sz="1200">
                <a:latin typeface="Calibri"/>
                <a:ea typeface="Calibri"/>
                <a:cs typeface="Calibri"/>
                <a:sym typeface="Calibri"/>
              </a:defRPr>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1" name="Shape 301"/>
          <p:cNvSpPr/>
          <p:nvPr>
            <p:ph type="sldImg"/>
          </p:nvPr>
        </p:nvSpPr>
        <p:spPr>
          <a:prstGeom prst="rect">
            <a:avLst/>
          </a:prstGeom>
        </p:spPr>
        <p:txBody>
          <a:bodyPr/>
          <a:lstStyle/>
          <a:p>
            <a:pPr/>
          </a:p>
        </p:txBody>
      </p:sp>
      <p:sp>
        <p:nvSpPr>
          <p:cNvPr id="302" name="Shape 302"/>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Pivot represents payment system development: lower cost for the same risk/lower risk for the same cost.</a:t>
            </a:r>
          </a:p>
          <a:p>
            <a:pPr defTabSz="914400">
              <a:lnSpc>
                <a:spcPct val="100000"/>
              </a:lnSpc>
              <a:defRPr sz="1200">
                <a:latin typeface="Calibri"/>
                <a:ea typeface="Calibri"/>
                <a:cs typeface="Calibri"/>
                <a:sym typeface="Calibri"/>
              </a:defRPr>
            </a:pPr>
            <a:r>
              <a:t>Requires building of a network.</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6" name="Shape 306"/>
          <p:cNvSpPr/>
          <p:nvPr>
            <p:ph type="sldImg"/>
          </p:nvPr>
        </p:nvSpPr>
        <p:spPr>
          <a:prstGeom prst="rect">
            <a:avLst/>
          </a:prstGeom>
        </p:spPr>
        <p:txBody>
          <a:bodyPr/>
          <a:lstStyle/>
          <a:p>
            <a:pPr/>
          </a:p>
        </p:txBody>
      </p:sp>
      <p:sp>
        <p:nvSpPr>
          <p:cNvPr id="307" name="Shape 307"/>
          <p:cNvSpPr/>
          <p:nvPr>
            <p:ph type="body" sz="quarter" idx="1"/>
          </p:nvPr>
        </p:nvSpPr>
        <p:spPr>
          <a:prstGeom prst="rect">
            <a:avLst/>
          </a:prstGeom>
        </p:spPr>
        <p:txBody>
          <a:bodyPr/>
          <a:lstStyle>
            <a:lvl1pPr defTabSz="914400">
              <a:lnSpc>
                <a:spcPct val="100000"/>
              </a:lnSpc>
              <a:defRPr sz="1200">
                <a:latin typeface="Calibri"/>
                <a:ea typeface="Calibri"/>
                <a:cs typeface="Calibri"/>
                <a:sym typeface="Calibri"/>
              </a:defRPr>
            </a:lvl1pPr>
          </a:lstStyle>
          <a:p>
            <a:pPr/>
            <a:r>
              <a:t>The focus of our research.</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5" name="Shape 315"/>
          <p:cNvSpPr/>
          <p:nvPr>
            <p:ph type="sldImg"/>
          </p:nvPr>
        </p:nvSpPr>
        <p:spPr>
          <a:prstGeom prst="rect">
            <a:avLst/>
          </a:prstGeom>
        </p:spPr>
        <p:txBody>
          <a:bodyPr/>
          <a:lstStyle/>
          <a:p>
            <a:pPr/>
          </a:p>
        </p:txBody>
      </p:sp>
      <p:sp>
        <p:nvSpPr>
          <p:cNvPr id="316" name="Shape 316"/>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Early modern era was full of experiments in creating public banks with paper anchors.</a:t>
            </a:r>
          </a:p>
          <a:p>
            <a:pPr defTabSz="914400">
              <a:lnSpc>
                <a:spcPct val="100000"/>
              </a:lnSpc>
              <a:defRPr sz="1200">
                <a:latin typeface="Calibri"/>
                <a:ea typeface="Calibri"/>
                <a:cs typeface="Calibri"/>
                <a:sym typeface="Calibri"/>
              </a:defRPr>
            </a:pPr>
            <a:r>
              <a:t>Most flounder.  A few, like Amsterdam and England, succeeded: i.e. people wanted to use their money.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0" name="Shape 320"/>
          <p:cNvSpPr/>
          <p:nvPr>
            <p:ph type="sldImg"/>
          </p:nvPr>
        </p:nvSpPr>
        <p:spPr>
          <a:prstGeom prst="rect">
            <a:avLst/>
          </a:prstGeom>
        </p:spPr>
        <p:txBody>
          <a:bodyPr/>
          <a:lstStyle/>
          <a:p>
            <a:pPr/>
          </a:p>
        </p:txBody>
      </p:sp>
      <p:sp>
        <p:nvSpPr>
          <p:cNvPr id="321" name="Shape 321"/>
          <p:cNvSpPr/>
          <p:nvPr>
            <p:ph type="body" sz="quarter" idx="1"/>
          </p:nvPr>
        </p:nvSpPr>
        <p:spPr>
          <a:prstGeom prst="rect">
            <a:avLst/>
          </a:prstGeom>
        </p:spPr>
        <p:txBody>
          <a:bodyPr/>
          <a:lstStyle>
            <a:lvl1pPr defTabSz="914400">
              <a:lnSpc>
                <a:spcPct val="100000"/>
              </a:lnSpc>
              <a:defRPr sz="1200">
                <a:latin typeface="Calibri"/>
                <a:ea typeface="Calibri"/>
                <a:cs typeface="Calibri"/>
                <a:sym typeface="Calibri"/>
              </a:defRPr>
            </a:lvl1pPr>
          </a:lstStyle>
          <a:p>
            <a:pPr/>
            <a:r>
              <a:t>Again, successful state money is what people want to use when not obliged to.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5" name="Shape 325"/>
          <p:cNvSpPr/>
          <p:nvPr>
            <p:ph type="sldImg"/>
          </p:nvPr>
        </p:nvSpPr>
        <p:spPr>
          <a:prstGeom prst="rect">
            <a:avLst/>
          </a:prstGeom>
        </p:spPr>
        <p:txBody>
          <a:bodyPr/>
          <a:lstStyle/>
          <a:p>
            <a:pPr/>
          </a:p>
        </p:txBody>
      </p:sp>
      <p:sp>
        <p:nvSpPr>
          <p:cNvPr id="326" name="Shape 326"/>
          <p:cNvSpPr/>
          <p:nvPr>
            <p:ph type="body" sz="quarter" idx="1"/>
          </p:nvPr>
        </p:nvSpPr>
        <p:spPr>
          <a:prstGeom prst="rect">
            <a:avLst/>
          </a:prstGeom>
        </p:spPr>
        <p:txBody>
          <a:bodyPr/>
          <a:lstStyle>
            <a:lvl1pPr defTabSz="914400">
              <a:lnSpc>
                <a:spcPct val="100000"/>
              </a:lnSpc>
              <a:defRPr sz="1200">
                <a:latin typeface="Calibri"/>
                <a:ea typeface="Calibri"/>
                <a:cs typeface="Calibri"/>
                <a:sym typeface="Calibri"/>
              </a:defRPr>
            </a:lvl1pPr>
          </a:lstStyle>
          <a:p>
            <a:pPr/>
            <a:r>
              <a:t>How to keep public bank close enough to politics to gain legitimacy yet far enough away from politics to gain credibility? Today, one answer is a Paul Tucker style narrow mandate. Amsterdam stayed narrow by being a municipal entity that avoided state (provincial) debt.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0" name="Shape 340"/>
          <p:cNvSpPr/>
          <p:nvPr>
            <p:ph type="sldImg"/>
          </p:nvPr>
        </p:nvSpPr>
        <p:spPr>
          <a:prstGeom prst="rect">
            <a:avLst/>
          </a:prstGeom>
        </p:spPr>
        <p:txBody>
          <a:bodyPr/>
          <a:lstStyle/>
          <a:p>
            <a:pPr/>
          </a:p>
        </p:txBody>
      </p:sp>
      <p:sp>
        <p:nvSpPr>
          <p:cNvPr id="341" name="Shape 341"/>
          <p:cNvSpPr/>
          <p:nvPr>
            <p:ph type="body" sz="quarter" idx="1"/>
          </p:nvPr>
        </p:nvSpPr>
        <p:spPr>
          <a:prstGeom prst="rect">
            <a:avLst/>
          </a:prstGeom>
        </p:spPr>
        <p:txBody>
          <a:bodyPr/>
          <a:lstStyle/>
          <a:p>
            <a:pPr defTabSz="914400">
              <a:lnSpc>
                <a:spcPct val="100000"/>
              </a:lnSpc>
              <a:defRPr sz="1200">
                <a:latin typeface="Times New Roman"/>
                <a:ea typeface="Times New Roman"/>
                <a:cs typeface="Times New Roman"/>
                <a:sym typeface="Times New Roman"/>
              </a:defRPr>
            </a:pPr>
            <a:r>
              <a:t>Shifts in payments system anchor is highly entwined with political economy.  Success made the Bank florin (guilder) the era’s reserve currency.</a:t>
            </a:r>
          </a:p>
          <a:p>
            <a:pPr defTabSz="914400">
              <a:lnSpc>
                <a:spcPct val="100000"/>
              </a:lnSpc>
              <a:defRPr sz="1200">
                <a:latin typeface="Times New Roman"/>
                <a:ea typeface="Times New Roman"/>
                <a:cs typeface="Times New Roman"/>
                <a:sym typeface="Times New Roman"/>
              </a:defRPr>
            </a:pPr>
          </a:p>
          <a:p>
            <a:pPr defTabSz="914400">
              <a:lnSpc>
                <a:spcPct val="100000"/>
              </a:lnSpc>
              <a:defRPr sz="1200">
                <a:latin typeface="Times New Roman"/>
                <a:ea typeface="Times New Roman"/>
                <a:cs typeface="Times New Roman"/>
                <a:sym typeface="Times New Roman"/>
              </a:defRPr>
            </a:pPr>
            <a:r>
              <a:t>The shift can also spark rapid innovation.  Merchant banking used BoA balances for wholesale funding (acceptance credit) using bills of exchange instead of demand deposits.  Amsterdam money market becomes hub for much of Europe in the 1700s.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6" name="Shape 356"/>
          <p:cNvSpPr/>
          <p:nvPr>
            <p:ph type="sldImg"/>
          </p:nvPr>
        </p:nvSpPr>
        <p:spPr>
          <a:prstGeom prst="rect">
            <a:avLst/>
          </a:prstGeom>
        </p:spPr>
        <p:txBody>
          <a:bodyPr/>
          <a:lstStyle/>
          <a:p>
            <a:pPr/>
          </a:p>
        </p:txBody>
      </p:sp>
      <p:sp>
        <p:nvSpPr>
          <p:cNvPr id="357" name="Shape 357"/>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Some New Deal regulations like Regulation Q became very costly with inflation.  </a:t>
            </a:r>
          </a:p>
          <a:p>
            <a:pPr defTabSz="914400">
              <a:lnSpc>
                <a:spcPct val="100000"/>
              </a:lnSpc>
              <a:defRPr sz="1200">
                <a:latin typeface="Calibri"/>
                <a:ea typeface="Calibri"/>
                <a:cs typeface="Calibri"/>
                <a:sym typeface="Calibri"/>
              </a:defRPr>
            </a:pPr>
            <a:r>
              <a:t>Powerful incentives developed to circumvent regulations.  Note, Fed reserves are now the anchor.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5" name="Shape 365"/>
          <p:cNvSpPr/>
          <p:nvPr>
            <p:ph type="sldImg"/>
          </p:nvPr>
        </p:nvSpPr>
        <p:spPr>
          <a:prstGeom prst="rect">
            <a:avLst/>
          </a:prstGeom>
        </p:spPr>
        <p:txBody>
          <a:bodyPr/>
          <a:lstStyle/>
          <a:p>
            <a:pPr/>
          </a:p>
        </p:txBody>
      </p:sp>
      <p:sp>
        <p:nvSpPr>
          <p:cNvPr id="366" name="Shape 366"/>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Banks want to form: they are a profitable risk/cost trade off favored by customers.</a:t>
            </a:r>
          </a:p>
          <a:p>
            <a:pPr defTabSz="914400">
              <a:lnSpc>
                <a:spcPct val="100000"/>
              </a:lnSpc>
              <a:defRPr sz="1200">
                <a:latin typeface="Calibri"/>
                <a:ea typeface="Calibri"/>
                <a:cs typeface="Calibri"/>
                <a:sym typeface="Calibri"/>
              </a:defRPr>
            </a:pPr>
            <a:r>
              <a:t>Banks are also a fragile arrangement with negative externalities at failure.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2" name="Shape 382"/>
          <p:cNvSpPr/>
          <p:nvPr>
            <p:ph type="sldImg"/>
          </p:nvPr>
        </p:nvSpPr>
        <p:spPr>
          <a:prstGeom prst="rect">
            <a:avLst/>
          </a:prstGeom>
        </p:spPr>
        <p:txBody>
          <a:bodyPr/>
          <a:lstStyle/>
          <a:p>
            <a:pPr/>
          </a:p>
        </p:txBody>
      </p:sp>
      <p:sp>
        <p:nvSpPr>
          <p:cNvPr id="383" name="Shape 383"/>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Innovation/circumvention was the creation of MMMFs and Repo-based market funding.</a:t>
            </a:r>
          </a:p>
          <a:p>
            <a:pPr defTabSz="914400">
              <a:lnSpc>
                <a:spcPct val="100000"/>
              </a:lnSpc>
              <a:defRPr sz="1200">
                <a:latin typeface="Calibri"/>
                <a:ea typeface="Calibri"/>
                <a:cs typeface="Calibri"/>
                <a:sym typeface="Calibri"/>
              </a:defRPr>
            </a:pPr>
            <a:r>
              <a:t>The new rivals pressured banks who pressured regulators for the relaxation: end Reg Q, allow interstate branch banking, end Glass-Steagall.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0" name="Shape 430"/>
          <p:cNvSpPr/>
          <p:nvPr>
            <p:ph type="sldImg"/>
          </p:nvPr>
        </p:nvSpPr>
        <p:spPr>
          <a:prstGeom prst="rect">
            <a:avLst/>
          </a:prstGeom>
        </p:spPr>
        <p:txBody>
          <a:bodyPr/>
          <a:lstStyle/>
          <a:p>
            <a:pPr/>
          </a:p>
        </p:txBody>
      </p:sp>
      <p:sp>
        <p:nvSpPr>
          <p:cNvPr id="431" name="Shape 431"/>
          <p:cNvSpPr/>
          <p:nvPr>
            <p:ph type="body" sz="quarter" idx="1"/>
          </p:nvPr>
        </p:nvSpPr>
        <p:spPr>
          <a:prstGeom prst="rect">
            <a:avLst/>
          </a:prstGeom>
        </p:spPr>
        <p:txBody>
          <a:bodyPr/>
          <a:lstStyle>
            <a:lvl1pPr defTabSz="914400">
              <a:lnSpc>
                <a:spcPct val="100000"/>
              </a:lnSpc>
              <a:defRPr sz="1200">
                <a:latin typeface="Times New Roman"/>
                <a:ea typeface="Times New Roman"/>
                <a:cs typeface="Times New Roman"/>
                <a:sym typeface="Times New Roman"/>
              </a:defRPr>
            </a:lvl1pPr>
          </a:lstStyle>
          <a:p>
            <a:pPr/>
            <a:r>
              <a:t>Regulation reduces risks but increases costs.  In time, innovation works around regulations.  Often incumbents gain accommodation to compete with new forms.  Eventually, a crisis occurs, and the severe crises include a payments (safe assets) panic.  New regulations seek to solve the problem, and the cycle resumes.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666699290_02_crop_3159x1892.jpg"/>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910457886_1434x1669.jpg"/>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660384004_1290x1720.jpg"/>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7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Image"/>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Image"/>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Imag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Image"/>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49"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50" name="Body Level One…"/>
          <p:cNvSpPr txBox="1"/>
          <p:nvPr>
            <p:ph type="body" idx="1"/>
          </p:nvPr>
        </p:nvSpPr>
        <p:spPr>
          <a:xfrm>
            <a:off x="4387451" y="3661169"/>
            <a:ext cx="15609097" cy="8840395"/>
          </a:xfrm>
          <a:prstGeom prst="rect">
            <a:avLst/>
          </a:prstGeom>
        </p:spPr>
        <p:txBody>
          <a:bodyPr lIns="71435" tIns="71435" rIns="71435" bIns="71435" anchor="ctr"/>
          <a:lstStyle>
            <a:lvl1pPr marL="592664" indent="-592664" defTabSz="583286">
              <a:lnSpc>
                <a:spcPct val="100000"/>
              </a:lnSpc>
              <a:spcBef>
                <a:spcPts val="1600"/>
              </a:spcBef>
              <a:buSzPct val="75000"/>
              <a:defRPr>
                <a:latin typeface="Helvetica"/>
                <a:ea typeface="Helvetica"/>
                <a:cs typeface="Helvetica"/>
                <a:sym typeface="Helvetica"/>
              </a:defRPr>
            </a:lvl1pPr>
            <a:lvl2pPr marL="1037164" indent="-592664" defTabSz="583286">
              <a:lnSpc>
                <a:spcPct val="100000"/>
              </a:lnSpc>
              <a:spcBef>
                <a:spcPts val="1600"/>
              </a:spcBef>
              <a:buSzPct val="75000"/>
              <a:defRPr>
                <a:latin typeface="Helvetica"/>
                <a:ea typeface="Helvetica"/>
                <a:cs typeface="Helvetica"/>
                <a:sym typeface="Helvetica"/>
              </a:defRPr>
            </a:lvl2pPr>
            <a:lvl3pPr marL="1481664" indent="-592664" defTabSz="583286">
              <a:lnSpc>
                <a:spcPct val="100000"/>
              </a:lnSpc>
              <a:spcBef>
                <a:spcPts val="1600"/>
              </a:spcBef>
              <a:buSzPct val="75000"/>
              <a:defRPr>
                <a:latin typeface="Helvetica"/>
                <a:ea typeface="Helvetica"/>
                <a:cs typeface="Helvetica"/>
                <a:sym typeface="Helvetica"/>
              </a:defRPr>
            </a:lvl3pPr>
            <a:lvl4pPr marL="1926164" indent="-592664" defTabSz="583286">
              <a:lnSpc>
                <a:spcPct val="100000"/>
              </a:lnSpc>
              <a:spcBef>
                <a:spcPts val="1600"/>
              </a:spcBef>
              <a:buSzPct val="75000"/>
              <a:defRPr>
                <a:latin typeface="Helvetica"/>
                <a:ea typeface="Helvetica"/>
                <a:cs typeface="Helvetica"/>
                <a:sym typeface="Helvetica"/>
              </a:defRPr>
            </a:lvl4pPr>
            <a:lvl5pPr marL="2370664" indent="-592664" defTabSz="583286">
              <a:lnSpc>
                <a:spcPct val="100000"/>
              </a:lnSpc>
              <a:spcBef>
                <a:spcPts val="1600"/>
              </a:spcBef>
              <a:buSzPct val="75000"/>
              <a:defRPr>
                <a:latin typeface="Helvetica"/>
                <a:ea typeface="Helvetica"/>
                <a:cs typeface="Helvetica"/>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51"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58" name="Title Text"/>
          <p:cNvSpPr txBox="1"/>
          <p:nvPr>
            <p:ph type="title"/>
          </p:nvPr>
        </p:nvSpPr>
        <p:spPr>
          <a:xfrm>
            <a:off x="4387451" y="625075"/>
            <a:ext cx="15609097" cy="3036098"/>
          </a:xfrm>
          <a:prstGeom prst="rect">
            <a:avLst/>
          </a:prstGeom>
        </p:spPr>
        <p:txBody>
          <a:bodyPr lIns="71435" tIns="71435" rIns="71435" bIns="71435" anchor="ctr"/>
          <a:lstStyle>
            <a:lvl1pPr algn="ctr" defTabSz="714732">
              <a:lnSpc>
                <a:spcPct val="100000"/>
              </a:lnSpc>
              <a:defRPr spc="0" sz="16000">
                <a:solidFill>
                  <a:srgbClr val="000080"/>
                </a:solidFill>
                <a:latin typeface="Helvetica"/>
                <a:ea typeface="Helvetica"/>
                <a:cs typeface="Helvetica"/>
                <a:sym typeface="Helvetica"/>
              </a:defRPr>
            </a:lvl1pPr>
          </a:lstStyle>
          <a:p>
            <a:pPr/>
            <a:r>
              <a:t>Title Text</a:t>
            </a:r>
          </a:p>
        </p:txBody>
      </p:sp>
      <p:sp>
        <p:nvSpPr>
          <p:cNvPr id="159"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0"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67"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lnSpc>
                <a:spcPct val="100000"/>
              </a:lnSpc>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168"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lnSpc>
                <a:spcPct val="100000"/>
              </a:lnSpc>
              <a:spcBef>
                <a:spcPts val="5800"/>
              </a:spcBef>
              <a:buSzPct val="75000"/>
              <a:defRPr>
                <a:latin typeface="Helvetica Light"/>
                <a:ea typeface="Helvetica Light"/>
                <a:cs typeface="Helvetica Light"/>
                <a:sym typeface="Helvetica Light"/>
              </a:defRPr>
            </a:lvl1pPr>
            <a:lvl2pPr marL="1037165" indent="-592665" defTabSz="821529">
              <a:lnSpc>
                <a:spcPct val="100000"/>
              </a:lnSpc>
              <a:spcBef>
                <a:spcPts val="5800"/>
              </a:spcBef>
              <a:buSzPct val="75000"/>
              <a:defRPr>
                <a:latin typeface="Helvetica Light"/>
                <a:ea typeface="Helvetica Light"/>
                <a:cs typeface="Helvetica Light"/>
                <a:sym typeface="Helvetica Light"/>
              </a:defRPr>
            </a:lvl2pPr>
            <a:lvl3pPr marL="1481665" indent="-592665" defTabSz="821529">
              <a:lnSpc>
                <a:spcPct val="100000"/>
              </a:lnSpc>
              <a:spcBef>
                <a:spcPts val="5800"/>
              </a:spcBef>
              <a:buSzPct val="75000"/>
              <a:defRPr>
                <a:latin typeface="Helvetica Light"/>
                <a:ea typeface="Helvetica Light"/>
                <a:cs typeface="Helvetica Light"/>
                <a:sym typeface="Helvetica Light"/>
              </a:defRPr>
            </a:lvl3pPr>
            <a:lvl4pPr marL="1926166" indent="-592666" defTabSz="821529">
              <a:lnSpc>
                <a:spcPct val="100000"/>
              </a:lnSpc>
              <a:spcBef>
                <a:spcPts val="5800"/>
              </a:spcBef>
              <a:buSzPct val="75000"/>
              <a:defRPr>
                <a:latin typeface="Helvetica Light"/>
                <a:ea typeface="Helvetica Light"/>
                <a:cs typeface="Helvetica Light"/>
                <a:sym typeface="Helvetica Light"/>
              </a:defRPr>
            </a:lvl4pPr>
            <a:lvl5pPr marL="2370666" indent="-592666" defTabSz="821529">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9"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176" name="Title Text"/>
          <p:cNvSpPr txBox="1"/>
          <p:nvPr>
            <p:ph type="title"/>
          </p:nvPr>
        </p:nvSpPr>
        <p:spPr>
          <a:xfrm>
            <a:off x="3962400" y="549276"/>
            <a:ext cx="16459200" cy="2286001"/>
          </a:xfrm>
          <a:prstGeom prst="rect">
            <a:avLst/>
          </a:prstGeom>
        </p:spPr>
        <p:txBody>
          <a:bodyPr lIns="91439" tIns="91439" rIns="91439" bIns="91439" anchor="ctr"/>
          <a:lstStyle>
            <a:lvl1pPr algn="ctr" defTabSz="1828800">
              <a:lnSpc>
                <a:spcPct val="100000"/>
              </a:lnSpc>
              <a:defRPr b="0" spc="0" sz="8800">
                <a:latin typeface="Calibri"/>
                <a:ea typeface="Calibri"/>
                <a:cs typeface="Calibri"/>
                <a:sym typeface="Calibri"/>
              </a:defRPr>
            </a:lvl1pPr>
          </a:lstStyle>
          <a:p>
            <a:pPr/>
            <a:r>
              <a:t>Title Text</a:t>
            </a:r>
          </a:p>
        </p:txBody>
      </p:sp>
      <p:sp>
        <p:nvSpPr>
          <p:cNvPr id="177" name="Slide Number"/>
          <p:cNvSpPr txBox="1"/>
          <p:nvPr>
            <p:ph type="sldNum" sz="quarter" idx="2"/>
          </p:nvPr>
        </p:nvSpPr>
        <p:spPr>
          <a:xfrm>
            <a:off x="19917052" y="12802235"/>
            <a:ext cx="504548" cy="551181"/>
          </a:xfrm>
          <a:prstGeom prst="rect">
            <a:avLst/>
          </a:prstGeom>
        </p:spPr>
        <p:txBody>
          <a:bodyPr lIns="91439" tIns="91439" rIns="91439" bIns="91439" anchor="ctr"/>
          <a:lstStyle>
            <a:lvl1pPr algn="r" defTabSz="1828800">
              <a:defRPr sz="2400">
                <a:solidFill>
                  <a:srgbClr val="888888"/>
                </a:solidFill>
                <a:latin typeface="Calibri"/>
                <a:ea typeface="Calibri"/>
                <a:cs typeface="Calibri"/>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184" name="Title Text"/>
          <p:cNvSpPr txBox="1"/>
          <p:nvPr>
            <p:ph type="title"/>
          </p:nvPr>
        </p:nvSpPr>
        <p:spPr>
          <a:xfrm>
            <a:off x="3962400" y="549276"/>
            <a:ext cx="16459200" cy="2286001"/>
          </a:xfrm>
          <a:prstGeom prst="rect">
            <a:avLst/>
          </a:prstGeom>
        </p:spPr>
        <p:txBody>
          <a:bodyPr lIns="91439" tIns="91439" rIns="91439" bIns="91439" anchor="ctr"/>
          <a:lstStyle>
            <a:lvl1pPr algn="ctr" defTabSz="1828800">
              <a:lnSpc>
                <a:spcPct val="100000"/>
              </a:lnSpc>
              <a:defRPr b="0" spc="0" sz="8800">
                <a:latin typeface="Calibri"/>
                <a:ea typeface="Calibri"/>
                <a:cs typeface="Calibri"/>
                <a:sym typeface="Calibri"/>
              </a:defRPr>
            </a:lvl1pPr>
          </a:lstStyle>
          <a:p>
            <a:pPr/>
            <a:r>
              <a:t>Title Text</a:t>
            </a:r>
          </a:p>
        </p:txBody>
      </p:sp>
      <p:sp>
        <p:nvSpPr>
          <p:cNvPr id="185" name="Body Level One…"/>
          <p:cNvSpPr txBox="1"/>
          <p:nvPr>
            <p:ph type="body" idx="1"/>
          </p:nvPr>
        </p:nvSpPr>
        <p:spPr>
          <a:xfrm>
            <a:off x="3962400" y="3200400"/>
            <a:ext cx="16459200" cy="9051926"/>
          </a:xfrm>
          <a:prstGeom prst="rect">
            <a:avLst/>
          </a:prstGeom>
        </p:spPr>
        <p:txBody>
          <a:bodyPr lIns="91439" tIns="91439" rIns="91439" bIns="91439"/>
          <a:lstStyle>
            <a:lvl1pPr marL="685800" indent="-685800" defTabSz="1828800">
              <a:lnSpc>
                <a:spcPct val="100000"/>
              </a:lnSpc>
              <a:spcBef>
                <a:spcPts val="1500"/>
              </a:spcBef>
              <a:buSzPct val="100000"/>
              <a:buFont typeface="Arial"/>
              <a:defRPr sz="6400">
                <a:latin typeface="Calibri"/>
                <a:ea typeface="Calibri"/>
                <a:cs typeface="Calibri"/>
                <a:sym typeface="Calibri"/>
              </a:defRPr>
            </a:lvl1pPr>
            <a:lvl2pPr marL="1110342" indent="-653142" defTabSz="1828800">
              <a:lnSpc>
                <a:spcPct val="100000"/>
              </a:lnSpc>
              <a:spcBef>
                <a:spcPts val="1500"/>
              </a:spcBef>
              <a:buSzPct val="100000"/>
              <a:buFont typeface="Arial"/>
              <a:buChar char="–"/>
              <a:defRPr sz="6400">
                <a:latin typeface="Calibri"/>
                <a:ea typeface="Calibri"/>
                <a:cs typeface="Calibri"/>
                <a:sym typeface="Calibri"/>
              </a:defRPr>
            </a:lvl2pPr>
            <a:lvl3pPr marL="1524000" defTabSz="1828800">
              <a:lnSpc>
                <a:spcPct val="100000"/>
              </a:lnSpc>
              <a:spcBef>
                <a:spcPts val="1500"/>
              </a:spcBef>
              <a:buSzPct val="100000"/>
              <a:buFont typeface="Arial"/>
              <a:defRPr sz="6400">
                <a:latin typeface="Calibri"/>
                <a:ea typeface="Calibri"/>
                <a:cs typeface="Calibri"/>
                <a:sym typeface="Calibri"/>
              </a:defRPr>
            </a:lvl3pPr>
            <a:lvl4pPr marL="2103120" indent="-731520" defTabSz="1828800">
              <a:lnSpc>
                <a:spcPct val="100000"/>
              </a:lnSpc>
              <a:spcBef>
                <a:spcPts val="1500"/>
              </a:spcBef>
              <a:buSzPct val="100000"/>
              <a:buFont typeface="Arial"/>
              <a:buChar char="–"/>
              <a:defRPr sz="6400">
                <a:latin typeface="Calibri"/>
                <a:ea typeface="Calibri"/>
                <a:cs typeface="Calibri"/>
                <a:sym typeface="Calibri"/>
              </a:defRPr>
            </a:lvl4pPr>
            <a:lvl5pPr marL="2560320" indent="-731520" defTabSz="1828800">
              <a:lnSpc>
                <a:spcPct val="100000"/>
              </a:lnSpc>
              <a:spcBef>
                <a:spcPts val="1500"/>
              </a:spcBef>
              <a:buSzPct val="100000"/>
              <a:buFont typeface="Arial"/>
              <a:buChar char="»"/>
              <a:defRPr sz="6400">
                <a:latin typeface="Calibri"/>
                <a:ea typeface="Calibri"/>
                <a:cs typeface="Calibri"/>
                <a:sym typeface="Calibri"/>
              </a:defRPr>
            </a:lvl5pPr>
          </a:lstStyle>
          <a:p>
            <a:pPr/>
            <a:r>
              <a:t>Body Level One</a:t>
            </a:r>
          </a:p>
          <a:p>
            <a:pPr lvl="1"/>
            <a:r>
              <a:t>Body Level Two</a:t>
            </a:r>
          </a:p>
          <a:p>
            <a:pPr lvl="2"/>
            <a:r>
              <a:t>Body Level Three</a:t>
            </a:r>
          </a:p>
          <a:p>
            <a:pPr lvl="3"/>
            <a:r>
              <a:t>Body Level Four</a:t>
            </a:r>
          </a:p>
          <a:p>
            <a:pPr lvl="4"/>
            <a:r>
              <a:t>Body Level Five</a:t>
            </a:r>
          </a:p>
        </p:txBody>
      </p:sp>
      <p:sp>
        <p:nvSpPr>
          <p:cNvPr id="186" name="Slide Number"/>
          <p:cNvSpPr txBox="1"/>
          <p:nvPr>
            <p:ph type="sldNum" sz="quarter" idx="2"/>
          </p:nvPr>
        </p:nvSpPr>
        <p:spPr>
          <a:xfrm>
            <a:off x="19917052" y="12802235"/>
            <a:ext cx="504548" cy="551181"/>
          </a:xfrm>
          <a:prstGeom prst="rect">
            <a:avLst/>
          </a:prstGeom>
        </p:spPr>
        <p:txBody>
          <a:bodyPr lIns="91439" tIns="91439" rIns="91439" bIns="91439" anchor="ctr"/>
          <a:lstStyle>
            <a:lvl1pPr algn="r" defTabSz="1828800">
              <a:defRPr sz="2400">
                <a:solidFill>
                  <a:srgbClr val="888888"/>
                </a:solidFill>
                <a:latin typeface="Calibri"/>
                <a:ea typeface="Calibri"/>
                <a:cs typeface="Calibri"/>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p:spTree>
      <p:nvGrpSpPr>
        <p:cNvPr id="1" name=""/>
        <p:cNvGrpSpPr/>
        <p:nvPr/>
      </p:nvGrpSpPr>
      <p:grpSpPr>
        <a:xfrm>
          <a:off x="0" y="0"/>
          <a:ext cx="0" cy="0"/>
          <a:chOff x="0" y="0"/>
          <a:chExt cx="0" cy="0"/>
        </a:xfrm>
      </p:grpSpPr>
      <p:sp>
        <p:nvSpPr>
          <p:cNvPr id="193" name="Title Text"/>
          <p:cNvSpPr txBox="1"/>
          <p:nvPr>
            <p:ph type="title"/>
          </p:nvPr>
        </p:nvSpPr>
        <p:spPr>
          <a:xfrm>
            <a:off x="4419600" y="4260850"/>
            <a:ext cx="15544800" cy="2940050"/>
          </a:xfrm>
          <a:prstGeom prst="rect">
            <a:avLst/>
          </a:prstGeom>
        </p:spPr>
        <p:txBody>
          <a:bodyPr lIns="91439" tIns="91439" rIns="91439" bIns="91439" anchor="ctr"/>
          <a:lstStyle>
            <a:lvl1pPr algn="ctr" defTabSz="1828800">
              <a:lnSpc>
                <a:spcPct val="100000"/>
              </a:lnSpc>
              <a:defRPr b="0" spc="0" sz="8800">
                <a:latin typeface="Calibri"/>
                <a:ea typeface="Calibri"/>
                <a:cs typeface="Calibri"/>
                <a:sym typeface="Calibri"/>
              </a:defRPr>
            </a:lvl1pPr>
          </a:lstStyle>
          <a:p>
            <a:pPr/>
            <a:r>
              <a:t>Title Text</a:t>
            </a:r>
          </a:p>
        </p:txBody>
      </p:sp>
      <p:sp>
        <p:nvSpPr>
          <p:cNvPr id="194" name="Body Level One…"/>
          <p:cNvSpPr txBox="1"/>
          <p:nvPr>
            <p:ph type="body" sz="quarter" idx="1"/>
          </p:nvPr>
        </p:nvSpPr>
        <p:spPr>
          <a:xfrm>
            <a:off x="5791200" y="7772400"/>
            <a:ext cx="12801600" cy="3505200"/>
          </a:xfrm>
          <a:prstGeom prst="rect">
            <a:avLst/>
          </a:prstGeom>
        </p:spPr>
        <p:txBody>
          <a:bodyPr lIns="91439" tIns="91439" rIns="91439" bIns="91439"/>
          <a:lstStyle>
            <a:lvl1pPr marL="0" indent="0" algn="ctr" defTabSz="1828800">
              <a:lnSpc>
                <a:spcPct val="100000"/>
              </a:lnSpc>
              <a:spcBef>
                <a:spcPts val="1500"/>
              </a:spcBef>
              <a:buSzTx/>
              <a:buNone/>
              <a:defRPr sz="6400">
                <a:solidFill>
                  <a:srgbClr val="888888"/>
                </a:solidFill>
                <a:latin typeface="Calibri"/>
                <a:ea typeface="Calibri"/>
                <a:cs typeface="Calibri"/>
                <a:sym typeface="Calibri"/>
              </a:defRPr>
            </a:lvl1pPr>
            <a:lvl2pPr marL="0" indent="457200" algn="ctr" defTabSz="1828800">
              <a:lnSpc>
                <a:spcPct val="100000"/>
              </a:lnSpc>
              <a:spcBef>
                <a:spcPts val="1500"/>
              </a:spcBef>
              <a:buSzTx/>
              <a:buNone/>
              <a:defRPr sz="6400">
                <a:solidFill>
                  <a:srgbClr val="888888"/>
                </a:solidFill>
                <a:latin typeface="Calibri"/>
                <a:ea typeface="Calibri"/>
                <a:cs typeface="Calibri"/>
                <a:sym typeface="Calibri"/>
              </a:defRPr>
            </a:lvl2pPr>
            <a:lvl3pPr marL="0" indent="914400" algn="ctr" defTabSz="1828800">
              <a:lnSpc>
                <a:spcPct val="100000"/>
              </a:lnSpc>
              <a:spcBef>
                <a:spcPts val="1500"/>
              </a:spcBef>
              <a:buSzTx/>
              <a:buNone/>
              <a:defRPr sz="6400">
                <a:solidFill>
                  <a:srgbClr val="888888"/>
                </a:solidFill>
                <a:latin typeface="Calibri"/>
                <a:ea typeface="Calibri"/>
                <a:cs typeface="Calibri"/>
                <a:sym typeface="Calibri"/>
              </a:defRPr>
            </a:lvl3pPr>
            <a:lvl4pPr marL="0" indent="1371600" algn="ctr" defTabSz="1828800">
              <a:lnSpc>
                <a:spcPct val="100000"/>
              </a:lnSpc>
              <a:spcBef>
                <a:spcPts val="1500"/>
              </a:spcBef>
              <a:buSzTx/>
              <a:buNone/>
              <a:defRPr sz="6400">
                <a:solidFill>
                  <a:srgbClr val="888888"/>
                </a:solidFill>
                <a:latin typeface="Calibri"/>
                <a:ea typeface="Calibri"/>
                <a:cs typeface="Calibri"/>
                <a:sym typeface="Calibri"/>
              </a:defRPr>
            </a:lvl4pPr>
            <a:lvl5pPr marL="0" indent="1828800" algn="ctr" defTabSz="1828800">
              <a:lnSpc>
                <a:spcPct val="100000"/>
              </a:lnSpc>
              <a:spcBef>
                <a:spcPts val="1500"/>
              </a:spcBef>
              <a:buSzTx/>
              <a:buNone/>
              <a:defRPr sz="6400">
                <a:solidFill>
                  <a:srgbClr val="888888"/>
                </a:solidFill>
                <a:latin typeface="Calibri"/>
                <a:ea typeface="Calibri"/>
                <a:cs typeface="Calibri"/>
                <a:sym typeface="Calibri"/>
              </a:defRPr>
            </a:lvl5pPr>
          </a:lstStyle>
          <a:p>
            <a:pPr/>
            <a:r>
              <a:t>Body Level One</a:t>
            </a:r>
          </a:p>
          <a:p>
            <a:pPr lvl="1"/>
            <a:r>
              <a:t>Body Level Two</a:t>
            </a:r>
          </a:p>
          <a:p>
            <a:pPr lvl="2"/>
            <a:r>
              <a:t>Body Level Three</a:t>
            </a:r>
          </a:p>
          <a:p>
            <a:pPr lvl="3"/>
            <a:r>
              <a:t>Body Level Four</a:t>
            </a:r>
          </a:p>
          <a:p>
            <a:pPr lvl="4"/>
            <a:r>
              <a:t>Body Level Five</a:t>
            </a:r>
          </a:p>
        </p:txBody>
      </p:sp>
      <p:sp>
        <p:nvSpPr>
          <p:cNvPr id="195" name="Slide Number"/>
          <p:cNvSpPr txBox="1"/>
          <p:nvPr>
            <p:ph type="sldNum" sz="quarter" idx="2"/>
          </p:nvPr>
        </p:nvSpPr>
        <p:spPr>
          <a:xfrm>
            <a:off x="19917052" y="12802235"/>
            <a:ext cx="504548" cy="551181"/>
          </a:xfrm>
          <a:prstGeom prst="rect">
            <a:avLst/>
          </a:prstGeom>
        </p:spPr>
        <p:txBody>
          <a:bodyPr lIns="91439" tIns="91439" rIns="91439" bIns="91439" anchor="ctr"/>
          <a:lstStyle>
            <a:lvl1pPr algn="r" defTabSz="1828800">
              <a:defRPr sz="2400">
                <a:solidFill>
                  <a:srgbClr val="888888"/>
                </a:solidFill>
                <a:latin typeface="Calibri"/>
                <a:ea typeface="Calibri"/>
                <a:cs typeface="Calibri"/>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mailto:delong@econ.berkeley.edu" TargetMode="External"/><Relationship Id="rId5" Type="http://schemas.openxmlformats.org/officeDocument/2006/relationships/hyperlink" Target="https://www.icloud.com/keynote/0eqVET8B0fmqY2TM-T1XGpPIA" TargetMode="External"/></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mailto:delong@econ.berkeley.edu" TargetMode="External"/></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mailto:delong@econ.berkeley.edu" TargetMode="Externa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mailto:delong@econ.berkeley.edu" TargetMode="External"/></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fipe.berkeley.edu/Schedule" TargetMode="External"/><Relationship Id="rId4" Type="http://schemas.openxmlformats.org/officeDocument/2006/relationships/hyperlink" Target="mailto:delong@econ.berkeley.edu" TargetMode="External"/></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mailto:delong@econ.berkeley.edu" TargetMode="External"/></Relationships>

</file>

<file path=ppt/slides/_rels/slide7.xml.rels><?xml version="1.0" encoding="UTF-8"?>
<Relationships xmlns="http://schemas.openxmlformats.org/package/2006/relationships"><Relationship Id="rId1" Type="http://schemas.openxmlformats.org/officeDocument/2006/relationships/slideLayout" Target="../slideLayouts/slideLayout21.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xml"/><Relationship Id="rId3" Type="http://schemas.openxmlformats.org/officeDocument/2006/relationships/image" Target="../media/image1.jpe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7.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19.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20.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hyperlink" Target="https://berkeley.us2.list-manage.com/track/click?u=41fdd73e709718d13fe9e71ce&amp;id=edbdad525d&amp;e=cedd4adff7" TargetMode="External"/><Relationship Id="rId3" Type="http://schemas.openxmlformats.org/officeDocument/2006/relationships/hyperlink" Target="https://www.icloud.com/keynote/0eqVET8B0fmqY2TM-T1XGpPIA" TargetMode="External"/><Relationship Id="rId4" Type="http://schemas.openxmlformats.org/officeDocument/2006/relationships/hyperlink" Target="https://github.com/braddelong/public-files/blob/master/future-of-fintech-conference-2020-10-19.pptx" TargetMode="External"/><Relationship Id="rId5" Type="http://schemas.openxmlformats.org/officeDocument/2006/relationships/image" Target="../media/image1.tif"/></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_rels/slide25.xml.rels><?xml version="1.0" encoding="UTF-8"?>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4" name="delong-this-is-fine.png" descr="delong-this-is-fine.png"/>
          <p:cNvPicPr>
            <a:picLocks noChangeAspect="1"/>
          </p:cNvPicPr>
          <p:nvPr/>
        </p:nvPicPr>
        <p:blipFill>
          <a:blip r:embed="rId3">
            <a:alphaModFix amt="25396"/>
            <a:extLst/>
          </a:blip>
          <a:srcRect l="0" t="0" r="1203" b="0"/>
          <a:stretch>
            <a:fillRect/>
          </a:stretch>
        </p:blipFill>
        <p:spPr>
          <a:xfrm>
            <a:off x="0" y="-3183"/>
            <a:ext cx="24384001" cy="13722366"/>
          </a:xfrm>
          <a:prstGeom prst="rect">
            <a:avLst/>
          </a:prstGeom>
          <a:ln w="12700">
            <a:miter lim="400000"/>
          </a:ln>
        </p:spPr>
      </p:pic>
      <p:sp>
        <p:nvSpPr>
          <p:cNvPr id="205"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06" name="The long 20th century will in all likelihood be seen in the future as the watershed in human experience:…"/>
          <p:cNvSpPr txBox="1"/>
          <p:nvPr/>
        </p:nvSpPr>
        <p:spPr>
          <a:xfrm>
            <a:off x="402606" y="2286000"/>
            <a:ext cx="23622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1600"/>
              </a:spcBef>
              <a:defRPr b="1" sz="4800">
                <a:solidFill>
                  <a:srgbClr val="000000"/>
                </a:solidFill>
                <a:latin typeface="Helvetica"/>
                <a:ea typeface="Helvetica"/>
                <a:cs typeface="Helvetica"/>
                <a:sym typeface="Helvetica"/>
              </a:defRPr>
            </a:pPr>
            <a:r>
              <a:t>History creates problems/opportunities; who takes steps to solve them, and how do they do so?</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Extended “Chartalist” approach—anchor, first-mover, regulator, forecloser, appropriator</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rPr i="1"/>
              <a:t>Successful</a:t>
            </a:r>
            <a:r>
              <a:t> state money</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Private entrepreneurs who are “safe enough” (counterparty, marketplace risk)</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Trust—widen your circle of trust (Partha Dasgupta):</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Commodities: from friends, kin, neighbors → state → money</a:t>
            </a:r>
          </a:p>
        </p:txBody>
      </p:sp>
      <p:sp>
        <p:nvSpPr>
          <p:cNvPr id="207" name="Brief Notes on the History of Fintech"/>
          <p:cNvSpPr txBox="1"/>
          <p:nvPr>
            <p:ph type="title"/>
          </p:nvPr>
        </p:nvSpPr>
        <p:spPr>
          <a:xfrm>
            <a:off x="-1" y="-1"/>
            <a:ext cx="24384001" cy="2286001"/>
          </a:xfrm>
          <a:prstGeom prst="rect">
            <a:avLst/>
          </a:prstGeom>
        </p:spPr>
        <p:txBody>
          <a:bodyPr lIns="91436" tIns="91436" rIns="91436" bIns="91436" anchor="ctr"/>
          <a:lstStyle>
            <a:lvl1pPr algn="ctr" defTabSz="621791">
              <a:lnSpc>
                <a:spcPct val="100000"/>
              </a:lnSpc>
              <a:defRPr spc="0" sz="10880">
                <a:solidFill>
                  <a:srgbClr val="000080"/>
                </a:solidFill>
                <a:uFill>
                  <a:solidFill>
                    <a:srgbClr val="000000"/>
                  </a:solidFill>
                </a:uFill>
                <a:latin typeface="Helvetica"/>
                <a:ea typeface="Helvetica"/>
                <a:cs typeface="Helvetica"/>
                <a:sym typeface="Helvetica"/>
              </a:defRPr>
            </a:lvl1pPr>
          </a:lstStyle>
          <a:p>
            <a:pPr/>
            <a:r>
              <a:t>Brief Notes on the History of Fintech</a:t>
            </a:r>
          </a:p>
        </p:txBody>
      </p:sp>
      <p:sp>
        <p:nvSpPr>
          <p:cNvPr id="208" name="Brad DeLong delong@econ.berkeley.edu"/>
          <p:cNvSpPr txBox="1"/>
          <p:nvPr/>
        </p:nvSpPr>
        <p:spPr>
          <a:xfrm>
            <a:off x="254645" y="1261837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4" invalidUrl="" action="" tgtFrame="" tooltip="" history="1" highlightClick="0" endSnd="0"/>
              </a:rPr>
              <a:t>delong@econ.berkeley.edu</a:t>
            </a:r>
          </a:p>
        </p:txBody>
      </p:sp>
      <p:sp>
        <p:nvSpPr>
          <p:cNvPr id="209" name="&lt;https://www.icloud.com/keynote/0eqVET8B0fmqY2TM-T1XGpPIA&gt;"/>
          <p:cNvSpPr txBox="1"/>
          <p:nvPr/>
        </p:nvSpPr>
        <p:spPr>
          <a:xfrm>
            <a:off x="254645"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&lt;</a:t>
            </a:r>
            <a:r>
              <a:rPr>
                <a:hlinkClick r:id="rId5" invalidUrl="" action="" tgtFrame="" tooltip="" history="1" highlightClick="0" endSnd="0"/>
              </a:rPr>
              <a:t>https://www.icloud.com/keynote/0eqVET8B0fmqY2TM-T1XGpPIA</a:t>
            </a:r>
            <a:r>
              <a:t>&gt;</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3" name="delong-this-is-fine.png" descr="delong-this-is-fine.png"/>
          <p:cNvPicPr>
            <a:picLocks noChangeAspect="1"/>
          </p:cNvPicPr>
          <p:nvPr/>
        </p:nvPicPr>
        <p:blipFill>
          <a:blip r:embed="rId2">
            <a:alphaModFix amt="25396"/>
            <a:extLst/>
          </a:blip>
          <a:srcRect l="0" t="0" r="1203" b="0"/>
          <a:stretch>
            <a:fillRect/>
          </a:stretch>
        </p:blipFill>
        <p:spPr>
          <a:xfrm>
            <a:off x="0" y="-3183"/>
            <a:ext cx="24384001" cy="13722366"/>
          </a:xfrm>
          <a:prstGeom prst="rect">
            <a:avLst/>
          </a:prstGeom>
          <a:ln w="12700">
            <a:miter lim="400000"/>
          </a:ln>
        </p:spPr>
      </p:pic>
      <p:sp>
        <p:nvSpPr>
          <p:cNvPr id="214"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15" name="The long 20th century will in all likelihood be seen in the future as the watershed in human experience:…"/>
          <p:cNvSpPr txBox="1"/>
          <p:nvPr/>
        </p:nvSpPr>
        <p:spPr>
          <a:xfrm>
            <a:off x="402606" y="2286000"/>
            <a:ext cx="23622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1600"/>
              </a:spcBef>
              <a:defRPr b="1" sz="4800">
                <a:solidFill>
                  <a:srgbClr val="000000"/>
                </a:solidFill>
                <a:latin typeface="Helvetica"/>
                <a:ea typeface="Helvetica"/>
                <a:cs typeface="Helvetica"/>
                <a:sym typeface="Helvetica"/>
              </a:defRPr>
            </a:pPr>
            <a:r>
              <a:t>History creates problems/opportunities; who takes steps to solve them, and how do they do so?</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Trust—widen your circle of trust</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Commodities: from friends, kin, neighbors → state → money</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Payments: money → merchant credit → bills of exchange → deposit banks → Bank of Amsterdam/John Law/South Sea/Bank of England → sufficient insulation from the fiscal needs of the state</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Coin → bullion → ledger</a:t>
            </a:r>
          </a:p>
        </p:txBody>
      </p:sp>
      <p:sp>
        <p:nvSpPr>
          <p:cNvPr id="216" name="Future of Fintech: History II"/>
          <p:cNvSpPr txBox="1"/>
          <p:nvPr>
            <p:ph type="title"/>
          </p:nvPr>
        </p:nvSpPr>
        <p:spPr>
          <a:xfrm>
            <a:off x="-1" y="-1"/>
            <a:ext cx="24384001" cy="2286001"/>
          </a:xfrm>
          <a:prstGeom prst="rect">
            <a:avLst/>
          </a:prstGeom>
        </p:spPr>
        <p:txBody>
          <a:bodyPr lIns="91436" tIns="91436" rIns="91436" bIns="91436" anchor="ctr"/>
          <a:lstStyle>
            <a:lvl1pPr algn="ctr" defTabSz="777240">
              <a:lnSpc>
                <a:spcPct val="100000"/>
              </a:lnSpc>
              <a:defRPr spc="0" sz="13600">
                <a:solidFill>
                  <a:srgbClr val="000080"/>
                </a:solidFill>
                <a:uFill>
                  <a:solidFill>
                    <a:srgbClr val="000000"/>
                  </a:solidFill>
                </a:uFill>
                <a:latin typeface="Helvetica"/>
                <a:ea typeface="Helvetica"/>
                <a:cs typeface="Helvetica"/>
                <a:sym typeface="Helvetica"/>
              </a:defRPr>
            </a:lvl1pPr>
          </a:lstStyle>
          <a:p>
            <a:pPr/>
            <a:r>
              <a:t>Future of Fintech: History II</a:t>
            </a:r>
          </a:p>
        </p:txBody>
      </p:sp>
      <p:sp>
        <p:nvSpPr>
          <p:cNvPr id="217" name="Brad DeLong delong@econ.berkeley.edu"/>
          <p:cNvSpPr txBox="1"/>
          <p:nvPr/>
        </p:nvSpPr>
        <p:spPr>
          <a:xfrm>
            <a:off x="402606"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3" invalidUrl="" action="" tgtFrame="" tooltip="" history="1" highlightClick="0" endSnd="0"/>
              </a:rPr>
              <a:t>delong@econ.berkeley.edu</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9" name="delong-this-is-fine.png" descr="delong-this-is-fine.png"/>
          <p:cNvPicPr>
            <a:picLocks noChangeAspect="1"/>
          </p:cNvPicPr>
          <p:nvPr/>
        </p:nvPicPr>
        <p:blipFill>
          <a:blip r:embed="rId2">
            <a:alphaModFix amt="25396"/>
            <a:extLst/>
          </a:blip>
          <a:srcRect l="0" t="0" r="1203" b="0"/>
          <a:stretch>
            <a:fillRect/>
          </a:stretch>
        </p:blipFill>
        <p:spPr>
          <a:xfrm>
            <a:off x="0" y="-3183"/>
            <a:ext cx="24384001" cy="13722366"/>
          </a:xfrm>
          <a:prstGeom prst="rect">
            <a:avLst/>
          </a:prstGeom>
          <a:ln w="12700">
            <a:miter lim="400000"/>
          </a:ln>
        </p:spPr>
      </p:pic>
      <p:sp>
        <p:nvSpPr>
          <p:cNvPr id="220"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21" name="The long 20th century will in all likelihood be seen in the future as the watershed in human experience:…"/>
          <p:cNvSpPr txBox="1"/>
          <p:nvPr/>
        </p:nvSpPr>
        <p:spPr>
          <a:xfrm>
            <a:off x="402606" y="2286000"/>
            <a:ext cx="23622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1600"/>
              </a:spcBef>
              <a:defRPr b="1" sz="4800">
                <a:solidFill>
                  <a:srgbClr val="000000"/>
                </a:solidFill>
                <a:latin typeface="Helvetica"/>
                <a:ea typeface="Helvetica"/>
                <a:cs typeface="Helvetica"/>
                <a:sym typeface="Helvetica"/>
              </a:defRPr>
            </a:pPr>
            <a:r>
              <a:t>History creates problems/opportunities; who takes steps to solve them, and how do they do so?</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Regulatory arbitrage by private entities that are “safe enough”—until they are not</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State as seizer of opportunities (South Sea Bubble)</a:t>
            </a:r>
          </a:p>
          <a:p>
            <a:pPr lvl="1" marL="1371600" indent="-762000" algn="l" defTabSz="821529">
              <a:spcBef>
                <a:spcPts val="1600"/>
              </a:spcBef>
              <a:buSzPct val="123000"/>
              <a:buChar char="•"/>
              <a:defRPr b="1" sz="4800">
                <a:solidFill>
                  <a:srgbClr val="000000"/>
                </a:solidFill>
                <a:latin typeface="Helvetica"/>
                <a:ea typeface="Helvetica"/>
                <a:cs typeface="Helvetica"/>
                <a:sym typeface="Helvetica"/>
              </a:defRPr>
            </a:pPr>
            <a:r>
              <a:t>Anchor, first-mover,  validator, regulator, forecloser, appropriator</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Trust—widen your circle of trust</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Commodities: from friends, kin, neighbors → state → money</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Payments: money → merchant credit → bills of exchange → deposit banks → Bank of Amsterdam/John Law/South Sea/Bank of England → sufficient insolation from the fiscal needs of the state || Coin → bullion → ledger</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Financing??</a:t>
            </a:r>
          </a:p>
        </p:txBody>
      </p:sp>
      <p:sp>
        <p:nvSpPr>
          <p:cNvPr id="222" name="Future of Fintech: History III"/>
          <p:cNvSpPr txBox="1"/>
          <p:nvPr>
            <p:ph type="title"/>
          </p:nvPr>
        </p:nvSpPr>
        <p:spPr>
          <a:xfrm>
            <a:off x="-1" y="-1"/>
            <a:ext cx="24384001" cy="2286001"/>
          </a:xfrm>
          <a:prstGeom prst="rect">
            <a:avLst/>
          </a:prstGeom>
        </p:spPr>
        <p:txBody>
          <a:bodyPr lIns="91436" tIns="91436" rIns="91436" bIns="91436" anchor="ctr"/>
          <a:lstStyle>
            <a:lvl1pPr algn="ctr" defTabSz="777240">
              <a:lnSpc>
                <a:spcPct val="100000"/>
              </a:lnSpc>
              <a:defRPr spc="0" sz="13600">
                <a:solidFill>
                  <a:srgbClr val="000080"/>
                </a:solidFill>
                <a:uFill>
                  <a:solidFill>
                    <a:srgbClr val="000000"/>
                  </a:solidFill>
                </a:uFill>
                <a:latin typeface="Helvetica"/>
                <a:ea typeface="Helvetica"/>
                <a:cs typeface="Helvetica"/>
                <a:sym typeface="Helvetica"/>
              </a:defRPr>
            </a:lvl1pPr>
          </a:lstStyle>
          <a:p>
            <a:pPr/>
            <a:r>
              <a:t>Future of Fintech: History III</a:t>
            </a:r>
          </a:p>
        </p:txBody>
      </p:sp>
      <p:sp>
        <p:nvSpPr>
          <p:cNvPr id="223" name="Brad DeLong delong@econ.berkeley.edu"/>
          <p:cNvSpPr txBox="1"/>
          <p:nvPr/>
        </p:nvSpPr>
        <p:spPr>
          <a:xfrm>
            <a:off x="402606"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3" invalidUrl="" action="" tgtFrame="" tooltip="" history="1" highlightClick="0" endSnd="0"/>
              </a:rPr>
              <a:t>delong@econ.berkeley.edu</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25" name="delong-this-is-fine.png" descr="delong-this-is-fine.png"/>
          <p:cNvPicPr>
            <a:picLocks noChangeAspect="1"/>
          </p:cNvPicPr>
          <p:nvPr/>
        </p:nvPicPr>
        <p:blipFill>
          <a:blip r:embed="rId2">
            <a:alphaModFix amt="25396"/>
            <a:extLst/>
          </a:blip>
          <a:srcRect l="0" t="0" r="1203" b="0"/>
          <a:stretch>
            <a:fillRect/>
          </a:stretch>
        </p:blipFill>
        <p:spPr>
          <a:xfrm>
            <a:off x="0" y="-3183"/>
            <a:ext cx="24384001" cy="13722366"/>
          </a:xfrm>
          <a:prstGeom prst="rect">
            <a:avLst/>
          </a:prstGeom>
          <a:ln w="12700">
            <a:miter lim="400000"/>
          </a:ln>
        </p:spPr>
      </p:pic>
      <p:sp>
        <p:nvSpPr>
          <p:cNvPr id="226"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27" name="The long 20th century will in all likelihood be seen in the future as the watershed in human experience:…"/>
          <p:cNvSpPr txBox="1"/>
          <p:nvPr/>
        </p:nvSpPr>
        <p:spPr>
          <a:xfrm>
            <a:off x="402606" y="2286000"/>
            <a:ext cx="23622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1600"/>
              </a:spcBef>
              <a:defRPr b="1" sz="4800">
                <a:solidFill>
                  <a:srgbClr val="000000"/>
                </a:solidFill>
                <a:latin typeface="Helvetica"/>
                <a:ea typeface="Helvetica"/>
                <a:cs typeface="Helvetica"/>
                <a:sym typeface="Helvetica"/>
              </a:defRPr>
            </a:pPr>
            <a:r>
              <a:t>History creates problems/opportunities; who takes steps to solve them, and how do they do so?</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Ant, VISA, FacebookPay?, ??</a:t>
            </a:r>
          </a:p>
        </p:txBody>
      </p:sp>
      <p:sp>
        <p:nvSpPr>
          <p:cNvPr id="228" name="Future of Fintech: History IV"/>
          <p:cNvSpPr txBox="1"/>
          <p:nvPr>
            <p:ph type="title"/>
          </p:nvPr>
        </p:nvSpPr>
        <p:spPr>
          <a:xfrm>
            <a:off x="-1" y="-1"/>
            <a:ext cx="24384001" cy="2286001"/>
          </a:xfrm>
          <a:prstGeom prst="rect">
            <a:avLst/>
          </a:prstGeom>
        </p:spPr>
        <p:txBody>
          <a:bodyPr lIns="91436" tIns="91436" rIns="91436" bIns="91436" anchor="ctr"/>
          <a:lstStyle>
            <a:lvl1pPr algn="ctr" defTabSz="777240">
              <a:lnSpc>
                <a:spcPct val="100000"/>
              </a:lnSpc>
              <a:defRPr spc="0" sz="13600">
                <a:solidFill>
                  <a:srgbClr val="000080"/>
                </a:solidFill>
                <a:uFill>
                  <a:solidFill>
                    <a:srgbClr val="000000"/>
                  </a:solidFill>
                </a:uFill>
                <a:latin typeface="Helvetica"/>
                <a:ea typeface="Helvetica"/>
                <a:cs typeface="Helvetica"/>
                <a:sym typeface="Helvetica"/>
              </a:defRPr>
            </a:lvl1pPr>
          </a:lstStyle>
          <a:p>
            <a:pPr/>
            <a:r>
              <a:t>Future of Fintech: History IV</a:t>
            </a:r>
          </a:p>
        </p:txBody>
      </p:sp>
      <p:sp>
        <p:nvSpPr>
          <p:cNvPr id="229" name="Brad DeLong delong@econ.berkeley.edu"/>
          <p:cNvSpPr txBox="1"/>
          <p:nvPr/>
        </p:nvSpPr>
        <p:spPr>
          <a:xfrm>
            <a:off x="402606"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3" invalidUrl="" action="" tgtFrame="" tooltip="" history="1" highlightClick="0" endSnd="0"/>
              </a:rPr>
              <a:t>delong@econ.berkeley.edu</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31" name="delong-this-is-fine.png" descr="delong-this-is-fine.png"/>
          <p:cNvPicPr>
            <a:picLocks noChangeAspect="1"/>
          </p:cNvPicPr>
          <p:nvPr/>
        </p:nvPicPr>
        <p:blipFill>
          <a:blip r:embed="rId2">
            <a:alphaModFix amt="25396"/>
            <a:extLst/>
          </a:blip>
          <a:srcRect l="0" t="0" r="1203" b="0"/>
          <a:stretch>
            <a:fillRect/>
          </a:stretch>
        </p:blipFill>
        <p:spPr>
          <a:xfrm>
            <a:off x="0" y="-3183"/>
            <a:ext cx="24384001" cy="13722366"/>
          </a:xfrm>
          <a:prstGeom prst="rect">
            <a:avLst/>
          </a:prstGeom>
          <a:ln w="12700">
            <a:miter lim="400000"/>
          </a:ln>
        </p:spPr>
      </p:pic>
      <p:sp>
        <p:nvSpPr>
          <p:cNvPr id="232"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33" name="The long 20th century will in all likelihood be seen in the future as the watershed in human experience:…"/>
          <p:cNvSpPr txBox="1"/>
          <p:nvPr/>
        </p:nvSpPr>
        <p:spPr>
          <a:xfrm>
            <a:off x="402606" y="2286000"/>
            <a:ext cx="23622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4800"/>
              </a:spcBef>
              <a:defRPr b="1" sz="4800">
                <a:solidFill>
                  <a:srgbClr val="000000"/>
                </a:solidFill>
                <a:latin typeface="Helvetica"/>
                <a:ea typeface="Helvetica"/>
                <a:cs typeface="Helvetica"/>
                <a:sym typeface="Helvetica"/>
              </a:defRPr>
            </a:pPr>
            <a:r>
              <a:t>Berkeley Financial Innovation and Political Economy: &lt;</a:t>
            </a:r>
            <a:r>
              <a:rPr u="sng">
                <a:hlinkClick r:id="rId3" invalidUrl="" action="" tgtFrame="" tooltip="" history="1" highlightClick="0" endSnd="0"/>
              </a:rPr>
              <a:t>https://fipe.berkeley.edu/Schedule</a:t>
            </a:r>
            <a:r>
              <a:t>&gt;: </a:t>
            </a:r>
          </a:p>
          <a:p>
            <a:pPr algn="l" defTabSz="821529">
              <a:spcBef>
                <a:spcPts val="4800"/>
              </a:spcBef>
              <a:defRPr b="1" sz="4800">
                <a:solidFill>
                  <a:srgbClr val="000000"/>
                </a:solidFill>
                <a:latin typeface="Helvetica"/>
                <a:ea typeface="Helvetica"/>
                <a:cs typeface="Helvetica"/>
                <a:sym typeface="Helvetica"/>
              </a:defRPr>
            </a:pPr>
            <a:r>
              <a:t>2020-10-19: History: Williams Roberds, Steve Quinn, Barry Eichengreen, &amp; Brad DeLong.... Technology: Bill Janeway, John Zysman, Alexei Grym, &amp; Mark Nitzberg.... Central Bank Digital: Benoit Cœuré, Olli Rehn, &amp; Zhu Min.... Banks &amp; Systems: Tobias Adrian,  Richard Lyons, &amp; David Schwartz.... </a:t>
            </a:r>
          </a:p>
          <a:p>
            <a:pPr algn="l" defTabSz="821529">
              <a:spcBef>
                <a:spcPts val="4800"/>
              </a:spcBef>
              <a:defRPr b="1" sz="4800">
                <a:solidFill>
                  <a:srgbClr val="000000"/>
                </a:solidFill>
                <a:latin typeface="Helvetica"/>
                <a:ea typeface="Helvetica"/>
                <a:cs typeface="Helvetica"/>
                <a:sym typeface="Helvetica"/>
              </a:defRPr>
            </a:pPr>
            <a:r>
              <a:t>2020-10-20: Inclusion: Paul Gertler, Laura Tyson, &amp; Joshua Blumenstock.... Regulation: Nicolas Véron, Katharina Pistor, &amp; Michael Barr.... International Monetary: Barry Eichengreen, Pierre-Olivier Gourinchas, &amp; Helene Rey.... International Relations: Abraham, Henry Farrell, John Zysman, &amp; Elizabeth Rosenberg...</a:t>
            </a:r>
          </a:p>
        </p:txBody>
      </p:sp>
      <p:sp>
        <p:nvSpPr>
          <p:cNvPr id="234" name="Mo &amp; Tu 2020-10-19 &amp; -20 Conference Schedule"/>
          <p:cNvSpPr txBox="1"/>
          <p:nvPr>
            <p:ph type="title"/>
          </p:nvPr>
        </p:nvSpPr>
        <p:spPr>
          <a:xfrm>
            <a:off x="-1" y="-1"/>
            <a:ext cx="24384001" cy="2286001"/>
          </a:xfrm>
          <a:prstGeom prst="rect">
            <a:avLst/>
          </a:prstGeom>
        </p:spPr>
        <p:txBody>
          <a:bodyPr lIns="91436" tIns="91436" rIns="91436" bIns="91436" anchor="ctr"/>
          <a:lstStyle>
            <a:lvl1pPr algn="ctr" defTabSz="475487">
              <a:lnSpc>
                <a:spcPct val="100000"/>
              </a:lnSpc>
              <a:defRPr spc="0" sz="8320">
                <a:solidFill>
                  <a:srgbClr val="000080"/>
                </a:solidFill>
                <a:uFill>
                  <a:solidFill>
                    <a:srgbClr val="000000"/>
                  </a:solidFill>
                </a:uFill>
                <a:latin typeface="Helvetica"/>
                <a:ea typeface="Helvetica"/>
                <a:cs typeface="Helvetica"/>
                <a:sym typeface="Helvetica"/>
              </a:defRPr>
            </a:lvl1pPr>
          </a:lstStyle>
          <a:p>
            <a:pPr/>
            <a:r>
              <a:t>Mo &amp; Tu 2020-10-19 &amp; -20 Conference Schedule</a:t>
            </a:r>
          </a:p>
        </p:txBody>
      </p:sp>
      <p:sp>
        <p:nvSpPr>
          <p:cNvPr id="235" name="Brad DeLong delong@econ.berkeley.edu"/>
          <p:cNvSpPr txBox="1"/>
          <p:nvPr/>
        </p:nvSpPr>
        <p:spPr>
          <a:xfrm>
            <a:off x="402606"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4" invalidUrl="" action="" tgtFrame="" tooltip="" history="1" highlightClick="0" endSnd="0"/>
              </a:rPr>
              <a:t>delong@econ.berkeley.edu</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37" name="delong-this-is-fine.png" descr="delong-this-is-fine.png"/>
          <p:cNvPicPr>
            <a:picLocks noChangeAspect="1"/>
          </p:cNvPicPr>
          <p:nvPr/>
        </p:nvPicPr>
        <p:blipFill>
          <a:blip r:embed="rId2">
            <a:alphaModFix amt="25396"/>
            <a:extLst/>
          </a:blip>
          <a:srcRect l="0" t="0" r="1203" b="0"/>
          <a:stretch>
            <a:fillRect/>
          </a:stretch>
        </p:blipFill>
        <p:spPr>
          <a:xfrm>
            <a:off x="0" y="-3183"/>
            <a:ext cx="24384001" cy="13722366"/>
          </a:xfrm>
          <a:prstGeom prst="rect">
            <a:avLst/>
          </a:prstGeom>
          <a:ln w="12700">
            <a:miter lim="400000"/>
          </a:ln>
        </p:spPr>
      </p:pic>
      <p:sp>
        <p:nvSpPr>
          <p:cNvPr id="238"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39" name="The long 20th century will in all likelihood be seen in the future as the watershed in human experience:…"/>
          <p:cNvSpPr txBox="1"/>
          <p:nvPr/>
        </p:nvSpPr>
        <p:spPr>
          <a:xfrm>
            <a:off x="402606" y="2286000"/>
            <a:ext cx="7747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457200">
              <a:lnSpc>
                <a:spcPct val="117999"/>
              </a:lnSpc>
              <a:defRPr sz="1600">
                <a:solidFill>
                  <a:srgbClr val="000000"/>
                </a:solidFill>
                <a:latin typeface="Times New Roman"/>
                <a:ea typeface="Times New Roman"/>
                <a:cs typeface="Times New Roman"/>
                <a:sym typeface="Times New Roman"/>
              </a:defRPr>
            </a:pPr>
            <a:r>
              <a:t>The focus of good work in economic history is always this: History creates problems and opportunities for economic actors. They  then have to respond. What is most interesting is how they respond, and what the unintended consequences are. The master move of economics is always that the market combines individual actions to produce something that nobody expected or necessarily wanted: that is what we expect out of our narratives, and that is what we have gotten so far in this session.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What we have heard is a chartalist-plus approach, an approach that I think that is broadly correct. The state and its payments are the foundation on which private entrepreneurs seek to gain wealth and advantage. The state with its payments and taxing flows is the anchor of their positions. The state is much more than just a very large organization that keeps itself functioning by collecting and then distributing a huge amount of wealth. Moving in the slipstream of the state's operations can gain you an awful lot of thick-market and trust benefits.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The state is also a first mover—or maybe a last mover. When it innovates (or adopts and adapts others’ innovations), it solidifies the market by setting what the expectational equilibrium will be. It is also a regulator and the adjudicator. It has people who ultimately can say what you can and cannot do. In the old days they carried spears and now it is people with guns, but ultimately they can say ‘this is your wealth, and this is not’.</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In that role, the state is a foreclosure of potential options that private sector entities might want to undertake. It is also often an appropriator of things that private sector entities wish to do. The state inherently has sources of advantage the private sector does not. The South Sea Company's business model was a sound one: ‘We are going to take the many untradeable issues of British national debt created since the Glorious Revolution, consolidate them, and then sell them and trade them in a thick market. We will then capture all of  the thick-market marketability edges as our profit, and we will divide it among the founding shareholders. And you can buy now and get in on the ground floor, for we are already trading on a when-issued basis.”</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It was a wonderful business model. But ultimately it was the big player, the Bank of England, that successfully executed that business model. It was not the South Sea Company. Isaac Newton is supposed to have famously said that he could calculate the motions of heavenly bodies, but not the madness of crowds. But he ought to have been able to calculate the motion of a very large, better-positioned state actor, better placed to execute a now-public and potentially very profitable business plan..</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We have successful state money. We then have private entrepreneurs, trying to do as they do</a:t>
            </a:r>
          </a:p>
        </p:txBody>
      </p:sp>
      <p:sp>
        <p:nvSpPr>
          <p:cNvPr id="240" name="Brief Notes on the History of Fintech"/>
          <p:cNvSpPr txBox="1"/>
          <p:nvPr>
            <p:ph type="title"/>
          </p:nvPr>
        </p:nvSpPr>
        <p:spPr>
          <a:xfrm>
            <a:off x="-1" y="-1"/>
            <a:ext cx="24384001" cy="2286001"/>
          </a:xfrm>
          <a:prstGeom prst="rect">
            <a:avLst/>
          </a:prstGeom>
        </p:spPr>
        <p:txBody>
          <a:bodyPr lIns="91436" tIns="91436" rIns="91436" bIns="91436" anchor="ctr"/>
          <a:lstStyle>
            <a:lvl1pPr algn="ctr" defTabSz="621791">
              <a:lnSpc>
                <a:spcPct val="100000"/>
              </a:lnSpc>
              <a:defRPr spc="0" sz="10880">
                <a:solidFill>
                  <a:srgbClr val="000080"/>
                </a:solidFill>
                <a:uFill>
                  <a:solidFill>
                    <a:srgbClr val="000000"/>
                  </a:solidFill>
                </a:uFill>
                <a:latin typeface="Helvetica"/>
                <a:ea typeface="Helvetica"/>
                <a:cs typeface="Helvetica"/>
                <a:sym typeface="Helvetica"/>
              </a:defRPr>
            </a:lvl1pPr>
          </a:lstStyle>
          <a:p>
            <a:pPr/>
            <a:r>
              <a:t>Brief Notes on the History of Fintech</a:t>
            </a:r>
          </a:p>
        </p:txBody>
      </p:sp>
      <p:sp>
        <p:nvSpPr>
          <p:cNvPr id="241" name="Brad DeLong delong@econ.berkeley.edu"/>
          <p:cNvSpPr txBox="1"/>
          <p:nvPr/>
        </p:nvSpPr>
        <p:spPr>
          <a:xfrm>
            <a:off x="402606"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3" invalidUrl="" action="" tgtFrame="" tooltip="" history="1" highlightClick="0" endSnd="0"/>
              </a:rPr>
              <a:t>delong@econ.berkeley.edu</a:t>
            </a:r>
          </a:p>
        </p:txBody>
      </p:sp>
      <p:sp>
        <p:nvSpPr>
          <p:cNvPr id="242" name="The long 20th century will in all likelihood be seen in the future as the watershed in human experience:…"/>
          <p:cNvSpPr txBox="1"/>
          <p:nvPr/>
        </p:nvSpPr>
        <p:spPr>
          <a:xfrm>
            <a:off x="16277605" y="2285999"/>
            <a:ext cx="7747001" cy="10789929"/>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457200">
              <a:lnSpc>
                <a:spcPct val="117999"/>
              </a:lnSpc>
              <a:defRPr sz="1600">
                <a:solidFill>
                  <a:srgbClr val="000000"/>
                </a:solidFill>
                <a:latin typeface="Times New Roman"/>
                <a:ea typeface="Times New Roman"/>
                <a:cs typeface="Times New Roman"/>
                <a:sym typeface="Times New Roman"/>
              </a:defRPr>
            </a:pPr>
            <a:r>
              <a:t>But those large anchor organizations need to be only semi-state actors. There needs to be efficient insulation of financial regulation from the fiscal needs of the state. The health of the financial system must be prioritized over the fact that the state can use this to get a little bit more seigniorage. And the state always pushes this margin.</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Thus the organizations that succeed in the long run are those that are somehow sufficiently insulated from the fiscal needs of the state to prioritize the financial system:  state-like enough to be concerned with the public interest rather than simply at some point taking the money and running. But they need to be non-state enough to prioritize the convenience of bankers over the goals of the high politicians.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And underneath this all there is always regulatory arbitrage by private entities. Their liabilities are, also, safe enough until they are not. And this is going to make the state nervous. If someone shows up and is large enough to actually begin taking on a state-like role, the central bank is going to get very nervous about who is the boss here and how will a crisis be handled.</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Thus the state is in tension: regulator and anchor,  first mover and validator. And we also need to be thinking of the state as closer of some. Maybe it forecloses some private options because they are too risky. Maybe because they are too profitable, and it wants to skim the cream itself. Maybe because these options upset the current balance of forces within the state. The state is going to seek to grab much of the thick-market benefits of being the hub.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We began with trust in commodity exchange at the start. Then we moved to trust in payments that make trust in commodity exchange not a problem. And finally we move to trust in long-term financing. This topic is, potentially, very fraught as we go forward now in this era of ‘ secular stagnation. Today it seems that is not so much saving as rather risk bearing capacity and entrepreneurial vision that are the places in which the economy feels constrained, rather than in the creation of liquidity, or even in the flows of savings.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So let me stop there by saying, as Barry Eichengreen did at the start: What is our financial future? Ant Financial? VISA? FacebookPay? Or  ????. </a:t>
            </a:r>
          </a:p>
          <a:p>
            <a:pPr algn="l" defTabSz="457200">
              <a:lnSpc>
                <a:spcPct val="117999"/>
              </a:lnSpc>
              <a:defRPr sz="1600">
                <a:solidFill>
                  <a:srgbClr val="000000"/>
                </a:solidFill>
                <a:latin typeface="Times New Roman"/>
                <a:ea typeface="Times New Roman"/>
                <a:cs typeface="Times New Roman"/>
                <a:sym typeface="Times New Roman"/>
              </a:defRPr>
            </a:pPr>
          </a:p>
          <a:p>
            <a:pPr algn="l" defTabSz="457200">
              <a:lnSpc>
                <a:spcPct val="117999"/>
              </a:lnSpc>
              <a:defRPr sz="1600">
                <a:solidFill>
                  <a:srgbClr val="000000"/>
                </a:solidFill>
                <a:latin typeface="Times New Roman"/>
                <a:ea typeface="Times New Roman"/>
                <a:cs typeface="Times New Roman"/>
                <a:sym typeface="Times New Roman"/>
              </a:defRPr>
            </a:pPr>
            <a:r>
              <a:t>Comment on: Stephen Quinn &amp; William Roberds: On the Evolution of Payments Systems</a:t>
            </a:r>
          </a:p>
          <a:p>
            <a:pPr algn="l" defTabSz="457200">
              <a:lnSpc>
                <a:spcPct val="117999"/>
              </a:lnSpc>
              <a:defRPr sz="1600">
                <a:solidFill>
                  <a:srgbClr val="000000"/>
                </a:solidFill>
                <a:latin typeface="Times New Roman"/>
                <a:ea typeface="Times New Roman"/>
                <a:cs typeface="Times New Roman"/>
                <a:sym typeface="Times New Roman"/>
              </a:defRPr>
            </a:pPr>
          </a:p>
          <a:p>
            <a:pPr algn="l" defTabSz="457200">
              <a:lnSpc>
                <a:spcPct val="117999"/>
              </a:lnSpc>
              <a:defRPr sz="1600">
                <a:solidFill>
                  <a:srgbClr val="000000"/>
                </a:solidFill>
                <a:latin typeface="Times New Roman"/>
                <a:ea typeface="Times New Roman"/>
                <a:cs typeface="Times New Roman"/>
                <a:sym typeface="Times New Roman"/>
              </a:defRPr>
            </a:pPr>
          </a:p>
          <a:p>
            <a:pPr algn="l" defTabSz="457200">
              <a:lnSpc>
                <a:spcPct val="117999"/>
              </a:lnSpc>
              <a:defRPr sz="1600">
                <a:solidFill>
                  <a:srgbClr val="000000"/>
                </a:solidFill>
                <a:latin typeface="Times New Roman"/>
                <a:ea typeface="Times New Roman"/>
                <a:cs typeface="Times New Roman"/>
                <a:sym typeface="Times New Roman"/>
              </a:defRPr>
            </a:pPr>
          </a:p>
          <a:p>
            <a:pPr algn="l" defTabSz="457200">
              <a:lnSpc>
                <a:spcPct val="117999"/>
              </a:lnSpc>
              <a:defRPr sz="1600">
                <a:solidFill>
                  <a:srgbClr val="000000"/>
                </a:solidFill>
                <a:latin typeface="Times New Roman"/>
                <a:ea typeface="Times New Roman"/>
                <a:cs typeface="Times New Roman"/>
                <a:sym typeface="Times New Roman"/>
              </a:defRPr>
            </a:pPr>
            <a:r>
              <a:t>1400 words</a:t>
            </a:r>
          </a:p>
        </p:txBody>
      </p:sp>
      <p:sp>
        <p:nvSpPr>
          <p:cNvPr id="243" name="The long 20th century will in all likelihood be seen in the future as the watershed in human experience:…"/>
          <p:cNvSpPr txBox="1"/>
          <p:nvPr/>
        </p:nvSpPr>
        <p:spPr>
          <a:xfrm>
            <a:off x="8340106" y="2286000"/>
            <a:ext cx="7747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457200">
              <a:lnSpc>
                <a:spcPct val="117999"/>
              </a:lnSpc>
              <a:defRPr sz="1600">
                <a:solidFill>
                  <a:srgbClr val="000000"/>
                </a:solidFill>
                <a:latin typeface="Times New Roman"/>
                <a:ea typeface="Times New Roman"/>
                <a:cs typeface="Times New Roman"/>
                <a:sym typeface="Times New Roman"/>
              </a:defRPr>
            </a:pPr>
            <a:r>
              <a:t>and find  things that reap the benefits of successful state money. The payments flows, assets, and liabilities created by these entrepreneurs have to be cheaper than and also have to be safe enough to be attractive for those who would otherwise use state money. And in placid times they are. They always are. Until they aren't. And then they stop being safe enough, things get very fraught.</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Perhaps the key insight is that economies are always impelled to seek find ways to widen circles of trust. This is an insight I stole from economist Partha Dasgupta. You can deepen your individual division of labor, but your own ability to produce things as limited. Thus you face a world in which there are lots of commodities that you need that you cannot produce, and for which you must trade. Trade starts out with gift exchange or commodity exchange, but only with those who trust. Your division of labor is limited to your friends, your neighbors, and your family. I would not trust some of my neighbors. I definitely would not trust some of my family, when it comes to engaging in reciprocal but not contemporaneously balanced trade.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But things become easier with some kind of state institutio, like a temple, or the treasury of the Great King. Those institutions have permanence and credibility. You can deal with them. In fact, you have to deal with them: They are alrea</a:t>
            </a:r>
          </a:p>
          <a:p>
            <a:pPr algn="l" defTabSz="457200">
              <a:lnSpc>
                <a:spcPct val="117999"/>
              </a:lnSpc>
              <a:defRPr sz="1600">
                <a:solidFill>
                  <a:srgbClr val="000000"/>
                </a:solidFill>
                <a:latin typeface="Times New Roman"/>
                <a:ea typeface="Times New Roman"/>
                <a:cs typeface="Times New Roman"/>
                <a:sym typeface="Times New Roman"/>
              </a:defRPr>
            </a:pPr>
          </a:p>
          <a:p>
            <a:pPr algn="l" defTabSz="457200">
              <a:lnSpc>
                <a:spcPct val="117999"/>
              </a:lnSpc>
              <a:defRPr sz="1600">
                <a:solidFill>
                  <a:srgbClr val="000000"/>
                </a:solidFill>
                <a:latin typeface="Times New Roman"/>
                <a:ea typeface="Times New Roman"/>
                <a:cs typeface="Times New Roman"/>
                <a:sym typeface="Times New Roman"/>
              </a:defRPr>
            </a:pPr>
            <a:r>
              <a:t>And then you have the invention of money! These little things made of precious metal that the Great King will accept in payment for taxes. He will also crucify anyone who counterfeits them, or adulterates them. And all of a sudden your circle of trust for commodity exchange has widened. Now your circle of commodity is made up of everyone who can show you the money. This is a great and wonderful thing.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But counterfeiting, adulteration, clipping, plus carrying large chests of coins around is difficult and costly. I winced when I watched the heist movie, The Italian Job, as the posse dropped a chest of gold down four stories into the getaway motorboat. I know enough about physics to know that that chest would have smashed the bottom of any boat, and promptly gone to the bottom of the Venetian lagoon.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People move from coins of gold or silver with the picture of the Great King on them to bullion, to bullion being kept somewhere in someone's basement, to bullion that is not earmarked for you but is the fractional-reserve backing for ledger entries,  to trust that  the transactions of a large organization that has money coming in and going out are sufficient liquidity  backing for the  This is the dance that we always do over time. We see it going in payments from money to merchant credit, to bills of exchange, to deposit banks, to large state actors. Those as anchors seem to work well.</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5" name="Title 1"/>
          <p:cNvSpPr txBox="1"/>
          <p:nvPr>
            <p:ph type="title"/>
          </p:nvPr>
        </p:nvSpPr>
        <p:spPr>
          <a:xfrm>
            <a:off x="4419600" y="1676401"/>
            <a:ext cx="15544800" cy="5524501"/>
          </a:xfrm>
          <a:prstGeom prst="rect">
            <a:avLst/>
          </a:prstGeom>
        </p:spPr>
        <p:txBody>
          <a:bodyPr/>
          <a:lstStyle>
            <a:lvl1pPr>
              <a:defRPr b="1" i="1" sz="7200">
                <a:latin typeface="Times New Roman"/>
                <a:ea typeface="Times New Roman"/>
                <a:cs typeface="Times New Roman"/>
                <a:sym typeface="Times New Roman"/>
              </a:defRPr>
            </a:lvl1pPr>
          </a:lstStyle>
          <a:p>
            <a:pPr/>
            <a:r>
              <a:t>On the Evolution of Payments Systems</a:t>
            </a:r>
          </a:p>
        </p:txBody>
      </p:sp>
      <p:sp>
        <p:nvSpPr>
          <p:cNvPr id="246" name="Subtitle 2"/>
          <p:cNvSpPr txBox="1"/>
          <p:nvPr>
            <p:ph type="body" sz="half" idx="1"/>
          </p:nvPr>
        </p:nvSpPr>
        <p:spPr>
          <a:xfrm>
            <a:off x="3962400" y="6400800"/>
            <a:ext cx="16002000" cy="5943600"/>
          </a:xfrm>
          <a:prstGeom prst="rect">
            <a:avLst/>
          </a:prstGeom>
        </p:spPr>
        <p:txBody>
          <a:bodyPr/>
          <a:lstStyle/>
          <a:p>
            <a:pPr>
              <a:spcBef>
                <a:spcPts val="1100"/>
              </a:spcBef>
              <a:defRPr sz="4800">
                <a:solidFill>
                  <a:srgbClr val="000000"/>
                </a:solidFill>
                <a:latin typeface="Times New Roman"/>
                <a:ea typeface="Times New Roman"/>
                <a:cs typeface="Times New Roman"/>
                <a:sym typeface="Times New Roman"/>
              </a:defRPr>
            </a:pPr>
            <a:r>
              <a:t>Stephen Quinn (</a:t>
            </a:r>
            <a:r>
              <a:t>Texas Christian University</a:t>
            </a:r>
            <a:r>
              <a:t>)</a:t>
            </a:r>
          </a:p>
          <a:p>
            <a:pPr>
              <a:spcBef>
                <a:spcPts val="1100"/>
              </a:spcBef>
              <a:defRPr sz="4800">
                <a:solidFill>
                  <a:srgbClr val="000000"/>
                </a:solidFill>
                <a:latin typeface="Times New Roman"/>
                <a:ea typeface="Times New Roman"/>
                <a:cs typeface="Times New Roman"/>
                <a:sym typeface="Times New Roman"/>
              </a:defRPr>
            </a:pPr>
            <a:r>
              <a:t>William Roberds (Federal Reserve Bank of Atlanta)</a:t>
            </a:r>
          </a:p>
          <a:p>
            <a:pPr>
              <a:defRPr sz="4800">
                <a:solidFill>
                  <a:srgbClr val="000000"/>
                </a:solidFill>
                <a:latin typeface="Times New Roman"/>
                <a:ea typeface="Times New Roman"/>
                <a:cs typeface="Times New Roman"/>
                <a:sym typeface="Times New Roman"/>
              </a:defRPr>
            </a:pPr>
          </a:p>
          <a:p>
            <a:pPr>
              <a:spcBef>
                <a:spcPts val="1100"/>
              </a:spcBef>
              <a:defRPr sz="4800">
                <a:solidFill>
                  <a:srgbClr val="000000"/>
                </a:solidFill>
                <a:latin typeface="Times New Roman"/>
                <a:ea typeface="Times New Roman"/>
                <a:cs typeface="Times New Roman"/>
                <a:sym typeface="Times New Roman"/>
              </a:defRPr>
            </a:pPr>
            <a:r>
              <a:t>Views presented are those of the authors and do not represent the official views of any part of the Federal Reserve System.</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8"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History Suggests</a:t>
            </a:r>
          </a:p>
        </p:txBody>
      </p:sp>
      <p:sp>
        <p:nvSpPr>
          <p:cNvPr id="249" name="Content Placeholder 2"/>
          <p:cNvSpPr txBox="1"/>
          <p:nvPr>
            <p:ph type="body" sz="half" idx="1"/>
          </p:nvPr>
        </p:nvSpPr>
        <p:spPr>
          <a:xfrm>
            <a:off x="4876800" y="3200400"/>
            <a:ext cx="14630400" cy="9051926"/>
          </a:xfrm>
          <a:prstGeom prst="rect">
            <a:avLst/>
          </a:prstGeom>
        </p:spPr>
        <p:txBody>
          <a:bodyPr/>
          <a:lstStyle/>
          <a:p>
            <a:pPr marL="0" indent="0">
              <a:spcBef>
                <a:spcPts val="1400"/>
              </a:spcBef>
              <a:buSzTx/>
              <a:buNone/>
              <a:defRPr sz="6000">
                <a:latin typeface="Times New Roman"/>
                <a:ea typeface="Times New Roman"/>
                <a:cs typeface="Times New Roman"/>
                <a:sym typeface="Times New Roman"/>
              </a:defRPr>
            </a:pPr>
            <a:r>
              <a:t>State intervention is a key factor.</a:t>
            </a:r>
          </a:p>
          <a:p>
            <a:pPr>
              <a:spcBef>
                <a:spcPts val="1400"/>
              </a:spcBef>
              <a:defRPr sz="6000">
                <a:latin typeface="Times New Roman"/>
                <a:ea typeface="Times New Roman"/>
                <a:cs typeface="Times New Roman"/>
                <a:sym typeface="Times New Roman"/>
              </a:defRPr>
            </a:pPr>
            <a:r>
              <a:t>State-supplied money anchors the payments system.</a:t>
            </a:r>
          </a:p>
          <a:p>
            <a:pPr>
              <a:spcBef>
                <a:spcPts val="1400"/>
              </a:spcBef>
              <a:defRPr sz="6000">
                <a:latin typeface="Times New Roman"/>
                <a:ea typeface="Times New Roman"/>
                <a:cs typeface="Times New Roman"/>
                <a:sym typeface="Times New Roman"/>
              </a:defRPr>
            </a:pPr>
            <a:r>
              <a:t>Regulations orient the direction of payments system innovation.  </a:t>
            </a:r>
          </a:p>
          <a:p>
            <a:pPr marL="0" indent="0">
              <a:buSzTx/>
              <a:buNone/>
              <a:defRPr sz="6000">
                <a:latin typeface="Times New Roman"/>
                <a:ea typeface="Times New Roman"/>
                <a:cs typeface="Times New Roman"/>
                <a:sym typeface="Times New Roman"/>
              </a:defRPr>
            </a:pPr>
          </a:p>
          <a:p>
            <a:pPr marL="0" indent="0">
              <a:spcBef>
                <a:spcPts val="1400"/>
              </a:spcBef>
              <a:buSzTx/>
              <a:buNone/>
              <a:defRPr sz="6000">
                <a:latin typeface="Times New Roman"/>
                <a:ea typeface="Times New Roman"/>
                <a:cs typeface="Times New Roman"/>
                <a:sym typeface="Times New Roman"/>
              </a:defRPr>
            </a:pPr>
            <a:r>
              <a:t>The evolving system then creates new innovations, new crises, and new regulations.</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1"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Analytical Framework</a:t>
            </a:r>
          </a:p>
        </p:txBody>
      </p:sp>
      <p:sp>
        <p:nvSpPr>
          <p:cNvPr id="252" name="Straight Connector 4"/>
          <p:cNvSpPr/>
          <p:nvPr/>
        </p:nvSpPr>
        <p:spPr>
          <a:xfrm flipH="1">
            <a:off x="8586487" y="3141014"/>
            <a:ext cx="1" cy="7007839"/>
          </a:xfrm>
          <a:prstGeom prst="line">
            <a:avLst/>
          </a:prstGeom>
          <a:ln w="12700">
            <a:solidFill>
              <a:srgbClr val="000000"/>
            </a:solidFill>
          </a:ln>
        </p:spPr>
        <p:txBody>
          <a:bodyPr tIns="91439" bIns="91439"/>
          <a:lstStyle/>
          <a:p>
            <a:pPr algn="l" defTabSz="1828800">
              <a:defRPr sz="3600">
                <a:solidFill>
                  <a:srgbClr val="000000"/>
                </a:solidFill>
                <a:latin typeface="Calibri"/>
                <a:ea typeface="Calibri"/>
                <a:cs typeface="Calibri"/>
                <a:sym typeface="Calibri"/>
              </a:defRPr>
            </a:pPr>
          </a:p>
        </p:txBody>
      </p:sp>
      <p:sp>
        <p:nvSpPr>
          <p:cNvPr id="253" name="Straight Connector 5"/>
          <p:cNvSpPr/>
          <p:nvPr/>
        </p:nvSpPr>
        <p:spPr>
          <a:xfrm>
            <a:off x="8586487" y="10148851"/>
            <a:ext cx="8137037" cy="1"/>
          </a:xfrm>
          <a:prstGeom prst="line">
            <a:avLst/>
          </a:prstGeom>
          <a:ln w="12700">
            <a:solidFill>
              <a:srgbClr val="000000"/>
            </a:solidFill>
          </a:ln>
        </p:spPr>
        <p:txBody>
          <a:bodyPr tIns="91439" bIns="91439"/>
          <a:lstStyle/>
          <a:p>
            <a:pPr algn="l" defTabSz="1828800">
              <a:defRPr sz="3600">
                <a:solidFill>
                  <a:srgbClr val="000000"/>
                </a:solidFill>
                <a:latin typeface="Calibri"/>
                <a:ea typeface="Calibri"/>
                <a:cs typeface="Calibri"/>
                <a:sym typeface="Calibri"/>
              </a:defRPr>
            </a:pPr>
          </a:p>
        </p:txBody>
      </p:sp>
      <p:sp>
        <p:nvSpPr>
          <p:cNvPr id="254" name="Text Box 2"/>
          <p:cNvSpPr txBox="1"/>
          <p:nvPr/>
        </p:nvSpPr>
        <p:spPr>
          <a:xfrm>
            <a:off x="4515035" y="3141011"/>
            <a:ext cx="3621878" cy="3253657"/>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 of payment technology not working</a:t>
            </a:r>
          </a:p>
        </p:txBody>
      </p:sp>
      <p:sp>
        <p:nvSpPr>
          <p:cNvPr id="255" name="Text Box 2"/>
          <p:cNvSpPr txBox="1"/>
          <p:nvPr/>
        </p:nvSpPr>
        <p:spPr>
          <a:xfrm>
            <a:off x="12435837" y="10586842"/>
            <a:ext cx="6888483" cy="165487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Resource cost of using payment technology</a:t>
            </a:r>
          </a:p>
        </p:txBody>
      </p:sp>
      <p:sp>
        <p:nvSpPr>
          <p:cNvPr id="256" name="Straight Connector 9"/>
          <p:cNvSpPr/>
          <p:nvPr/>
        </p:nvSpPr>
        <p:spPr>
          <a:xfrm>
            <a:off x="9495928" y="3754535"/>
            <a:ext cx="5257720" cy="5083332"/>
          </a:xfrm>
          <a:prstGeom prst="line">
            <a:avLst/>
          </a:prstGeom>
          <a:ln w="12700">
            <a:solidFill>
              <a:srgbClr val="000000"/>
            </a:solidFill>
            <a:headEnd type="triangle"/>
            <a:tailEnd type="oval"/>
          </a:ln>
        </p:spPr>
        <p:txBody>
          <a:bodyPr tIns="91439" bIns="91439"/>
          <a:lstStyle/>
          <a:p>
            <a:pPr algn="l" defTabSz="1828800">
              <a:defRPr sz="3600">
                <a:solidFill>
                  <a:srgbClr val="000000"/>
                </a:solidFill>
                <a:latin typeface="Calibri"/>
                <a:ea typeface="Calibri"/>
                <a:cs typeface="Calibri"/>
                <a:sym typeface="Calibri"/>
              </a:defRPr>
            </a:pPr>
          </a:p>
        </p:txBody>
      </p:sp>
      <p:sp>
        <p:nvSpPr>
          <p:cNvPr id="257" name="TextBox 19"/>
          <p:cNvSpPr txBox="1"/>
          <p:nvPr/>
        </p:nvSpPr>
        <p:spPr>
          <a:xfrm>
            <a:off x="15067370" y="8005588"/>
            <a:ext cx="3293885" cy="1553984"/>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p>
            <a:pPr algn="l" defTabSz="1828800">
              <a:defRPr sz="4800">
                <a:solidFill>
                  <a:srgbClr val="000000"/>
                </a:solidFill>
                <a:latin typeface="Times New Roman"/>
                <a:ea typeface="Times New Roman"/>
                <a:cs typeface="Times New Roman"/>
                <a:sym typeface="Times New Roman"/>
              </a:defRPr>
            </a:pPr>
            <a:r>
              <a:t>Successful </a:t>
            </a:r>
          </a:p>
          <a:p>
            <a:pPr algn="l" defTabSz="1828800">
              <a:defRPr sz="4800">
                <a:solidFill>
                  <a:srgbClr val="000000"/>
                </a:solidFill>
                <a:latin typeface="Times New Roman"/>
                <a:ea typeface="Times New Roman"/>
                <a:cs typeface="Times New Roman"/>
                <a:sym typeface="Times New Roman"/>
              </a:defRPr>
            </a:pPr>
            <a:r>
              <a:t>State Money</a:t>
            </a:r>
          </a:p>
        </p:txBody>
      </p:sp>
      <p:sp>
        <p:nvSpPr>
          <p:cNvPr id="258" name="TextBox 10"/>
          <p:cNvSpPr txBox="1"/>
          <p:nvPr/>
        </p:nvSpPr>
        <p:spPr>
          <a:xfrm rot="2635935">
            <a:off x="9226981" y="5677485"/>
            <a:ext cx="7892345" cy="8554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Cost Saving Innovations</a:t>
            </a:r>
          </a:p>
        </p:txBody>
      </p:sp>
      <p:sp>
        <p:nvSpPr>
          <p:cNvPr id="259" name="Rectangle 12"/>
          <p:cNvSpPr txBox="1"/>
          <p:nvPr/>
        </p:nvSpPr>
        <p:spPr>
          <a:xfrm>
            <a:off x="4447161" y="12776726"/>
            <a:ext cx="15353928" cy="538481"/>
          </a:xfrm>
          <a:prstGeom prst="rect">
            <a:avLst/>
          </a:prstGeom>
          <a:ln w="12700">
            <a:miter lim="400000"/>
          </a:ln>
          <a:extLst>
            <a:ext uri="{C572A759-6A51-4108-AA02-DFA0A04FC94B}">
              <ma14:wrappingTextBoxFlag xmlns:ma14="http://schemas.microsoft.com/office/mac/drawingml/2011/main" val="1"/>
            </a:ext>
          </a:extLst>
        </p:spPr>
        <p:txBody>
          <a:bodyPr tIns="91439" bIns="91439" anchor="ctr">
            <a:spAutoFit/>
          </a:bodyPr>
          <a:lstStyle>
            <a:lvl1pPr defTabSz="1828800">
              <a:defRPr>
                <a:solidFill>
                  <a:srgbClr val="000000"/>
                </a:solidFill>
                <a:latin typeface="Cambria"/>
                <a:ea typeface="Cambria"/>
                <a:cs typeface="Cambria"/>
                <a:sym typeface="Cambria"/>
              </a:defRPr>
            </a:lvl1pPr>
          </a:lstStyle>
          <a:p>
            <a:pPr/>
            <a:r>
              <a:t>Source: Adaptation of Berger, Hancock and Marquardt (1996: 700)</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3"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Venice circa 1500</a:t>
            </a:r>
          </a:p>
        </p:txBody>
      </p:sp>
      <p:grpSp>
        <p:nvGrpSpPr>
          <p:cNvPr id="269" name="Group 3"/>
          <p:cNvGrpSpPr/>
          <p:nvPr/>
        </p:nvGrpSpPr>
        <p:grpSpPr>
          <a:xfrm>
            <a:off x="5279784" y="2229425"/>
            <a:ext cx="14797864" cy="8383964"/>
            <a:chOff x="0" y="0"/>
            <a:chExt cx="14797863" cy="8383962"/>
          </a:xfrm>
        </p:grpSpPr>
        <p:sp>
          <p:nvSpPr>
            <p:cNvPr id="264" name="Straight Connector 4"/>
            <p:cNvSpPr/>
            <p:nvPr/>
          </p:nvSpPr>
          <p:spPr>
            <a:xfrm flipH="1">
              <a:off x="3245745" y="807001"/>
              <a:ext cx="1" cy="7007839"/>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265" name="Straight Connector 5"/>
            <p:cNvSpPr/>
            <p:nvPr/>
          </p:nvSpPr>
          <p:spPr>
            <a:xfrm>
              <a:off x="3245745" y="7814840"/>
              <a:ext cx="8137037" cy="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266" name="Text Box 2"/>
            <p:cNvSpPr/>
            <p:nvPr/>
          </p:nvSpPr>
          <p:spPr>
            <a:xfrm>
              <a:off x="0" y="0"/>
              <a:ext cx="2705266" cy="0"/>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a:t>
              </a:r>
            </a:p>
          </p:txBody>
        </p:sp>
        <p:sp>
          <p:nvSpPr>
            <p:cNvPr id="267" name="Text Box 2"/>
            <p:cNvSpPr/>
            <p:nvPr/>
          </p:nvSpPr>
          <p:spPr>
            <a:xfrm>
              <a:off x="12092597" y="8383962"/>
              <a:ext cx="2705267"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algn="l" defTabSz="1828800">
                <a:lnSpc>
                  <a:spcPct val="115000"/>
                </a:lnSpc>
                <a:spcBef>
                  <a:spcPts val="2000"/>
                </a:spcBef>
                <a:defRPr sz="4000">
                  <a:solidFill>
                    <a:srgbClr val="000000"/>
                  </a:solidFill>
                  <a:latin typeface="Times New Roman"/>
                  <a:ea typeface="Times New Roman"/>
                  <a:cs typeface="Times New Roman"/>
                  <a:sym typeface="Times New Roman"/>
                </a:defRPr>
              </a:lvl1pPr>
            </a:lstStyle>
            <a:p>
              <a:pPr/>
              <a:r>
                <a:t>Cost</a:t>
              </a:r>
            </a:p>
          </p:txBody>
        </p:sp>
        <p:sp>
          <p:nvSpPr>
            <p:cNvPr id="268" name="Straight Connector 9"/>
            <p:cNvSpPr/>
            <p:nvPr/>
          </p:nvSpPr>
          <p:spPr>
            <a:xfrm>
              <a:off x="5235814" y="807001"/>
              <a:ext cx="5201508" cy="4916486"/>
            </a:xfrm>
            <a:prstGeom prst="line">
              <a:avLst/>
            </a:prstGeom>
            <a:noFill/>
            <a:ln w="12700" cap="flat">
              <a:solidFill>
                <a:srgbClr val="000000"/>
              </a:solidFill>
              <a:prstDash val="solid"/>
              <a:roun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sp>
        <p:nvSpPr>
          <p:cNvPr id="270" name="TextBox 19"/>
          <p:cNvSpPr txBox="1"/>
          <p:nvPr/>
        </p:nvSpPr>
        <p:spPr>
          <a:xfrm>
            <a:off x="15807208" y="7582316"/>
            <a:ext cx="1381145"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Coin</a:t>
            </a:r>
          </a:p>
        </p:txBody>
      </p:sp>
      <p:sp>
        <p:nvSpPr>
          <p:cNvPr id="271" name="TextBox 10"/>
          <p:cNvSpPr txBox="1"/>
          <p:nvPr/>
        </p:nvSpPr>
        <p:spPr>
          <a:xfrm>
            <a:off x="13655040" y="5029200"/>
            <a:ext cx="4563388" cy="855484"/>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Bills of Exchange</a:t>
            </a:r>
          </a:p>
        </p:txBody>
      </p:sp>
      <p:sp>
        <p:nvSpPr>
          <p:cNvPr id="272" name="TextBox 11"/>
          <p:cNvSpPr txBox="1"/>
          <p:nvPr/>
        </p:nvSpPr>
        <p:spPr>
          <a:xfrm>
            <a:off x="11786961" y="3253580"/>
            <a:ext cx="3768349" cy="855484"/>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Deposit Banks</a:t>
            </a:r>
          </a:p>
        </p:txBody>
      </p:sp>
      <p:sp>
        <p:nvSpPr>
          <p:cNvPr id="273" name="TextBox 2"/>
          <p:cNvSpPr txBox="1"/>
          <p:nvPr/>
        </p:nvSpPr>
        <p:spPr>
          <a:xfrm>
            <a:off x="4388690" y="7483322"/>
            <a:ext cx="4045401" cy="15539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Easily lacking 3% of content</a:t>
            </a:r>
          </a:p>
        </p:txBody>
      </p:sp>
      <p:sp>
        <p:nvSpPr>
          <p:cNvPr id="274" name="Straight Arrow Connector 12"/>
          <p:cNvSpPr/>
          <p:nvPr/>
        </p:nvSpPr>
        <p:spPr>
          <a:xfrm>
            <a:off x="8525529" y="7951649"/>
            <a:ext cx="6953542" cy="46168"/>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75" name="TextBox 16"/>
          <p:cNvSpPr txBox="1"/>
          <p:nvPr/>
        </p:nvSpPr>
        <p:spPr>
          <a:xfrm>
            <a:off x="15220463" y="10648226"/>
            <a:ext cx="1460655" cy="855484"/>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3%</a:t>
            </a:r>
          </a:p>
        </p:txBody>
      </p:sp>
      <p:sp>
        <p:nvSpPr>
          <p:cNvPr id="276" name="Straight Arrow Connector 17"/>
          <p:cNvSpPr/>
          <p:nvPr/>
        </p:nvSpPr>
        <p:spPr>
          <a:xfrm flipV="1">
            <a:off x="15783869" y="8302615"/>
            <a:ext cx="1" cy="1741651"/>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77" name="TextBox 15"/>
          <p:cNvSpPr txBox="1"/>
          <p:nvPr/>
        </p:nvSpPr>
        <p:spPr>
          <a:xfrm>
            <a:off x="12685488" y="10648215"/>
            <a:ext cx="1460655" cy="8554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1%</a:t>
            </a:r>
          </a:p>
        </p:txBody>
      </p:sp>
      <p:sp>
        <p:nvSpPr>
          <p:cNvPr id="278" name="Straight Arrow Connector 18"/>
          <p:cNvSpPr/>
          <p:nvPr/>
        </p:nvSpPr>
        <p:spPr>
          <a:xfrm flipV="1">
            <a:off x="13258799" y="5952532"/>
            <a:ext cx="1" cy="4091737"/>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79" name="Straight Arrow Connector 20"/>
          <p:cNvSpPr/>
          <p:nvPr/>
        </p:nvSpPr>
        <p:spPr>
          <a:xfrm>
            <a:off x="8525529" y="5761695"/>
            <a:ext cx="4556078" cy="1"/>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80" name="TextBox 27"/>
          <p:cNvSpPr txBox="1"/>
          <p:nvPr/>
        </p:nvSpPr>
        <p:spPr>
          <a:xfrm>
            <a:off x="4357672" y="5289746"/>
            <a:ext cx="4045401" cy="8554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Credit risk</a:t>
            </a:r>
          </a:p>
        </p:txBody>
      </p:sp>
      <p:sp>
        <p:nvSpPr>
          <p:cNvPr id="281" name="TextBox 21"/>
          <p:cNvSpPr txBox="1"/>
          <p:nvPr/>
        </p:nvSpPr>
        <p:spPr>
          <a:xfrm>
            <a:off x="4340462" y="3643855"/>
            <a:ext cx="4045401" cy="8554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Bank failure</a:t>
            </a:r>
          </a:p>
        </p:txBody>
      </p:sp>
      <p:sp>
        <p:nvSpPr>
          <p:cNvPr id="282" name="Straight Arrow Connector 22"/>
          <p:cNvSpPr/>
          <p:nvPr/>
        </p:nvSpPr>
        <p:spPr>
          <a:xfrm>
            <a:off x="8477301" y="4141796"/>
            <a:ext cx="2800299" cy="1"/>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83" name="Straight Arrow Connector 24"/>
          <p:cNvSpPr/>
          <p:nvPr/>
        </p:nvSpPr>
        <p:spPr>
          <a:xfrm flipV="1">
            <a:off x="11365806" y="4393549"/>
            <a:ext cx="52636" cy="5604549"/>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84" name="TextBox 29"/>
          <p:cNvSpPr txBox="1"/>
          <p:nvPr/>
        </p:nvSpPr>
        <p:spPr>
          <a:xfrm>
            <a:off x="10895007" y="10613387"/>
            <a:ext cx="1460655" cy="8554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0%</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8"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Venetian Pivot</a:t>
            </a:r>
          </a:p>
        </p:txBody>
      </p:sp>
      <p:grpSp>
        <p:nvGrpSpPr>
          <p:cNvPr id="294" name="Group 3"/>
          <p:cNvGrpSpPr/>
          <p:nvPr/>
        </p:nvGrpSpPr>
        <p:grpSpPr>
          <a:xfrm>
            <a:off x="6354157" y="3036428"/>
            <a:ext cx="11661043" cy="7323283"/>
            <a:chOff x="0" y="0"/>
            <a:chExt cx="11661041" cy="7323282"/>
          </a:xfrm>
        </p:grpSpPr>
        <p:sp>
          <p:nvSpPr>
            <p:cNvPr id="289" name="Straight Connector 4"/>
            <p:cNvSpPr/>
            <p:nvPr/>
          </p:nvSpPr>
          <p:spPr>
            <a:xfrm flipH="1">
              <a:off x="2171371" y="0"/>
              <a:ext cx="1" cy="7007837"/>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290" name="Straight Connector 5"/>
            <p:cNvSpPr/>
            <p:nvPr/>
          </p:nvSpPr>
          <p:spPr>
            <a:xfrm>
              <a:off x="2171371" y="7007837"/>
              <a:ext cx="8137037" cy="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291" name="Text Box 2"/>
            <p:cNvSpPr/>
            <p:nvPr/>
          </p:nvSpPr>
          <p:spPr>
            <a:xfrm>
              <a:off x="0" y="0"/>
              <a:ext cx="2705266" cy="0"/>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a:t>
              </a:r>
            </a:p>
          </p:txBody>
        </p:sp>
        <p:sp>
          <p:nvSpPr>
            <p:cNvPr id="292" name="Text Box 2"/>
            <p:cNvSpPr/>
            <p:nvPr/>
          </p:nvSpPr>
          <p:spPr>
            <a:xfrm>
              <a:off x="8955775" y="7323282"/>
              <a:ext cx="2705267"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algn="l" defTabSz="1828800">
                <a:lnSpc>
                  <a:spcPct val="115000"/>
                </a:lnSpc>
                <a:spcBef>
                  <a:spcPts val="2000"/>
                </a:spcBef>
                <a:defRPr sz="4000">
                  <a:solidFill>
                    <a:srgbClr val="000000"/>
                  </a:solidFill>
                  <a:latin typeface="Times New Roman"/>
                  <a:ea typeface="Times New Roman"/>
                  <a:cs typeface="Times New Roman"/>
                  <a:sym typeface="Times New Roman"/>
                </a:defRPr>
              </a:lvl1pPr>
            </a:lstStyle>
            <a:p>
              <a:pPr/>
              <a:r>
                <a:t>Cost</a:t>
              </a:r>
            </a:p>
          </p:txBody>
        </p:sp>
        <p:sp>
          <p:nvSpPr>
            <p:cNvPr id="293" name="Straight Connector 9"/>
            <p:cNvSpPr/>
            <p:nvPr/>
          </p:nvSpPr>
          <p:spPr>
            <a:xfrm>
              <a:off x="7209442" y="0"/>
              <a:ext cx="2152894" cy="5009244"/>
            </a:xfrm>
            <a:prstGeom prst="line">
              <a:avLst/>
            </a:prstGeom>
            <a:noFill/>
            <a:ln w="12700" cap="flat">
              <a:solidFill>
                <a:srgbClr val="000000"/>
              </a:solidFill>
              <a:prstDash val="solid"/>
              <a:roun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sp>
        <p:nvSpPr>
          <p:cNvPr id="295" name="TextBox 19"/>
          <p:cNvSpPr txBox="1"/>
          <p:nvPr/>
        </p:nvSpPr>
        <p:spPr>
          <a:xfrm>
            <a:off x="15807208" y="7582316"/>
            <a:ext cx="1381145"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Coin</a:t>
            </a:r>
          </a:p>
        </p:txBody>
      </p:sp>
      <p:sp>
        <p:nvSpPr>
          <p:cNvPr id="296" name="TextBox 10"/>
          <p:cNvSpPr txBox="1"/>
          <p:nvPr/>
        </p:nvSpPr>
        <p:spPr>
          <a:xfrm>
            <a:off x="11277188" y="6624852"/>
            <a:ext cx="2598857" cy="15539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p>
            <a:pPr algn="l" defTabSz="1828800">
              <a:defRPr sz="4800">
                <a:solidFill>
                  <a:srgbClr val="000000"/>
                </a:solidFill>
                <a:latin typeface="Times New Roman"/>
                <a:ea typeface="Times New Roman"/>
                <a:cs typeface="Times New Roman"/>
                <a:sym typeface="Times New Roman"/>
              </a:defRPr>
            </a:pPr>
            <a:r>
              <a:t>Bills of </a:t>
            </a:r>
          </a:p>
          <a:p>
            <a:pPr algn="l" defTabSz="1828800">
              <a:defRPr sz="4800">
                <a:solidFill>
                  <a:srgbClr val="000000"/>
                </a:solidFill>
                <a:latin typeface="Times New Roman"/>
                <a:ea typeface="Times New Roman"/>
                <a:cs typeface="Times New Roman"/>
                <a:sym typeface="Times New Roman"/>
              </a:defRPr>
            </a:pPr>
            <a:r>
              <a:t>Exchange</a:t>
            </a:r>
          </a:p>
        </p:txBody>
      </p:sp>
      <p:sp>
        <p:nvSpPr>
          <p:cNvPr id="297" name="TextBox 11"/>
          <p:cNvSpPr txBox="1"/>
          <p:nvPr/>
        </p:nvSpPr>
        <p:spPr>
          <a:xfrm>
            <a:off x="8727684" y="4962857"/>
            <a:ext cx="2231193" cy="15539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Deposit Banks</a:t>
            </a:r>
          </a:p>
        </p:txBody>
      </p:sp>
      <p:sp>
        <p:nvSpPr>
          <p:cNvPr id="298" name="Straight Connector 12"/>
          <p:cNvSpPr/>
          <p:nvPr/>
        </p:nvSpPr>
        <p:spPr>
          <a:xfrm>
            <a:off x="9448800" y="4419599"/>
            <a:ext cx="6268563" cy="3625303"/>
          </a:xfrm>
          <a:prstGeom prst="line">
            <a:avLst/>
          </a:prstGeom>
          <a:ln w="12700">
            <a:solidFill>
              <a:srgbClr val="000000"/>
            </a:solidFill>
            <a:tailEnd type="oval"/>
          </a:ln>
        </p:spPr>
        <p:txBody>
          <a:bodyPr tIns="91439" bIns="91439"/>
          <a:lstStyle/>
          <a:p>
            <a:pPr algn="l" defTabSz="1828800">
              <a:defRPr sz="3600">
                <a:solidFill>
                  <a:srgbClr val="000000"/>
                </a:solidFill>
                <a:latin typeface="Calibri"/>
                <a:ea typeface="Calibri"/>
                <a:cs typeface="Calibri"/>
                <a:sym typeface="Calibri"/>
              </a:defRPr>
            </a:pPr>
          </a:p>
        </p:txBody>
      </p:sp>
      <p:sp>
        <p:nvSpPr>
          <p:cNvPr id="299" name="TextBox 20"/>
          <p:cNvSpPr txBox="1"/>
          <p:nvPr/>
        </p:nvSpPr>
        <p:spPr>
          <a:xfrm>
            <a:off x="14523076" y="4039527"/>
            <a:ext cx="4207392"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Merchant Credit</a:t>
            </a:r>
          </a:p>
        </p:txBody>
      </p:sp>
      <p:sp>
        <p:nvSpPr>
          <p:cNvPr id="300" name="Arc 17"/>
          <p:cNvSpPr/>
          <p:nvPr/>
        </p:nvSpPr>
        <p:spPr>
          <a:xfrm rot="18507484">
            <a:off x="11393496" y="3859219"/>
            <a:ext cx="2522473" cy="212492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cubicBezTo>
                  <a:pt x="11929" y="0"/>
                  <a:pt x="21600" y="8805"/>
                  <a:pt x="21600" y="19668"/>
                </a:cubicBezTo>
                <a:cubicBezTo>
                  <a:pt x="21600" y="20313"/>
                  <a:pt x="21565" y="20958"/>
                  <a:pt x="21495" y="21600"/>
                </a:cubicBezTo>
              </a:path>
            </a:pathLst>
          </a:custGeom>
          <a:ln w="76200">
            <a:solidFill>
              <a:srgbClr val="4A7EBB"/>
            </a:solidFill>
            <a:headEnd type="triangle"/>
          </a:ln>
        </p:spPr>
        <p:txBody>
          <a:bodyPr tIns="91439" bIns="91439" anchor="ctr"/>
          <a:lstStyle/>
          <a:p>
            <a:pPr defTabSz="1828800">
              <a:defRPr sz="3600">
                <a:solidFill>
                  <a:srgbClr val="000000"/>
                </a:solidFill>
                <a:latin typeface="Calibri"/>
                <a:ea typeface="Calibri"/>
                <a:cs typeface="Calibri"/>
                <a:sym typeface="Calibri"/>
              </a:defRPr>
            </a:pP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4" name="Title 3"/>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Anchor</a:t>
            </a:r>
          </a:p>
        </p:txBody>
      </p:sp>
      <p:pic>
        <p:nvPicPr>
          <p:cNvPr id="305" name="Picture 2" descr="Picture 2"/>
          <p:cNvPicPr>
            <a:picLocks noChangeAspect="1"/>
          </p:cNvPicPr>
          <p:nvPr/>
        </p:nvPicPr>
        <p:blipFill>
          <a:blip r:embed="rId3">
            <a:extLst/>
          </a:blip>
          <a:stretch>
            <a:fillRect/>
          </a:stretch>
        </p:blipFill>
        <p:spPr>
          <a:xfrm>
            <a:off x="3396867" y="3190874"/>
            <a:ext cx="17668878" cy="7334251"/>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9"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Paper Anchor</a:t>
            </a:r>
          </a:p>
        </p:txBody>
      </p:sp>
      <p:sp>
        <p:nvSpPr>
          <p:cNvPr id="310" name="Oval 5"/>
          <p:cNvSpPr/>
          <p:nvPr/>
        </p:nvSpPr>
        <p:spPr>
          <a:xfrm>
            <a:off x="3962400" y="4876800"/>
            <a:ext cx="11125200" cy="5486400"/>
          </a:xfrm>
          <a:prstGeom prst="ellipse">
            <a:avLst/>
          </a:prstGeom>
          <a:ln w="50800">
            <a:solidFill>
              <a:srgbClr val="000000"/>
            </a:solidFill>
          </a:ln>
        </p:spPr>
        <p:txBody>
          <a:bodyPr tIns="91439" bIns="91439" anchor="ctr"/>
          <a:lstStyle/>
          <a:p>
            <a:pPr defTabSz="1828800">
              <a:defRPr sz="3600">
                <a:solidFill>
                  <a:srgbClr val="FFFFFF"/>
                </a:solidFill>
                <a:latin typeface="Calibri"/>
                <a:ea typeface="Calibri"/>
                <a:cs typeface="Calibri"/>
                <a:sym typeface="Calibri"/>
              </a:defRPr>
            </a:pPr>
          </a:p>
        </p:txBody>
      </p:sp>
      <p:sp>
        <p:nvSpPr>
          <p:cNvPr id="311" name="Oval 6"/>
          <p:cNvSpPr/>
          <p:nvPr/>
        </p:nvSpPr>
        <p:spPr>
          <a:xfrm>
            <a:off x="9906000" y="4876800"/>
            <a:ext cx="10820400" cy="5486400"/>
          </a:xfrm>
          <a:prstGeom prst="ellipse">
            <a:avLst/>
          </a:prstGeom>
          <a:ln w="50800">
            <a:solidFill>
              <a:srgbClr val="000000"/>
            </a:solidFill>
          </a:ln>
        </p:spPr>
        <p:txBody>
          <a:bodyPr tIns="91439" bIns="91439" anchor="ctr"/>
          <a:lstStyle/>
          <a:p>
            <a:pPr defTabSz="1828800">
              <a:defRPr sz="3600">
                <a:solidFill>
                  <a:srgbClr val="FFFFFF"/>
                </a:solidFill>
                <a:latin typeface="Calibri"/>
                <a:ea typeface="Calibri"/>
                <a:cs typeface="Calibri"/>
                <a:sym typeface="Calibri"/>
              </a:defRPr>
            </a:pPr>
          </a:p>
        </p:txBody>
      </p:sp>
      <p:sp>
        <p:nvSpPr>
          <p:cNvPr id="312" name="TextBox 7"/>
          <p:cNvSpPr txBox="1"/>
          <p:nvPr/>
        </p:nvSpPr>
        <p:spPr>
          <a:xfrm>
            <a:off x="5730239" y="6604335"/>
            <a:ext cx="3169922" cy="1903111"/>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6000">
                <a:solidFill>
                  <a:srgbClr val="000000"/>
                </a:solidFill>
                <a:latin typeface="Times New Roman"/>
                <a:ea typeface="Times New Roman"/>
                <a:cs typeface="Times New Roman"/>
                <a:sym typeface="Times New Roman"/>
              </a:defRPr>
            </a:lvl1pPr>
          </a:lstStyle>
          <a:p>
            <a:pPr/>
            <a:r>
              <a:t>Shortage of coins</a:t>
            </a:r>
          </a:p>
        </p:txBody>
      </p:sp>
      <p:sp>
        <p:nvSpPr>
          <p:cNvPr id="313" name="TextBox 8"/>
          <p:cNvSpPr txBox="1"/>
          <p:nvPr/>
        </p:nvSpPr>
        <p:spPr>
          <a:xfrm>
            <a:off x="15864840" y="6756731"/>
            <a:ext cx="3474721" cy="1903111"/>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p>
            <a:pPr algn="l" defTabSz="1828800">
              <a:defRPr sz="6000">
                <a:solidFill>
                  <a:srgbClr val="000000"/>
                </a:solidFill>
                <a:latin typeface="Times New Roman"/>
                <a:ea typeface="Times New Roman"/>
                <a:cs typeface="Times New Roman"/>
                <a:sym typeface="Times New Roman"/>
              </a:defRPr>
            </a:pPr>
            <a:r>
              <a:t>Sovereign</a:t>
            </a:r>
          </a:p>
          <a:p>
            <a:pPr algn="l" defTabSz="1828800">
              <a:defRPr sz="6000">
                <a:solidFill>
                  <a:srgbClr val="000000"/>
                </a:solidFill>
                <a:latin typeface="Times New Roman"/>
                <a:ea typeface="Times New Roman"/>
                <a:cs typeface="Times New Roman"/>
                <a:sym typeface="Times New Roman"/>
              </a:defRPr>
            </a:pPr>
            <a:r>
              <a:t>Debt</a:t>
            </a:r>
          </a:p>
        </p:txBody>
      </p:sp>
      <p:sp>
        <p:nvSpPr>
          <p:cNvPr id="314" name="TextBox 9"/>
          <p:cNvSpPr txBox="1"/>
          <p:nvPr/>
        </p:nvSpPr>
        <p:spPr>
          <a:xfrm>
            <a:off x="11470640" y="6142670"/>
            <a:ext cx="2865121" cy="2779410"/>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p>
            <a:pPr algn="l" defTabSz="1828800">
              <a:defRPr sz="6000">
                <a:solidFill>
                  <a:srgbClr val="000000"/>
                </a:solidFill>
                <a:latin typeface="Times New Roman"/>
                <a:ea typeface="Times New Roman"/>
                <a:cs typeface="Times New Roman"/>
                <a:sym typeface="Times New Roman"/>
              </a:defRPr>
            </a:pPr>
            <a:r>
              <a:t>Public Bank</a:t>
            </a:r>
          </a:p>
          <a:p>
            <a:pPr algn="l" defTabSz="1828800">
              <a:defRPr sz="6000">
                <a:solidFill>
                  <a:srgbClr val="000000"/>
                </a:solidFill>
                <a:latin typeface="Times New Roman"/>
                <a:ea typeface="Times New Roman"/>
                <a:cs typeface="Times New Roman"/>
                <a:sym typeface="Times New Roman"/>
              </a:defRPr>
            </a:pPr>
            <a:r>
              <a:t>Ledgers</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8" name="Title 1"/>
          <p:cNvSpPr txBox="1"/>
          <p:nvPr>
            <p:ph type="title"/>
          </p:nvPr>
        </p:nvSpPr>
        <p:spPr>
          <a:prstGeom prst="rect">
            <a:avLst/>
          </a:prstGeom>
        </p:spPr>
        <p:txBody>
          <a:bodyPr/>
          <a:lstStyle>
            <a:lvl1pPr>
              <a:defRPr sz="7200">
                <a:latin typeface="Times New Roman"/>
                <a:ea typeface="Times New Roman"/>
                <a:cs typeface="Times New Roman"/>
                <a:sym typeface="Times New Roman"/>
              </a:defRPr>
            </a:lvl1pPr>
          </a:lstStyle>
          <a:p>
            <a:pPr/>
            <a:r>
              <a:t>Alchemy of an Anchor</a:t>
            </a:r>
          </a:p>
        </p:txBody>
      </p:sp>
      <p:sp>
        <p:nvSpPr>
          <p:cNvPr id="319" name="Content Placeholder 2"/>
          <p:cNvSpPr txBox="1"/>
          <p:nvPr>
            <p:ph type="body" idx="1"/>
          </p:nvPr>
        </p:nvSpPr>
        <p:spPr>
          <a:xfrm>
            <a:off x="3962400" y="3200400"/>
            <a:ext cx="16459200" cy="9051926"/>
          </a:xfrm>
          <a:prstGeom prst="rect">
            <a:avLst/>
          </a:prstGeom>
        </p:spPr>
        <p:txBody>
          <a:bodyPr/>
          <a:lstStyle/>
          <a:p>
            <a:pPr marL="0" indent="0">
              <a:buSzTx/>
              <a:buNone/>
              <a:defRPr>
                <a:latin typeface="Times New Roman"/>
                <a:ea typeface="Times New Roman"/>
                <a:cs typeface="Times New Roman"/>
                <a:sym typeface="Times New Roman"/>
              </a:defRPr>
            </a:pPr>
            <a:r>
              <a:t>Paradox: state-sponsored payments entities hold the same assets as private-sector rivals.</a:t>
            </a:r>
          </a:p>
          <a:p>
            <a:pPr>
              <a:defRPr>
                <a:latin typeface="Times New Roman"/>
                <a:ea typeface="Times New Roman"/>
                <a:cs typeface="Times New Roman"/>
                <a:sym typeface="Times New Roman"/>
              </a:defRPr>
            </a:pPr>
            <a:r>
              <a:t>Goal is to create more trustworthy liabilities.</a:t>
            </a:r>
          </a:p>
          <a:p>
            <a:pPr>
              <a:defRPr>
                <a:latin typeface="Times New Roman"/>
                <a:ea typeface="Times New Roman"/>
                <a:cs typeface="Times New Roman"/>
                <a:sym typeface="Times New Roman"/>
              </a:defRPr>
            </a:pPr>
            <a:r>
              <a:t>For success, some magic ingredient is required.</a:t>
            </a:r>
          </a:p>
          <a:p>
            <a:pPr>
              <a:defRPr>
                <a:latin typeface="Times New Roman"/>
                <a:ea typeface="Times New Roman"/>
                <a:cs typeface="Times New Roman"/>
                <a:sym typeface="Times New Roman"/>
              </a:defRPr>
            </a:pPr>
            <a:r>
              <a:t>Survivor Bias: Alchemy often does not work, yet easy to remember the successes.</a:t>
            </a:r>
          </a:p>
          <a:p>
            <a:pPr lvl="1" marL="1028700" indent="-571500">
              <a:spcBef>
                <a:spcPts val="1300"/>
              </a:spcBef>
              <a:defRPr sz="5600">
                <a:latin typeface="Times New Roman"/>
                <a:ea typeface="Times New Roman"/>
                <a:cs typeface="Times New Roman"/>
                <a:sym typeface="Times New Roman"/>
              </a:defRPr>
            </a:pPr>
            <a:r>
              <a:t>Failure: France, 1720</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3"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Political Economy</a:t>
            </a:r>
          </a:p>
        </p:txBody>
      </p:sp>
      <p:sp>
        <p:nvSpPr>
          <p:cNvPr id="324" name="Content Placeholder 2"/>
          <p:cNvSpPr txBox="1"/>
          <p:nvPr>
            <p:ph type="body" sz="half" idx="1"/>
          </p:nvPr>
        </p:nvSpPr>
        <p:spPr>
          <a:xfrm>
            <a:off x="4876800" y="3200400"/>
            <a:ext cx="14630400" cy="9051926"/>
          </a:xfrm>
          <a:prstGeom prst="rect">
            <a:avLst/>
          </a:prstGeom>
        </p:spPr>
        <p:txBody>
          <a:bodyPr/>
          <a:lstStyle/>
          <a:p>
            <a:pPr marL="0" indent="0">
              <a:spcBef>
                <a:spcPts val="1400"/>
              </a:spcBef>
              <a:buSzTx/>
              <a:buNone/>
              <a:defRPr sz="6000">
                <a:latin typeface="Times New Roman"/>
                <a:ea typeface="Times New Roman"/>
                <a:cs typeface="Times New Roman"/>
                <a:sym typeface="Times New Roman"/>
              </a:defRPr>
            </a:pPr>
            <a:r>
              <a:t>Political risks determine long run success of new anchor, i.e.</a:t>
            </a:r>
          </a:p>
          <a:p>
            <a:pPr>
              <a:defRPr sz="6000">
                <a:latin typeface="Times New Roman"/>
                <a:ea typeface="Times New Roman"/>
                <a:cs typeface="Times New Roman"/>
                <a:sym typeface="Times New Roman"/>
              </a:defRPr>
            </a:pPr>
          </a:p>
          <a:p>
            <a:pPr>
              <a:spcBef>
                <a:spcPts val="1400"/>
              </a:spcBef>
              <a:defRPr sz="6000">
                <a:latin typeface="Times New Roman"/>
                <a:ea typeface="Times New Roman"/>
                <a:cs typeface="Times New Roman"/>
                <a:sym typeface="Times New Roman"/>
              </a:defRPr>
            </a:pPr>
            <a:r>
              <a:t>How to generate credibility (the expectation of repayment)?</a:t>
            </a:r>
          </a:p>
          <a:p>
            <a:pPr>
              <a:defRPr sz="6000">
                <a:latin typeface="Times New Roman"/>
                <a:ea typeface="Times New Roman"/>
                <a:cs typeface="Times New Roman"/>
                <a:sym typeface="Times New Roman"/>
              </a:defRPr>
            </a:pPr>
          </a:p>
          <a:p>
            <a:pPr>
              <a:spcBef>
                <a:spcPts val="1400"/>
              </a:spcBef>
              <a:defRPr sz="6000">
                <a:latin typeface="Times New Roman"/>
                <a:ea typeface="Times New Roman"/>
                <a:cs typeface="Times New Roman"/>
                <a:sym typeface="Times New Roman"/>
              </a:defRPr>
            </a:pPr>
            <a:r>
              <a:t>How to generate legitimacy (the appropriate application of state power)?</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8"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Amsterdam Shift</a:t>
            </a:r>
          </a:p>
        </p:txBody>
      </p:sp>
      <p:grpSp>
        <p:nvGrpSpPr>
          <p:cNvPr id="336" name="Group 4"/>
          <p:cNvGrpSpPr/>
          <p:nvPr/>
        </p:nvGrpSpPr>
        <p:grpSpPr>
          <a:xfrm>
            <a:off x="4968239" y="3200399"/>
            <a:ext cx="11399521" cy="6556094"/>
            <a:chOff x="0" y="0"/>
            <a:chExt cx="11399519" cy="6556092"/>
          </a:xfrm>
        </p:grpSpPr>
        <p:sp>
          <p:nvSpPr>
            <p:cNvPr id="329" name="Straight Connector 5"/>
            <p:cNvSpPr/>
            <p:nvPr/>
          </p:nvSpPr>
          <p:spPr>
            <a:xfrm flipH="1">
              <a:off x="2400931" y="0"/>
              <a:ext cx="1" cy="617044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30" name="Straight Connector 6"/>
            <p:cNvSpPr/>
            <p:nvPr/>
          </p:nvSpPr>
          <p:spPr>
            <a:xfrm>
              <a:off x="2400931" y="6170440"/>
              <a:ext cx="8962533" cy="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31" name="Text Box 2"/>
            <p:cNvSpPr/>
            <p:nvPr/>
          </p:nvSpPr>
          <p:spPr>
            <a:xfrm>
              <a:off x="0" y="0"/>
              <a:ext cx="2998267"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a:t>
              </a:r>
            </a:p>
          </p:txBody>
        </p:sp>
        <p:sp>
          <p:nvSpPr>
            <p:cNvPr id="332" name="Text Box 2"/>
            <p:cNvSpPr/>
            <p:nvPr/>
          </p:nvSpPr>
          <p:spPr>
            <a:xfrm>
              <a:off x="8401253" y="6556092"/>
              <a:ext cx="2998267"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Cost</a:t>
              </a:r>
            </a:p>
          </p:txBody>
        </p:sp>
        <p:sp>
          <p:nvSpPr>
            <p:cNvPr id="333" name="Straight Arrow Connector 9"/>
            <p:cNvSpPr/>
            <p:nvPr/>
          </p:nvSpPr>
          <p:spPr>
            <a:xfrm flipH="1">
              <a:off x="7376167" y="4571999"/>
              <a:ext cx="2133597" cy="457199"/>
            </a:xfrm>
            <a:prstGeom prst="line">
              <a:avLst/>
            </a:prstGeom>
            <a:noFill/>
            <a:ln w="76200" cap="flat">
              <a:solidFill>
                <a:srgbClr val="0070C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34" name="Straight Connector 10"/>
            <p:cNvSpPr/>
            <p:nvPr/>
          </p:nvSpPr>
          <p:spPr>
            <a:xfrm>
              <a:off x="4387164" y="385548"/>
              <a:ext cx="5384582" cy="4066898"/>
            </a:xfrm>
            <a:prstGeom prst="line">
              <a:avLst/>
            </a:prstGeom>
            <a:noFill/>
            <a:ln w="12700" cap="flat">
              <a:solidFill>
                <a:srgbClr val="000000"/>
              </a:solidFill>
              <a:prstDash val="solid"/>
              <a:roun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35" name="Straight Connector 11"/>
            <p:cNvSpPr/>
            <p:nvPr/>
          </p:nvSpPr>
          <p:spPr>
            <a:xfrm>
              <a:off x="2909121" y="1928006"/>
              <a:ext cx="4163714" cy="3102293"/>
            </a:xfrm>
            <a:prstGeom prst="line">
              <a:avLst/>
            </a:prstGeom>
            <a:noFill/>
            <a:ln w="12700" cap="flat">
              <a:solidFill>
                <a:srgbClr val="000000"/>
              </a:solidFill>
              <a:prstDash val="solid"/>
              <a:round/>
              <a:headEnd type="triangle" w="med" len="me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sp>
        <p:nvSpPr>
          <p:cNvPr id="337" name="Text Box 306"/>
          <p:cNvSpPr txBox="1"/>
          <p:nvPr/>
        </p:nvSpPr>
        <p:spPr>
          <a:xfrm>
            <a:off x="12070077" y="8229597"/>
            <a:ext cx="6983930"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Bank of Amsterdam Ledger</a:t>
            </a:r>
          </a:p>
        </p:txBody>
      </p:sp>
      <p:sp>
        <p:nvSpPr>
          <p:cNvPr id="338" name="Text Box 307"/>
          <p:cNvSpPr txBox="1"/>
          <p:nvPr/>
        </p:nvSpPr>
        <p:spPr>
          <a:xfrm rot="2216129">
            <a:off x="7752407" y="5380143"/>
            <a:ext cx="4749424"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Merchant Banking</a:t>
            </a:r>
          </a:p>
        </p:txBody>
      </p:sp>
      <p:sp>
        <p:nvSpPr>
          <p:cNvPr id="339" name="Text Box 306"/>
          <p:cNvSpPr txBox="1"/>
          <p:nvPr/>
        </p:nvSpPr>
        <p:spPr>
          <a:xfrm>
            <a:off x="15020652" y="7153519"/>
            <a:ext cx="1618378"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Coins</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3" name="Title 1"/>
          <p:cNvSpPr txBox="1"/>
          <p:nvPr>
            <p:ph type="title"/>
          </p:nvPr>
        </p:nvSpPr>
        <p:spPr>
          <a:xfrm>
            <a:off x="3962400" y="5715000"/>
            <a:ext cx="16459200" cy="2286000"/>
          </a:xfrm>
          <a:prstGeom prst="rect">
            <a:avLst/>
          </a:prstGeom>
        </p:spPr>
        <p:txBody>
          <a:bodyPr/>
          <a:lstStyle/>
          <a:p>
            <a:pPr/>
            <a:r>
              <a:t>Regulation</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5"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New York circa 1970</a:t>
            </a:r>
          </a:p>
        </p:txBody>
      </p:sp>
      <p:grpSp>
        <p:nvGrpSpPr>
          <p:cNvPr id="352" name="Group 4"/>
          <p:cNvGrpSpPr/>
          <p:nvPr/>
        </p:nvGrpSpPr>
        <p:grpSpPr>
          <a:xfrm>
            <a:off x="5273039" y="3550361"/>
            <a:ext cx="12822729" cy="6425120"/>
            <a:chOff x="0" y="0"/>
            <a:chExt cx="12822727" cy="6425118"/>
          </a:xfrm>
        </p:grpSpPr>
        <p:sp>
          <p:nvSpPr>
            <p:cNvPr id="346" name="Straight Connector 5"/>
            <p:cNvSpPr/>
            <p:nvPr/>
          </p:nvSpPr>
          <p:spPr>
            <a:xfrm flipH="1">
              <a:off x="2400931" y="0"/>
              <a:ext cx="1" cy="6170438"/>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47" name="Straight Connector 6"/>
            <p:cNvSpPr/>
            <p:nvPr/>
          </p:nvSpPr>
          <p:spPr>
            <a:xfrm>
              <a:off x="2400931" y="6170439"/>
              <a:ext cx="8962533" cy="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48" name="Text Box 2"/>
            <p:cNvSpPr/>
            <p:nvPr/>
          </p:nvSpPr>
          <p:spPr>
            <a:xfrm>
              <a:off x="0" y="0"/>
              <a:ext cx="2998267" cy="0"/>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a:t>
              </a:r>
            </a:p>
          </p:txBody>
        </p:sp>
        <p:sp>
          <p:nvSpPr>
            <p:cNvPr id="349" name="Text Box 2"/>
            <p:cNvSpPr/>
            <p:nvPr/>
          </p:nvSpPr>
          <p:spPr>
            <a:xfrm>
              <a:off x="9824460" y="6425118"/>
              <a:ext cx="2998268"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Cost</a:t>
              </a:r>
            </a:p>
          </p:txBody>
        </p:sp>
        <p:sp>
          <p:nvSpPr>
            <p:cNvPr id="350" name="Straight Arrow Connector 9"/>
            <p:cNvSpPr/>
            <p:nvPr/>
          </p:nvSpPr>
          <p:spPr>
            <a:xfrm>
              <a:off x="3211809" y="1323870"/>
              <a:ext cx="2670069" cy="1983770"/>
            </a:xfrm>
            <a:prstGeom prst="line">
              <a:avLst/>
            </a:prstGeom>
            <a:noFill/>
            <a:ln w="76200" cap="flat">
              <a:solidFill>
                <a:srgbClr val="0070C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51" name="Straight Connector 10"/>
            <p:cNvSpPr/>
            <p:nvPr/>
          </p:nvSpPr>
          <p:spPr>
            <a:xfrm>
              <a:off x="3420209" y="1052325"/>
              <a:ext cx="5384582" cy="4066898"/>
            </a:xfrm>
            <a:prstGeom prst="line">
              <a:avLst/>
            </a:prstGeom>
            <a:noFill/>
            <a:ln w="12700" cap="flat">
              <a:solidFill>
                <a:srgbClr val="000000"/>
              </a:solidFill>
              <a:prstDash val="solid"/>
              <a:roun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sp>
        <p:nvSpPr>
          <p:cNvPr id="353" name="Text Box 306"/>
          <p:cNvSpPr txBox="1"/>
          <p:nvPr/>
        </p:nvSpPr>
        <p:spPr>
          <a:xfrm>
            <a:off x="14376203" y="8040868"/>
            <a:ext cx="4139229"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Federal Reserve</a:t>
            </a:r>
          </a:p>
        </p:txBody>
      </p:sp>
      <p:sp>
        <p:nvSpPr>
          <p:cNvPr id="354" name="Text Box 307"/>
          <p:cNvSpPr txBox="1"/>
          <p:nvPr/>
        </p:nvSpPr>
        <p:spPr>
          <a:xfrm rot="2270579">
            <a:off x="7429965" y="6477681"/>
            <a:ext cx="5714426"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New Deal Regulations</a:t>
            </a:r>
          </a:p>
        </p:txBody>
      </p:sp>
      <p:sp>
        <p:nvSpPr>
          <p:cNvPr id="355" name="Text Box 307"/>
          <p:cNvSpPr txBox="1"/>
          <p:nvPr/>
        </p:nvSpPr>
        <p:spPr>
          <a:xfrm>
            <a:off x="11478288" y="5845824"/>
            <a:ext cx="1719581"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Banks</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9"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Banks</a:t>
            </a:r>
          </a:p>
        </p:txBody>
      </p:sp>
      <p:sp>
        <p:nvSpPr>
          <p:cNvPr id="360" name="Oval 5"/>
          <p:cNvSpPr/>
          <p:nvPr/>
        </p:nvSpPr>
        <p:spPr>
          <a:xfrm>
            <a:off x="3962400" y="4876800"/>
            <a:ext cx="11125200" cy="5486400"/>
          </a:xfrm>
          <a:prstGeom prst="ellipse">
            <a:avLst/>
          </a:prstGeom>
          <a:ln w="50800">
            <a:solidFill>
              <a:srgbClr val="000000"/>
            </a:solidFill>
          </a:ln>
        </p:spPr>
        <p:txBody>
          <a:bodyPr tIns="91439" bIns="91439" anchor="ctr"/>
          <a:lstStyle/>
          <a:p>
            <a:pPr defTabSz="1828800">
              <a:defRPr sz="3600">
                <a:solidFill>
                  <a:srgbClr val="FFFFFF"/>
                </a:solidFill>
                <a:latin typeface="Calibri"/>
                <a:ea typeface="Calibri"/>
                <a:cs typeface="Calibri"/>
                <a:sym typeface="Calibri"/>
              </a:defRPr>
            </a:pPr>
          </a:p>
        </p:txBody>
      </p:sp>
      <p:sp>
        <p:nvSpPr>
          <p:cNvPr id="361" name="Oval 6"/>
          <p:cNvSpPr/>
          <p:nvPr/>
        </p:nvSpPr>
        <p:spPr>
          <a:xfrm>
            <a:off x="9906000" y="4876800"/>
            <a:ext cx="10820400" cy="5486400"/>
          </a:xfrm>
          <a:prstGeom prst="ellipse">
            <a:avLst/>
          </a:prstGeom>
          <a:ln w="50800">
            <a:solidFill>
              <a:srgbClr val="000000"/>
            </a:solidFill>
          </a:ln>
        </p:spPr>
        <p:txBody>
          <a:bodyPr tIns="91439" bIns="91439" anchor="ctr"/>
          <a:lstStyle/>
          <a:p>
            <a:pPr defTabSz="1828800">
              <a:defRPr sz="3600">
                <a:solidFill>
                  <a:srgbClr val="FFFFFF"/>
                </a:solidFill>
                <a:latin typeface="Calibri"/>
                <a:ea typeface="Calibri"/>
                <a:cs typeface="Calibri"/>
                <a:sym typeface="Calibri"/>
              </a:defRPr>
            </a:pPr>
          </a:p>
        </p:txBody>
      </p:sp>
      <p:sp>
        <p:nvSpPr>
          <p:cNvPr id="362" name="TextBox 7"/>
          <p:cNvSpPr txBox="1"/>
          <p:nvPr/>
        </p:nvSpPr>
        <p:spPr>
          <a:xfrm>
            <a:off x="5349239" y="6295066"/>
            <a:ext cx="4846322" cy="2779411"/>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6000">
                <a:solidFill>
                  <a:srgbClr val="000000"/>
                </a:solidFill>
                <a:latin typeface="Times New Roman"/>
                <a:ea typeface="Times New Roman"/>
                <a:cs typeface="Times New Roman"/>
                <a:sym typeface="Times New Roman"/>
              </a:defRPr>
            </a:lvl1pPr>
          </a:lstStyle>
          <a:p>
            <a:pPr/>
            <a:r>
              <a:t>Information Sensitive Lending</a:t>
            </a:r>
          </a:p>
        </p:txBody>
      </p:sp>
      <p:sp>
        <p:nvSpPr>
          <p:cNvPr id="363" name="TextBox 8"/>
          <p:cNvSpPr txBox="1"/>
          <p:nvPr/>
        </p:nvSpPr>
        <p:spPr>
          <a:xfrm>
            <a:off x="15610840" y="6604334"/>
            <a:ext cx="4414521" cy="1903110"/>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p>
            <a:pPr algn="l" defTabSz="1828800">
              <a:defRPr sz="6000">
                <a:solidFill>
                  <a:srgbClr val="000000"/>
                </a:solidFill>
                <a:latin typeface="Times New Roman"/>
                <a:ea typeface="Times New Roman"/>
                <a:cs typeface="Times New Roman"/>
                <a:sym typeface="Times New Roman"/>
              </a:defRPr>
            </a:pPr>
            <a:r>
              <a:t>Money-like </a:t>
            </a:r>
          </a:p>
          <a:p>
            <a:pPr algn="l" defTabSz="1828800">
              <a:defRPr sz="6000">
                <a:solidFill>
                  <a:srgbClr val="000000"/>
                </a:solidFill>
                <a:latin typeface="Times New Roman"/>
                <a:ea typeface="Times New Roman"/>
                <a:cs typeface="Times New Roman"/>
                <a:sym typeface="Times New Roman"/>
              </a:defRPr>
            </a:pPr>
            <a:r>
              <a:t>Safe Asset</a:t>
            </a:r>
          </a:p>
        </p:txBody>
      </p:sp>
      <p:sp>
        <p:nvSpPr>
          <p:cNvPr id="364" name="TextBox 9"/>
          <p:cNvSpPr txBox="1"/>
          <p:nvPr/>
        </p:nvSpPr>
        <p:spPr>
          <a:xfrm>
            <a:off x="11268594" y="7065998"/>
            <a:ext cx="2865121" cy="1026811"/>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6000">
                <a:solidFill>
                  <a:srgbClr val="000000"/>
                </a:solidFill>
                <a:latin typeface="Times New Roman"/>
                <a:ea typeface="Times New Roman"/>
                <a:cs typeface="Times New Roman"/>
                <a:sym typeface="Times New Roman"/>
              </a:defRPr>
            </a:lvl1pPr>
          </a:lstStyle>
          <a:p>
            <a:pPr/>
            <a:r>
              <a:t>Bank</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8"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New York Cycle</a:t>
            </a:r>
          </a:p>
        </p:txBody>
      </p:sp>
      <p:grpSp>
        <p:nvGrpSpPr>
          <p:cNvPr id="375" name="Group 4"/>
          <p:cNvGrpSpPr/>
          <p:nvPr/>
        </p:nvGrpSpPr>
        <p:grpSpPr>
          <a:xfrm>
            <a:off x="5273039" y="3550361"/>
            <a:ext cx="12822729" cy="6425120"/>
            <a:chOff x="0" y="0"/>
            <a:chExt cx="12822727" cy="6425118"/>
          </a:xfrm>
        </p:grpSpPr>
        <p:sp>
          <p:nvSpPr>
            <p:cNvPr id="369" name="Straight Connector 5"/>
            <p:cNvSpPr/>
            <p:nvPr/>
          </p:nvSpPr>
          <p:spPr>
            <a:xfrm flipH="1">
              <a:off x="2400931" y="0"/>
              <a:ext cx="1" cy="6170438"/>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70" name="Straight Connector 6"/>
            <p:cNvSpPr/>
            <p:nvPr/>
          </p:nvSpPr>
          <p:spPr>
            <a:xfrm>
              <a:off x="2400931" y="6170439"/>
              <a:ext cx="8962533" cy="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71" name="Text Box 2"/>
            <p:cNvSpPr/>
            <p:nvPr/>
          </p:nvSpPr>
          <p:spPr>
            <a:xfrm>
              <a:off x="0" y="0"/>
              <a:ext cx="2998267" cy="0"/>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a:t>
              </a:r>
            </a:p>
          </p:txBody>
        </p:sp>
        <p:sp>
          <p:nvSpPr>
            <p:cNvPr id="372" name="Text Box 2"/>
            <p:cNvSpPr/>
            <p:nvPr/>
          </p:nvSpPr>
          <p:spPr>
            <a:xfrm>
              <a:off x="9824460" y="6425118"/>
              <a:ext cx="2998268"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Cost</a:t>
              </a:r>
            </a:p>
          </p:txBody>
        </p:sp>
        <p:sp>
          <p:nvSpPr>
            <p:cNvPr id="373" name="Straight Arrow Connector 9"/>
            <p:cNvSpPr/>
            <p:nvPr/>
          </p:nvSpPr>
          <p:spPr>
            <a:xfrm>
              <a:off x="3211809" y="1323870"/>
              <a:ext cx="2670069" cy="1983770"/>
            </a:xfrm>
            <a:prstGeom prst="line">
              <a:avLst/>
            </a:prstGeom>
            <a:noFill/>
            <a:ln w="76200" cap="flat">
              <a:solidFill>
                <a:srgbClr val="0070C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74" name="Straight Connector 10"/>
            <p:cNvSpPr/>
            <p:nvPr/>
          </p:nvSpPr>
          <p:spPr>
            <a:xfrm>
              <a:off x="3420209" y="1052325"/>
              <a:ext cx="5384582" cy="4066898"/>
            </a:xfrm>
            <a:prstGeom prst="line">
              <a:avLst/>
            </a:prstGeom>
            <a:noFill/>
            <a:ln w="12700" cap="flat">
              <a:solidFill>
                <a:srgbClr val="000000"/>
              </a:solidFill>
              <a:prstDash val="solid"/>
              <a:roun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sp>
        <p:nvSpPr>
          <p:cNvPr id="376" name="Text Box 306"/>
          <p:cNvSpPr txBox="1"/>
          <p:nvPr/>
        </p:nvSpPr>
        <p:spPr>
          <a:xfrm>
            <a:off x="14376203" y="8040868"/>
            <a:ext cx="4139229"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Federal Reserve</a:t>
            </a:r>
          </a:p>
        </p:txBody>
      </p:sp>
      <p:sp>
        <p:nvSpPr>
          <p:cNvPr id="377" name="Text Box 307"/>
          <p:cNvSpPr txBox="1"/>
          <p:nvPr/>
        </p:nvSpPr>
        <p:spPr>
          <a:xfrm rot="2270579">
            <a:off x="7429965" y="6477681"/>
            <a:ext cx="5714426"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New Deal Regulations</a:t>
            </a:r>
          </a:p>
        </p:txBody>
      </p:sp>
      <p:sp>
        <p:nvSpPr>
          <p:cNvPr id="378" name="Text Box 307"/>
          <p:cNvSpPr txBox="1"/>
          <p:nvPr/>
        </p:nvSpPr>
        <p:spPr>
          <a:xfrm>
            <a:off x="11478288" y="5845824"/>
            <a:ext cx="1719581"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Banks</a:t>
            </a:r>
          </a:p>
        </p:txBody>
      </p:sp>
      <p:sp>
        <p:nvSpPr>
          <p:cNvPr id="379" name="Text Box 307"/>
          <p:cNvSpPr txBox="1"/>
          <p:nvPr/>
        </p:nvSpPr>
        <p:spPr>
          <a:xfrm>
            <a:off x="8687102" y="3721798"/>
            <a:ext cx="3836214" cy="855484"/>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Shadow Banks</a:t>
            </a:r>
          </a:p>
        </p:txBody>
      </p:sp>
      <p:sp>
        <p:nvSpPr>
          <p:cNvPr id="380" name="Freeform: Shape 20"/>
          <p:cNvSpPr/>
          <p:nvPr/>
        </p:nvSpPr>
        <p:spPr>
          <a:xfrm>
            <a:off x="12801600" y="4247765"/>
            <a:ext cx="2294035" cy="2039453"/>
          </a:xfrm>
          <a:custGeom>
            <a:avLst/>
            <a:gdLst/>
            <a:ahLst/>
            <a:cxnLst>
              <a:cxn ang="0">
                <a:pos x="wd2" y="hd2"/>
              </a:cxn>
              <a:cxn ang="5400000">
                <a:pos x="wd2" y="hd2"/>
              </a:cxn>
              <a:cxn ang="10800000">
                <a:pos x="wd2" y="hd2"/>
              </a:cxn>
              <a:cxn ang="16200000">
                <a:pos x="wd2" y="hd2"/>
              </a:cxn>
            </a:cxnLst>
            <a:rect l="0" t="0" r="r" b="b"/>
            <a:pathLst>
              <a:path w="20852" h="21600" fill="norm" stroke="1" extrusionOk="0">
                <a:moveTo>
                  <a:pt x="4806" y="21600"/>
                </a:moveTo>
                <a:cubicBezTo>
                  <a:pt x="13203" y="18152"/>
                  <a:pt x="21600" y="14704"/>
                  <a:pt x="20799" y="11104"/>
                </a:cubicBezTo>
                <a:cubicBezTo>
                  <a:pt x="19998" y="7504"/>
                  <a:pt x="4493" y="1623"/>
                  <a:pt x="0" y="0"/>
                </a:cubicBezTo>
              </a:path>
            </a:pathLst>
          </a:custGeom>
          <a:ln w="76200">
            <a:solidFill>
              <a:srgbClr val="4A7EBB"/>
            </a:solidFill>
            <a:tailEnd type="triangle"/>
          </a:ln>
        </p:spPr>
        <p:txBody>
          <a:bodyPr tIns="91439" bIns="91439" anchor="ctr"/>
          <a:lstStyle/>
          <a:p>
            <a:pPr defTabSz="1828800">
              <a:defRPr sz="3600">
                <a:solidFill>
                  <a:srgbClr val="000000"/>
                </a:solidFill>
                <a:latin typeface="Calibri"/>
                <a:ea typeface="Calibri"/>
                <a:cs typeface="Calibri"/>
                <a:sym typeface="Calibri"/>
              </a:defRPr>
            </a:pPr>
          </a:p>
        </p:txBody>
      </p:sp>
      <p:sp>
        <p:nvSpPr>
          <p:cNvPr id="381" name="Text Box 307"/>
          <p:cNvSpPr txBox="1"/>
          <p:nvPr/>
        </p:nvSpPr>
        <p:spPr>
          <a:xfrm>
            <a:off x="15252989" y="4247765"/>
            <a:ext cx="4546423" cy="1908876"/>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p>
            <a:pPr algn="l" defTabSz="1828800">
              <a:lnSpc>
                <a:spcPct val="115000"/>
              </a:lnSpc>
              <a:spcBef>
                <a:spcPts val="2000"/>
              </a:spcBef>
              <a:defRPr sz="4800">
                <a:solidFill>
                  <a:srgbClr val="000000"/>
                </a:solidFill>
                <a:latin typeface="Times New Roman"/>
                <a:ea typeface="Times New Roman"/>
                <a:cs typeface="Times New Roman"/>
                <a:sym typeface="Times New Roman"/>
              </a:defRPr>
            </a:pPr>
            <a:r>
              <a:t>Innovation and/or</a:t>
            </a:r>
          </a:p>
          <a:p>
            <a:pPr algn="l" defTabSz="1828800">
              <a:lnSpc>
                <a:spcPct val="115000"/>
              </a:lnSpc>
              <a:spcBef>
                <a:spcPts val="2000"/>
              </a:spcBef>
              <a:defRPr sz="4800">
                <a:solidFill>
                  <a:srgbClr val="000000"/>
                </a:solidFill>
                <a:latin typeface="Times New Roman"/>
                <a:ea typeface="Times New Roman"/>
                <a:cs typeface="Times New Roman"/>
                <a:sym typeface="Times New Roman"/>
              </a:defRPr>
            </a:pPr>
            <a:r>
              <a:t>circumvention</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5" name="Title 6"/>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U.S. Regulatory Cycle</a:t>
            </a:r>
          </a:p>
        </p:txBody>
      </p:sp>
      <p:grpSp>
        <p:nvGrpSpPr>
          <p:cNvPr id="429" name="Content Placeholder 4"/>
          <p:cNvGrpSpPr/>
          <p:nvPr/>
        </p:nvGrpSpPr>
        <p:grpSpPr>
          <a:xfrm>
            <a:off x="5777736" y="2843713"/>
            <a:ext cx="12828526" cy="9889123"/>
            <a:chOff x="0" y="265751"/>
            <a:chExt cx="12828525" cy="9889121"/>
          </a:xfrm>
        </p:grpSpPr>
        <p:sp>
          <p:nvSpPr>
            <p:cNvPr id="386" name="Line"/>
            <p:cNvSpPr/>
            <p:nvPr/>
          </p:nvSpPr>
          <p:spPr>
            <a:xfrm>
              <a:off x="3929509" y="130891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389" name="Group"/>
            <p:cNvGrpSpPr/>
            <p:nvPr/>
          </p:nvGrpSpPr>
          <p:grpSpPr>
            <a:xfrm>
              <a:off x="0" y="265751"/>
              <a:ext cx="3933110" cy="2086333"/>
              <a:chOff x="0" y="265751"/>
              <a:chExt cx="3933109" cy="2086331"/>
            </a:xfrm>
          </p:grpSpPr>
          <p:sp>
            <p:nvSpPr>
              <p:cNvPr id="387" name="Rectangle"/>
              <p:cNvSpPr/>
              <p:nvPr/>
            </p:nvSpPr>
            <p:spPr>
              <a:xfrm>
                <a:off x="0" y="265751"/>
                <a:ext cx="3933110" cy="2086333"/>
              </a:xfrm>
              <a:prstGeom prst="rect">
                <a:avLst/>
              </a:prstGeom>
              <a:solidFill>
                <a:srgbClr val="FFFFFF"/>
              </a:solidFill>
              <a:ln w="50800" cap="flat">
                <a:solidFill>
                  <a:srgbClr val="000000"/>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388" name="National Banking Act: 1863"/>
              <p:cNvSpPr/>
              <p:nvPr/>
            </p:nvSpPr>
            <p:spPr>
              <a:xfrm>
                <a:off x="0" y="1308917"/>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National Banking Act: 1863</a:t>
                </a:r>
              </a:p>
            </p:txBody>
          </p:sp>
        </p:grpSp>
        <p:sp>
          <p:nvSpPr>
            <p:cNvPr id="390" name="Line"/>
            <p:cNvSpPr/>
            <p:nvPr/>
          </p:nvSpPr>
          <p:spPr>
            <a:xfrm>
              <a:off x="8377218" y="130891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393" name="Group"/>
            <p:cNvGrpSpPr/>
            <p:nvPr/>
          </p:nvGrpSpPr>
          <p:grpSpPr>
            <a:xfrm>
              <a:off x="4447707" y="265751"/>
              <a:ext cx="3933111" cy="2086333"/>
              <a:chOff x="0" y="0"/>
              <a:chExt cx="3933109" cy="2086331"/>
            </a:xfrm>
          </p:grpSpPr>
          <p:sp>
            <p:nvSpPr>
              <p:cNvPr id="391" name="Rectangle"/>
              <p:cNvSpPr/>
              <p:nvPr/>
            </p:nvSpPr>
            <p:spPr>
              <a:xfrm>
                <a:off x="0" y="0"/>
                <a:ext cx="3933110" cy="2086332"/>
              </a:xfrm>
              <a:prstGeom prst="rect">
                <a:avLst/>
              </a:prstGeom>
              <a:solidFill>
                <a:srgbClr val="FFFFFF"/>
              </a:solidFill>
              <a:ln w="12700" cap="flat">
                <a:noFill/>
                <a:miter lim="400000"/>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392" name="Trusts"/>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Trusts</a:t>
                </a:r>
              </a:p>
            </p:txBody>
          </p:sp>
        </p:grpSp>
        <p:sp>
          <p:nvSpPr>
            <p:cNvPr id="394" name="Line"/>
            <p:cNvSpPr/>
            <p:nvPr/>
          </p:nvSpPr>
          <p:spPr>
            <a:xfrm>
              <a:off x="1966556" y="2348483"/>
              <a:ext cx="8895414" cy="4533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21600" y="12429"/>
                  </a:lnTo>
                  <a:lnTo>
                    <a:pt x="0" y="12429"/>
                  </a:lnTo>
                  <a:lnTo>
                    <a:pt x="0" y="21600"/>
                  </a:lnTo>
                </a:path>
              </a:pathLst>
            </a:custGeom>
            <a:noFill/>
            <a:ln w="12700" cap="flat">
              <a:solidFill>
                <a:srgbClr val="000000"/>
              </a:solidFill>
              <a:prstDash val="solid"/>
              <a:round/>
              <a:tailEnd type="triangle" w="med" len="med"/>
            </a:ln>
            <a:effectLst/>
          </p:spPr>
          <p:txBody>
            <a:bodyPr wrap="square" lIns="91439" tIns="91439" rIns="91439" bIns="91439" numCol="1" anchor="ctr">
              <a:noAutofit/>
            </a:bodyPr>
            <a:lstStyle/>
            <a:p>
              <a:pPr defTabSz="2133600">
                <a:lnSpc>
                  <a:spcPct val="90000"/>
                </a:lnSpc>
                <a:spcBef>
                  <a:spcPts val="2600"/>
                </a:spcBef>
                <a:defRPr sz="4800">
                  <a:solidFill>
                    <a:srgbClr val="000000"/>
                  </a:solidFill>
                  <a:latin typeface="Times New Roman"/>
                  <a:ea typeface="Times New Roman"/>
                  <a:cs typeface="Times New Roman"/>
                  <a:sym typeface="Times New Roman"/>
                </a:defRPr>
              </a:pPr>
            </a:p>
          </p:txBody>
        </p:sp>
        <p:grpSp>
          <p:nvGrpSpPr>
            <p:cNvPr id="397" name="Group"/>
            <p:cNvGrpSpPr/>
            <p:nvPr/>
          </p:nvGrpSpPr>
          <p:grpSpPr>
            <a:xfrm>
              <a:off x="8895415" y="265751"/>
              <a:ext cx="3933111" cy="2086333"/>
              <a:chOff x="0" y="0"/>
              <a:chExt cx="3933109" cy="2086331"/>
            </a:xfrm>
          </p:grpSpPr>
          <p:sp>
            <p:nvSpPr>
              <p:cNvPr id="395" name="Rectangle"/>
              <p:cNvSpPr/>
              <p:nvPr/>
            </p:nvSpPr>
            <p:spPr>
              <a:xfrm>
                <a:off x="0" y="0"/>
                <a:ext cx="3933110" cy="2086332"/>
              </a:xfrm>
              <a:prstGeom prst="rect">
                <a:avLst/>
              </a:prstGeom>
              <a:solidFill>
                <a:srgbClr val="FFFFFF"/>
              </a:solidFill>
              <a:ln w="50800" cap="flat">
                <a:solidFill>
                  <a:srgbClr val="C0504D"/>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396" name="Panic of 1907"/>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000000"/>
                    </a:solidFill>
                    <a:latin typeface="Times New Roman"/>
                    <a:ea typeface="Times New Roman"/>
                    <a:cs typeface="Times New Roman"/>
                    <a:sym typeface="Times New Roman"/>
                  </a:defRPr>
                </a:lvl1pPr>
              </a:lstStyle>
              <a:p>
                <a:pPr/>
                <a:r>
                  <a:t>Panic of 1907</a:t>
                </a:r>
              </a:p>
            </p:txBody>
          </p:sp>
        </p:grpSp>
        <p:sp>
          <p:nvSpPr>
            <p:cNvPr id="398" name="Line"/>
            <p:cNvSpPr/>
            <p:nvPr/>
          </p:nvSpPr>
          <p:spPr>
            <a:xfrm>
              <a:off x="3929509" y="390984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401" name="Group"/>
            <p:cNvGrpSpPr/>
            <p:nvPr/>
          </p:nvGrpSpPr>
          <p:grpSpPr>
            <a:xfrm>
              <a:off x="0" y="2866681"/>
              <a:ext cx="3933110" cy="2086333"/>
              <a:chOff x="0" y="265751"/>
              <a:chExt cx="3933109" cy="2086331"/>
            </a:xfrm>
          </p:grpSpPr>
          <p:sp>
            <p:nvSpPr>
              <p:cNvPr id="399" name="Rectangle"/>
              <p:cNvSpPr/>
              <p:nvPr/>
            </p:nvSpPr>
            <p:spPr>
              <a:xfrm>
                <a:off x="0" y="265751"/>
                <a:ext cx="3933110" cy="2086333"/>
              </a:xfrm>
              <a:prstGeom prst="rect">
                <a:avLst/>
              </a:prstGeom>
              <a:solidFill>
                <a:srgbClr val="FFFFFF"/>
              </a:solidFill>
              <a:ln w="50800" cap="flat">
                <a:solidFill>
                  <a:srgbClr val="000000"/>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00" name="Federal Reserve Act: 1913"/>
              <p:cNvSpPr/>
              <p:nvPr/>
            </p:nvSpPr>
            <p:spPr>
              <a:xfrm>
                <a:off x="0" y="1308917"/>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Federal Reserve Act: 1913</a:t>
                </a:r>
              </a:p>
            </p:txBody>
          </p:sp>
        </p:grpSp>
        <p:sp>
          <p:nvSpPr>
            <p:cNvPr id="402" name="Line"/>
            <p:cNvSpPr/>
            <p:nvPr/>
          </p:nvSpPr>
          <p:spPr>
            <a:xfrm>
              <a:off x="8377218" y="390984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405" name="Group"/>
            <p:cNvGrpSpPr/>
            <p:nvPr/>
          </p:nvGrpSpPr>
          <p:grpSpPr>
            <a:xfrm>
              <a:off x="4447707" y="2866681"/>
              <a:ext cx="3933111" cy="2086333"/>
              <a:chOff x="0" y="0"/>
              <a:chExt cx="3933109" cy="2086331"/>
            </a:xfrm>
          </p:grpSpPr>
          <p:sp>
            <p:nvSpPr>
              <p:cNvPr id="403" name="Rectangle"/>
              <p:cNvSpPr/>
              <p:nvPr/>
            </p:nvSpPr>
            <p:spPr>
              <a:xfrm>
                <a:off x="0" y="0"/>
                <a:ext cx="3933110" cy="2086332"/>
              </a:xfrm>
              <a:prstGeom prst="rect">
                <a:avLst/>
              </a:prstGeom>
              <a:solidFill>
                <a:srgbClr val="FFFFFF"/>
              </a:solidFill>
              <a:ln w="12700" cap="flat">
                <a:noFill/>
                <a:miter lim="400000"/>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04" name="State Banks"/>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State Banks</a:t>
                </a:r>
              </a:p>
            </p:txBody>
          </p:sp>
        </p:grpSp>
        <p:sp>
          <p:nvSpPr>
            <p:cNvPr id="406" name="Line"/>
            <p:cNvSpPr/>
            <p:nvPr/>
          </p:nvSpPr>
          <p:spPr>
            <a:xfrm>
              <a:off x="1966556" y="4949413"/>
              <a:ext cx="8895414" cy="4533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21600" y="12429"/>
                  </a:lnTo>
                  <a:lnTo>
                    <a:pt x="0" y="12429"/>
                  </a:lnTo>
                  <a:lnTo>
                    <a:pt x="0" y="21600"/>
                  </a:lnTo>
                </a:path>
              </a:pathLst>
            </a:custGeom>
            <a:noFill/>
            <a:ln w="12700" cap="flat">
              <a:solidFill>
                <a:srgbClr val="000000"/>
              </a:solidFill>
              <a:prstDash val="solid"/>
              <a:round/>
              <a:tailEnd type="triangle" w="med" len="med"/>
            </a:ln>
            <a:effectLst/>
          </p:spPr>
          <p:txBody>
            <a:bodyPr wrap="square" lIns="91439" tIns="91439" rIns="91439" bIns="91439" numCol="1" anchor="ctr">
              <a:noAutofit/>
            </a:bodyPr>
            <a:lstStyle/>
            <a:p>
              <a:pPr defTabSz="2133600">
                <a:lnSpc>
                  <a:spcPct val="90000"/>
                </a:lnSpc>
                <a:spcBef>
                  <a:spcPts val="2600"/>
                </a:spcBef>
                <a:defRPr sz="4800">
                  <a:solidFill>
                    <a:srgbClr val="000000"/>
                  </a:solidFill>
                  <a:latin typeface="Times New Roman"/>
                  <a:ea typeface="Times New Roman"/>
                  <a:cs typeface="Times New Roman"/>
                  <a:sym typeface="Times New Roman"/>
                </a:defRPr>
              </a:pPr>
            </a:p>
          </p:txBody>
        </p:sp>
        <p:grpSp>
          <p:nvGrpSpPr>
            <p:cNvPr id="409" name="Group"/>
            <p:cNvGrpSpPr/>
            <p:nvPr/>
          </p:nvGrpSpPr>
          <p:grpSpPr>
            <a:xfrm>
              <a:off x="8895415" y="2866681"/>
              <a:ext cx="3933111" cy="2086333"/>
              <a:chOff x="0" y="265751"/>
              <a:chExt cx="3933109" cy="2086331"/>
            </a:xfrm>
          </p:grpSpPr>
          <p:sp>
            <p:nvSpPr>
              <p:cNvPr id="407" name="Rectangle"/>
              <p:cNvSpPr/>
              <p:nvPr/>
            </p:nvSpPr>
            <p:spPr>
              <a:xfrm>
                <a:off x="0" y="265751"/>
                <a:ext cx="3933110" cy="2086333"/>
              </a:xfrm>
              <a:prstGeom prst="rect">
                <a:avLst/>
              </a:prstGeom>
              <a:solidFill>
                <a:srgbClr val="FFFFFF"/>
              </a:solidFill>
              <a:ln w="50800" cap="flat">
                <a:solidFill>
                  <a:srgbClr val="C0504D"/>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08" name="Great Contraction: 1929-1933"/>
              <p:cNvSpPr/>
              <p:nvPr/>
            </p:nvSpPr>
            <p:spPr>
              <a:xfrm>
                <a:off x="0" y="1308917"/>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Great Contraction: 1929-1933</a:t>
                </a:r>
              </a:p>
            </p:txBody>
          </p:sp>
        </p:grpSp>
        <p:sp>
          <p:nvSpPr>
            <p:cNvPr id="410" name="Line"/>
            <p:cNvSpPr/>
            <p:nvPr/>
          </p:nvSpPr>
          <p:spPr>
            <a:xfrm>
              <a:off x="3929509" y="651077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413" name="Group"/>
            <p:cNvGrpSpPr/>
            <p:nvPr/>
          </p:nvGrpSpPr>
          <p:grpSpPr>
            <a:xfrm>
              <a:off x="0" y="5467611"/>
              <a:ext cx="3933110" cy="2086333"/>
              <a:chOff x="0" y="0"/>
              <a:chExt cx="3933109" cy="2086331"/>
            </a:xfrm>
          </p:grpSpPr>
          <p:sp>
            <p:nvSpPr>
              <p:cNvPr id="411" name="Rectangle"/>
              <p:cNvSpPr/>
              <p:nvPr/>
            </p:nvSpPr>
            <p:spPr>
              <a:xfrm>
                <a:off x="0" y="0"/>
                <a:ext cx="3933110" cy="2086332"/>
              </a:xfrm>
              <a:prstGeom prst="rect">
                <a:avLst/>
              </a:prstGeom>
              <a:solidFill>
                <a:srgbClr val="FFFFFF"/>
              </a:solidFill>
              <a:ln w="50800" cap="flat">
                <a:solidFill>
                  <a:srgbClr val="000000"/>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12" name="Banking Act 1933: FDIC"/>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Banking Act 1933: FDIC</a:t>
                </a:r>
              </a:p>
            </p:txBody>
          </p:sp>
        </p:grpSp>
        <p:sp>
          <p:nvSpPr>
            <p:cNvPr id="414" name="Line"/>
            <p:cNvSpPr/>
            <p:nvPr/>
          </p:nvSpPr>
          <p:spPr>
            <a:xfrm>
              <a:off x="8377218" y="651077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417" name="Group"/>
            <p:cNvGrpSpPr/>
            <p:nvPr/>
          </p:nvGrpSpPr>
          <p:grpSpPr>
            <a:xfrm>
              <a:off x="4447707" y="5467611"/>
              <a:ext cx="3933111" cy="2086333"/>
              <a:chOff x="0" y="0"/>
              <a:chExt cx="3933109" cy="2086331"/>
            </a:xfrm>
          </p:grpSpPr>
          <p:sp>
            <p:nvSpPr>
              <p:cNvPr id="415" name="Rectangle"/>
              <p:cNvSpPr/>
              <p:nvPr/>
            </p:nvSpPr>
            <p:spPr>
              <a:xfrm>
                <a:off x="0" y="0"/>
                <a:ext cx="3933110" cy="2086332"/>
              </a:xfrm>
              <a:prstGeom prst="rect">
                <a:avLst/>
              </a:prstGeom>
              <a:solidFill>
                <a:srgbClr val="FFFFFF"/>
              </a:solidFill>
              <a:ln w="12700" cap="flat">
                <a:noFill/>
                <a:miter lim="400000"/>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16" name="Shadow Banks"/>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Shadow Banks</a:t>
                </a:r>
              </a:p>
            </p:txBody>
          </p:sp>
        </p:grpSp>
        <p:sp>
          <p:nvSpPr>
            <p:cNvPr id="418" name="Line"/>
            <p:cNvSpPr/>
            <p:nvPr/>
          </p:nvSpPr>
          <p:spPr>
            <a:xfrm>
              <a:off x="1966556" y="7550343"/>
              <a:ext cx="8895414" cy="4533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21600" y="12429"/>
                  </a:lnTo>
                  <a:lnTo>
                    <a:pt x="0" y="12429"/>
                  </a:lnTo>
                  <a:lnTo>
                    <a:pt x="0" y="21600"/>
                  </a:lnTo>
                </a:path>
              </a:pathLst>
            </a:custGeom>
            <a:noFill/>
            <a:ln w="12700" cap="flat">
              <a:solidFill>
                <a:srgbClr val="000000"/>
              </a:solidFill>
              <a:prstDash val="solid"/>
              <a:round/>
              <a:tailEnd type="triangle" w="med" len="med"/>
            </a:ln>
            <a:effectLst/>
          </p:spPr>
          <p:txBody>
            <a:bodyPr wrap="square" lIns="91439" tIns="91439" rIns="91439" bIns="91439" numCol="1" anchor="ctr">
              <a:noAutofit/>
            </a:bodyPr>
            <a:lstStyle/>
            <a:p>
              <a:pPr defTabSz="2133600">
                <a:lnSpc>
                  <a:spcPct val="90000"/>
                </a:lnSpc>
                <a:spcBef>
                  <a:spcPts val="2600"/>
                </a:spcBef>
                <a:defRPr sz="4800">
                  <a:solidFill>
                    <a:srgbClr val="000000"/>
                  </a:solidFill>
                  <a:latin typeface="Times New Roman"/>
                  <a:ea typeface="Times New Roman"/>
                  <a:cs typeface="Times New Roman"/>
                  <a:sym typeface="Times New Roman"/>
                </a:defRPr>
              </a:pPr>
            </a:p>
          </p:txBody>
        </p:sp>
        <p:grpSp>
          <p:nvGrpSpPr>
            <p:cNvPr id="421" name="Group"/>
            <p:cNvGrpSpPr/>
            <p:nvPr/>
          </p:nvGrpSpPr>
          <p:grpSpPr>
            <a:xfrm>
              <a:off x="8895415" y="5467611"/>
              <a:ext cx="3933111" cy="2086333"/>
              <a:chOff x="0" y="0"/>
              <a:chExt cx="3933109" cy="2086331"/>
            </a:xfrm>
          </p:grpSpPr>
          <p:sp>
            <p:nvSpPr>
              <p:cNvPr id="419" name="Rectangle"/>
              <p:cNvSpPr/>
              <p:nvPr/>
            </p:nvSpPr>
            <p:spPr>
              <a:xfrm>
                <a:off x="0" y="0"/>
                <a:ext cx="3933110" cy="2086332"/>
              </a:xfrm>
              <a:prstGeom prst="rect">
                <a:avLst/>
              </a:prstGeom>
              <a:solidFill>
                <a:srgbClr val="FFFFFF"/>
              </a:solidFill>
              <a:ln w="50800" cap="flat">
                <a:solidFill>
                  <a:srgbClr val="C0504D"/>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20" name="Panic of 2008"/>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Panic of 2008</a:t>
                </a:r>
              </a:p>
            </p:txBody>
          </p:sp>
        </p:grpSp>
        <p:sp>
          <p:nvSpPr>
            <p:cNvPr id="422" name="Line"/>
            <p:cNvSpPr/>
            <p:nvPr/>
          </p:nvSpPr>
          <p:spPr>
            <a:xfrm>
              <a:off x="3929509" y="911170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425" name="Group"/>
            <p:cNvGrpSpPr/>
            <p:nvPr/>
          </p:nvGrpSpPr>
          <p:grpSpPr>
            <a:xfrm>
              <a:off x="0" y="8068541"/>
              <a:ext cx="3933110" cy="2086333"/>
              <a:chOff x="0" y="0"/>
              <a:chExt cx="3933109" cy="2086331"/>
            </a:xfrm>
          </p:grpSpPr>
          <p:sp>
            <p:nvSpPr>
              <p:cNvPr id="423" name="Rectangle"/>
              <p:cNvSpPr/>
              <p:nvPr/>
            </p:nvSpPr>
            <p:spPr>
              <a:xfrm>
                <a:off x="0" y="0"/>
                <a:ext cx="3933110" cy="2086332"/>
              </a:xfrm>
              <a:prstGeom prst="rect">
                <a:avLst/>
              </a:prstGeom>
              <a:solidFill>
                <a:srgbClr val="FFFFFF"/>
              </a:solidFill>
              <a:ln w="50800" cap="flat">
                <a:solidFill>
                  <a:srgbClr val="000000"/>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24" name="Dodd-Frank Act: 2010"/>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Dodd-Frank Act: 2010</a:t>
                </a:r>
              </a:p>
            </p:txBody>
          </p:sp>
        </p:grpSp>
        <p:grpSp>
          <p:nvGrpSpPr>
            <p:cNvPr id="428" name="Group"/>
            <p:cNvGrpSpPr/>
            <p:nvPr/>
          </p:nvGrpSpPr>
          <p:grpSpPr>
            <a:xfrm>
              <a:off x="4447707" y="8068541"/>
              <a:ext cx="3933111" cy="2086333"/>
              <a:chOff x="0" y="0"/>
              <a:chExt cx="3933109" cy="2086331"/>
            </a:xfrm>
          </p:grpSpPr>
          <p:sp>
            <p:nvSpPr>
              <p:cNvPr id="426" name="Rectangle"/>
              <p:cNvSpPr/>
              <p:nvPr/>
            </p:nvSpPr>
            <p:spPr>
              <a:xfrm>
                <a:off x="0" y="0"/>
                <a:ext cx="3933110" cy="2086332"/>
              </a:xfrm>
              <a:prstGeom prst="rect">
                <a:avLst/>
              </a:prstGeom>
              <a:solidFill>
                <a:srgbClr val="FFFFFF"/>
              </a:solidFill>
              <a:ln w="12700" cap="flat">
                <a:noFill/>
                <a:miter lim="400000"/>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27" name="Fintech?"/>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Fintech?</a:t>
                </a:r>
              </a:p>
            </p:txBody>
          </p:sp>
        </p:grpSp>
      </p:gr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3"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Conclusions</a:t>
            </a:r>
          </a:p>
        </p:txBody>
      </p:sp>
      <p:sp>
        <p:nvSpPr>
          <p:cNvPr id="434" name="Content Placeholder 2"/>
          <p:cNvSpPr txBox="1"/>
          <p:nvPr>
            <p:ph type="body" sz="half" idx="1"/>
          </p:nvPr>
        </p:nvSpPr>
        <p:spPr>
          <a:xfrm>
            <a:off x="5029200" y="3200400"/>
            <a:ext cx="14630400" cy="9051926"/>
          </a:xfrm>
          <a:prstGeom prst="rect">
            <a:avLst/>
          </a:prstGeom>
        </p:spPr>
        <p:txBody>
          <a:bodyPr/>
          <a:lstStyle/>
          <a:p>
            <a:pPr marL="0" indent="0">
              <a:lnSpc>
                <a:spcPct val="90000"/>
              </a:lnSpc>
              <a:spcBef>
                <a:spcPts val="1300"/>
              </a:spcBef>
              <a:buSzTx/>
              <a:buNone/>
              <a:defRPr sz="5800">
                <a:latin typeface="Times New Roman"/>
                <a:ea typeface="Times New Roman"/>
                <a:cs typeface="Times New Roman"/>
                <a:sym typeface="Times New Roman"/>
              </a:defRPr>
            </a:pPr>
            <a:r>
              <a:t>Payment system innovation is usually the incremental building of networks on a state anchor (Venice).</a:t>
            </a:r>
          </a:p>
          <a:p>
            <a:pPr marL="0" indent="0">
              <a:lnSpc>
                <a:spcPct val="90000"/>
              </a:lnSpc>
              <a:spcBef>
                <a:spcPts val="1300"/>
              </a:spcBef>
              <a:buSzTx/>
              <a:buNone/>
              <a:defRPr sz="5800">
                <a:latin typeface="Times New Roman"/>
                <a:ea typeface="Times New Roman"/>
                <a:cs typeface="Times New Roman"/>
                <a:sym typeface="Times New Roman"/>
              </a:defRPr>
            </a:pPr>
          </a:p>
          <a:p>
            <a:pPr marL="0" indent="0">
              <a:lnSpc>
                <a:spcPct val="90000"/>
              </a:lnSpc>
              <a:spcBef>
                <a:spcPts val="1300"/>
              </a:spcBef>
              <a:buSzTx/>
              <a:buNone/>
              <a:defRPr sz="5800">
                <a:latin typeface="Times New Roman"/>
                <a:ea typeface="Times New Roman"/>
                <a:cs typeface="Times New Roman"/>
                <a:sym typeface="Times New Roman"/>
              </a:defRPr>
            </a:pPr>
            <a:r>
              <a:t>New anchors can cause punctuated evolution that turns on political economy (Amsterdam). </a:t>
            </a:r>
          </a:p>
          <a:p>
            <a:pPr marL="0" indent="0">
              <a:lnSpc>
                <a:spcPct val="90000"/>
              </a:lnSpc>
              <a:spcBef>
                <a:spcPts val="1300"/>
              </a:spcBef>
              <a:buSzTx/>
              <a:buNone/>
              <a:defRPr sz="5800">
                <a:latin typeface="Times New Roman"/>
                <a:ea typeface="Times New Roman"/>
                <a:cs typeface="Times New Roman"/>
                <a:sym typeface="Times New Roman"/>
              </a:defRPr>
            </a:pPr>
          </a:p>
          <a:p>
            <a:pPr marL="0" indent="0">
              <a:lnSpc>
                <a:spcPct val="90000"/>
              </a:lnSpc>
              <a:spcBef>
                <a:spcPts val="1300"/>
              </a:spcBef>
              <a:buSzTx/>
              <a:buNone/>
              <a:defRPr sz="5800">
                <a:latin typeface="Times New Roman"/>
                <a:ea typeface="Times New Roman"/>
                <a:cs typeface="Times New Roman"/>
                <a:sym typeface="Times New Roman"/>
              </a:defRPr>
            </a:pPr>
            <a:r>
              <a:t>Regulation often reduces risk now and increases risk later (New York).</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6" name="About the Course"/>
          <p:cNvSpPr txBox="1"/>
          <p:nvPr>
            <p:ph type="title" idx="4294967295"/>
          </p:nvPr>
        </p:nvSpPr>
        <p:spPr>
          <a:xfrm>
            <a:off x="3273126" y="-5"/>
            <a:ext cx="17780001" cy="2286001"/>
          </a:xfrm>
          <a:prstGeom prst="rect">
            <a:avLst/>
          </a:prstGeom>
        </p:spPr>
        <p:txBody>
          <a:bodyPr lIns="91436" tIns="91436" rIns="91436" bIns="91436" anchor="ctr"/>
          <a:lstStyle>
            <a:lvl1pPr algn="ctr" defTabSz="777240">
              <a:lnSpc>
                <a:spcPct val="100000"/>
              </a:lnSpc>
              <a:defRPr spc="0" sz="13600">
                <a:solidFill>
                  <a:srgbClr val="800000"/>
                </a:solidFill>
                <a:uFill>
                  <a:solidFill>
                    <a:srgbClr val="000000"/>
                  </a:solidFill>
                </a:uFill>
                <a:latin typeface="Helvetica"/>
                <a:ea typeface="Helvetica"/>
                <a:cs typeface="Helvetica"/>
                <a:sym typeface="Helvetica"/>
              </a:defRPr>
            </a:lvl1pPr>
          </a:lstStyle>
          <a:p>
            <a:pPr/>
            <a:r>
              <a:t>Catch Our Breath…</a:t>
            </a:r>
          </a:p>
        </p:txBody>
      </p:sp>
      <p:sp>
        <p:nvSpPr>
          <p:cNvPr id="437" name="The long 20th century will in all likelihood be seen in the future as the watershed in human experience:…"/>
          <p:cNvSpPr txBox="1"/>
          <p:nvPr>
            <p:ph type="body" idx="4294967295"/>
          </p:nvPr>
        </p:nvSpPr>
        <p:spPr>
          <a:xfrm>
            <a:off x="497101" y="2285995"/>
            <a:ext cx="12572024" cy="10795001"/>
          </a:xfrm>
          <a:prstGeom prst="rect">
            <a:avLst/>
          </a:prstGeom>
        </p:spPr>
        <p:txBody>
          <a:bodyPr lIns="91436" tIns="91436" rIns="91436" bIns="91436"/>
          <a:lstStyle/>
          <a:p>
            <a:pPr marL="0" indent="0" defTabSz="868680">
              <a:lnSpc>
                <a:spcPct val="100000"/>
              </a:lnSpc>
              <a:spcBef>
                <a:spcPts val="3800"/>
              </a:spcBef>
              <a:buSzTx/>
              <a:buNone/>
              <a:defRPr b="1" sz="5700">
                <a:uFill>
                  <a:solidFill>
                    <a:srgbClr val="000000"/>
                  </a:solidFill>
                </a:uFill>
                <a:latin typeface="Helvetica"/>
                <a:ea typeface="Helvetica"/>
                <a:cs typeface="Helvetica"/>
                <a:sym typeface="Helvetica"/>
              </a:defRPr>
            </a:pPr>
            <a:r>
              <a:t>Let’s reflect on what we have just heard &amp; seen…</a:t>
            </a:r>
          </a:p>
          <a:p>
            <a:pPr marL="868680" indent="-868680" defTabSz="703628">
              <a:lnSpc>
                <a:spcPct val="100000"/>
              </a:lnSpc>
              <a:spcBef>
                <a:spcPts val="1500"/>
              </a:spcBef>
              <a:buSzPct val="100000"/>
              <a:buAutoNum type="arabicPeriod" startAt="1"/>
              <a:tabLst>
                <a:tab pos="419100" algn="l"/>
              </a:tabLst>
              <a:defRPr sz="4560">
                <a:uFill>
                  <a:solidFill>
                    <a:srgbClr val="000000"/>
                  </a:solidFill>
                </a:uFill>
                <a:latin typeface="Times New Roman"/>
                <a:ea typeface="Times New Roman"/>
                <a:cs typeface="Times New Roman"/>
                <a:sym typeface="Times New Roman"/>
              </a:defRPr>
            </a:pPr>
            <a:r>
              <a:t>Comments</a:t>
            </a:r>
          </a:p>
          <a:p>
            <a:pPr marL="868680" indent="-868680" defTabSz="703628">
              <a:lnSpc>
                <a:spcPct val="100000"/>
              </a:lnSpc>
              <a:spcBef>
                <a:spcPts val="1500"/>
              </a:spcBef>
              <a:buSzPct val="100000"/>
              <a:buAutoNum type="arabicPeriod" startAt="1"/>
              <a:tabLst>
                <a:tab pos="419100" algn="l"/>
              </a:tabLst>
              <a:defRPr sz="4560">
                <a:uFill>
                  <a:solidFill>
                    <a:srgbClr val="000000"/>
                  </a:solidFill>
                </a:uFill>
                <a:latin typeface="Times New Roman"/>
                <a:ea typeface="Times New Roman"/>
                <a:cs typeface="Times New Roman"/>
                <a:sym typeface="Times New Roman"/>
              </a:defRPr>
            </a:pPr>
            <a:r>
              <a:t>Questions</a:t>
            </a:r>
          </a:p>
          <a:p>
            <a:pPr marL="868680" indent="-868680" defTabSz="703628">
              <a:lnSpc>
                <a:spcPct val="100000"/>
              </a:lnSpc>
              <a:spcBef>
                <a:spcPts val="1500"/>
              </a:spcBef>
              <a:buSzPct val="100000"/>
              <a:buAutoNum type="arabicPeriod" startAt="1"/>
              <a:tabLst>
                <a:tab pos="419100" algn="l"/>
              </a:tabLst>
              <a:defRPr sz="4560">
                <a:uFill>
                  <a:solidFill>
                    <a:srgbClr val="000000"/>
                  </a:solidFill>
                </a:uFill>
                <a:latin typeface="Times New Roman"/>
                <a:ea typeface="Times New Roman"/>
                <a:cs typeface="Times New Roman"/>
                <a:sym typeface="Times New Roman"/>
              </a:defRPr>
            </a:pPr>
            <a:r>
              <a:t>Readings</a:t>
            </a:r>
          </a:p>
          <a:p>
            <a:pPr marL="0" indent="0" defTabSz="780453">
              <a:lnSpc>
                <a:spcPct val="100000"/>
              </a:lnSpc>
              <a:spcBef>
                <a:spcPts val="0"/>
              </a:spcBef>
              <a:buSzTx/>
              <a:buNone/>
              <a:defRPr b="1" sz="3420">
                <a:latin typeface="Helvetica"/>
                <a:ea typeface="Helvetica"/>
                <a:cs typeface="Helvetica"/>
                <a:sym typeface="Helvetica"/>
              </a:defRPr>
            </a:pPr>
          </a:p>
          <a:p>
            <a:pPr marL="0" indent="0" defTabSz="780453">
              <a:lnSpc>
                <a:spcPct val="100000"/>
              </a:lnSpc>
              <a:spcBef>
                <a:spcPts val="0"/>
              </a:spcBef>
              <a:buSzTx/>
              <a:buNone/>
              <a:defRPr b="1" sz="3420">
                <a:latin typeface="Helvetica"/>
                <a:ea typeface="Helvetica"/>
                <a:cs typeface="Helvetica"/>
                <a:sym typeface="Helvetica"/>
              </a:defRPr>
            </a:pPr>
          </a:p>
          <a:p>
            <a:pPr marL="0" indent="0" defTabSz="780453">
              <a:lnSpc>
                <a:spcPct val="100000"/>
              </a:lnSpc>
              <a:spcBef>
                <a:spcPts val="0"/>
              </a:spcBef>
              <a:buSzTx/>
              <a:buNone/>
              <a:defRPr b="1" sz="3420">
                <a:latin typeface="Helvetica"/>
                <a:ea typeface="Helvetica"/>
                <a:cs typeface="Helvetica"/>
                <a:sym typeface="Helvetica"/>
              </a:defRPr>
            </a:pPr>
            <a:r>
              <a:t>2020-10-19	Mo	08:00 PDT Fintech seminar &lt;</a:t>
            </a:r>
            <a:r>
              <a:rPr u="sng">
                <a:hlinkClick r:id="rId2" invalidUrl="" action="" tgtFrame="" tooltip="" history="1" highlightClick="0" endSnd="0"/>
              </a:rPr>
              <a:t>https://berkeley.us2.list-manage.com/track/click?u=41fdd73e709718d13fe9e71ce&amp;id=edbdad525d&amp;e=cedd4adff7</a:t>
            </a:r>
            <a:r>
              <a:t>&gt; passwd: 607583</a:t>
            </a:r>
          </a:p>
          <a:p>
            <a:pPr marL="0" indent="0" defTabSz="780453">
              <a:lnSpc>
                <a:spcPct val="100000"/>
              </a:lnSpc>
              <a:spcBef>
                <a:spcPts val="0"/>
              </a:spcBef>
              <a:buSzTx/>
              <a:buNone/>
              <a:defRPr b="1" sz="3420">
                <a:latin typeface="Helvetica"/>
                <a:ea typeface="Helvetica"/>
                <a:cs typeface="Helvetica"/>
                <a:sym typeface="Helvetica"/>
              </a:defRPr>
            </a:pPr>
          </a:p>
          <a:p>
            <a:pPr marL="0" indent="0" defTabSz="780453">
              <a:lnSpc>
                <a:spcPct val="100000"/>
              </a:lnSpc>
              <a:spcBef>
                <a:spcPts val="0"/>
              </a:spcBef>
              <a:buSzTx/>
              <a:buNone/>
              <a:defRPr b="1" sz="3420">
                <a:latin typeface="Helvetica"/>
                <a:ea typeface="Helvetica"/>
                <a:cs typeface="Helvetica"/>
                <a:sym typeface="Helvetica"/>
              </a:defRPr>
            </a:pPr>
            <a:r>
              <a:t>&lt;</a:t>
            </a:r>
            <a:r>
              <a:rPr u="sng">
                <a:hlinkClick r:id="rId3" invalidUrl="" action="" tgtFrame="" tooltip="" history="1" highlightClick="0" endSnd="0"/>
              </a:rPr>
              <a:t>https://www.icloud.com/keynote/0eqVET8B0fmqY2TM-T1XGpPIA</a:t>
            </a:r>
            <a:r>
              <a:t>&gt;</a:t>
            </a:r>
          </a:p>
          <a:p>
            <a:pPr marL="0" indent="0" defTabSz="780453">
              <a:lnSpc>
                <a:spcPct val="100000"/>
              </a:lnSpc>
              <a:spcBef>
                <a:spcPts val="0"/>
              </a:spcBef>
              <a:buSzTx/>
              <a:buNone/>
              <a:defRPr b="1" sz="3420">
                <a:latin typeface="Helvetica"/>
                <a:ea typeface="Helvetica"/>
                <a:cs typeface="Helvetica"/>
                <a:sym typeface="Helvetica"/>
              </a:defRPr>
            </a:pPr>
            <a:r>
              <a:t>&lt;</a:t>
            </a:r>
            <a:r>
              <a:rPr u="sng">
                <a:hlinkClick r:id="rId4" invalidUrl="" action="" tgtFrame="" tooltip="" history="1" highlightClick="0" endSnd="0"/>
              </a:rPr>
              <a:t>https://github.com/braddelong/public-files/blob/master/future-of-fintech-conference-2020-10-19.pptx</a:t>
            </a:r>
            <a:r>
              <a:t>&gt;</a:t>
            </a:r>
          </a:p>
        </p:txBody>
      </p:sp>
      <p:pic>
        <p:nvPicPr>
          <p:cNvPr id="438" name="Image" descr="Image"/>
          <p:cNvPicPr>
            <a:picLocks noChangeAspect="1"/>
          </p:cNvPicPr>
          <p:nvPr/>
        </p:nvPicPr>
        <p:blipFill>
          <a:blip r:embed="rId5">
            <a:extLst/>
          </a:blip>
          <a:stretch>
            <a:fillRect/>
          </a:stretch>
        </p:blipFill>
        <p:spPr>
          <a:xfrm>
            <a:off x="13069123" y="2285995"/>
            <a:ext cx="11035129" cy="11035126"/>
          </a:xfrm>
          <a:prstGeom prst="rect">
            <a:avLst/>
          </a:prstGeom>
          <a:ln w="12700">
            <a:miter lim="400000"/>
          </a:ln>
        </p:spPr>
      </p:pic>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40" name="delong-this-is-fine.png" descr="delong-this-is-fine.png"/>
          <p:cNvPicPr>
            <a:picLocks noChangeAspect="1"/>
          </p:cNvPicPr>
          <p:nvPr/>
        </p:nvPicPr>
        <p:blipFill>
          <a:blip r:embed="rId2">
            <a:extLst/>
          </a:blip>
          <a:srcRect l="0" t="0" r="1203" b="0"/>
          <a:stretch>
            <a:fillRect/>
          </a:stretch>
        </p:blipFill>
        <p:spPr>
          <a:xfrm>
            <a:off x="0" y="-3183"/>
            <a:ext cx="24384001" cy="13722366"/>
          </a:xfrm>
          <a:prstGeom prst="rect">
            <a:avLst/>
          </a:prstGeom>
          <a:ln w="12700">
            <a:miter lim="400000"/>
          </a:ln>
        </p:spPr>
      </p:pic>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2" name="About the Course"/>
          <p:cNvSpPr txBox="1"/>
          <p:nvPr>
            <p:ph type="title" idx="4294967295"/>
          </p:nvPr>
        </p:nvSpPr>
        <p:spPr>
          <a:xfrm>
            <a:off x="0" y="-5"/>
            <a:ext cx="24384001" cy="2286001"/>
          </a:xfrm>
          <a:prstGeom prst="rect">
            <a:avLst/>
          </a:prstGeom>
        </p:spPr>
        <p:txBody>
          <a:bodyPr lIns="91436" tIns="91436" rIns="91436" bIns="91436" anchor="ctr"/>
          <a:lstStyle>
            <a:lvl1pPr algn="ctr" defTabSz="768095">
              <a:lnSpc>
                <a:spcPct val="100000"/>
              </a:lnSpc>
              <a:defRPr spc="0" sz="13439">
                <a:solidFill>
                  <a:srgbClr val="800000"/>
                </a:solidFill>
                <a:uFill>
                  <a:solidFill>
                    <a:srgbClr val="000000"/>
                  </a:solidFill>
                </a:uFill>
                <a:latin typeface="Helvetica"/>
                <a:ea typeface="Helvetica"/>
                <a:cs typeface="Helvetica"/>
                <a:sym typeface="Helvetica"/>
              </a:defRPr>
            </a:lvl1pPr>
          </a:lstStyle>
          <a:p>
            <a:pPr/>
            <a:r>
              <a:t>========================</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