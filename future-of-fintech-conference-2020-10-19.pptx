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Shape 17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666699290_02_crop_3159x1892.jpg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910457886_1434x1669.jpg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660384004_1290x1720.jpg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Image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Image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Imag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Image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821529">
              <a:lnSpc>
                <a:spcPct val="100000"/>
              </a:lnSpc>
              <a:defRPr b="0" spc="0" sz="10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0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 marL="1037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 marL="1481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 marL="19261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 marL="2370664" indent="-592664" defTabSz="583286">
              <a:lnSpc>
                <a:spcPct val="100000"/>
              </a:lnSpc>
              <a:spcBef>
                <a:spcPts val="1600"/>
              </a:spcBef>
              <a:buSzPct val="75000"/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1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Text"/>
          <p:cNvSpPr txBox="1"/>
          <p:nvPr>
            <p:ph type="title"/>
          </p:nvPr>
        </p:nvSpPr>
        <p:spPr>
          <a:xfrm>
            <a:off x="4387451" y="625075"/>
            <a:ext cx="15609097" cy="3036098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714732">
              <a:lnSpc>
                <a:spcPct val="100000"/>
              </a:lnSpc>
              <a:defRPr spc="0" sz="16000">
                <a:solidFill>
                  <a:srgbClr val="00008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43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9877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322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876775" indent="-543275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21276" indent="-543276" defTabSz="821529">
              <a:lnSpc>
                <a:spcPct val="100000"/>
              </a:lnSpc>
              <a:spcBef>
                <a:spcPts val="5800"/>
              </a:spcBef>
              <a:buSzPct val="75000"/>
              <a:defRPr sz="4400"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Slide Number"/>
          <p:cNvSpPr txBox="1"/>
          <p:nvPr>
            <p:ph type="sldNum" sz="quarter" idx="2"/>
          </p:nvPr>
        </p:nvSpPr>
        <p:spPr>
          <a:xfrm>
            <a:off x="11949937" y="13010554"/>
            <a:ext cx="466266" cy="4730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Text"/>
          <p:cNvSpPr txBox="1"/>
          <p:nvPr>
            <p:ph type="title"/>
          </p:nvPr>
        </p:nvSpPr>
        <p:spPr>
          <a:xfrm>
            <a:off x="4387451" y="625077"/>
            <a:ext cx="15609097" cy="3036095"/>
          </a:xfrm>
          <a:prstGeom prst="rect">
            <a:avLst/>
          </a:prstGeom>
        </p:spPr>
        <p:txBody>
          <a:bodyPr lIns="71435" tIns="71435" rIns="71435" bIns="71435" anchor="ctr"/>
          <a:lstStyle>
            <a:lvl1pPr algn="ctr" defTabSz="914400">
              <a:lnSpc>
                <a:spcPct val="100000"/>
              </a:lnSpc>
              <a:defRPr spc="0" sz="112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8" name="Body Level One…"/>
          <p:cNvSpPr txBox="1"/>
          <p:nvPr>
            <p:ph type="body" idx="1"/>
          </p:nvPr>
        </p:nvSpPr>
        <p:spPr>
          <a:xfrm>
            <a:off x="4387451" y="3661169"/>
            <a:ext cx="15609097" cy="8840395"/>
          </a:xfrm>
          <a:prstGeom prst="rect">
            <a:avLst/>
          </a:prstGeom>
        </p:spPr>
        <p:txBody>
          <a:bodyPr lIns="71435" tIns="71435" rIns="71435" bIns="71435" anchor="ctr"/>
          <a:lstStyle>
            <a:lvl1pPr marL="592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10371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1481665" indent="-592665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19261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2370666" indent="-592666" defTabSz="821529">
              <a:lnSpc>
                <a:spcPct val="100000"/>
              </a:lnSpc>
              <a:spcBef>
                <a:spcPts val="5800"/>
              </a:spcBef>
              <a:buSzPct val="75000"/>
              <a:defRPr>
                <a:latin typeface="Helvetica Light"/>
                <a:ea typeface="Helvetica Light"/>
                <a:cs typeface="Helvetica Light"/>
                <a:sym typeface="Helvetica Light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9" name="Slide Number"/>
          <p:cNvSpPr txBox="1"/>
          <p:nvPr>
            <p:ph type="sldNum" sz="quarter" idx="2"/>
          </p:nvPr>
        </p:nvSpPr>
        <p:spPr>
          <a:xfrm>
            <a:off x="11935816" y="13010554"/>
            <a:ext cx="494510" cy="511173"/>
          </a:xfrm>
          <a:prstGeom prst="rect">
            <a:avLst/>
          </a:prstGeom>
        </p:spPr>
        <p:txBody>
          <a:bodyPr lIns="71435" tIns="71435" rIns="71435" bIns="71435" anchor="t"/>
          <a:lstStyle>
            <a:lvl1pPr defTabSz="821529"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mailto:delong@econ.berkeley.edu" TargetMode="External"/><Relationship Id="rId4" Type="http://schemas.openxmlformats.org/officeDocument/2006/relationships/hyperlink" Target="https://www.icloud.com/keynote/0eqVET8B0fmqY2TM-T1XGpPIA" TargetMode="Externa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mailto:delong@econ.berkeley.edu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mailto:delong@econ.berkeley.edu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mailto:delong@econ.berkeley.edu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hyperlink" Target="https://berkeley.us2.list-manage.com/track/click?u=41fdd73e709718d13fe9e71ce&amp;id=edbdad525d&amp;e=cedd4adff7" TargetMode="External"/><Relationship Id="rId3" Type="http://schemas.openxmlformats.org/officeDocument/2006/relationships/hyperlink" Target="https://www.icloud.com/keynote/0eqVET8B0fmqY2TM-T1XGpPIA" TargetMode="External"/><Relationship Id="rId4" Type="http://schemas.openxmlformats.org/officeDocument/2006/relationships/image" Target="../media/image1.tif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5396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2020-10-19"/>
          <p:cNvSpPr txBox="1"/>
          <p:nvPr/>
        </p:nvSpPr>
        <p:spPr>
          <a:xfrm>
            <a:off x="3712427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2020-10-19</a:t>
            </a:r>
          </a:p>
        </p:txBody>
      </p:sp>
      <p:sp>
        <p:nvSpPr>
          <p:cNvPr id="180" name="The long 20th century will in all likelihood be seen in the future as the watershed in human experience:…"/>
          <p:cNvSpPr txBox="1"/>
          <p:nvPr/>
        </p:nvSpPr>
        <p:spPr>
          <a:xfrm>
            <a:off x="402606" y="2286000"/>
            <a:ext cx="2362200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821529">
              <a:spcBef>
                <a:spcPts val="1600"/>
              </a:spcBef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History creates problems/opportunities; who takes steps to solve them, and how do they do so?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“Chartalist” approach—anchor, first-mover, regulator, forecloser, appropriator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i="1"/>
              <a:t>Successful</a:t>
            </a:r>
            <a:r>
              <a:t> state money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Private entrepreneurs who are “safe enough” (counterparty, marketplace risk)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Trust—widen your circle of trust (Partha Dasgupta):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Commodities: from friends, kin, neighbors → state → money</a:t>
            </a:r>
          </a:p>
        </p:txBody>
      </p:sp>
      <p:sp>
        <p:nvSpPr>
          <p:cNvPr id="181" name="Future of Fintech: History"/>
          <p:cNvSpPr txBox="1"/>
          <p:nvPr>
            <p:ph type="title"/>
          </p:nvPr>
        </p:nvSpPr>
        <p:spPr>
          <a:xfrm>
            <a:off x="-1" y="-1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Future of Fintech: History</a:t>
            </a:r>
          </a:p>
        </p:txBody>
      </p:sp>
      <p:sp>
        <p:nvSpPr>
          <p:cNvPr id="182" name="Brad DeLong delong@econ.berkeley.edu"/>
          <p:cNvSpPr txBox="1"/>
          <p:nvPr/>
        </p:nvSpPr>
        <p:spPr>
          <a:xfrm>
            <a:off x="254645" y="14037674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Brad DeLong </a:t>
            </a:r>
            <a:r>
              <a:rPr>
                <a:hlinkClick r:id="rId3" invalidUrl="" action="" tgtFrame="" tooltip="" history="1" highlightClick="0" endSnd="0"/>
              </a:rPr>
              <a:t>delong@econ.berkeley.edu</a:t>
            </a:r>
          </a:p>
        </p:txBody>
      </p:sp>
      <p:sp>
        <p:nvSpPr>
          <p:cNvPr id="183" name="&lt;https://www.icloud.com/keynote/0eqVET8B0fmqY2TM-T1XGpPIA&gt;"/>
          <p:cNvSpPr txBox="1"/>
          <p:nvPr/>
        </p:nvSpPr>
        <p:spPr>
          <a:xfrm>
            <a:off x="254645" y="13075928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&lt;</a:t>
            </a:r>
            <a:r>
              <a:rPr>
                <a:hlinkClick r:id="rId4" invalidUrl="" action="" tgtFrame="" tooltip="" history="1" highlightClick="0" endSnd="0"/>
              </a:rPr>
              <a:t>https://www.icloud.com/keynote/0eqVET8B0fmqY2TM-T1XGpPIA</a:t>
            </a:r>
            <a:r>
              <a:t>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5396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2020-10-19"/>
          <p:cNvSpPr txBox="1"/>
          <p:nvPr/>
        </p:nvSpPr>
        <p:spPr>
          <a:xfrm>
            <a:off x="3712427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2020-10-19</a:t>
            </a:r>
          </a:p>
        </p:txBody>
      </p:sp>
      <p:sp>
        <p:nvSpPr>
          <p:cNvPr id="187" name="The long 20th century will in all likelihood be seen in the future as the watershed in human experience:…"/>
          <p:cNvSpPr txBox="1"/>
          <p:nvPr/>
        </p:nvSpPr>
        <p:spPr>
          <a:xfrm>
            <a:off x="402606" y="2286000"/>
            <a:ext cx="2362200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821529">
              <a:spcBef>
                <a:spcPts val="1600"/>
              </a:spcBef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History creates problems/opportunities; who takes steps to solve them, and how do they do so?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Trust—widen your circle of trust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Commodities: from friends, kin, neighbors → state → money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Payments: money → merchant credit → bills of exchange → deposit banks → Bank of Amsterdam/John Law/South Sea/Bank of England → sufficient insulation from the fiscal needs of the state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Coin → bullion → ledger</a:t>
            </a:r>
          </a:p>
        </p:txBody>
      </p:sp>
      <p:sp>
        <p:nvSpPr>
          <p:cNvPr id="188" name="Future of Fintech: History II"/>
          <p:cNvSpPr txBox="1"/>
          <p:nvPr>
            <p:ph type="title"/>
          </p:nvPr>
        </p:nvSpPr>
        <p:spPr>
          <a:xfrm>
            <a:off x="-1" y="-1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Future of Fintech: History II</a:t>
            </a:r>
          </a:p>
        </p:txBody>
      </p:sp>
      <p:sp>
        <p:nvSpPr>
          <p:cNvPr id="189" name="Brad DeLong delong@econ.berkeley.edu"/>
          <p:cNvSpPr txBox="1"/>
          <p:nvPr/>
        </p:nvSpPr>
        <p:spPr>
          <a:xfrm>
            <a:off x="402606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Brad DeLong </a:t>
            </a:r>
            <a:r>
              <a:rPr>
                <a:hlinkClick r:id="rId3" invalidUrl="" action="" tgtFrame="" tooltip="" history="1" highlightClick="0" endSnd="0"/>
              </a:rPr>
              <a:t>delong@econ.berkeley.edu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5396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2020-10-19"/>
          <p:cNvSpPr txBox="1"/>
          <p:nvPr/>
        </p:nvSpPr>
        <p:spPr>
          <a:xfrm>
            <a:off x="3712427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2020-10-19</a:t>
            </a:r>
          </a:p>
        </p:txBody>
      </p:sp>
      <p:sp>
        <p:nvSpPr>
          <p:cNvPr id="193" name="The long 20th century will in all likelihood be seen in the future as the watershed in human experience:…"/>
          <p:cNvSpPr txBox="1"/>
          <p:nvPr/>
        </p:nvSpPr>
        <p:spPr>
          <a:xfrm>
            <a:off x="402606" y="2286000"/>
            <a:ext cx="2362200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821529">
              <a:spcBef>
                <a:spcPts val="1600"/>
              </a:spcBef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History creates problems/opportunities; who takes steps to solve them, and how do they do so?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Regulatory arbitrage by private entities that are “safe enough”—until they are not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State as seizer of opportunities (South Sea Bubble)</a:t>
            </a:r>
          </a:p>
          <a:p>
            <a:pPr lvl="1" marL="13716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Anchor, first-mover,  validator, regulator, forecloser, appropriator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Trust—widen your circle of trust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Commodities: from friends, kin, neighbors → state → money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Payments: money → merchant credit → bills of exchange → deposit banks → Bank of Amsterdam/John Law/South Sea/Bank of England → sufficient insolation from the fiscal needs of the state || Coin → bullion → ledger</a:t>
            </a:r>
          </a:p>
          <a:p>
            <a:pPr lvl="1" marL="1524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Financing??</a:t>
            </a:r>
          </a:p>
        </p:txBody>
      </p:sp>
      <p:sp>
        <p:nvSpPr>
          <p:cNvPr id="194" name="Future of Fintech: History III"/>
          <p:cNvSpPr txBox="1"/>
          <p:nvPr>
            <p:ph type="title"/>
          </p:nvPr>
        </p:nvSpPr>
        <p:spPr>
          <a:xfrm>
            <a:off x="-1" y="-1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Future of Fintech: History III</a:t>
            </a:r>
          </a:p>
        </p:txBody>
      </p:sp>
      <p:sp>
        <p:nvSpPr>
          <p:cNvPr id="195" name="Brad DeLong delong@econ.berkeley.edu"/>
          <p:cNvSpPr txBox="1"/>
          <p:nvPr/>
        </p:nvSpPr>
        <p:spPr>
          <a:xfrm>
            <a:off x="402606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Brad DeLong </a:t>
            </a:r>
            <a:r>
              <a:rPr>
                <a:hlinkClick r:id="rId3" invalidUrl="" action="" tgtFrame="" tooltip="" history="1" highlightClick="0" endSnd="0"/>
              </a:rPr>
              <a:t>delong@econ.berkeley.edu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delong-this-is-fine.png" descr="delong-this-is-fine.png"/>
          <p:cNvPicPr>
            <a:picLocks noChangeAspect="1"/>
          </p:cNvPicPr>
          <p:nvPr/>
        </p:nvPicPr>
        <p:blipFill>
          <a:blip r:embed="rId2">
            <a:alphaModFix amt="25396"/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2020-10-19"/>
          <p:cNvSpPr txBox="1"/>
          <p:nvPr/>
        </p:nvSpPr>
        <p:spPr>
          <a:xfrm>
            <a:off x="3712427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>
            <a:lvl1pPr algn="r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2020-10-19</a:t>
            </a:r>
          </a:p>
        </p:txBody>
      </p:sp>
      <p:sp>
        <p:nvSpPr>
          <p:cNvPr id="199" name="The long 20th century will in all likelihood be seen in the future as the watershed in human experience:…"/>
          <p:cNvSpPr txBox="1"/>
          <p:nvPr/>
        </p:nvSpPr>
        <p:spPr>
          <a:xfrm>
            <a:off x="402606" y="2286000"/>
            <a:ext cx="23622001" cy="10789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/>
          <a:lstStyle/>
          <a:p>
            <a:pPr algn="l" defTabSz="821529">
              <a:spcBef>
                <a:spcPts val="1600"/>
              </a:spcBef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History creates problems/opportunities; who takes steps to solve them, and how do they do so?</a:t>
            </a:r>
          </a:p>
          <a:p>
            <a:pPr marL="762000" indent="-762000" algn="l" defTabSz="821529">
              <a:spcBef>
                <a:spcPts val="1600"/>
              </a:spcBef>
              <a:buSzPct val="123000"/>
              <a:buChar char="•"/>
              <a:defRPr b="1" sz="4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Ant, VISA, FacebookPay?, ??</a:t>
            </a:r>
          </a:p>
        </p:txBody>
      </p:sp>
      <p:sp>
        <p:nvSpPr>
          <p:cNvPr id="200" name="Future of Fintech: History IV"/>
          <p:cNvSpPr txBox="1"/>
          <p:nvPr>
            <p:ph type="title"/>
          </p:nvPr>
        </p:nvSpPr>
        <p:spPr>
          <a:xfrm>
            <a:off x="-1" y="-1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00008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Future of Fintech: History IV</a:t>
            </a:r>
          </a:p>
        </p:txBody>
      </p:sp>
      <p:sp>
        <p:nvSpPr>
          <p:cNvPr id="201" name="Brad DeLong delong@econ.berkeley.edu"/>
          <p:cNvSpPr txBox="1"/>
          <p:nvPr/>
        </p:nvSpPr>
        <p:spPr>
          <a:xfrm>
            <a:off x="402606" y="13075927"/>
            <a:ext cx="20312180" cy="640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36" tIns="91436" rIns="91436" bIns="91436">
            <a:spAutoFit/>
          </a:bodyPr>
          <a:lstStyle/>
          <a:p>
            <a:pPr algn="l" defTabSz="914400">
              <a:spcBef>
                <a:spcPts val="1200"/>
              </a:spcBef>
              <a:defRPr b="1" sz="300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Brad DeLong </a:t>
            </a:r>
            <a:r>
              <a:rPr>
                <a:hlinkClick r:id="rId3" invalidUrl="" action="" tgtFrame="" tooltip="" history="1" highlightClick="0" endSnd="0"/>
              </a:rPr>
              <a:t>delong@econ.berkeley.edu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About the Course"/>
          <p:cNvSpPr txBox="1"/>
          <p:nvPr>
            <p:ph type="title" idx="4294967295"/>
          </p:nvPr>
        </p:nvSpPr>
        <p:spPr>
          <a:xfrm>
            <a:off x="3273126" y="-5"/>
            <a:ext cx="17780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77240">
              <a:lnSpc>
                <a:spcPct val="100000"/>
              </a:lnSpc>
              <a:defRPr spc="0" sz="13600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Catch Our Breath</a:t>
            </a:r>
          </a:p>
        </p:txBody>
      </p:sp>
      <p:sp>
        <p:nvSpPr>
          <p:cNvPr id="204" name="The long 20th century will in all likelihood be seen in the future as the watershed in human experience:…"/>
          <p:cNvSpPr txBox="1"/>
          <p:nvPr>
            <p:ph type="body" idx="4294967295"/>
          </p:nvPr>
        </p:nvSpPr>
        <p:spPr>
          <a:xfrm>
            <a:off x="497101" y="2285995"/>
            <a:ext cx="12572024" cy="10795001"/>
          </a:xfrm>
          <a:prstGeom prst="rect">
            <a:avLst/>
          </a:prstGeom>
        </p:spPr>
        <p:txBody>
          <a:bodyPr lIns="91436" tIns="91436" rIns="91436" bIns="91436"/>
          <a:lstStyle/>
          <a:p>
            <a:pPr marL="0" indent="0" defTabSz="914400">
              <a:lnSpc>
                <a:spcPct val="100000"/>
              </a:lnSpc>
              <a:spcBef>
                <a:spcPts val="4000"/>
              </a:spcBef>
              <a:buSzTx/>
              <a:buNone/>
              <a:defRPr b="1" sz="6000"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pPr>
            <a:r>
              <a:t>Let’s reflect on what we have just heard &amp; seen…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Comments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Questions</a:t>
            </a:r>
          </a:p>
          <a:p>
            <a:pPr marL="914400" indent="-914400" defTabSz="740662">
              <a:lnSpc>
                <a:spcPct val="100000"/>
              </a:lnSpc>
              <a:spcBef>
                <a:spcPts val="1600"/>
              </a:spcBef>
              <a:buSzPct val="100000"/>
              <a:buAutoNum type="arabicPeriod" startAt="1"/>
              <a:tabLst>
                <a:tab pos="444500" algn="l"/>
              </a:tabLst>
              <a:defRPr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Readings</a:t>
            </a: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  <a:r>
              <a:t>2020-10-19	Mo	08:00 PDT Fintech seminar &lt;</a:t>
            </a:r>
            <a:r>
              <a:rPr u="sng">
                <a:hlinkClick r:id="rId2" invalidUrl="" action="" tgtFrame="" tooltip="" history="1" highlightClick="0" endSnd="0"/>
              </a:rPr>
              <a:t>https://berkeley.us2.list-manage.com/track/click?u=41fdd73e709718d13fe9e71ce&amp;id=edbdad525d&amp;e=cedd4adff7</a:t>
            </a:r>
            <a:r>
              <a:t>&gt; passwd: 607583</a:t>
            </a: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  <a:r>
              <a:t>&lt;</a:t>
            </a:r>
            <a:r>
              <a:rPr u="sng">
                <a:hlinkClick r:id="rId3" invalidUrl="" action="" tgtFrame="" tooltip="" history="1" highlightClick="0" endSnd="0"/>
              </a:rPr>
              <a:t>https://www.icloud.com/keynote/0eqVET8B0fmqY2TM-T1XGpPIA</a:t>
            </a:r>
            <a:r>
              <a:t>&gt;</a:t>
            </a:r>
          </a:p>
          <a:p>
            <a:pPr marL="0" indent="0" defTabSz="821529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latin typeface="Helvetica"/>
                <a:ea typeface="Helvetica"/>
                <a:cs typeface="Helvetica"/>
                <a:sym typeface="Helvetica"/>
              </a:defRPr>
            </a:pPr>
            <a:r>
              <a:t>&lt;&gt;</a:t>
            </a:r>
          </a:p>
        </p:txBody>
      </p:sp>
      <p:pic>
        <p:nvPicPr>
          <p:cNvPr id="205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069123" y="2285995"/>
            <a:ext cx="11035129" cy="110351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delong-this-is-fine.png" descr="delong-this-is-fine.png"/>
          <p:cNvPicPr>
            <a:picLocks noChangeAspect="1"/>
          </p:cNvPicPr>
          <p:nvPr/>
        </p:nvPicPr>
        <p:blipFill>
          <a:blip r:embed="rId2">
            <a:extLst/>
          </a:blip>
          <a:srcRect l="0" t="0" r="1203" b="0"/>
          <a:stretch>
            <a:fillRect/>
          </a:stretch>
        </p:blipFill>
        <p:spPr>
          <a:xfrm>
            <a:off x="0" y="-3183"/>
            <a:ext cx="24384001" cy="137223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About the Course"/>
          <p:cNvSpPr txBox="1"/>
          <p:nvPr>
            <p:ph type="title" idx="4294967295"/>
          </p:nvPr>
        </p:nvSpPr>
        <p:spPr>
          <a:xfrm>
            <a:off x="0" y="-5"/>
            <a:ext cx="24384001" cy="2286001"/>
          </a:xfrm>
          <a:prstGeom prst="rect">
            <a:avLst/>
          </a:prstGeom>
        </p:spPr>
        <p:txBody>
          <a:bodyPr lIns="91436" tIns="91436" rIns="91436" bIns="91436" anchor="ctr"/>
          <a:lstStyle>
            <a:lvl1pPr algn="ctr" defTabSz="768095">
              <a:lnSpc>
                <a:spcPct val="100000"/>
              </a:lnSpc>
              <a:defRPr spc="0" sz="13439">
                <a:solidFill>
                  <a:srgbClr val="800000"/>
                </a:solidFill>
                <a:uFill>
                  <a:solidFill>
                    <a:srgbClr val="000000"/>
                  </a:solidFill>
                </a:u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========================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