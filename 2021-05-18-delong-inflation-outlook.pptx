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9" name="Shape 1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5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5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  <a:lvl2pPr>
              <a:defRPr>
                <a:latin typeface="Helvetica"/>
                <a:ea typeface="Helvetica"/>
                <a:cs typeface="Helvetica"/>
                <a:sym typeface="Helvetica"/>
              </a:defRPr>
            </a:lvl2pPr>
            <a:lvl3pPr>
              <a:defRPr>
                <a:latin typeface="Helvetica"/>
                <a:ea typeface="Helvetica"/>
                <a:cs typeface="Helvetica"/>
                <a:sym typeface="Helvetica"/>
              </a:defRPr>
            </a:lvl3pPr>
            <a:lvl4pPr>
              <a:defRPr>
                <a:latin typeface="Helvetica"/>
                <a:ea typeface="Helvetica"/>
                <a:cs typeface="Helvetica"/>
                <a:sym typeface="Helvetica"/>
              </a:defRPr>
            </a:lvl4pPr>
            <a:lvl5pPr>
              <a:defRPr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2" name="Slide Number"/>
          <p:cNvSpPr txBox="1"/>
          <p:nvPr>
            <p:ph type="sldNum" sz="quarter" idx="2"/>
          </p:nvPr>
        </p:nvSpPr>
        <p:spPr>
          <a:xfrm>
            <a:off x="12001465" y="13074598"/>
            <a:ext cx="368573" cy="381001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YYYY-MM-DD"/>
          <p:cNvSpPr txBox="1"/>
          <p:nvPr/>
        </p:nvSpPr>
        <p:spPr>
          <a:xfrm>
            <a:off x="8763000" y="13147054"/>
            <a:ext cx="1524000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lvl="1" indent="0" algn="r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YYYY-MM-DD</a:t>
            </a:r>
          </a:p>
        </p:txBody>
      </p:sp>
      <p:sp>
        <p:nvSpPr>
          <p:cNvPr id="162" name="Will There Be Inflation? Yes."/>
          <p:cNvSpPr txBox="1"/>
          <p:nvPr>
            <p:ph type="title"/>
          </p:nvPr>
        </p:nvSpPr>
        <p:spPr>
          <a:xfrm>
            <a:off x="388587" y="0"/>
            <a:ext cx="23622001" cy="1968500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667512">
              <a:lnSpc>
                <a:spcPct val="100000"/>
              </a:lnSpc>
              <a:defRPr spc="0" sz="1168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Will There Be Inflation? Yes.</a:t>
            </a:r>
          </a:p>
        </p:txBody>
      </p:sp>
      <p:sp>
        <p:nvSpPr>
          <p:cNvPr id="163" name="&lt;&gt;…"/>
          <p:cNvSpPr txBox="1"/>
          <p:nvPr/>
        </p:nvSpPr>
        <p:spPr>
          <a:xfrm>
            <a:off x="381000" y="13075927"/>
            <a:ext cx="1524000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defRPr b="1" sz="15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&lt;&gt;</a:t>
            </a:r>
          </a:p>
          <a:p>
            <a:pPr algn="l" defTabSz="914400">
              <a:defRPr b="1" sz="15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&lt;&gt;</a:t>
            </a:r>
          </a:p>
        </p:txBody>
      </p:sp>
      <p:sp>
        <p:nvSpPr>
          <p:cNvPr id="164" name="The long 20th century will in all likelihood be seen in the future as the watershed in human experience:…"/>
          <p:cNvSpPr txBox="1"/>
          <p:nvPr/>
        </p:nvSpPr>
        <p:spPr>
          <a:xfrm>
            <a:off x="381000" y="2034554"/>
            <a:ext cx="11911515" cy="1111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/>
          <a:lstStyle/>
          <a:p>
            <a:pPr algn="l" defTabSz="457200">
              <a:defRPr b="1" sz="6000">
                <a:solidFill>
                  <a:srgbClr val="80808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You cannot rejoin traffic at speed without burning rubber…</a:t>
            </a:r>
          </a:p>
          <a:p>
            <a:pPr marL="609600" indent="-609600" algn="l" defTabSz="457200">
              <a:buSzPct val="100000"/>
              <a:buChar char="•"/>
              <a:defRPr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 much inflation?</a:t>
            </a:r>
          </a:p>
          <a:p>
            <a:pPr lvl="1" marL="1219200" indent="-609600" algn="l" defTabSz="457200">
              <a:buSzPct val="100000"/>
              <a:buChar char="•"/>
              <a:defRPr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 do not know</a:t>
            </a:r>
          </a:p>
          <a:p>
            <a:pPr lvl="2" marL="1828800" indent="-609600" algn="l" defTabSz="457200">
              <a:buSzPct val="100000"/>
              <a:buChar char="•"/>
              <a:defRPr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 much to move 4% of the labor force across sectors?</a:t>
            </a:r>
          </a:p>
          <a:p>
            <a:pPr lvl="2" marL="1828800" indent="-609600" algn="l" defTabSz="457200">
              <a:buSzPct val="100000"/>
              <a:buChar char="•"/>
              <a:defRPr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 much to convince workers to rejoin?</a:t>
            </a:r>
          </a:p>
          <a:p>
            <a:pPr lvl="2" marL="1828800" indent="-609600" algn="l" defTabSz="457200">
              <a:buSzPct val="100000"/>
              <a:buChar char="•"/>
              <a:defRPr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 much from bottlenecks?</a:t>
            </a:r>
          </a:p>
          <a:p>
            <a:pPr marL="609600" indent="-609600" algn="l" defTabSz="457200">
              <a:buSzPct val="100000"/>
              <a:buChar char="•"/>
              <a:defRPr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 persistent will the inflation be?</a:t>
            </a:r>
          </a:p>
          <a:p>
            <a:pPr lvl="1" marL="1066800" indent="-609600" algn="l" defTabSz="457200">
              <a:buSzPct val="100000"/>
              <a:buChar char="•"/>
              <a:defRPr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Unlikely to be a lot: it took a huge number of shocks to de-anchor inflation expectations from 1965 to 1975…</a:t>
            </a:r>
          </a:p>
        </p:txBody>
      </p:sp>
      <p:pic>
        <p:nvPicPr>
          <p:cNvPr id="16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25939" y="2034554"/>
            <a:ext cx="11577061" cy="11046446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J. Bradford DeLong @delong For 2021-05-20"/>
          <p:cNvSpPr txBox="1"/>
          <p:nvPr/>
        </p:nvSpPr>
        <p:spPr>
          <a:xfrm>
            <a:off x="8763000" y="13147054"/>
            <a:ext cx="1524000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lvl="1" indent="0" algn="r" defTabSz="914400">
              <a:spcBef>
                <a:spcPts val="1200"/>
              </a:spcBef>
              <a:defRPr b="1" sz="30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solidFill>
                  <a:srgbClr val="800000"/>
                </a:solidFill>
              </a:rPr>
              <a:t>J. Bradford DeLong @delong For 2021-05-20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YYYY-MM-DD"/>
          <p:cNvSpPr txBox="1"/>
          <p:nvPr/>
        </p:nvSpPr>
        <p:spPr>
          <a:xfrm>
            <a:off x="8763000" y="13147054"/>
            <a:ext cx="1524000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lvl="1" indent="0" algn="r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YYYY-MM-DD</a:t>
            </a:r>
          </a:p>
        </p:txBody>
      </p:sp>
      <p:sp>
        <p:nvSpPr>
          <p:cNvPr id="169" name="&lt;&gt;…"/>
          <p:cNvSpPr txBox="1"/>
          <p:nvPr/>
        </p:nvSpPr>
        <p:spPr>
          <a:xfrm>
            <a:off x="381000" y="13075927"/>
            <a:ext cx="1524000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defRPr b="1" sz="15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&lt;&gt;</a:t>
            </a:r>
          </a:p>
          <a:p>
            <a:pPr algn="l" defTabSz="914400">
              <a:defRPr b="1" sz="15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&lt;&gt;</a:t>
            </a:r>
          </a:p>
        </p:txBody>
      </p:sp>
      <p:pic>
        <p:nvPicPr>
          <p:cNvPr id="17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347885"/>
            <a:ext cx="12436006" cy="7028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20000" y="4452627"/>
            <a:ext cx="16764000" cy="8623301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Circle"/>
          <p:cNvSpPr/>
          <p:nvPr/>
        </p:nvSpPr>
        <p:spPr>
          <a:xfrm>
            <a:off x="15892955" y="3685851"/>
            <a:ext cx="8623301" cy="8623301"/>
          </a:xfrm>
          <a:prstGeom prst="ellipse">
            <a:avLst/>
          </a:prstGeom>
          <a:ln w="762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b="1" sz="3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73" name="Takeaway: Phillips Curve Always Pretty Flat"/>
          <p:cNvSpPr txBox="1"/>
          <p:nvPr>
            <p:ph type="title"/>
          </p:nvPr>
        </p:nvSpPr>
        <p:spPr>
          <a:xfrm>
            <a:off x="381000" y="-1"/>
            <a:ext cx="23622000" cy="19685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502920">
              <a:lnSpc>
                <a:spcPct val="100000"/>
              </a:lnSpc>
              <a:defRPr spc="0" sz="88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Takeaway: Phillips Curve Always Pretty Flat</a:t>
            </a:r>
          </a:p>
        </p:txBody>
      </p:sp>
      <p:sp>
        <p:nvSpPr>
          <p:cNvPr id="174" name="J. Bradford DeLong @delong For 2021-05-20"/>
          <p:cNvSpPr txBox="1"/>
          <p:nvPr/>
        </p:nvSpPr>
        <p:spPr>
          <a:xfrm>
            <a:off x="8763000" y="13147054"/>
            <a:ext cx="1524000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lvl="1" indent="0" algn="r" defTabSz="914400">
              <a:spcBef>
                <a:spcPts val="1200"/>
              </a:spcBef>
              <a:defRPr b="1" sz="30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solidFill>
                  <a:srgbClr val="800000"/>
                </a:solidFill>
              </a:rPr>
              <a:t>J. Bradford DeLong @delong For 2021-05-20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YYYY-MM-DD"/>
          <p:cNvSpPr txBox="1"/>
          <p:nvPr/>
        </p:nvSpPr>
        <p:spPr>
          <a:xfrm>
            <a:off x="8763000" y="13147054"/>
            <a:ext cx="1524000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lvl="1" indent="0" algn="r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YYYY-MM-DD</a:t>
            </a:r>
          </a:p>
        </p:txBody>
      </p:sp>
      <p:sp>
        <p:nvSpPr>
          <p:cNvPr id="177" name="Can the Fed Stop Inflation? Yes"/>
          <p:cNvSpPr txBox="1"/>
          <p:nvPr>
            <p:ph type="title"/>
          </p:nvPr>
        </p:nvSpPr>
        <p:spPr>
          <a:xfrm>
            <a:off x="388587" y="0"/>
            <a:ext cx="23622001" cy="1968500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667512">
              <a:lnSpc>
                <a:spcPct val="100000"/>
              </a:lnSpc>
              <a:defRPr spc="0" sz="1168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Can the Fed Stop Inflation? Yes</a:t>
            </a:r>
          </a:p>
        </p:txBody>
      </p:sp>
      <p:sp>
        <p:nvSpPr>
          <p:cNvPr id="178" name="&lt;&gt;…"/>
          <p:cNvSpPr txBox="1"/>
          <p:nvPr/>
        </p:nvSpPr>
        <p:spPr>
          <a:xfrm>
            <a:off x="381000" y="13075927"/>
            <a:ext cx="1524000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defRPr b="1" sz="15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&lt;&gt;</a:t>
            </a:r>
          </a:p>
          <a:p>
            <a:pPr algn="l" defTabSz="914400">
              <a:defRPr b="1" sz="15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&lt;&gt;</a:t>
            </a:r>
          </a:p>
        </p:txBody>
      </p:sp>
      <p:sp>
        <p:nvSpPr>
          <p:cNvPr id="179" name="The long 20th century will in all likelihood be seen in the future as the watershed in human experience:…"/>
          <p:cNvSpPr txBox="1"/>
          <p:nvPr/>
        </p:nvSpPr>
        <p:spPr>
          <a:xfrm>
            <a:off x="381000" y="2034554"/>
            <a:ext cx="11911515" cy="1111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2700" tIns="12700" rIns="12700" bIns="12700">
            <a:normAutofit fontScale="100000" lnSpcReduction="0"/>
          </a:bodyPr>
          <a:lstStyle/>
          <a:p>
            <a:pPr algn="l" defTabSz="443484">
              <a:defRPr b="1" sz="5820">
                <a:solidFill>
                  <a:srgbClr val="80808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trike="sngStrike"/>
              <a:t>Can</a:t>
            </a:r>
            <a:r>
              <a:t> Will the Fed stop inflation?</a:t>
            </a:r>
          </a:p>
          <a:p>
            <a:pPr marL="591312" indent="-591312" algn="l" defTabSz="443484">
              <a:buSzPct val="100000"/>
              <a:buChar char="•"/>
              <a:defRPr sz="46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has, ever since 1979…</a:t>
            </a:r>
          </a:p>
          <a:p>
            <a:pPr marL="591312" indent="-591312" algn="l" defTabSz="443484">
              <a:buSzPct val="100000"/>
              <a:buChar char="•"/>
              <a:defRPr sz="46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required a very strange concatenation of events for the Fed not to stop it from 1969-79:</a:t>
            </a:r>
          </a:p>
          <a:p>
            <a:pPr lvl="1" marL="1182624" indent="-591312" algn="l" defTabSz="443484">
              <a:buSzPct val="100000"/>
              <a:buChar char="•"/>
              <a:defRPr sz="46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Arthur Burns, who did not think unions would believe he would…</a:t>
            </a:r>
          </a:p>
          <a:p>
            <a:pPr lvl="1" marL="1182624" indent="-591312" algn="l" defTabSz="443484">
              <a:buSzPct val="100000"/>
              <a:buChar char="•"/>
              <a:defRPr sz="46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 Arthur Burns, who did not think congress would let him…</a:t>
            </a:r>
          </a:p>
          <a:p>
            <a:pPr lvl="1" marL="1182624" indent="-591312" algn="l" defTabSz="443484">
              <a:buSzPct val="100000"/>
              <a:buChar char="•"/>
              <a:defRPr sz="46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Richard Nixon &amp; a John Connally, who broke Bretton Woods…</a:t>
            </a:r>
          </a:p>
          <a:p>
            <a:pPr lvl="1" marL="1182624" indent="-591312" algn="l" defTabSz="443484">
              <a:buSzPct val="100000"/>
              <a:buChar char="•"/>
              <a:defRPr sz="46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Unions, that did not understand the stakes…</a:t>
            </a:r>
          </a:p>
          <a:p>
            <a:pPr lvl="1" marL="1182624" indent="-591312" algn="l" defTabSz="443484">
              <a:buSzPct val="100000"/>
              <a:buChar char="•"/>
              <a:defRPr sz="46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2.5%-point/year productivity slowdown…</a:t>
            </a:r>
          </a:p>
          <a:p>
            <a:pPr lvl="1" marL="1182624" indent="-591312" algn="l" defTabSz="443484">
              <a:buSzPct val="100000"/>
              <a:buChar char="•"/>
              <a:defRPr sz="46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King Faisal &amp; an Ayatollah Khomeini…</a:t>
            </a:r>
          </a:p>
          <a:p>
            <a:pPr lvl="2" marL="1773936" indent="-591312" algn="l" defTabSz="443484">
              <a:buSzPct val="100000"/>
              <a:buChar char="•"/>
              <a:defRPr sz="46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blocked response (Simon on Kissinger?)</a:t>
            </a:r>
          </a:p>
        </p:txBody>
      </p:sp>
      <p:pic>
        <p:nvPicPr>
          <p:cNvPr id="18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21170" y="2034554"/>
            <a:ext cx="11689418" cy="11112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J. Bradford DeLong @delong For 2021-05-20"/>
          <p:cNvSpPr txBox="1"/>
          <p:nvPr/>
        </p:nvSpPr>
        <p:spPr>
          <a:xfrm>
            <a:off x="8763000" y="13147054"/>
            <a:ext cx="1524000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lvl="1" indent="0" algn="r" defTabSz="914400">
              <a:spcBef>
                <a:spcPts val="1200"/>
              </a:spcBef>
              <a:defRPr b="1" sz="30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solidFill>
                  <a:srgbClr val="800000"/>
                </a:solidFill>
              </a:rPr>
              <a:t>J. Bradford DeLong @delong For 2021-05-20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