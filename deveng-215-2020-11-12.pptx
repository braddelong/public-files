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93" name="Shape 193"/>
          <p:cNvSpPr/>
          <p:nvPr>
            <p:ph type="sldImg"/>
          </p:nvPr>
        </p:nvSpPr>
        <p:spPr>
          <a:xfrm>
            <a:off x="1143000" y="685800"/>
            <a:ext cx="4572000" cy="3429000"/>
          </a:xfrm>
          <a:prstGeom prst="rect">
            <a:avLst/>
          </a:prstGeom>
        </p:spPr>
        <p:txBody>
          <a:bodyPr/>
          <a:lstStyle/>
          <a:p>
            <a:pPr/>
          </a:p>
        </p:txBody>
      </p:sp>
      <p:sp>
        <p:nvSpPr>
          <p:cNvPr id="194" name="Shape 19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lnSpc>
                <a:spcPct val="100000"/>
              </a:lnSpc>
              <a:spcBef>
                <a:spcPts val="1600"/>
              </a:spcBef>
              <a:buSzPct val="75000"/>
              <a:defRPr>
                <a:latin typeface="Helvetica"/>
                <a:ea typeface="Helvetica"/>
                <a:cs typeface="Helvetica"/>
                <a:sym typeface="Helvetica"/>
              </a:defRPr>
            </a:lvl1pPr>
            <a:lvl2pPr marL="1037164" indent="-592664" defTabSz="583286">
              <a:lnSpc>
                <a:spcPct val="100000"/>
              </a:lnSpc>
              <a:spcBef>
                <a:spcPts val="1600"/>
              </a:spcBef>
              <a:buSzPct val="75000"/>
              <a:defRPr>
                <a:latin typeface="Helvetica"/>
                <a:ea typeface="Helvetica"/>
                <a:cs typeface="Helvetica"/>
                <a:sym typeface="Helvetica"/>
              </a:defRPr>
            </a:lvl2pPr>
            <a:lvl3pPr marL="1481664" indent="-592664" defTabSz="583286">
              <a:lnSpc>
                <a:spcPct val="100000"/>
              </a:lnSpc>
              <a:spcBef>
                <a:spcPts val="1600"/>
              </a:spcBef>
              <a:buSzPct val="75000"/>
              <a:defRPr>
                <a:latin typeface="Helvetica"/>
                <a:ea typeface="Helvetica"/>
                <a:cs typeface="Helvetica"/>
                <a:sym typeface="Helvetica"/>
              </a:defRPr>
            </a:lvl3pPr>
            <a:lvl4pPr marL="1926164" indent="-592664" defTabSz="583286">
              <a:lnSpc>
                <a:spcPct val="100000"/>
              </a:lnSpc>
              <a:spcBef>
                <a:spcPts val="1600"/>
              </a:spcBef>
              <a:buSzPct val="75000"/>
              <a:defRPr>
                <a:latin typeface="Helvetica"/>
                <a:ea typeface="Helvetica"/>
                <a:cs typeface="Helvetica"/>
                <a:sym typeface="Helvetica"/>
              </a:defRPr>
            </a:lvl4pPr>
            <a:lvl5pPr marL="2370664" indent="-592664" defTabSz="583286">
              <a:lnSpc>
                <a:spcPct val="100000"/>
              </a:lnSpc>
              <a:spcBef>
                <a:spcPts val="1600"/>
              </a:spcBef>
              <a:buSzPct val="75000"/>
              <a:defRPr>
                <a:latin typeface="Helvetica"/>
                <a:ea typeface="Helvetica"/>
                <a:cs typeface="Helvetica"/>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lnSpc>
                <a:spcPct val="100000"/>
              </a:lnSpc>
              <a:defRPr spc="0" sz="16000">
                <a:solidFill>
                  <a:srgbClr val="000080"/>
                </a:solidFill>
                <a:latin typeface="Helvetica"/>
                <a:ea typeface="Helvetica"/>
                <a:cs typeface="Helvetica"/>
                <a:sym typeface="Helvetica"/>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lnSpc>
                <a:spcPct val="100000"/>
              </a:lnSpc>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lnSpc>
                <a:spcPct val="100000"/>
              </a:lnSpc>
              <a:spcBef>
                <a:spcPts val="5800"/>
              </a:spcBef>
              <a:buSzPct val="75000"/>
              <a:defRPr>
                <a:latin typeface="Helvetica Light"/>
                <a:ea typeface="Helvetica Light"/>
                <a:cs typeface="Helvetica Light"/>
                <a:sym typeface="Helvetica Light"/>
              </a:defRPr>
            </a:lvl1pPr>
            <a:lvl2pPr marL="1037165" indent="-592665" defTabSz="821529">
              <a:lnSpc>
                <a:spcPct val="100000"/>
              </a:lnSpc>
              <a:spcBef>
                <a:spcPts val="5800"/>
              </a:spcBef>
              <a:buSzPct val="75000"/>
              <a:defRPr>
                <a:latin typeface="Helvetica Light"/>
                <a:ea typeface="Helvetica Light"/>
                <a:cs typeface="Helvetica Light"/>
                <a:sym typeface="Helvetica Light"/>
              </a:defRPr>
            </a:lvl2pPr>
            <a:lvl3pPr marL="1481665" indent="-592665" defTabSz="821529">
              <a:lnSpc>
                <a:spcPct val="100000"/>
              </a:lnSpc>
              <a:spcBef>
                <a:spcPts val="5800"/>
              </a:spcBef>
              <a:buSzPct val="75000"/>
              <a:defRPr>
                <a:latin typeface="Helvetica Light"/>
                <a:ea typeface="Helvetica Light"/>
                <a:cs typeface="Helvetica Light"/>
                <a:sym typeface="Helvetica Light"/>
              </a:defRPr>
            </a:lvl3pPr>
            <a:lvl4pPr marL="1926166" indent="-592666" defTabSz="821529">
              <a:lnSpc>
                <a:spcPct val="100000"/>
              </a:lnSpc>
              <a:spcBef>
                <a:spcPts val="5800"/>
              </a:spcBef>
              <a:buSzPct val="75000"/>
              <a:defRPr>
                <a:latin typeface="Helvetica Light"/>
                <a:ea typeface="Helvetica Light"/>
                <a:cs typeface="Helvetica Light"/>
                <a:sym typeface="Helvetica Light"/>
              </a:defRPr>
            </a:lvl4pPr>
            <a:lvl5pPr marL="2370666" indent="-592666" defTabSz="821529">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lnSpc>
                <a:spcPct val="100000"/>
              </a:lnSpc>
              <a:defRPr spc="0" sz="16000">
                <a:solidFill>
                  <a:srgbClr val="800000"/>
                </a:solidFill>
                <a:uFill>
                  <a:solidFill>
                    <a:srgbClr val="000000"/>
                  </a:solidFill>
                </a:uFill>
                <a:latin typeface="Helvetica"/>
                <a:ea typeface="Helvetica"/>
                <a:cs typeface="Helvetica"/>
                <a:sym typeface="Helvetica"/>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lnSpc>
                <a:spcPct val="100000"/>
              </a:lnSpc>
              <a:spcBef>
                <a:spcPts val="5800"/>
              </a:spcBef>
              <a:buSzPct val="75000"/>
              <a:defRPr>
                <a:latin typeface="Helvetica Light"/>
                <a:ea typeface="Helvetica Light"/>
                <a:cs typeface="Helvetica Light"/>
                <a:sym typeface="Helvetica Light"/>
              </a:defRPr>
            </a:lvl1pPr>
            <a:lvl2pPr marL="1037164" indent="-592664" defTabSz="821527">
              <a:lnSpc>
                <a:spcPct val="100000"/>
              </a:lnSpc>
              <a:spcBef>
                <a:spcPts val="5800"/>
              </a:spcBef>
              <a:buSzPct val="75000"/>
              <a:defRPr>
                <a:latin typeface="Helvetica Light"/>
                <a:ea typeface="Helvetica Light"/>
                <a:cs typeface="Helvetica Light"/>
                <a:sym typeface="Helvetica Light"/>
              </a:defRPr>
            </a:lvl2pPr>
            <a:lvl3pPr marL="1481664" indent="-592664" defTabSz="821527">
              <a:lnSpc>
                <a:spcPct val="100000"/>
              </a:lnSpc>
              <a:spcBef>
                <a:spcPts val="5800"/>
              </a:spcBef>
              <a:buSzPct val="75000"/>
              <a:defRPr>
                <a:latin typeface="Helvetica Light"/>
                <a:ea typeface="Helvetica Light"/>
                <a:cs typeface="Helvetica Light"/>
                <a:sym typeface="Helvetica Light"/>
              </a:defRPr>
            </a:lvl3pPr>
            <a:lvl4pPr marL="1926164" indent="-592663" defTabSz="821527">
              <a:lnSpc>
                <a:spcPct val="100000"/>
              </a:lnSpc>
              <a:spcBef>
                <a:spcPts val="5800"/>
              </a:spcBef>
              <a:buSzPct val="75000"/>
              <a:defRPr>
                <a:latin typeface="Helvetica Light"/>
                <a:ea typeface="Helvetica Light"/>
                <a:cs typeface="Helvetica Light"/>
                <a:sym typeface="Helvetica Light"/>
              </a:defRPr>
            </a:lvl4pPr>
            <a:lvl5pPr marL="2370666" indent="-592666" defTabSz="821527">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berkeley.zoom.us/j/92547663468?pwd=MWhlTE1nQzJuRFN4a1BPdkZJT1NmUT09" TargetMode="External"/><Relationship Id="rId4" Type="http://schemas.openxmlformats.org/officeDocument/2006/relationships/hyperlink" Target="https://bcourses.berkeley.edu/courses/1497096" TargetMode="External"/><Relationship Id="rId5" Type="http://schemas.openxmlformats.org/officeDocument/2006/relationships/hyperlink" Target="https://www.icloud.com/keynote/0rNAZBWA9MYYbOJp0wd1Y3w1g"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bcourses.berkeley.edu/courses/1497095/files/77911803?module_item_id=15927911" TargetMode="External"/><Relationship Id="rId4" Type="http://schemas.openxmlformats.org/officeDocument/2006/relationships/hyperlink" Target="https://economics.ucdavis.edu/events/papers/copy_of_1114Palsson.pdf" TargetMode="External"/><Relationship Id="rId5" Type="http://schemas.openxmlformats.org/officeDocument/2006/relationships/image" Target="../media/image4.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cdm15738.contentdm.oclc.org/utils/getfile/collection/p15738coll2/id/5724/filename/5725.pdf" TargetMode="External"/><Relationship Id="rId4" Type="http://schemas.openxmlformats.org/officeDocument/2006/relationships/hyperlink" Target="https://bcourses.berkeley.edu/courses/1497095/files/77911773?module_item_id=15927916" TargetMode="External"/><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bcourses.berkeley.edu/courses/1497095/files/77911802?module_item_id=15927915" TargetMode="External"/><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bcourses.berkeley.edu/courses/1497095/files/78796747?module_item_id=16024434" TargetMode="External"/><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bcourses.berkeley.edu/courses/1497095/modules/items/15933052" TargetMode="External"/><Relationship Id="rId4" Type="http://schemas.openxmlformats.org/officeDocument/2006/relationships/hyperlink" Target="https://bcourses.berkeley.edu/courses/1497095/modules/items/15927926" TargetMode="External"/></Relationships>

</file>

<file path=ppt/slides/_rels/slide9.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6"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197" name="The long 20th century will in all likelihood be seen in the future as the watershed in human experience:…"/>
          <p:cNvSpPr txBox="1"/>
          <p:nvPr/>
        </p:nvSpPr>
        <p:spPr>
          <a:xfrm>
            <a:off x="402606" y="2285999"/>
            <a:ext cx="23622001" cy="1078992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2400"/>
              </a:spcBef>
              <a:defRPr b="1" sz="3200">
                <a:solidFill>
                  <a:srgbClr val="000080"/>
                </a:solidFill>
                <a:latin typeface="Helvetica"/>
                <a:ea typeface="Helvetica"/>
                <a:cs typeface="Helvetica"/>
                <a:sym typeface="Helvetica"/>
              </a:defRPr>
            </a:pPr>
            <a:r>
              <a:t>Th 2020-11-12 12:00 PST &lt;</a:t>
            </a:r>
            <a:r>
              <a:rPr u="sng">
                <a:hlinkClick r:id="rId3" invalidUrl="" action="" tgtFrame="" tooltip="" history="1" highlightClick="0" endSnd="0"/>
              </a:rPr>
              <a:t>https://berkeley.zoom.us/j/92547663468?pwd=MWhlTE1nQzJuRFN4a1BPdkZJT1NmUT09</a:t>
            </a:r>
            <a:r>
              <a:t>&gt; &lt;</a:t>
            </a:r>
            <a:r>
              <a:rPr u="sng">
                <a:hlinkClick r:id="rId4" invalidUrl="" action="" tgtFrame="" tooltip="" history="1" highlightClick="0" endSnd="0"/>
              </a:rPr>
              <a:t>https://bcourses.berkeley.edu/courses/1497096</a:t>
            </a:r>
            <a:r>
              <a:t>&gt;</a:t>
            </a:r>
          </a:p>
          <a:p>
            <a:pPr algn="l" defTabSz="821529">
              <a:spcBef>
                <a:spcPts val="2400"/>
              </a:spcBef>
              <a:defRPr b="1" sz="4800">
                <a:solidFill>
                  <a:srgbClr val="000080"/>
                </a:solidFill>
                <a:latin typeface="Helvetica"/>
                <a:ea typeface="Helvetica"/>
                <a:cs typeface="Helvetica"/>
                <a:sym typeface="Helvetica"/>
              </a:defRPr>
            </a:pPr>
            <a:r>
              <a:t>Questions:</a:t>
            </a:r>
          </a:p>
          <a:p>
            <a:pPr marL="508000" indent="-508000" algn="l" defTabSz="821529">
              <a:spcBef>
                <a:spcPts val="1300"/>
              </a:spcBef>
              <a:buSzPct val="100000"/>
              <a:buAutoNum type="arabicPeriod" startAt="1"/>
              <a:defRPr b="1" sz="3200">
                <a:solidFill>
                  <a:srgbClr val="000000"/>
                </a:solidFill>
                <a:latin typeface="Times New Roman"/>
                <a:ea typeface="Times New Roman"/>
                <a:cs typeface="Times New Roman"/>
                <a:sym typeface="Times New Roman"/>
              </a:defRPr>
            </a:pPr>
            <a:r>
              <a:t>What is the main factor determining the direction of the food sovereignty movement? On the premise that neoliberalism and globalization continue, which of the movements in Mexico and Ghana is likely to achieve their goal of protecting food sovereignty?</a:t>
            </a:r>
          </a:p>
          <a:p>
            <a:pPr marL="508000" indent="-508000" algn="l" defTabSz="821529">
              <a:spcBef>
                <a:spcPts val="1300"/>
              </a:spcBef>
              <a:buSzPct val="100000"/>
              <a:buAutoNum type="arabicPeriod" startAt="1"/>
              <a:defRPr b="1" sz="3200">
                <a:solidFill>
                  <a:srgbClr val="000000"/>
                </a:solidFill>
                <a:latin typeface="Times New Roman"/>
                <a:ea typeface="Times New Roman"/>
                <a:cs typeface="Times New Roman"/>
                <a:sym typeface="Times New Roman"/>
              </a:defRPr>
            </a:pPr>
            <a:r>
              <a:t>Despite the fact of “Ghanaians are not starving”, what is the motivation behind donors to actively pursue GMOs in the name of the Green Revolution?</a:t>
            </a:r>
          </a:p>
          <a:p>
            <a:pPr marL="508000" indent="-508000" algn="l" defTabSz="821529">
              <a:spcBef>
                <a:spcPts val="1300"/>
              </a:spcBef>
              <a:buSzPct val="100000"/>
              <a:buAutoNum type="arabicPeriod" startAt="1"/>
              <a:defRPr b="1" sz="3200">
                <a:solidFill>
                  <a:srgbClr val="000000"/>
                </a:solidFill>
                <a:latin typeface="Times New Roman"/>
                <a:ea typeface="Times New Roman"/>
                <a:cs typeface="Times New Roman"/>
                <a:sym typeface="Times New Roman"/>
              </a:defRPr>
            </a:pPr>
            <a:r>
              <a:t>Can the Mexican and Colombian farmers' campaigns, which strategically focus only on the GMO of maize, really help protect their food sovereignty and cultural autonomy?</a:t>
            </a:r>
          </a:p>
          <a:p>
            <a:pPr marL="508000" indent="-508000" algn="l" defTabSz="821529">
              <a:spcBef>
                <a:spcPts val="1300"/>
              </a:spcBef>
              <a:buSzPct val="100000"/>
              <a:buAutoNum type="arabicPeriod" startAt="1"/>
              <a:defRPr b="1" sz="3200">
                <a:solidFill>
                  <a:srgbClr val="000000"/>
                </a:solidFill>
                <a:latin typeface="Times New Roman"/>
                <a:ea typeface="Times New Roman"/>
                <a:cs typeface="Times New Roman"/>
                <a:sym typeface="Times New Roman"/>
              </a:defRPr>
            </a:pPr>
            <a:r>
              <a:t>What do the numerous success stories of Campesino a Campesino movement in Latin America Altieri and Toledo provided suggest to Global North, who thinks GMO is the only alternative to reducing global poverty? Can these successes serve as an opportunity to change their perspective?</a:t>
            </a:r>
          </a:p>
          <a:p>
            <a:pPr marL="508000" indent="-508000" algn="l" defTabSz="821529">
              <a:spcBef>
                <a:spcPts val="1300"/>
              </a:spcBef>
              <a:buSzPct val="100000"/>
              <a:buAutoNum type="arabicPeriod" startAt="1"/>
              <a:defRPr b="1" sz="3200">
                <a:solidFill>
                  <a:srgbClr val="000000"/>
                </a:solidFill>
                <a:latin typeface="Times New Roman"/>
                <a:ea typeface="Times New Roman"/>
                <a:cs typeface="Times New Roman"/>
                <a:sym typeface="Times New Roman"/>
              </a:defRPr>
            </a:pPr>
            <a:r>
              <a:t>How will this pandemic affect the Global South in the long term? Given the opinion of many experts that this pandemic will not be the last pandemic we will experience in our lives, what changes can be made in the Global North's view and policy toward the Global South?</a:t>
            </a:r>
          </a:p>
        </p:txBody>
      </p:sp>
      <p:sp>
        <p:nvSpPr>
          <p:cNvPr id="198" name="2020-11-12"/>
          <p:cNvSpPr txBox="1"/>
          <p:nvPr/>
        </p:nvSpPr>
        <p:spPr>
          <a:xfrm>
            <a:off x="10235645" y="13228327"/>
            <a:ext cx="13788962"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2000">
                <a:solidFill>
                  <a:srgbClr val="FFFFFF"/>
                </a:solidFill>
                <a:uFill>
                  <a:solidFill>
                    <a:srgbClr val="000000"/>
                  </a:solidFill>
                </a:uFill>
                <a:latin typeface="Helvetica"/>
                <a:ea typeface="Helvetica"/>
                <a:cs typeface="Helvetica"/>
                <a:sym typeface="Helvetica"/>
              </a:defRPr>
            </a:lvl1pPr>
          </a:lstStyle>
          <a:p>
            <a:pPr/>
            <a:r>
              <a:t>2020-11-12</a:t>
            </a:r>
          </a:p>
        </p:txBody>
      </p:sp>
      <p:sp>
        <p:nvSpPr>
          <p:cNvPr id="199" name="DevEng 215: Week 12: Food Security"/>
          <p:cNvSpPr txBox="1"/>
          <p:nvPr>
            <p:ph type="title"/>
          </p:nvPr>
        </p:nvSpPr>
        <p:spPr>
          <a:xfrm>
            <a:off x="402606" y="0"/>
            <a:ext cx="23622001" cy="2286000"/>
          </a:xfrm>
          <a:prstGeom prst="rect">
            <a:avLst/>
          </a:prstGeom>
        </p:spPr>
        <p:txBody>
          <a:bodyPr lIns="91436" tIns="91436" rIns="91436" bIns="91436" anchor="ctr"/>
          <a:lstStyle>
            <a:lvl1pPr algn="ctr" defTabSz="594359">
              <a:lnSpc>
                <a:spcPct val="100000"/>
              </a:lnSpc>
              <a:defRPr spc="0" sz="10400">
                <a:solidFill>
                  <a:srgbClr val="800000"/>
                </a:solidFill>
                <a:uFill>
                  <a:solidFill>
                    <a:srgbClr val="000000"/>
                  </a:solidFill>
                </a:uFill>
                <a:latin typeface="Helvetica"/>
                <a:ea typeface="Helvetica"/>
                <a:cs typeface="Helvetica"/>
                <a:sym typeface="Helvetica"/>
              </a:defRPr>
            </a:lvl1pPr>
          </a:lstStyle>
          <a:p>
            <a:pPr/>
            <a:r>
              <a:t>DevEng 215: Week 12: Food Security</a:t>
            </a:r>
          </a:p>
        </p:txBody>
      </p:sp>
      <p:sp>
        <p:nvSpPr>
          <p:cNvPr id="200" name="&lt;https://www.icloud.com/keynote/0rNAZBWA9MYYbOJp0wd1Y3w1g&gt;"/>
          <p:cNvSpPr txBox="1"/>
          <p:nvPr/>
        </p:nvSpPr>
        <p:spPr>
          <a:xfrm>
            <a:off x="402606" y="13228327"/>
            <a:ext cx="17004578" cy="4876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2000">
                <a:solidFill>
                  <a:srgbClr val="FFFFFF"/>
                </a:solidFill>
                <a:uFill>
                  <a:solidFill>
                    <a:srgbClr val="000000"/>
                  </a:solidFill>
                </a:uFill>
                <a:latin typeface="Helvetica"/>
                <a:ea typeface="Helvetica"/>
                <a:cs typeface="Helvetica"/>
                <a:sym typeface="Helvetica"/>
              </a:defRPr>
            </a:pPr>
            <a:r>
              <a:t>&lt;</a:t>
            </a:r>
            <a:r>
              <a:rPr u="sng">
                <a:hlinkClick r:id="rId5" invalidUrl="" action="" tgtFrame="" tooltip="" history="1" highlightClick="0" endSnd="0"/>
              </a:rPr>
              <a:t>https://www.icloud.com/keynote/0rNAZBWA9MYYbOJp0wd1Y3w1g</a:t>
            </a:r>
            <a:r>
              <a:t>&gt;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2"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03" name="2020-11-12"/>
          <p:cNvSpPr txBox="1"/>
          <p:nvPr/>
        </p:nvSpPr>
        <p:spPr>
          <a:xfrm>
            <a:off x="402606" y="13075927"/>
            <a:ext cx="23622001"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000">
                <a:solidFill>
                  <a:srgbClr val="FFFFFF"/>
                </a:solidFill>
                <a:uFill>
                  <a:solidFill>
                    <a:srgbClr val="000000"/>
                  </a:solidFill>
                </a:uFill>
                <a:latin typeface="Helvetica"/>
                <a:ea typeface="Helvetica"/>
                <a:cs typeface="Helvetica"/>
                <a:sym typeface="Helvetica"/>
              </a:defRPr>
            </a:lvl1pPr>
          </a:lstStyle>
          <a:p>
            <a:pPr/>
            <a:r>
              <a:t>2020-11-12</a:t>
            </a:r>
          </a:p>
        </p:txBody>
      </p:sp>
      <p:sp>
        <p:nvSpPr>
          <p:cNvPr id="204" name="The long 20th century will in all likelihood be seen in the future as the watershed in human experience:…"/>
          <p:cNvSpPr txBox="1"/>
          <p:nvPr/>
        </p:nvSpPr>
        <p:spPr>
          <a:xfrm>
            <a:off x="402606" y="2285999"/>
            <a:ext cx="23622001" cy="1078992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marL="762000" indent="-762000" algn="l" defTabSz="821529">
              <a:spcBef>
                <a:spcPts val="3500"/>
              </a:spcBef>
              <a:buSzPct val="123000"/>
              <a:buChar char="•"/>
              <a:defRPr sz="7000">
                <a:solidFill>
                  <a:srgbClr val="000000"/>
                </a:solidFill>
                <a:latin typeface="Times New Roman"/>
                <a:ea typeface="Times New Roman"/>
                <a:cs typeface="Times New Roman"/>
                <a:sym typeface="Times New Roman"/>
              </a:defRPr>
            </a:pPr>
            <a:r>
              <a:t>Year 1: 170 million people; avg. GI/pop growth rate: 0.07%year, 2%/generation</a:t>
            </a:r>
          </a:p>
          <a:p>
            <a:pPr marL="762000" indent="-762000" algn="l" defTabSz="821529">
              <a:spcBef>
                <a:spcPts val="3500"/>
              </a:spcBef>
              <a:buSzPct val="123000"/>
              <a:buChar char="•"/>
              <a:defRPr sz="7000">
                <a:solidFill>
                  <a:srgbClr val="000000"/>
                </a:solidFill>
                <a:latin typeface="Times New Roman"/>
                <a:ea typeface="Times New Roman"/>
                <a:cs typeface="Times New Roman"/>
                <a:sym typeface="Times New Roman"/>
              </a:defRPr>
            </a:pPr>
            <a:r>
              <a:t>Year 1500: 500 million people; avg. pop growth rate: 0.15%/year, 4.5%/generation; avg GI growth rate: 0.22%/year, 6.6%/generation</a:t>
            </a:r>
          </a:p>
          <a:p>
            <a:pPr marL="762000" indent="-762000" algn="l" defTabSz="821529">
              <a:spcBef>
                <a:spcPts val="3500"/>
              </a:spcBef>
              <a:buSzPct val="123000"/>
              <a:buChar char="•"/>
              <a:defRPr sz="7000">
                <a:solidFill>
                  <a:srgbClr val="000000"/>
                </a:solidFill>
                <a:latin typeface="Times New Roman"/>
                <a:ea typeface="Times New Roman"/>
                <a:cs typeface="Times New Roman"/>
                <a:sym typeface="Times New Roman"/>
              </a:defRPr>
            </a:pPr>
            <a:r>
              <a:t>Year 2020: 7.8 billion people; avg. pop growth rate: 1.05%/year 30%/generation</a:t>
            </a:r>
          </a:p>
          <a:p>
            <a:pPr marL="762000" indent="-762000" algn="l" defTabSz="821529">
              <a:spcBef>
                <a:spcPts val="3500"/>
              </a:spcBef>
              <a:buSzPct val="123000"/>
              <a:buChar char="•"/>
              <a:defRPr sz="7000">
                <a:solidFill>
                  <a:srgbClr val="000000"/>
                </a:solidFill>
                <a:latin typeface="Times New Roman"/>
                <a:ea typeface="Times New Roman"/>
                <a:cs typeface="Times New Roman"/>
                <a:sym typeface="Times New Roman"/>
              </a:defRPr>
            </a:pPr>
            <a:r>
              <a:t>Year 2100: 11 billion people; zpg attained; GI growth rate ?????</a:t>
            </a:r>
          </a:p>
        </p:txBody>
      </p:sp>
      <p:sp>
        <p:nvSpPr>
          <p:cNvPr id="205" name="Food Insecurity: History"/>
          <p:cNvSpPr txBox="1"/>
          <p:nvPr>
            <p:ph type="title"/>
          </p:nvPr>
        </p:nvSpPr>
        <p:spPr>
          <a:xfrm>
            <a:off x="402606" y="0"/>
            <a:ext cx="23622001" cy="2286000"/>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Food Insecurity: History</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7"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08" name="2020-11-12"/>
          <p:cNvSpPr txBox="1"/>
          <p:nvPr/>
        </p:nvSpPr>
        <p:spPr>
          <a:xfrm>
            <a:off x="381000" y="13075927"/>
            <a:ext cx="23622000"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000">
                <a:solidFill>
                  <a:srgbClr val="FFFFFF"/>
                </a:solidFill>
                <a:uFill>
                  <a:solidFill>
                    <a:srgbClr val="000000"/>
                  </a:solidFill>
                </a:uFill>
                <a:latin typeface="Helvetica"/>
                <a:ea typeface="Helvetica"/>
                <a:cs typeface="Helvetica"/>
                <a:sym typeface="Helvetica"/>
              </a:defRPr>
            </a:lvl1pPr>
          </a:lstStyle>
          <a:p>
            <a:pPr/>
            <a:r>
              <a:t>2020-11-12</a:t>
            </a:r>
          </a:p>
        </p:txBody>
      </p:sp>
      <p:sp>
        <p:nvSpPr>
          <p:cNvPr id="209" name="The long 20th century will in all likelihood be seen in the future as the watershed in human experience:…"/>
          <p:cNvSpPr txBox="1"/>
          <p:nvPr/>
        </p:nvSpPr>
        <p:spPr>
          <a:xfrm>
            <a:off x="381000" y="2286000"/>
            <a:ext cx="23622000" cy="2699394"/>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marL="508000" indent="-508000" algn="l" defTabSz="821529">
              <a:spcBef>
                <a:spcPts val="2200"/>
              </a:spcBef>
              <a:buSzPct val="123000"/>
              <a:buChar char="•"/>
              <a:defRPr sz="3900">
                <a:solidFill>
                  <a:srgbClr val="000000"/>
                </a:solidFill>
                <a:latin typeface="Times New Roman"/>
                <a:ea typeface="Times New Roman"/>
                <a:cs typeface="Times New Roman"/>
                <a:sym typeface="Times New Roman"/>
              </a:defRPr>
            </a:pPr>
            <a:r>
              <a:t>26% of the working-age population are farmers and farm laborers today—leaving 74% freed-up to do other things</a:t>
            </a:r>
          </a:p>
          <a:p>
            <a:pPr marL="508000" indent="-508000" algn="l" defTabSz="821529">
              <a:spcBef>
                <a:spcPts val="2200"/>
              </a:spcBef>
              <a:buSzPct val="123000"/>
              <a:buChar char="•"/>
              <a:defRPr sz="3900">
                <a:solidFill>
                  <a:srgbClr val="000000"/>
                </a:solidFill>
                <a:latin typeface="Times New Roman"/>
                <a:ea typeface="Times New Roman"/>
                <a:cs typeface="Times New Roman"/>
                <a:sym typeface="Times New Roman"/>
              </a:defRPr>
            </a:pPr>
            <a:r>
              <a:t>Back in 1991 43% of the working-age population were farmers and farm laborers</a:t>
            </a:r>
          </a:p>
          <a:p>
            <a:pPr marL="508000" indent="-508000" algn="l" defTabSz="821529">
              <a:spcBef>
                <a:spcPts val="2200"/>
              </a:spcBef>
              <a:buSzPct val="123000"/>
              <a:buChar char="•"/>
              <a:defRPr sz="3900">
                <a:solidFill>
                  <a:srgbClr val="000000"/>
                </a:solidFill>
                <a:latin typeface="Times New Roman"/>
                <a:ea typeface="Times New Roman"/>
                <a:cs typeface="Times New Roman"/>
                <a:sym typeface="Times New Roman"/>
              </a:defRPr>
            </a:pPr>
            <a:r>
              <a:t>Back in 1800 70% of the working-age population were farmers and farm laborers</a:t>
            </a:r>
          </a:p>
        </p:txBody>
      </p:sp>
      <p:sp>
        <p:nvSpPr>
          <p:cNvPr id="210" name="Salience of Agriculture"/>
          <p:cNvSpPr txBox="1"/>
          <p:nvPr>
            <p:ph type="title"/>
          </p:nvPr>
        </p:nvSpPr>
        <p:spPr>
          <a:xfrm>
            <a:off x="381000" y="0"/>
            <a:ext cx="23622000" cy="2286000"/>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Salience of Agriculture</a:t>
            </a:r>
          </a:p>
        </p:txBody>
      </p:sp>
      <p:pic>
        <p:nvPicPr>
          <p:cNvPr id="211" name="Image" descr="Image"/>
          <p:cNvPicPr>
            <a:picLocks noChangeAspect="1"/>
          </p:cNvPicPr>
          <p:nvPr/>
        </p:nvPicPr>
        <p:blipFill>
          <a:blip r:embed="rId3">
            <a:extLst/>
          </a:blip>
          <a:srcRect l="755" t="0" r="10000" b="0"/>
          <a:stretch>
            <a:fillRect/>
          </a:stretch>
        </p:blipFill>
        <p:spPr>
          <a:xfrm>
            <a:off x="380999" y="5113033"/>
            <a:ext cx="11644237" cy="7963018"/>
          </a:xfrm>
          <a:prstGeom prst="rect">
            <a:avLst/>
          </a:prstGeom>
          <a:ln w="12700">
            <a:miter lim="400000"/>
          </a:ln>
        </p:spPr>
      </p:pic>
      <p:pic>
        <p:nvPicPr>
          <p:cNvPr id="212" name="Image" descr="Image"/>
          <p:cNvPicPr>
            <a:picLocks noChangeAspect="1"/>
          </p:cNvPicPr>
          <p:nvPr/>
        </p:nvPicPr>
        <p:blipFill>
          <a:blip r:embed="rId4">
            <a:extLst/>
          </a:blip>
          <a:stretch>
            <a:fillRect/>
          </a:stretch>
        </p:blipFill>
        <p:spPr>
          <a:xfrm>
            <a:off x="12443959" y="5113033"/>
            <a:ext cx="11559041" cy="7962895"/>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4"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15" name="2020-11-12"/>
          <p:cNvSpPr txBox="1"/>
          <p:nvPr/>
        </p:nvSpPr>
        <p:spPr>
          <a:xfrm>
            <a:off x="6087901" y="13075927"/>
            <a:ext cx="17915099"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000">
                <a:solidFill>
                  <a:srgbClr val="FFFFFF"/>
                </a:solidFill>
                <a:uFill>
                  <a:solidFill>
                    <a:srgbClr val="000000"/>
                  </a:solidFill>
                </a:uFill>
                <a:latin typeface="Helvetica"/>
                <a:ea typeface="Helvetica"/>
                <a:cs typeface="Helvetica"/>
                <a:sym typeface="Helvetica"/>
              </a:defRPr>
            </a:lvl1pPr>
          </a:lstStyle>
          <a:p>
            <a:pPr/>
            <a:r>
              <a:t>2020-11-12</a:t>
            </a:r>
          </a:p>
        </p:txBody>
      </p:sp>
      <p:sp>
        <p:nvSpPr>
          <p:cNvPr id="216" name="The long 20th century will in all likelihood be seen in the future as the watershed in human experience:…"/>
          <p:cNvSpPr txBox="1"/>
          <p:nvPr/>
        </p:nvSpPr>
        <p:spPr>
          <a:xfrm>
            <a:off x="381000" y="2286000"/>
            <a:ext cx="14253338"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marL="508000" indent="-508000" algn="l" defTabSz="821529">
              <a:spcBef>
                <a:spcPts val="1200"/>
              </a:spcBef>
              <a:buSzPct val="123000"/>
              <a:buChar char="•"/>
              <a:defRPr sz="3500">
                <a:solidFill>
                  <a:srgbClr val="000000"/>
                </a:solidFill>
                <a:latin typeface="Times New Roman"/>
                <a:ea typeface="Times New Roman"/>
                <a:cs typeface="Times New Roman"/>
                <a:sym typeface="Times New Roman"/>
              </a:defRPr>
            </a:pPr>
            <a:r>
              <a:t>In every market economy, wealth is social power—and wealth is pretty much the </a:t>
            </a:r>
            <a:r>
              <a:rPr i="1"/>
              <a:t>only</a:t>
            </a:r>
            <a:r>
              <a:t> form of social power</a:t>
            </a:r>
          </a:p>
          <a:p>
            <a:pPr marL="508000" indent="-508000" algn="l" defTabSz="821529">
              <a:spcBef>
                <a:spcPts val="1200"/>
              </a:spcBef>
              <a:buSzPct val="123000"/>
              <a:buChar char="•"/>
              <a:defRPr sz="3500">
                <a:solidFill>
                  <a:srgbClr val="000000"/>
                </a:solidFill>
                <a:latin typeface="Times New Roman"/>
                <a:ea typeface="Times New Roman"/>
                <a:cs typeface="Times New Roman"/>
                <a:sym typeface="Times New Roman"/>
              </a:defRPr>
            </a:pPr>
            <a:r>
              <a:t>Wealth is derived from control of resources useful in production or exchange—especially in the production or exchange of commodities for which the rich have a serious jones</a:t>
            </a:r>
          </a:p>
          <a:p>
            <a:pPr marL="508000" indent="-508000" algn="l" defTabSz="821529">
              <a:spcBef>
                <a:spcPts val="1200"/>
              </a:spcBef>
              <a:buSzPct val="123000"/>
              <a:buChar char="•"/>
              <a:defRPr sz="3500">
                <a:solidFill>
                  <a:srgbClr val="000000"/>
                </a:solidFill>
                <a:latin typeface="Times New Roman"/>
                <a:ea typeface="Times New Roman"/>
                <a:cs typeface="Times New Roman"/>
                <a:sym typeface="Times New Roman"/>
              </a:defRPr>
            </a:pPr>
            <a:r>
              <a:t>Finance allows you to:</a:t>
            </a:r>
          </a:p>
          <a:p>
            <a:pPr lvl="1" marL="1016000" indent="-508000" algn="l" defTabSz="821529">
              <a:spcBef>
                <a:spcPts val="1200"/>
              </a:spcBef>
              <a:buSzPct val="123000"/>
              <a:buChar char="•"/>
              <a:defRPr sz="3500">
                <a:solidFill>
                  <a:srgbClr val="000000"/>
                </a:solidFill>
                <a:latin typeface="Times New Roman"/>
                <a:ea typeface="Times New Roman"/>
                <a:cs typeface="Times New Roman"/>
                <a:sym typeface="Times New Roman"/>
              </a:defRPr>
            </a:pPr>
            <a:r>
              <a:t>Acquire social power today by making promises that diminish your social power in the future</a:t>
            </a:r>
          </a:p>
          <a:p>
            <a:pPr lvl="1" marL="1016000" indent="-508000" algn="l" defTabSz="821529">
              <a:spcBef>
                <a:spcPts val="1200"/>
              </a:spcBef>
              <a:buSzPct val="123000"/>
              <a:buChar char="•"/>
              <a:defRPr sz="3500">
                <a:solidFill>
                  <a:srgbClr val="000000"/>
                </a:solidFill>
                <a:latin typeface="Times New Roman"/>
                <a:ea typeface="Times New Roman"/>
                <a:cs typeface="Times New Roman"/>
                <a:sym typeface="Times New Roman"/>
              </a:defRPr>
            </a:pPr>
            <a:r>
              <a:t>Acquire social power today promising to provide insurance in the future</a:t>
            </a:r>
          </a:p>
          <a:p>
            <a:pPr lvl="1" marL="1016000" indent="-508000" algn="l" defTabSz="821529">
              <a:spcBef>
                <a:spcPts val="1200"/>
              </a:spcBef>
              <a:buSzPct val="123000"/>
              <a:buChar char="•"/>
              <a:defRPr sz="3500">
                <a:solidFill>
                  <a:srgbClr val="000000"/>
                </a:solidFill>
                <a:latin typeface="Times New Roman"/>
                <a:ea typeface="Times New Roman"/>
                <a:cs typeface="Times New Roman"/>
                <a:sym typeface="Times New Roman"/>
              </a:defRPr>
            </a:pPr>
            <a:r>
              <a:t>Divest yourself of social power today in exchange for acquiring social power in the future</a:t>
            </a:r>
          </a:p>
          <a:p>
            <a:pPr marL="508000" indent="-508000" algn="l" defTabSz="821529">
              <a:spcBef>
                <a:spcPts val="1200"/>
              </a:spcBef>
              <a:buSzPct val="123000"/>
              <a:buChar char="•"/>
              <a:defRPr sz="3500">
                <a:solidFill>
                  <a:srgbClr val="000000"/>
                </a:solidFill>
                <a:latin typeface="Times New Roman"/>
                <a:ea typeface="Times New Roman"/>
                <a:cs typeface="Times New Roman"/>
                <a:sym typeface="Times New Roman"/>
              </a:defRPr>
            </a:pPr>
            <a:r>
              <a:t>On what terms are these exchanges made? And when are they good ideas?</a:t>
            </a:r>
          </a:p>
          <a:p>
            <a:pPr lvl="1" marL="1016000" indent="-508000" algn="l" defTabSz="821529">
              <a:spcBef>
                <a:spcPts val="1200"/>
              </a:spcBef>
              <a:buSzPct val="123000"/>
              <a:buChar char="•"/>
              <a:defRPr sz="3500">
                <a:solidFill>
                  <a:srgbClr val="000000"/>
                </a:solidFill>
                <a:latin typeface="Times New Roman"/>
                <a:ea typeface="Times New Roman"/>
                <a:cs typeface="Times New Roman"/>
                <a:sym typeface="Times New Roman"/>
              </a:defRPr>
            </a:pPr>
            <a:r>
              <a:t>Making money by bearing risks; making money by inducing others to bear risks they do not understand…</a:t>
            </a:r>
          </a:p>
          <a:p>
            <a:pPr marL="508000" indent="-508000" algn="l" defTabSz="821529">
              <a:spcBef>
                <a:spcPts val="1200"/>
              </a:spcBef>
              <a:buSzPct val="123000"/>
              <a:buChar char="•"/>
              <a:defRPr sz="3500">
                <a:solidFill>
                  <a:srgbClr val="000000"/>
                </a:solidFill>
                <a:latin typeface="Times New Roman"/>
                <a:ea typeface="Times New Roman"/>
                <a:cs typeface="Times New Roman"/>
                <a:sym typeface="Times New Roman"/>
              </a:defRPr>
            </a:pPr>
            <a:r>
              <a:t>The Mexican Revolution and the </a:t>
            </a:r>
            <a:r>
              <a:rPr i="1"/>
              <a:t>ejido</a:t>
            </a:r>
            <a:r>
              <a:t>…</a:t>
            </a:r>
          </a:p>
          <a:p>
            <a:pPr lvl="1" marL="1016000" indent="-508000" algn="l" defTabSz="821529">
              <a:spcBef>
                <a:spcPts val="1200"/>
              </a:spcBef>
              <a:buSzPct val="123000"/>
              <a:buChar char="•"/>
              <a:defRPr sz="3500">
                <a:solidFill>
                  <a:srgbClr val="000000"/>
                </a:solidFill>
                <a:latin typeface="Times New Roman"/>
                <a:ea typeface="Times New Roman"/>
                <a:cs typeface="Times New Roman"/>
                <a:sym typeface="Times New Roman"/>
              </a:defRPr>
            </a:pPr>
            <a:r>
              <a:t>Removing land from the market, and placing it in… what other realm of social power? Patriarchal? Bureaucratic? Patrimonial?</a:t>
            </a:r>
          </a:p>
        </p:txBody>
      </p:sp>
      <p:sp>
        <p:nvSpPr>
          <p:cNvPr id="217" name="Clapp and Isakson (2018): What is the Link Between Food and Finance?"/>
          <p:cNvSpPr txBox="1"/>
          <p:nvPr>
            <p:ph type="title"/>
          </p:nvPr>
        </p:nvSpPr>
        <p:spPr>
          <a:xfrm>
            <a:off x="381000" y="0"/>
            <a:ext cx="23622000" cy="2286000"/>
          </a:xfrm>
          <a:prstGeom prst="rect">
            <a:avLst/>
          </a:prstGeom>
        </p:spPr>
        <p:txBody>
          <a:bodyPr lIns="91436" tIns="91436" rIns="91436" bIns="91436" anchor="ctr"/>
          <a:lstStyle>
            <a:lvl1pPr algn="ctr" defTabSz="384047">
              <a:lnSpc>
                <a:spcPct val="100000"/>
              </a:lnSpc>
              <a:defRPr spc="0" sz="6719">
                <a:solidFill>
                  <a:srgbClr val="800000"/>
                </a:solidFill>
                <a:uFill>
                  <a:solidFill>
                    <a:srgbClr val="000000"/>
                  </a:solidFill>
                </a:uFill>
                <a:latin typeface="Helvetica"/>
                <a:ea typeface="Helvetica"/>
                <a:cs typeface="Helvetica"/>
                <a:sym typeface="Helvetica"/>
              </a:defRPr>
            </a:lvl1pPr>
          </a:lstStyle>
          <a:p>
            <a:pPr/>
            <a:r>
              <a:t>Clapp and Isakson (2018): What is the Link Between Food and Finance?</a:t>
            </a:r>
          </a:p>
        </p:txBody>
      </p:sp>
      <p:sp>
        <p:nvSpPr>
          <p:cNvPr id="218" name="&lt;https://bcourses.berkeley.edu/courses/1497095/files/77911803?module_item_id=15927911&gt;"/>
          <p:cNvSpPr txBox="1"/>
          <p:nvPr/>
        </p:nvSpPr>
        <p:spPr>
          <a:xfrm>
            <a:off x="381000" y="13075927"/>
            <a:ext cx="17915099"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3000">
                <a:solidFill>
                  <a:srgbClr val="FFFFFF"/>
                </a:solidFill>
                <a:uFill>
                  <a:solidFill>
                    <a:srgbClr val="000000"/>
                  </a:solidFill>
                </a:uFill>
                <a:latin typeface="Helvetica"/>
                <a:ea typeface="Helvetica"/>
                <a:cs typeface="Helvetica"/>
                <a:sym typeface="Helvetica"/>
              </a:defRPr>
            </a:pPr>
            <a:r>
              <a:t>&lt;</a:t>
            </a:r>
            <a:r>
              <a:rPr>
                <a:hlinkClick r:id="rId3" invalidUrl="" action="" tgtFrame="" tooltip="" history="1" highlightClick="0" endSnd="0"/>
              </a:rPr>
              <a:t>https://bcourses.berkeley.edu/courses/1497095/files/77911803?module_item_id=15927911</a:t>
            </a:r>
            <a:r>
              <a:t>&gt;</a:t>
            </a:r>
          </a:p>
        </p:txBody>
      </p:sp>
      <p:sp>
        <p:nvSpPr>
          <p:cNvPr id="219" name="The long 20th century will in all likelihood be seen in the future as the watershed in human experience:…"/>
          <p:cNvSpPr txBox="1"/>
          <p:nvPr/>
        </p:nvSpPr>
        <p:spPr>
          <a:xfrm>
            <a:off x="14634337" y="2286000"/>
            <a:ext cx="9368663" cy="205852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lvl="1" indent="0" algn="l" defTabSz="821529">
              <a:spcBef>
                <a:spcPts val="1300"/>
              </a:spcBef>
              <a:defRPr sz="3300">
                <a:solidFill>
                  <a:srgbClr val="000000"/>
                </a:solidFill>
                <a:latin typeface="Times New Roman"/>
                <a:ea typeface="Times New Roman"/>
                <a:cs typeface="Times New Roman"/>
                <a:sym typeface="Times New Roman"/>
              </a:defRPr>
            </a:pPr>
            <a:r>
              <a:rPr b="1"/>
              <a:t>Craig Palsson</a:t>
            </a:r>
            <a:r>
              <a:t>: </a:t>
            </a:r>
            <a:r>
              <a:rPr i="1"/>
              <a:t>Incomplete Property Rights &amp; Structural Change in Haiti</a:t>
            </a:r>
            <a:r>
              <a:t> &lt;</a:t>
            </a:r>
            <a:r>
              <a:rPr u="sng">
                <a:hlinkClick r:id="rId4" invalidUrl="" action="" tgtFrame="" tooltip="" history="1" highlightClick="0" endSnd="0"/>
              </a:rPr>
              <a:t>https://economics.ucdavis.edu/events/papers/copy_of_1114Palsson.pdf</a:t>
            </a:r>
            <a:r>
              <a:t>&gt;</a:t>
            </a:r>
          </a:p>
        </p:txBody>
      </p:sp>
      <p:pic>
        <p:nvPicPr>
          <p:cNvPr id="220" name="Image" descr="Image"/>
          <p:cNvPicPr>
            <a:picLocks noChangeAspect="1"/>
          </p:cNvPicPr>
          <p:nvPr/>
        </p:nvPicPr>
        <p:blipFill>
          <a:blip r:embed="rId5">
            <a:extLst/>
          </a:blip>
          <a:stretch>
            <a:fillRect/>
          </a:stretch>
        </p:blipFill>
        <p:spPr>
          <a:xfrm>
            <a:off x="14634337" y="4247181"/>
            <a:ext cx="9368663" cy="6867565"/>
          </a:xfrm>
          <a:prstGeom prst="rect">
            <a:avLst/>
          </a:prstGeom>
          <a:ln w="12700">
            <a:miter lim="400000"/>
          </a:ln>
        </p:spPr>
      </p:pic>
      <p:sp>
        <p:nvSpPr>
          <p:cNvPr id="221" name="The long 20th century will in all likelihood be seen in the future as the watershed in human experience:…"/>
          <p:cNvSpPr txBox="1"/>
          <p:nvPr/>
        </p:nvSpPr>
        <p:spPr>
          <a:xfrm>
            <a:off x="14634337" y="11114745"/>
            <a:ext cx="9368663" cy="196118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lvl="1" indent="0" algn="l" defTabSz="821529">
              <a:spcBef>
                <a:spcPts val="1300"/>
              </a:spcBef>
              <a:defRPr sz="3900">
                <a:solidFill>
                  <a:srgbClr val="000000"/>
                </a:solidFill>
                <a:latin typeface="Times New Roman"/>
                <a:ea typeface="Times New Roman"/>
                <a:cs typeface="Times New Roman"/>
                <a:sym typeface="Times New Roman"/>
              </a:defRPr>
            </a:pPr>
            <a:r>
              <a:t>Haiti: 43% farmers: NI </a:t>
            </a:r>
            <a:r>
              <a:rPr i="1"/>
              <a:t>per capita </a:t>
            </a:r>
            <a:r>
              <a:t>$2K/year</a:t>
            </a:r>
          </a:p>
          <a:p>
            <a:pPr lvl="1" indent="0" algn="l" defTabSz="821529">
              <a:spcBef>
                <a:spcPts val="1300"/>
              </a:spcBef>
              <a:defRPr sz="3900">
                <a:solidFill>
                  <a:srgbClr val="000000"/>
                </a:solidFill>
                <a:latin typeface="Times New Roman"/>
                <a:ea typeface="Times New Roman"/>
                <a:cs typeface="Times New Roman"/>
                <a:sym typeface="Times New Roman"/>
              </a:defRPr>
            </a:pPr>
            <a:r>
              <a:t>DR: 8% farmers: NI </a:t>
            </a:r>
            <a:r>
              <a:rPr i="1"/>
              <a:t>per capita </a:t>
            </a:r>
            <a:r>
              <a:t>$17K/year</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3"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24" name="2020-11-12"/>
          <p:cNvSpPr txBox="1"/>
          <p:nvPr/>
        </p:nvSpPr>
        <p:spPr>
          <a:xfrm>
            <a:off x="6087901" y="13075927"/>
            <a:ext cx="17915099"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000">
                <a:solidFill>
                  <a:srgbClr val="FFFFFF"/>
                </a:solidFill>
                <a:uFill>
                  <a:solidFill>
                    <a:srgbClr val="000000"/>
                  </a:solidFill>
                </a:uFill>
                <a:latin typeface="Helvetica"/>
                <a:ea typeface="Helvetica"/>
                <a:cs typeface="Helvetica"/>
                <a:sym typeface="Helvetica"/>
              </a:defRPr>
            </a:lvl1pPr>
          </a:lstStyle>
          <a:p>
            <a:pPr/>
            <a:r>
              <a:t>2020-11-12</a:t>
            </a:r>
          </a:p>
        </p:txBody>
      </p:sp>
      <p:sp>
        <p:nvSpPr>
          <p:cNvPr id="225" name="The long 20th century will in all likelihood be seen in the future as the watershed in human experience:…"/>
          <p:cNvSpPr txBox="1"/>
          <p:nvPr/>
        </p:nvSpPr>
        <p:spPr>
          <a:xfrm>
            <a:off x="381000" y="2286000"/>
            <a:ext cx="10401300"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lvl="1" marL="508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FAO food-price index: cereals, vegetable oil, dairy, meat, sugar</a:t>
            </a:r>
          </a:p>
          <a:p>
            <a:pPr lvl="1" marL="508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If you are not self-sufficient—and who can be?—and if you are sufficiently poor to be spending a very large chunk of your income on staple calories and nutrients, the workings of the world market can ruin your life</a:t>
            </a:r>
          </a:p>
          <a:p>
            <a:pPr lvl="1" marL="508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Ration-by-wealth</a:t>
            </a:r>
          </a:p>
          <a:p>
            <a:pPr lvl="1" marL="508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rPr b="1"/>
              <a:t>IFPRI</a:t>
            </a:r>
            <a:r>
              <a:t> (2010): </a:t>
            </a:r>
            <a:r>
              <a:rPr i="1"/>
              <a:t>Reflections on the Global Food Crisis</a:t>
            </a:r>
            <a:r>
              <a:t> &lt;</a:t>
            </a:r>
            <a:r>
              <a:rPr u="sng">
                <a:hlinkClick r:id="rId3" invalidUrl="" action="" tgtFrame="" tooltip="" history="1" highlightClick="0" endSnd="0"/>
              </a:rPr>
              <a:t>http://cdm15738.contentdm.oclc.org/utils/getfile/collection/p15738coll2/id/5724/filename/5725.pdf</a:t>
            </a:r>
            <a:r>
              <a:t>&gt;</a:t>
            </a:r>
          </a:p>
          <a:p>
            <a:pPr lvl="1" marL="508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Oil prices: effects on:</a:t>
            </a:r>
          </a:p>
          <a:p>
            <a:pPr lvl="2" marL="1016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Fertilizer costs</a:t>
            </a:r>
          </a:p>
          <a:p>
            <a:pPr lvl="2" marL="1016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Biofuel demand</a:t>
            </a:r>
          </a:p>
          <a:p>
            <a:pPr lvl="2" marL="1016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Cereals demand from OPEC</a:t>
            </a:r>
          </a:p>
          <a:p>
            <a:pPr lvl="2" marL="1016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Panic rice bubble</a:t>
            </a:r>
          </a:p>
          <a:p>
            <a:pPr lvl="2" marL="1016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Dollar depreciation—reduces incomes for all goods priced in dollars</a:t>
            </a:r>
          </a:p>
        </p:txBody>
      </p:sp>
      <p:sp>
        <p:nvSpPr>
          <p:cNvPr id="226" name="McMichael and Schneider (2011): Food Security Politics and the Millennium Development Goals"/>
          <p:cNvSpPr txBox="1"/>
          <p:nvPr>
            <p:ph type="title"/>
          </p:nvPr>
        </p:nvSpPr>
        <p:spPr>
          <a:xfrm>
            <a:off x="381000" y="0"/>
            <a:ext cx="23622000" cy="2286000"/>
          </a:xfrm>
          <a:prstGeom prst="rect">
            <a:avLst/>
          </a:prstGeom>
        </p:spPr>
        <p:txBody>
          <a:bodyPr lIns="91436" tIns="91436" rIns="91436" bIns="91436" anchor="ctr"/>
          <a:lstStyle>
            <a:lvl1pPr algn="ctr" defTabSz="384047">
              <a:lnSpc>
                <a:spcPct val="100000"/>
              </a:lnSpc>
              <a:defRPr spc="0" sz="6719">
                <a:solidFill>
                  <a:srgbClr val="800000"/>
                </a:solidFill>
                <a:uFill>
                  <a:solidFill>
                    <a:srgbClr val="000000"/>
                  </a:solidFill>
                </a:uFill>
                <a:latin typeface="Helvetica"/>
                <a:ea typeface="Helvetica"/>
                <a:cs typeface="Helvetica"/>
                <a:sym typeface="Helvetica"/>
              </a:defRPr>
            </a:lvl1pPr>
          </a:lstStyle>
          <a:p>
            <a:pPr/>
            <a:r>
              <a:t>McMichael and Schneider (2011): Food Security Politics and the Millennium Development Goals</a:t>
            </a:r>
          </a:p>
        </p:txBody>
      </p:sp>
      <p:sp>
        <p:nvSpPr>
          <p:cNvPr id="227" name="&lt;https://bcourses.berkeley.edu/courses/1497095/files/77911773?module_item_id=15927916&gt;"/>
          <p:cNvSpPr txBox="1"/>
          <p:nvPr/>
        </p:nvSpPr>
        <p:spPr>
          <a:xfrm>
            <a:off x="381000" y="13075927"/>
            <a:ext cx="17915099"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3000">
                <a:solidFill>
                  <a:srgbClr val="FFFFFF"/>
                </a:solidFill>
                <a:uFill>
                  <a:solidFill>
                    <a:srgbClr val="000000"/>
                  </a:solidFill>
                </a:uFill>
                <a:latin typeface="Helvetica"/>
                <a:ea typeface="Helvetica"/>
                <a:cs typeface="Helvetica"/>
                <a:sym typeface="Helvetica"/>
              </a:defRPr>
            </a:pPr>
            <a:r>
              <a:t>&lt;</a:t>
            </a:r>
            <a:r>
              <a:rPr>
                <a:hlinkClick r:id="rId4" invalidUrl="" action="" tgtFrame="" tooltip="" history="1" highlightClick="0" endSnd="0"/>
              </a:rPr>
              <a:t>https://bcourses.berkeley.edu/courses/1497095/files/77911773?module_item_id=15927916</a:t>
            </a:r>
            <a:r>
              <a:t>&gt;</a:t>
            </a:r>
          </a:p>
        </p:txBody>
      </p:sp>
      <p:pic>
        <p:nvPicPr>
          <p:cNvPr id="228" name="Image" descr="Image"/>
          <p:cNvPicPr>
            <a:picLocks noChangeAspect="0"/>
          </p:cNvPicPr>
          <p:nvPr/>
        </p:nvPicPr>
        <p:blipFill>
          <a:blip r:embed="rId5">
            <a:extLst/>
          </a:blip>
          <a:stretch>
            <a:fillRect/>
          </a:stretch>
        </p:blipFill>
        <p:spPr>
          <a:xfrm>
            <a:off x="10782300" y="2286000"/>
            <a:ext cx="13220700" cy="6037477"/>
          </a:xfrm>
          <a:prstGeom prst="rect">
            <a:avLst/>
          </a:prstGeom>
          <a:ln w="12700">
            <a:miter lim="400000"/>
          </a:ln>
        </p:spPr>
      </p:pic>
      <p:pic>
        <p:nvPicPr>
          <p:cNvPr id="229" name="Image" descr="Image"/>
          <p:cNvPicPr>
            <a:picLocks noChangeAspect="0"/>
          </p:cNvPicPr>
          <p:nvPr/>
        </p:nvPicPr>
        <p:blipFill>
          <a:blip r:embed="rId6">
            <a:extLst/>
          </a:blip>
          <a:stretch>
            <a:fillRect/>
          </a:stretch>
        </p:blipFill>
        <p:spPr>
          <a:xfrm>
            <a:off x="10782300" y="8376509"/>
            <a:ext cx="13220700" cy="4646386"/>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1"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32" name="2020-11-12"/>
          <p:cNvSpPr txBox="1"/>
          <p:nvPr/>
        </p:nvSpPr>
        <p:spPr>
          <a:xfrm>
            <a:off x="6087901" y="13075927"/>
            <a:ext cx="17915099"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000">
                <a:solidFill>
                  <a:srgbClr val="FFFFFF"/>
                </a:solidFill>
                <a:uFill>
                  <a:solidFill>
                    <a:srgbClr val="000000"/>
                  </a:solidFill>
                </a:uFill>
                <a:latin typeface="Helvetica"/>
                <a:ea typeface="Helvetica"/>
                <a:cs typeface="Helvetica"/>
                <a:sym typeface="Helvetica"/>
              </a:defRPr>
            </a:lvl1pPr>
          </a:lstStyle>
          <a:p>
            <a:pPr/>
            <a:r>
              <a:t>2020-11-12</a:t>
            </a:r>
          </a:p>
        </p:txBody>
      </p:sp>
      <p:sp>
        <p:nvSpPr>
          <p:cNvPr id="233" name="The long 20th century will in all likelihood be seen in the future as the watershed in human experience:…"/>
          <p:cNvSpPr txBox="1"/>
          <p:nvPr/>
        </p:nvSpPr>
        <p:spPr>
          <a:xfrm>
            <a:off x="381000" y="2286000"/>
            <a:ext cx="15598738"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lvl="1" marL="508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DeKalb AgResearch (now part of Bayer)</a:t>
            </a:r>
          </a:p>
          <a:p>
            <a:pPr lvl="2" marL="1016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Founded in 1923 out of DeKalb County Farm Bureau</a:t>
            </a:r>
          </a:p>
          <a:p>
            <a:pPr lvl="1" marL="508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Pioneer Hi-Bred International</a:t>
            </a:r>
          </a:p>
          <a:p>
            <a:pPr lvl="2" marL="1016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Founded in 1926 by a group including American socialist and future Vice President Henry A. Wallace</a:t>
            </a:r>
          </a:p>
          <a:p>
            <a:pPr lvl="2" marL="1016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Bought by DuPont in 1999, sold off and now called Corteva Agrisciences</a:t>
            </a:r>
          </a:p>
          <a:p>
            <a:pPr lvl="1" marL="508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“Intellectual property” oligopolists</a:t>
            </a:r>
          </a:p>
          <a:p>
            <a:pPr lvl="1" marL="508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“Parastatal Marketing Boards”—and the exploitation of export agriculture for the benefit of the country or ruling clique</a:t>
            </a:r>
          </a:p>
          <a:p>
            <a:pPr lvl="1" marL="508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Cocoa—Côte d’Ivoire (50%), Ghana (20%), Malaysia (10%), Philippines (6%) , Brazil (5%)…</a:t>
            </a:r>
          </a:p>
          <a:p>
            <a:pPr lvl="2" marL="1016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Cargill, Archer Daniels Midland, Barré Callebaut—and the oligopolistic logic of collective action</a:t>
            </a:r>
          </a:p>
          <a:p>
            <a:pPr lvl="1" marL="508000" indent="-508000" algn="l" defTabSz="821529">
              <a:spcBef>
                <a:spcPts val="1300"/>
              </a:spcBef>
              <a:buSzPct val="123000"/>
              <a:buChar char="•"/>
              <a:defRPr sz="3500">
                <a:solidFill>
                  <a:srgbClr val="000000"/>
                </a:solidFill>
                <a:latin typeface="Times New Roman"/>
                <a:ea typeface="Times New Roman"/>
                <a:cs typeface="Times New Roman"/>
                <a:sym typeface="Times New Roman"/>
              </a:defRPr>
            </a:pPr>
            <a:r>
              <a:t>Del Monte Gold Pineapple (MD2): “requires a complex array of fertilizers, hormones, and other inputs…”; “the demands of European supermarket chains had pushed smallholders out of the market… running pipe-borne water, packing houses, and rigorous testing… for pesticide residues…”</a:t>
            </a:r>
          </a:p>
        </p:txBody>
      </p:sp>
      <p:sp>
        <p:nvSpPr>
          <p:cNvPr id="234" name="Amanor (2019): Global Value Chains and Agribusiness"/>
          <p:cNvSpPr txBox="1"/>
          <p:nvPr>
            <p:ph type="title"/>
          </p:nvPr>
        </p:nvSpPr>
        <p:spPr>
          <a:xfrm>
            <a:off x="381000" y="0"/>
            <a:ext cx="23622000" cy="2286000"/>
          </a:xfrm>
          <a:prstGeom prst="rect">
            <a:avLst/>
          </a:prstGeom>
        </p:spPr>
        <p:txBody>
          <a:bodyPr lIns="91436" tIns="91436" rIns="91436" bIns="91436" anchor="ctr"/>
          <a:lstStyle>
            <a:lvl1pPr algn="ctr" defTabSz="402336">
              <a:lnSpc>
                <a:spcPct val="100000"/>
              </a:lnSpc>
              <a:defRPr spc="0" sz="7040">
                <a:solidFill>
                  <a:srgbClr val="800000"/>
                </a:solidFill>
                <a:uFill>
                  <a:solidFill>
                    <a:srgbClr val="000000"/>
                  </a:solidFill>
                </a:uFill>
                <a:latin typeface="Helvetica"/>
                <a:ea typeface="Helvetica"/>
                <a:cs typeface="Helvetica"/>
                <a:sym typeface="Helvetica"/>
              </a:defRPr>
            </a:lvl1pPr>
          </a:lstStyle>
          <a:p>
            <a:pPr/>
            <a:r>
              <a:t>Amanor (2019): Global Value Chains and Agribusiness</a:t>
            </a:r>
          </a:p>
        </p:txBody>
      </p:sp>
      <p:sp>
        <p:nvSpPr>
          <p:cNvPr id="235" name="&lt;https://bcourses.berkeley.edu/courses/1497095/files/77911802?module_item_id=15927915&gt;"/>
          <p:cNvSpPr txBox="1"/>
          <p:nvPr/>
        </p:nvSpPr>
        <p:spPr>
          <a:xfrm>
            <a:off x="381000" y="13075927"/>
            <a:ext cx="17915099"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3000">
                <a:solidFill>
                  <a:srgbClr val="FFFFFF"/>
                </a:solidFill>
                <a:uFill>
                  <a:solidFill>
                    <a:srgbClr val="000000"/>
                  </a:solidFill>
                </a:uFill>
                <a:latin typeface="Helvetica"/>
                <a:ea typeface="Helvetica"/>
                <a:cs typeface="Helvetica"/>
                <a:sym typeface="Helvetica"/>
              </a:defRPr>
            </a:pPr>
            <a:r>
              <a:t>&lt;</a:t>
            </a:r>
            <a:r>
              <a:rPr>
                <a:hlinkClick r:id="rId3" invalidUrl="" action="" tgtFrame="" tooltip="" history="1" highlightClick="0" endSnd="0"/>
              </a:rPr>
              <a:t>https://bcourses.berkeley.edu/courses/1497095/files/77911802?module_item_id=15927915</a:t>
            </a:r>
            <a:r>
              <a:t>&gt;</a:t>
            </a:r>
          </a:p>
        </p:txBody>
      </p:sp>
      <p:pic>
        <p:nvPicPr>
          <p:cNvPr id="236" name="Image" descr="Image"/>
          <p:cNvPicPr>
            <a:picLocks noChangeAspect="1"/>
          </p:cNvPicPr>
          <p:nvPr/>
        </p:nvPicPr>
        <p:blipFill>
          <a:blip r:embed="rId4">
            <a:extLst/>
          </a:blip>
          <a:stretch>
            <a:fillRect/>
          </a:stretch>
        </p:blipFill>
        <p:spPr>
          <a:xfrm>
            <a:off x="15979737" y="2286000"/>
            <a:ext cx="8023263" cy="4996944"/>
          </a:xfrm>
          <a:prstGeom prst="rect">
            <a:avLst/>
          </a:prstGeom>
          <a:ln w="12700">
            <a:miter lim="400000"/>
          </a:ln>
        </p:spPr>
      </p:pic>
      <p:pic>
        <p:nvPicPr>
          <p:cNvPr id="237" name="Image" descr="Image"/>
          <p:cNvPicPr>
            <a:picLocks noChangeAspect="1"/>
          </p:cNvPicPr>
          <p:nvPr/>
        </p:nvPicPr>
        <p:blipFill>
          <a:blip r:embed="rId5">
            <a:extLst/>
          </a:blip>
          <a:srcRect l="0" t="0" r="1323" b="0"/>
          <a:stretch>
            <a:fillRect/>
          </a:stretch>
        </p:blipFill>
        <p:spPr>
          <a:xfrm>
            <a:off x="15979737" y="7162454"/>
            <a:ext cx="8023405" cy="5913474"/>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9"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40" name="2020-11-12"/>
          <p:cNvSpPr txBox="1"/>
          <p:nvPr/>
        </p:nvSpPr>
        <p:spPr>
          <a:xfrm>
            <a:off x="6087901" y="13075927"/>
            <a:ext cx="17915099"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000">
                <a:solidFill>
                  <a:srgbClr val="FFFFFF"/>
                </a:solidFill>
                <a:uFill>
                  <a:solidFill>
                    <a:srgbClr val="000000"/>
                  </a:solidFill>
                </a:uFill>
                <a:latin typeface="Helvetica"/>
                <a:ea typeface="Helvetica"/>
                <a:cs typeface="Helvetica"/>
                <a:sym typeface="Helvetica"/>
              </a:defRPr>
            </a:lvl1pPr>
          </a:lstStyle>
          <a:p>
            <a:pPr/>
            <a:r>
              <a:t>2020-11-12</a:t>
            </a:r>
          </a:p>
        </p:txBody>
      </p:sp>
      <p:sp>
        <p:nvSpPr>
          <p:cNvPr id="241" name="Schurman (2018): Micro(soft) Managing a ‘Green Revolution’ for Africa"/>
          <p:cNvSpPr txBox="1"/>
          <p:nvPr>
            <p:ph type="title"/>
          </p:nvPr>
        </p:nvSpPr>
        <p:spPr>
          <a:xfrm>
            <a:off x="381000" y="0"/>
            <a:ext cx="23622000" cy="2286000"/>
          </a:xfrm>
          <a:prstGeom prst="rect">
            <a:avLst/>
          </a:prstGeom>
        </p:spPr>
        <p:txBody>
          <a:bodyPr lIns="91436" tIns="91436" rIns="91436" bIns="91436" anchor="ctr"/>
          <a:lstStyle>
            <a:lvl1pPr algn="ctr" defTabSz="384047">
              <a:lnSpc>
                <a:spcPct val="100000"/>
              </a:lnSpc>
              <a:defRPr spc="0" sz="6719">
                <a:solidFill>
                  <a:srgbClr val="800000"/>
                </a:solidFill>
                <a:uFill>
                  <a:solidFill>
                    <a:srgbClr val="000000"/>
                  </a:solidFill>
                </a:uFill>
                <a:latin typeface="Helvetica"/>
                <a:ea typeface="Helvetica"/>
                <a:cs typeface="Helvetica"/>
                <a:sym typeface="Helvetica"/>
              </a:defRPr>
            </a:lvl1pPr>
          </a:lstStyle>
          <a:p>
            <a:pPr/>
            <a:r>
              <a:t>Schurman (2018): Micro(soft) Managing a ‘Green Revolution’ for Africa</a:t>
            </a:r>
          </a:p>
        </p:txBody>
      </p:sp>
      <p:sp>
        <p:nvSpPr>
          <p:cNvPr id="242" name="&lt;https://bcourses.berkeley.edu/courses/1497095/files/78796747?module_item_id=16024434&gt;"/>
          <p:cNvSpPr txBox="1"/>
          <p:nvPr/>
        </p:nvSpPr>
        <p:spPr>
          <a:xfrm>
            <a:off x="381000" y="13075927"/>
            <a:ext cx="17915099"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3000">
                <a:solidFill>
                  <a:srgbClr val="FFFFFF"/>
                </a:solidFill>
                <a:uFill>
                  <a:solidFill>
                    <a:srgbClr val="000000"/>
                  </a:solidFill>
                </a:uFill>
                <a:latin typeface="Helvetica"/>
                <a:ea typeface="Helvetica"/>
                <a:cs typeface="Helvetica"/>
                <a:sym typeface="Helvetica"/>
              </a:defRPr>
            </a:pPr>
            <a:r>
              <a:t>&lt;</a:t>
            </a:r>
            <a:r>
              <a:rPr>
                <a:hlinkClick r:id="rId3" invalidUrl="" action="" tgtFrame="" tooltip="" history="1" highlightClick="0" endSnd="0"/>
              </a:rPr>
              <a:t>https://bcourses.berkeley.edu/courses/1497095/files/78796747?module_item_id=16024434</a:t>
            </a:r>
            <a:r>
              <a:t>&gt;</a:t>
            </a:r>
          </a:p>
        </p:txBody>
      </p:sp>
      <p:pic>
        <p:nvPicPr>
          <p:cNvPr id="243" name="Image" descr="Image"/>
          <p:cNvPicPr>
            <a:picLocks noChangeAspect="1"/>
          </p:cNvPicPr>
          <p:nvPr/>
        </p:nvPicPr>
        <p:blipFill>
          <a:blip r:embed="rId4">
            <a:extLst/>
          </a:blip>
          <a:stretch>
            <a:fillRect/>
          </a:stretch>
        </p:blipFill>
        <p:spPr>
          <a:xfrm>
            <a:off x="381000" y="2204108"/>
            <a:ext cx="7620000" cy="9274850"/>
          </a:xfrm>
          <a:prstGeom prst="rect">
            <a:avLst/>
          </a:prstGeom>
          <a:ln w="12700">
            <a:miter lim="400000"/>
          </a:ln>
        </p:spPr>
      </p:pic>
      <p:pic>
        <p:nvPicPr>
          <p:cNvPr id="244" name="Image" descr="Image"/>
          <p:cNvPicPr>
            <a:picLocks noChangeAspect="1"/>
          </p:cNvPicPr>
          <p:nvPr/>
        </p:nvPicPr>
        <p:blipFill>
          <a:blip r:embed="rId5">
            <a:extLst/>
          </a:blip>
          <a:srcRect l="0" t="12146" r="0" b="0"/>
          <a:stretch>
            <a:fillRect/>
          </a:stretch>
        </p:blipFill>
        <p:spPr>
          <a:xfrm>
            <a:off x="8382000" y="2204108"/>
            <a:ext cx="7620000" cy="6832823"/>
          </a:xfrm>
          <a:prstGeom prst="rect">
            <a:avLst/>
          </a:prstGeom>
          <a:ln w="12700">
            <a:miter lim="400000"/>
          </a:ln>
        </p:spPr>
      </p:pic>
      <p:pic>
        <p:nvPicPr>
          <p:cNvPr id="245" name="Image" descr="Image"/>
          <p:cNvPicPr>
            <a:picLocks noChangeAspect="1"/>
          </p:cNvPicPr>
          <p:nvPr/>
        </p:nvPicPr>
        <p:blipFill>
          <a:blip r:embed="rId6">
            <a:extLst/>
          </a:blip>
          <a:srcRect l="0" t="34967" r="0" b="0"/>
          <a:stretch>
            <a:fillRect/>
          </a:stretch>
        </p:blipFill>
        <p:spPr>
          <a:xfrm>
            <a:off x="16334365" y="2286000"/>
            <a:ext cx="7717267" cy="7541091"/>
          </a:xfrm>
          <a:prstGeom prst="rect">
            <a:avLst/>
          </a:prstGeom>
          <a:ln w="12700">
            <a:miter lim="400000"/>
          </a:ln>
        </p:spPr>
      </p:pic>
      <p:pic>
        <p:nvPicPr>
          <p:cNvPr id="246" name="Image" descr="Image"/>
          <p:cNvPicPr>
            <a:picLocks noChangeAspect="1"/>
          </p:cNvPicPr>
          <p:nvPr/>
        </p:nvPicPr>
        <p:blipFill>
          <a:blip r:embed="rId7">
            <a:extLst/>
          </a:blip>
          <a:stretch>
            <a:fillRect/>
          </a:stretch>
        </p:blipFill>
        <p:spPr>
          <a:xfrm>
            <a:off x="16383000" y="9827090"/>
            <a:ext cx="7620000" cy="3248838"/>
          </a:xfrm>
          <a:prstGeom prst="rect">
            <a:avLst/>
          </a:prstGeom>
          <a:ln w="12700">
            <a:miter lim="400000"/>
          </a:ln>
        </p:spPr>
      </p:pic>
      <p:pic>
        <p:nvPicPr>
          <p:cNvPr id="247" name="Image" descr="Image"/>
          <p:cNvPicPr>
            <a:picLocks noChangeAspect="1"/>
          </p:cNvPicPr>
          <p:nvPr/>
        </p:nvPicPr>
        <p:blipFill>
          <a:blip r:embed="rId6">
            <a:extLst/>
          </a:blip>
          <a:srcRect l="0" t="0" r="0" b="64723"/>
          <a:stretch>
            <a:fillRect/>
          </a:stretch>
        </p:blipFill>
        <p:spPr>
          <a:xfrm>
            <a:off x="8382000" y="9036930"/>
            <a:ext cx="7620000" cy="4039039"/>
          </a:xfrm>
          <a:prstGeom prst="rect">
            <a:avLst/>
          </a:prstGeom>
          <a:ln w="12700">
            <a:miter lim="400000"/>
          </a:ln>
        </p:spPr>
      </p:pic>
      <p:pic>
        <p:nvPicPr>
          <p:cNvPr id="248" name="Image" descr="Image"/>
          <p:cNvPicPr>
            <a:picLocks noChangeAspect="1"/>
          </p:cNvPicPr>
          <p:nvPr/>
        </p:nvPicPr>
        <p:blipFill>
          <a:blip r:embed="rId5">
            <a:extLst/>
          </a:blip>
          <a:srcRect l="0" t="0" r="0" b="87225"/>
          <a:stretch>
            <a:fillRect/>
          </a:stretch>
        </p:blipFill>
        <p:spPr>
          <a:xfrm>
            <a:off x="381000" y="11478957"/>
            <a:ext cx="7620000" cy="993522"/>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0"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51" name="2020-11-12"/>
          <p:cNvSpPr txBox="1"/>
          <p:nvPr/>
        </p:nvSpPr>
        <p:spPr>
          <a:xfrm>
            <a:off x="6087901" y="13253727"/>
            <a:ext cx="17915100" cy="4622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1800">
                <a:solidFill>
                  <a:srgbClr val="FFFFFF"/>
                </a:solidFill>
                <a:uFill>
                  <a:solidFill>
                    <a:srgbClr val="000000"/>
                  </a:solidFill>
                </a:uFill>
                <a:latin typeface="Helvetica"/>
                <a:ea typeface="Helvetica"/>
                <a:cs typeface="Helvetica"/>
                <a:sym typeface="Helvetica"/>
              </a:defRPr>
            </a:lvl1pPr>
          </a:lstStyle>
          <a:p>
            <a:pPr/>
            <a:r>
              <a:t>2020-11-12</a:t>
            </a:r>
          </a:p>
        </p:txBody>
      </p:sp>
      <p:sp>
        <p:nvSpPr>
          <p:cNvPr id="252" name="Butler (2014): 4H; Wise: Failing African Green Revolution"/>
          <p:cNvSpPr txBox="1"/>
          <p:nvPr>
            <p:ph type="title"/>
          </p:nvPr>
        </p:nvSpPr>
        <p:spPr>
          <a:xfrm>
            <a:off x="381000" y="0"/>
            <a:ext cx="23622000" cy="2286000"/>
          </a:xfrm>
          <a:prstGeom prst="rect">
            <a:avLst/>
          </a:prstGeom>
        </p:spPr>
        <p:txBody>
          <a:bodyPr lIns="91436" tIns="91436" rIns="91436" bIns="91436" anchor="ctr"/>
          <a:lstStyle>
            <a:lvl1pPr algn="ctr" defTabSz="384047">
              <a:lnSpc>
                <a:spcPct val="100000"/>
              </a:lnSpc>
              <a:defRPr spc="0" sz="6719">
                <a:solidFill>
                  <a:srgbClr val="800000"/>
                </a:solidFill>
                <a:uFill>
                  <a:solidFill>
                    <a:srgbClr val="000000"/>
                  </a:solidFill>
                </a:uFill>
                <a:latin typeface="Helvetica"/>
                <a:ea typeface="Helvetica"/>
                <a:cs typeface="Helvetica"/>
                <a:sym typeface="Helvetica"/>
              </a:defRPr>
            </a:lvl1pPr>
          </a:lstStyle>
          <a:p>
            <a:pPr/>
            <a:r>
              <a:t>Butler (2014): 4H; Wise: Failing African Green Revolution</a:t>
            </a:r>
          </a:p>
        </p:txBody>
      </p:sp>
      <p:sp>
        <p:nvSpPr>
          <p:cNvPr id="253" name="&lt;https://bcourses.berkeley.edu/courses/1497095/modules/items/15933052&gt; &lt;https://bcourses.berkeley.edu/courses/1497095/modules/items/15927926&gt;"/>
          <p:cNvSpPr txBox="1"/>
          <p:nvPr/>
        </p:nvSpPr>
        <p:spPr>
          <a:xfrm>
            <a:off x="381000" y="13253727"/>
            <a:ext cx="17915099" cy="4622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1800">
                <a:solidFill>
                  <a:srgbClr val="FFFFFF"/>
                </a:solidFill>
                <a:uFill>
                  <a:solidFill>
                    <a:srgbClr val="000000"/>
                  </a:solidFill>
                </a:uFill>
                <a:latin typeface="Helvetica"/>
                <a:ea typeface="Helvetica"/>
                <a:cs typeface="Helvetica"/>
                <a:sym typeface="Helvetica"/>
              </a:defRPr>
            </a:pPr>
            <a:r>
              <a:t>&lt;</a:t>
            </a:r>
            <a:r>
              <a:rPr>
                <a:hlinkClick r:id="rId3" invalidUrl="" action="" tgtFrame="" tooltip="" history="1" highlightClick="0" endSnd="0"/>
              </a:rPr>
              <a:t>https://bcourses.berkeley.edu/courses/1497095/modules/items/15933052</a:t>
            </a:r>
            <a:r>
              <a:t>&gt; &lt;</a:t>
            </a:r>
            <a:r>
              <a:rPr>
                <a:hlinkClick r:id="rId4" invalidUrl="" action="" tgtFrame="" tooltip="" history="1" highlightClick="0" endSnd="0"/>
              </a:rPr>
              <a:t>https://bcourses.berkeley.edu/courses/1497095/modules/items/15927926</a:t>
            </a:r>
            <a:r>
              <a:t>&gt;</a:t>
            </a:r>
          </a:p>
        </p:txBody>
      </p:sp>
      <p:sp>
        <p:nvSpPr>
          <p:cNvPr id="254" name="The long 20th century will in all likelihood be seen in the future as the watershed in human experience:…"/>
          <p:cNvSpPr txBox="1"/>
          <p:nvPr/>
        </p:nvSpPr>
        <p:spPr>
          <a:xfrm>
            <a:off x="402606" y="2286000"/>
            <a:ext cx="11430001"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a:solidFill>
                  <a:srgbClr val="000000"/>
                </a:solidFill>
                <a:latin typeface="Times New Roman"/>
                <a:ea typeface="Times New Roman"/>
                <a:cs typeface="Times New Roman"/>
                <a:sym typeface="Times New Roman"/>
              </a:defRPr>
            </a:pPr>
            <a:r>
              <a:rPr b="1"/>
              <a:t>Butler:</a:t>
            </a:r>
            <a:endParaRPr b="1"/>
          </a:p>
          <a:p>
            <a:pPr algn="l" defTabSz="821529">
              <a:defRPr>
                <a:solidFill>
                  <a:srgbClr val="000000"/>
                </a:solidFill>
                <a:latin typeface="Times New Roman"/>
                <a:ea typeface="Times New Roman"/>
                <a:cs typeface="Times New Roman"/>
                <a:sym typeface="Times New Roman"/>
              </a:defRPr>
            </a:pPr>
            <a:r>
              <a:t>Pedro Sanchez, director of the Agriculture and Food Security Center at Columbia University’s Earth Institute, told me subsidies are probably the only way new farming methods can make it in Ghana. He worked with the Malawian government when it introduced hybrid corn in 2005, offering farmers a discount of up to 70 percent on seeds and fertilizer. Within a few years, the country had tripled its yields. For the first time in recent history, farmers actually had a surplus of corn instead of a shortfall.</a:t>
            </a:r>
          </a:p>
          <a:p>
            <a:pPr algn="l" defTabSz="821529">
              <a:defRPr>
                <a:solidFill>
                  <a:srgbClr val="000000"/>
                </a:solidFill>
                <a:latin typeface="Times New Roman"/>
                <a:ea typeface="Times New Roman"/>
                <a:cs typeface="Times New Roman"/>
                <a:sym typeface="Times New Roman"/>
              </a:defRPr>
            </a:pPr>
          </a:p>
          <a:p>
            <a:pPr algn="l" defTabSz="821529">
              <a:defRPr>
                <a:solidFill>
                  <a:srgbClr val="000000"/>
                </a:solidFill>
                <a:latin typeface="Times New Roman"/>
                <a:ea typeface="Times New Roman"/>
                <a:cs typeface="Times New Roman"/>
                <a:sym typeface="Times New Roman"/>
              </a:defRPr>
            </a:pPr>
            <a:r>
              <a:t>But nine years in, Malawian farmers are still dependent on government subsidies for both seeds and fertilizer—and foreign funding is now drying up. And there are other drawbacks, too: As farmers scale up their operations, it will be hard to regulate the amount of fertilizer they use—just as it was in the United States, where runoff has harmed streams and drinking water and created vast oceanic dead zones.</a:t>
            </a:r>
          </a:p>
          <a:p>
            <a:pPr algn="l" defTabSz="821529">
              <a:defRPr>
                <a:solidFill>
                  <a:srgbClr val="000000"/>
                </a:solidFill>
                <a:latin typeface="Times New Roman"/>
                <a:ea typeface="Times New Roman"/>
                <a:cs typeface="Times New Roman"/>
                <a:sym typeface="Times New Roman"/>
              </a:defRPr>
            </a:pPr>
          </a:p>
          <a:p>
            <a:pPr algn="l" defTabSz="821529">
              <a:defRPr>
                <a:solidFill>
                  <a:srgbClr val="000000"/>
                </a:solidFill>
                <a:latin typeface="Times New Roman"/>
                <a:ea typeface="Times New Roman"/>
                <a:cs typeface="Times New Roman"/>
                <a:sym typeface="Times New Roman"/>
              </a:defRPr>
            </a:pPr>
            <a:r>
              <a:t>One hot afternoon toward the end of my trip, as I am leaving a club’s maize plot at a school in a small village, a young science teacher stops me. He tells me that his farmer friends have seen how well the DuPont seed grows, and they want to plant it again—but it’s too expensive. He urges me to write an article that will convince DuPont that Ghanaian farmers need more free seed. Someday, he says, his friends hope to increase their yields enough that they can afford Pioneer seeds year after year. But in order to do that, the farmers just need a little boost. “Please tell DuPont to give us more seeds,” he said. “We don’t have feathers to fly. We are praying that DuPont will continue to provide for us.”</a:t>
            </a:r>
          </a:p>
        </p:txBody>
      </p:sp>
      <p:sp>
        <p:nvSpPr>
          <p:cNvPr id="255" name="The long 20th century will in all likelihood be seen in the future as the watershed in human experience:…"/>
          <p:cNvSpPr txBox="1"/>
          <p:nvPr/>
        </p:nvSpPr>
        <p:spPr>
          <a:xfrm>
            <a:off x="12573000" y="2286000"/>
            <a:ext cx="11430000" cy="10789927"/>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a:solidFill>
                  <a:srgbClr val="000000"/>
                </a:solidFill>
                <a:latin typeface="Times New Roman"/>
                <a:ea typeface="Times New Roman"/>
                <a:cs typeface="Times New Roman"/>
                <a:sym typeface="Times New Roman"/>
              </a:defRPr>
            </a:pPr>
            <a:r>
              <a:rPr b="1"/>
              <a:t>Wise:</a:t>
            </a:r>
            <a:endParaRPr b="1"/>
          </a:p>
          <a:p>
            <a:pPr algn="l" defTabSz="821529">
              <a:defRPr>
                <a:solidFill>
                  <a:srgbClr val="000000"/>
                </a:solidFill>
                <a:latin typeface="Times New Roman"/>
                <a:ea typeface="Times New Roman"/>
                <a:cs typeface="Times New Roman"/>
                <a:sym typeface="Times New Roman"/>
              </a:defRPr>
            </a:pPr>
            <a:r>
              <a:t>The Alliance for a Green Revolution in Africa (AGRA) was founded in 2006 with the goal of bringing high-yield agricultural practices to 30 million smallholder farming households. With the adoption of commercial seeds and inorganic fertilizer, AGRA set out to double crop productivity and incomes while halving food insecurity by 2020. As AGRA reaches its self-declared deadline for these ambitious goals, how well has AGRA done in increasing productivity, incomes, and food security? The organization has received roughly $1 billion in funding, two-thirds of it from the Bill and Melinda Gates Foundation, and disbursed more than $500 million in grants, mainly in 13 priority African countries. </a:t>
            </a:r>
          </a:p>
          <a:p>
            <a:pPr algn="l" defTabSz="821529">
              <a:defRPr>
                <a:solidFill>
                  <a:srgbClr val="000000"/>
                </a:solidFill>
                <a:latin typeface="Times New Roman"/>
                <a:ea typeface="Times New Roman"/>
                <a:cs typeface="Times New Roman"/>
                <a:sym typeface="Times New Roman"/>
              </a:defRPr>
            </a:pPr>
          </a:p>
          <a:p>
            <a:pPr algn="l" defTabSz="821529">
              <a:defRPr>
                <a:solidFill>
                  <a:srgbClr val="000000"/>
                </a:solidFill>
                <a:latin typeface="Times New Roman"/>
                <a:ea typeface="Times New Roman"/>
                <a:cs typeface="Times New Roman"/>
                <a:sym typeface="Times New Roman"/>
              </a:defRPr>
            </a:pPr>
            <a:r>
              <a:t>The Green Revolution technology campaign has been supported during this time by international programs far larger than AGRA and notably by national governments in Africa, which have spent roughly $1 billion per year on programs that subsidize the purchase of commercial seeds and fertilizers. There is little publicly available documentation of impacts, from AGRA, the Gates Foundation, or donor governments that have supported the initiative. This paper attempts to fill some of that accountability gap. </a:t>
            </a:r>
          </a:p>
          <a:p>
            <a:pPr algn="l" defTabSz="821529">
              <a:defRPr>
                <a:solidFill>
                  <a:srgbClr val="000000"/>
                </a:solidFill>
                <a:latin typeface="Times New Roman"/>
                <a:ea typeface="Times New Roman"/>
                <a:cs typeface="Times New Roman"/>
                <a:sym typeface="Times New Roman"/>
              </a:defRPr>
            </a:pPr>
          </a:p>
          <a:p>
            <a:pPr algn="l" defTabSz="821529">
              <a:defRPr>
                <a:solidFill>
                  <a:srgbClr val="000000"/>
                </a:solidFill>
                <a:latin typeface="Times New Roman"/>
                <a:ea typeface="Times New Roman"/>
                <a:cs typeface="Times New Roman"/>
                <a:sym typeface="Times New Roman"/>
              </a:defRPr>
            </a:pPr>
            <a:r>
              <a:t>Because AGRA declined to provide data from its own monitoring and evaluation, we use national-level data to assess progress in productivity, poverty reduction, and food security in AGRA’s 13 countries. We find little evidence of widespread progress on any of AGRA’s goals, which is striking given the high levels of government subsidies for technology adoption. There is no evidence AGRA is reaching a significant number of smallholder farmers. Productivity has increased just 29% over 12 years for maize, the most subsidized and supported crop. This falls well short of doubling yields, which would be a 100% increase. Overall staple crop yields have grown only 18% over 12 years. </a:t>
            </a:r>
          </a:p>
          <a:p>
            <a:pPr algn="l" defTabSz="821529">
              <a:defRPr>
                <a:solidFill>
                  <a:srgbClr val="000000"/>
                </a:solidFill>
                <a:latin typeface="Times New Roman"/>
                <a:ea typeface="Times New Roman"/>
                <a:cs typeface="Times New Roman"/>
                <a:sym typeface="Times New Roman"/>
              </a:defRPr>
            </a:pPr>
          </a:p>
          <a:p>
            <a:pPr algn="l" defTabSz="821529">
              <a:defRPr>
                <a:solidFill>
                  <a:srgbClr val="000000"/>
                </a:solidFill>
                <a:latin typeface="Times New Roman"/>
                <a:ea typeface="Times New Roman"/>
                <a:cs typeface="Times New Roman"/>
                <a:sym typeface="Times New Roman"/>
              </a:defRPr>
            </a:pPr>
            <a:r>
              <a:t>Meanwhile, undernourishment (as measured by the FAO) has increased 30% in AGRA countries. These poor indicators of performance suggest that AGRA and its funders should change course. We review more promising approaches African governments and donors should consider. </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About the Course"/>
          <p:cNvSpPr txBox="1"/>
          <p:nvPr>
            <p:ph type="title" idx="4294967295"/>
          </p:nvPr>
        </p:nvSpPr>
        <p:spPr>
          <a:xfrm>
            <a:off x="3273126" y="-5"/>
            <a:ext cx="17780001" cy="2286001"/>
          </a:xfrm>
          <a:prstGeom prst="rect">
            <a:avLst/>
          </a:prstGeom>
        </p:spPr>
        <p:txBody>
          <a:bodyPr lIns="91436" tIns="91436" rIns="91436" bIns="91436" anchor="ctr"/>
          <a:lstStyle>
            <a:lvl1pPr algn="ctr" defTabSz="722376">
              <a:lnSpc>
                <a:spcPct val="100000"/>
              </a:lnSpc>
              <a:defRPr spc="0" sz="13667">
                <a:solidFill>
                  <a:srgbClr val="800000"/>
                </a:solidFill>
                <a:uFill>
                  <a:solidFill>
                    <a:srgbClr val="000000"/>
                  </a:solidFill>
                </a:uFill>
                <a:latin typeface="Helvetica"/>
                <a:ea typeface="Helvetica"/>
                <a:cs typeface="Helvetica"/>
                <a:sym typeface="Helvetica"/>
              </a:defRPr>
            </a:lvl1pPr>
          </a:lstStyle>
          <a:p>
            <a:pPr/>
            <a:r>
              <a:t>Catch Our Breath</a:t>
            </a:r>
          </a:p>
        </p:txBody>
      </p:sp>
      <p:sp>
        <p:nvSpPr>
          <p:cNvPr id="258" name="The long 20th century will in all likelihood be seen in the future as the watershed in human experience:…"/>
          <p:cNvSpPr txBox="1"/>
          <p:nvPr>
            <p:ph type="body" sz="half" idx="4294967295"/>
          </p:nvPr>
        </p:nvSpPr>
        <p:spPr>
          <a:xfrm>
            <a:off x="381000" y="2285995"/>
            <a:ext cx="10160000" cy="10795001"/>
          </a:xfrm>
          <a:prstGeom prst="rect">
            <a:avLst/>
          </a:prstGeom>
        </p:spPr>
        <p:txBody>
          <a:bodyPr lIns="91436" tIns="91436" rIns="91436" bIns="91436"/>
          <a:lstStyle/>
          <a:p>
            <a:pPr marL="0" indent="0" defTabSz="914400">
              <a:lnSpc>
                <a:spcPct val="100000"/>
              </a:lnSpc>
              <a:spcBef>
                <a:spcPts val="4000"/>
              </a:spcBef>
              <a:buSzTx/>
              <a:buNone/>
              <a:defRPr b="1" sz="6000">
                <a:uFill>
                  <a:solidFill>
                    <a:srgbClr val="000000"/>
                  </a:solidFill>
                </a:uFill>
                <a:latin typeface="Helvetica"/>
                <a:ea typeface="Helvetica"/>
                <a:cs typeface="Helvetica"/>
                <a:sym typeface="Helvetica"/>
              </a:defRPr>
            </a:pPr>
            <a:r>
              <a:t>Let’s reflect on what we have just heard &amp; seen…</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Comments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Questions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Readings</a:t>
            </a:r>
          </a:p>
        </p:txBody>
      </p:sp>
      <p:pic>
        <p:nvPicPr>
          <p:cNvPr id="259" name="delong-this-is-fine.png" descr="delong-this-is-fine.png"/>
          <p:cNvPicPr>
            <a:picLocks noChangeAspect="1"/>
          </p:cNvPicPr>
          <p:nvPr/>
        </p:nvPicPr>
        <p:blipFill>
          <a:blip r:embed="rId2">
            <a:extLst/>
          </a:blip>
          <a:srcRect l="0" t="0" r="1203" b="0"/>
          <a:stretch>
            <a:fillRect/>
          </a:stretch>
        </p:blipFill>
        <p:spPr>
          <a:xfrm>
            <a:off x="10541000" y="2285995"/>
            <a:ext cx="13462000" cy="757589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About the Course"/>
          <p:cNvSpPr txBox="1"/>
          <p:nvPr>
            <p:ph type="title" idx="4294967295"/>
          </p:nvPr>
        </p:nvSpPr>
        <p:spPr>
          <a:xfrm>
            <a:off x="0" y="-5"/>
            <a:ext cx="24384001" cy="2286001"/>
          </a:xfrm>
          <a:prstGeom prst="rect">
            <a:avLst/>
          </a:prstGeom>
        </p:spPr>
        <p:txBody>
          <a:bodyPr lIns="91436" tIns="91436" rIns="91436" bIns="91436" anchor="ctr"/>
          <a:lstStyle>
            <a:lvl1pPr algn="ctr" defTabSz="768095">
              <a:lnSpc>
                <a:spcPct val="100000"/>
              </a:lnSpc>
              <a:defRPr spc="0" sz="13439">
                <a:solidFill>
                  <a:srgbClr val="800000"/>
                </a:solidFill>
                <a:uFill>
                  <a:solidFill>
                    <a:srgbClr val="000000"/>
                  </a:solidFill>
                </a:uFill>
                <a:latin typeface="Helvetica"/>
                <a:ea typeface="Helvetica"/>
                <a:cs typeface="Helvetica"/>
                <a:sym typeface="Helvetica"/>
              </a:defRPr>
            </a:lvl1pPr>
          </a:lstStyle>
          <a:p>
            <a:pPr/>
            <a:r>
              <a: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63" name="delong-this-is-fine.png" descr="delong-this-is-fine.png"/>
          <p:cNvPicPr>
            <a:picLocks noChangeAspect="1"/>
          </p:cNvPicPr>
          <p:nvPr/>
        </p:nvPicPr>
        <p:blipFill>
          <a:blip r:embed="rId2">
            <a:extLst/>
          </a:blip>
          <a:srcRect l="0" t="0" r="1203" b="0"/>
          <a:stretch>
            <a:fillRect/>
          </a:stretch>
        </p:blipFill>
        <p:spPr>
          <a:xfrm>
            <a:off x="0" y="-3183"/>
            <a:ext cx="24384001" cy="137223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