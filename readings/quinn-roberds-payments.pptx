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332" r:id="rId4"/>
    <p:sldId id="331" r:id="rId5"/>
    <p:sldId id="290" r:id="rId6"/>
    <p:sldId id="341" r:id="rId7"/>
    <p:sldId id="338" r:id="rId8"/>
    <p:sldId id="428" r:id="rId9"/>
    <p:sldId id="423" r:id="rId10"/>
    <p:sldId id="339" r:id="rId11"/>
    <p:sldId id="430" r:id="rId12"/>
    <p:sldId id="420" r:id="rId13"/>
    <p:sldId id="429" r:id="rId14"/>
    <p:sldId id="424" r:id="rId15"/>
    <p:sldId id="409" r:id="rId16"/>
    <p:sldId id="416" r:id="rId17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821F48F-20D5-44C9-9B48-89CDDF47C050}">
          <p14:sldIdLst>
            <p14:sldId id="256"/>
            <p14:sldId id="259"/>
            <p14:sldId id="332"/>
            <p14:sldId id="331"/>
            <p14:sldId id="290"/>
            <p14:sldId id="341"/>
            <p14:sldId id="338"/>
            <p14:sldId id="428"/>
            <p14:sldId id="423"/>
            <p14:sldId id="339"/>
            <p14:sldId id="430"/>
            <p14:sldId id="420"/>
            <p14:sldId id="429"/>
            <p14:sldId id="424"/>
            <p14:sldId id="409"/>
            <p14:sldId id="4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8"/>
    <p:restoredTop sz="68496" autoAdjust="0"/>
  </p:normalViewPr>
  <p:slideViewPr>
    <p:cSldViewPr>
      <p:cViewPr varScale="1">
        <p:scale>
          <a:sx n="46" d="100"/>
          <a:sy n="46" d="100"/>
        </p:scale>
        <p:origin x="1860" y="4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4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0ECBB0-B207-44F8-857A-BBC414C709A1}" type="doc">
      <dgm:prSet loTypeId="urn:microsoft.com/office/officeart/2005/8/layout/bProcess3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0C7FA5C0-DB1E-47BC-8BE3-FED3BE463239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National Banking Act: 1863</a:t>
          </a:r>
        </a:p>
      </dgm:t>
    </dgm:pt>
    <dgm:pt modelId="{75280060-5F9A-4891-A935-1D78F3CB6C5A}" type="parTrans" cxnId="{5268BD49-BA2A-4E1F-9885-2F9B6F5655C0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D58FB1-1C7B-4463-AB1D-4D6C741264F1}" type="sibTrans" cxnId="{5268BD49-BA2A-4E1F-9885-2F9B6F5655C0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293BD65-F139-4088-A61E-AFF9E32D757E}">
      <dgm:prSet phldrT="[Text]" custT="1"/>
      <dgm:spPr>
        <a:ln>
          <a:noFill/>
        </a:ln>
      </dgm:spPr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Trusts</a:t>
          </a:r>
        </a:p>
      </dgm:t>
    </dgm:pt>
    <dgm:pt modelId="{45A42C86-4500-4028-A34A-C2246EFB77A4}" type="parTrans" cxnId="{DAA99AAB-866B-4DE6-87A9-74ED1D4AD2EA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80A8F7-5F40-4ADB-A8A6-5FAFB089AB21}" type="sibTrans" cxnId="{DAA99AAB-866B-4DE6-87A9-74ED1D4AD2EA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E6C2E5-E8E5-41F1-9613-C88859487467}">
      <dgm:prSet phldrT="[Text]" custT="1"/>
      <dgm:spPr>
        <a:ln>
          <a:solidFill>
            <a:schemeClr val="accent2"/>
          </a:solidFill>
        </a:ln>
      </dgm:spPr>
      <dgm:t>
        <a:bodyPr/>
        <a:lstStyle/>
        <a:p>
          <a:r>
            <a:rPr lang="en-US" sz="240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Panic of 1907</a:t>
          </a:r>
        </a:p>
      </dgm:t>
    </dgm:pt>
    <dgm:pt modelId="{A12A5996-7072-42AE-B463-A264F13A8615}" type="parTrans" cxnId="{3671000B-5F47-433C-BC34-7301FABB6B71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36CE8C-7642-4D5C-99EE-7B90CFAA52E7}" type="sibTrans" cxnId="{3671000B-5F47-433C-BC34-7301FABB6B71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126BE2-A7BC-4AAD-A237-CB331356712F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Federal Reserve Act: 1913</a:t>
          </a:r>
        </a:p>
      </dgm:t>
    </dgm:pt>
    <dgm:pt modelId="{E4FFEB45-81C0-4DB6-ADA0-A867C81E5D31}" type="parTrans" cxnId="{7F9FEB20-A153-43BA-8FDF-11961FBC2C65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CBDFC1C-E41C-4A86-AF81-FC2A004C7A23}" type="sibTrans" cxnId="{7F9FEB20-A153-43BA-8FDF-11961FBC2C65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F91316-6056-4A76-A185-CA57A05F04A5}">
      <dgm:prSet phldrT="[Text]" custT="1"/>
      <dgm:spPr>
        <a:ln>
          <a:noFill/>
        </a:ln>
      </dgm:spPr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State Banks</a:t>
          </a:r>
        </a:p>
      </dgm:t>
    </dgm:pt>
    <dgm:pt modelId="{6A786222-3E46-4076-AACE-D34ACE044C56}" type="parTrans" cxnId="{7DC9A0B0-A1D0-4992-A758-CBBF2A8CC009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325A2B-9F98-4BFB-AD07-8B461BD7E20F}" type="sibTrans" cxnId="{7DC9A0B0-A1D0-4992-A758-CBBF2A8CC009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4CB23C7-98B9-44B4-955D-AFB7A2EE99C2}">
      <dgm:prSet custT="1"/>
      <dgm:spPr>
        <a:ln>
          <a:solidFill>
            <a:schemeClr val="accent2"/>
          </a:solidFill>
        </a:ln>
      </dgm:spPr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Great Contraction: 1929-1933</a:t>
          </a:r>
        </a:p>
      </dgm:t>
    </dgm:pt>
    <dgm:pt modelId="{6A2A1218-920C-4EE6-B523-29DEE7BDF18A}" type="parTrans" cxnId="{22907F74-5A66-440D-A449-FF9204A6B4F2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D2BC79-1729-452E-82C9-5BB053D9D50B}" type="sibTrans" cxnId="{22907F74-5A66-440D-A449-FF9204A6B4F2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7DA7F0-D7B6-42A4-8BA2-534159710AC5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Banking Act 1933: FDIC</a:t>
          </a:r>
        </a:p>
      </dgm:t>
    </dgm:pt>
    <dgm:pt modelId="{B48A65CB-A93B-4F65-8EA2-715BC3730097}" type="parTrans" cxnId="{C197DD7E-B3F3-481B-A86A-E0C488C75089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31B6C71-414E-4B86-8E75-5661380F83C6}" type="sibTrans" cxnId="{C197DD7E-B3F3-481B-A86A-E0C488C75089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C7F473-5AB6-4699-AC78-0BA711176A0B}">
      <dgm:prSet custT="1"/>
      <dgm:spPr>
        <a:ln>
          <a:noFill/>
        </a:ln>
      </dgm:spPr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Shadow Banks</a:t>
          </a:r>
        </a:p>
      </dgm:t>
    </dgm:pt>
    <dgm:pt modelId="{9887EE82-FC18-4539-A9ED-1A1A40E4001D}" type="parTrans" cxnId="{9CA6973B-AD61-42C1-8231-0150B230E219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0F52CA-A0B1-4650-805C-85FB4DD41764}" type="sibTrans" cxnId="{9CA6973B-AD61-42C1-8231-0150B230E219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3ADDB2-B4FB-4755-9BFD-CD43B41989ED}">
      <dgm:prSet custT="1"/>
      <dgm:spPr>
        <a:ln>
          <a:solidFill>
            <a:schemeClr val="accent2"/>
          </a:solidFill>
        </a:ln>
      </dgm:spPr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Panic of 2008</a:t>
          </a:r>
        </a:p>
      </dgm:t>
    </dgm:pt>
    <dgm:pt modelId="{5E76166E-9BD8-4106-81C5-A0E914C0524E}" type="parTrans" cxnId="{49A076C8-4A22-4F54-8154-B74379BD3E3C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DF66ED-CA2C-47C0-A97C-A9929AC97C26}" type="sibTrans" cxnId="{49A076C8-4A22-4F54-8154-B74379BD3E3C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6B00812-A6BD-4B13-9228-59FE3C7119A8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Dodd-Frank Act: 2010</a:t>
          </a:r>
        </a:p>
      </dgm:t>
    </dgm:pt>
    <dgm:pt modelId="{9F903866-9EC9-4D37-AB7A-852F8EC7D49F}" type="parTrans" cxnId="{AAE78CE0-9063-407F-A12B-451A26D257DE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30FC99-3327-4ED0-8CA9-4CF176104968}" type="sibTrans" cxnId="{AAE78CE0-9063-407F-A12B-451A26D257DE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6EA486B-9118-495F-942E-85F974435D2D}">
      <dgm:prSet custT="1"/>
      <dgm:spPr>
        <a:ln>
          <a:noFill/>
        </a:ln>
      </dgm:spPr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Fintech?</a:t>
          </a:r>
        </a:p>
      </dgm:t>
    </dgm:pt>
    <dgm:pt modelId="{C2782EE1-F3C5-4040-9C59-1316F8C0CD47}" type="parTrans" cxnId="{E27DEDD6-904B-46CA-ABCE-607717DC75B0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1E4E07-E46E-41C5-A2DC-4B60BD6E0021}" type="sibTrans" cxnId="{E27DEDD6-904B-46CA-ABCE-607717DC75B0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21AE97-82AD-4ABA-BCBC-4F9A2279C9E0}" type="pres">
      <dgm:prSet presAssocID="{AF0ECBB0-B207-44F8-857A-BBC414C709A1}" presName="Name0" presStyleCnt="0">
        <dgm:presLayoutVars>
          <dgm:dir/>
          <dgm:resizeHandles val="exact"/>
        </dgm:presLayoutVars>
      </dgm:prSet>
      <dgm:spPr/>
    </dgm:pt>
    <dgm:pt modelId="{1214FD6F-75E9-4A4C-A2EF-F857C052CEAE}" type="pres">
      <dgm:prSet presAssocID="{0C7FA5C0-DB1E-47BC-8BE3-FED3BE463239}" presName="node" presStyleLbl="node1" presStyleIdx="0" presStyleCnt="11" custScaleX="175791" custScaleY="155415">
        <dgm:presLayoutVars>
          <dgm:bulletEnabled val="1"/>
        </dgm:presLayoutVars>
      </dgm:prSet>
      <dgm:spPr/>
    </dgm:pt>
    <dgm:pt modelId="{6B737BDD-FE53-49BD-B1CE-285300AE49E5}" type="pres">
      <dgm:prSet presAssocID="{8BD58FB1-1C7B-4463-AB1D-4D6C741264F1}" presName="sibTrans" presStyleLbl="sibTrans1D1" presStyleIdx="0" presStyleCnt="10"/>
      <dgm:spPr/>
    </dgm:pt>
    <dgm:pt modelId="{F3FEE3E1-24FD-4680-890D-2FE9BCC253CC}" type="pres">
      <dgm:prSet presAssocID="{8BD58FB1-1C7B-4463-AB1D-4D6C741264F1}" presName="connectorText" presStyleLbl="sibTrans1D1" presStyleIdx="0" presStyleCnt="10"/>
      <dgm:spPr/>
    </dgm:pt>
    <dgm:pt modelId="{6F70B7E4-2480-4F73-A51D-113C12A18933}" type="pres">
      <dgm:prSet presAssocID="{0293BD65-F139-4088-A61E-AFF9E32D757E}" presName="node" presStyleLbl="node1" presStyleIdx="1" presStyleCnt="11" custScaleX="175791" custScaleY="155415">
        <dgm:presLayoutVars>
          <dgm:bulletEnabled val="1"/>
        </dgm:presLayoutVars>
      </dgm:prSet>
      <dgm:spPr/>
    </dgm:pt>
    <dgm:pt modelId="{A7B59530-106E-475C-801D-917D63B32977}" type="pres">
      <dgm:prSet presAssocID="{6D80A8F7-5F40-4ADB-A8A6-5FAFB089AB21}" presName="sibTrans" presStyleLbl="sibTrans1D1" presStyleIdx="1" presStyleCnt="10"/>
      <dgm:spPr/>
    </dgm:pt>
    <dgm:pt modelId="{86773E3B-2B6E-4343-A50C-0969C97C61F5}" type="pres">
      <dgm:prSet presAssocID="{6D80A8F7-5F40-4ADB-A8A6-5FAFB089AB21}" presName="connectorText" presStyleLbl="sibTrans1D1" presStyleIdx="1" presStyleCnt="10"/>
      <dgm:spPr/>
    </dgm:pt>
    <dgm:pt modelId="{A0EF8569-C245-4C63-B0A9-C23741C00B34}" type="pres">
      <dgm:prSet presAssocID="{B0E6C2E5-E8E5-41F1-9613-C88859487467}" presName="node" presStyleLbl="node1" presStyleIdx="2" presStyleCnt="11" custScaleX="175791" custScaleY="155415">
        <dgm:presLayoutVars>
          <dgm:bulletEnabled val="1"/>
        </dgm:presLayoutVars>
      </dgm:prSet>
      <dgm:spPr/>
    </dgm:pt>
    <dgm:pt modelId="{B6A5E6C1-149F-469C-9128-F7AB8E0DEA76}" type="pres">
      <dgm:prSet presAssocID="{CA36CE8C-7642-4D5C-99EE-7B90CFAA52E7}" presName="sibTrans" presStyleLbl="sibTrans1D1" presStyleIdx="2" presStyleCnt="10"/>
      <dgm:spPr/>
    </dgm:pt>
    <dgm:pt modelId="{C9BB77FF-742D-497F-88C1-E3128D9CDA2F}" type="pres">
      <dgm:prSet presAssocID="{CA36CE8C-7642-4D5C-99EE-7B90CFAA52E7}" presName="connectorText" presStyleLbl="sibTrans1D1" presStyleIdx="2" presStyleCnt="10"/>
      <dgm:spPr/>
    </dgm:pt>
    <dgm:pt modelId="{B23272B6-3BDD-4C60-96AA-F9F1D9D6C6BC}" type="pres">
      <dgm:prSet presAssocID="{32126BE2-A7BC-4AAD-A237-CB331356712F}" presName="node" presStyleLbl="node1" presStyleIdx="3" presStyleCnt="11" custScaleX="175791" custScaleY="155415">
        <dgm:presLayoutVars>
          <dgm:bulletEnabled val="1"/>
        </dgm:presLayoutVars>
      </dgm:prSet>
      <dgm:spPr/>
    </dgm:pt>
    <dgm:pt modelId="{18CF0E47-07B8-41AA-AD35-7A5D9B4DB9F6}" type="pres">
      <dgm:prSet presAssocID="{3CBDFC1C-E41C-4A86-AF81-FC2A004C7A23}" presName="sibTrans" presStyleLbl="sibTrans1D1" presStyleIdx="3" presStyleCnt="10"/>
      <dgm:spPr/>
    </dgm:pt>
    <dgm:pt modelId="{9992DFAA-C3AD-421E-8408-2F6111B2997A}" type="pres">
      <dgm:prSet presAssocID="{3CBDFC1C-E41C-4A86-AF81-FC2A004C7A23}" presName="connectorText" presStyleLbl="sibTrans1D1" presStyleIdx="3" presStyleCnt="10"/>
      <dgm:spPr/>
    </dgm:pt>
    <dgm:pt modelId="{E16ED2F1-E003-4E63-8283-A6C16F33AECE}" type="pres">
      <dgm:prSet presAssocID="{32F91316-6056-4A76-A185-CA57A05F04A5}" presName="node" presStyleLbl="node1" presStyleIdx="4" presStyleCnt="11" custScaleX="175791" custScaleY="155415">
        <dgm:presLayoutVars>
          <dgm:bulletEnabled val="1"/>
        </dgm:presLayoutVars>
      </dgm:prSet>
      <dgm:spPr/>
    </dgm:pt>
    <dgm:pt modelId="{C32D5E22-1B2B-478F-AEC5-1BAA4E9B735B}" type="pres">
      <dgm:prSet presAssocID="{39325A2B-9F98-4BFB-AD07-8B461BD7E20F}" presName="sibTrans" presStyleLbl="sibTrans1D1" presStyleIdx="4" presStyleCnt="10"/>
      <dgm:spPr/>
    </dgm:pt>
    <dgm:pt modelId="{C65D7741-0C7E-4414-BE0B-4400B6121181}" type="pres">
      <dgm:prSet presAssocID="{39325A2B-9F98-4BFB-AD07-8B461BD7E20F}" presName="connectorText" presStyleLbl="sibTrans1D1" presStyleIdx="4" presStyleCnt="10"/>
      <dgm:spPr/>
    </dgm:pt>
    <dgm:pt modelId="{49309C52-B902-4799-9721-7DB51967B2D4}" type="pres">
      <dgm:prSet presAssocID="{84CB23C7-98B9-44B4-955D-AFB7A2EE99C2}" presName="node" presStyleLbl="node1" presStyleIdx="5" presStyleCnt="11" custScaleX="175791" custScaleY="155415">
        <dgm:presLayoutVars>
          <dgm:bulletEnabled val="1"/>
        </dgm:presLayoutVars>
      </dgm:prSet>
      <dgm:spPr/>
    </dgm:pt>
    <dgm:pt modelId="{D9016C6E-03C3-4855-96DA-10A93DD0CD15}" type="pres">
      <dgm:prSet presAssocID="{1BD2BC79-1729-452E-82C9-5BB053D9D50B}" presName="sibTrans" presStyleLbl="sibTrans1D1" presStyleIdx="5" presStyleCnt="10"/>
      <dgm:spPr/>
    </dgm:pt>
    <dgm:pt modelId="{7D88690B-0FBB-4591-ADEC-B0AC80DEDF7C}" type="pres">
      <dgm:prSet presAssocID="{1BD2BC79-1729-452E-82C9-5BB053D9D50B}" presName="connectorText" presStyleLbl="sibTrans1D1" presStyleIdx="5" presStyleCnt="10"/>
      <dgm:spPr/>
    </dgm:pt>
    <dgm:pt modelId="{96EEE62E-FF6C-4108-9D77-C952C7EFFA23}" type="pres">
      <dgm:prSet presAssocID="{857DA7F0-D7B6-42A4-8BA2-534159710AC5}" presName="node" presStyleLbl="node1" presStyleIdx="6" presStyleCnt="11" custScaleX="175791" custScaleY="155415">
        <dgm:presLayoutVars>
          <dgm:bulletEnabled val="1"/>
        </dgm:presLayoutVars>
      </dgm:prSet>
      <dgm:spPr/>
    </dgm:pt>
    <dgm:pt modelId="{C4B792FA-2057-44AB-99B1-B682984480FB}" type="pres">
      <dgm:prSet presAssocID="{A31B6C71-414E-4B86-8E75-5661380F83C6}" presName="sibTrans" presStyleLbl="sibTrans1D1" presStyleIdx="6" presStyleCnt="10"/>
      <dgm:spPr/>
    </dgm:pt>
    <dgm:pt modelId="{1CB181A4-2CF8-4B70-A83C-D576B23E5BDF}" type="pres">
      <dgm:prSet presAssocID="{A31B6C71-414E-4B86-8E75-5661380F83C6}" presName="connectorText" presStyleLbl="sibTrans1D1" presStyleIdx="6" presStyleCnt="10"/>
      <dgm:spPr/>
    </dgm:pt>
    <dgm:pt modelId="{EC3792CC-CD7D-4D4F-8029-562516031028}" type="pres">
      <dgm:prSet presAssocID="{49C7F473-5AB6-4699-AC78-0BA711176A0B}" presName="node" presStyleLbl="node1" presStyleIdx="7" presStyleCnt="11" custScaleX="175791" custScaleY="155415">
        <dgm:presLayoutVars>
          <dgm:bulletEnabled val="1"/>
        </dgm:presLayoutVars>
      </dgm:prSet>
      <dgm:spPr/>
    </dgm:pt>
    <dgm:pt modelId="{9A65725C-661F-459E-A5A6-2D02AEF7535D}" type="pres">
      <dgm:prSet presAssocID="{940F52CA-A0B1-4650-805C-85FB4DD41764}" presName="sibTrans" presStyleLbl="sibTrans1D1" presStyleIdx="7" presStyleCnt="10"/>
      <dgm:spPr/>
    </dgm:pt>
    <dgm:pt modelId="{15989688-2859-4895-AF63-6F290C96A953}" type="pres">
      <dgm:prSet presAssocID="{940F52CA-A0B1-4650-805C-85FB4DD41764}" presName="connectorText" presStyleLbl="sibTrans1D1" presStyleIdx="7" presStyleCnt="10"/>
      <dgm:spPr/>
    </dgm:pt>
    <dgm:pt modelId="{038FF6A4-314B-4EC9-B727-741EB15DD32C}" type="pres">
      <dgm:prSet presAssocID="{E83ADDB2-B4FB-4755-9BFD-CD43B41989ED}" presName="node" presStyleLbl="node1" presStyleIdx="8" presStyleCnt="11" custScaleX="175791" custScaleY="155415">
        <dgm:presLayoutVars>
          <dgm:bulletEnabled val="1"/>
        </dgm:presLayoutVars>
      </dgm:prSet>
      <dgm:spPr/>
    </dgm:pt>
    <dgm:pt modelId="{7DE7F2D5-1F26-4F17-B5D8-6F052EA01634}" type="pres">
      <dgm:prSet presAssocID="{70DF66ED-CA2C-47C0-A97C-A9929AC97C26}" presName="sibTrans" presStyleLbl="sibTrans1D1" presStyleIdx="8" presStyleCnt="10"/>
      <dgm:spPr/>
    </dgm:pt>
    <dgm:pt modelId="{81DF84E2-EC3A-4FF5-8E0A-8269473FCB5A}" type="pres">
      <dgm:prSet presAssocID="{70DF66ED-CA2C-47C0-A97C-A9929AC97C26}" presName="connectorText" presStyleLbl="sibTrans1D1" presStyleIdx="8" presStyleCnt="10"/>
      <dgm:spPr/>
    </dgm:pt>
    <dgm:pt modelId="{5F1847E8-072F-47CF-A6F7-6F1B803CE809}" type="pres">
      <dgm:prSet presAssocID="{C6B00812-A6BD-4B13-9228-59FE3C7119A8}" presName="node" presStyleLbl="node1" presStyleIdx="9" presStyleCnt="11" custScaleX="175791" custScaleY="155415">
        <dgm:presLayoutVars>
          <dgm:bulletEnabled val="1"/>
        </dgm:presLayoutVars>
      </dgm:prSet>
      <dgm:spPr/>
    </dgm:pt>
    <dgm:pt modelId="{F6EAF74A-F4DA-4B33-A382-7A4E3FB4E37B}" type="pres">
      <dgm:prSet presAssocID="{3130FC99-3327-4ED0-8CA9-4CF176104968}" presName="sibTrans" presStyleLbl="sibTrans1D1" presStyleIdx="9" presStyleCnt="10"/>
      <dgm:spPr/>
    </dgm:pt>
    <dgm:pt modelId="{9DC18059-D871-44F9-B15B-2A07FC996107}" type="pres">
      <dgm:prSet presAssocID="{3130FC99-3327-4ED0-8CA9-4CF176104968}" presName="connectorText" presStyleLbl="sibTrans1D1" presStyleIdx="9" presStyleCnt="10"/>
      <dgm:spPr/>
    </dgm:pt>
    <dgm:pt modelId="{8FFF459E-F2BB-4E4F-ACCF-EC254FAEDB56}" type="pres">
      <dgm:prSet presAssocID="{96EA486B-9118-495F-942E-85F974435D2D}" presName="node" presStyleLbl="node1" presStyleIdx="10" presStyleCnt="11" custScaleX="175791" custScaleY="155415">
        <dgm:presLayoutVars>
          <dgm:bulletEnabled val="1"/>
        </dgm:presLayoutVars>
      </dgm:prSet>
      <dgm:spPr/>
    </dgm:pt>
  </dgm:ptLst>
  <dgm:cxnLst>
    <dgm:cxn modelId="{1FA6EA04-54BE-4B9F-92C0-FDA593D6778C}" type="presOf" srcId="{CA36CE8C-7642-4D5C-99EE-7B90CFAA52E7}" destId="{B6A5E6C1-149F-469C-9128-F7AB8E0DEA76}" srcOrd="0" destOrd="0" presId="urn:microsoft.com/office/officeart/2005/8/layout/bProcess3"/>
    <dgm:cxn modelId="{3671000B-5F47-433C-BC34-7301FABB6B71}" srcId="{AF0ECBB0-B207-44F8-857A-BBC414C709A1}" destId="{B0E6C2E5-E8E5-41F1-9613-C88859487467}" srcOrd="2" destOrd="0" parTransId="{A12A5996-7072-42AE-B463-A264F13A8615}" sibTransId="{CA36CE8C-7642-4D5C-99EE-7B90CFAA52E7}"/>
    <dgm:cxn modelId="{2BC2F512-5F2A-4FD6-9262-6CC6265C47DC}" type="presOf" srcId="{1BD2BC79-1729-452E-82C9-5BB053D9D50B}" destId="{7D88690B-0FBB-4591-ADEC-B0AC80DEDF7C}" srcOrd="1" destOrd="0" presId="urn:microsoft.com/office/officeart/2005/8/layout/bProcess3"/>
    <dgm:cxn modelId="{7F9FEB20-A153-43BA-8FDF-11961FBC2C65}" srcId="{AF0ECBB0-B207-44F8-857A-BBC414C709A1}" destId="{32126BE2-A7BC-4AAD-A237-CB331356712F}" srcOrd="3" destOrd="0" parTransId="{E4FFEB45-81C0-4DB6-ADA0-A867C81E5D31}" sibTransId="{3CBDFC1C-E41C-4A86-AF81-FC2A004C7A23}"/>
    <dgm:cxn modelId="{40586A21-E21A-41A0-BA9F-3AF6A454434D}" type="presOf" srcId="{8BD58FB1-1C7B-4463-AB1D-4D6C741264F1}" destId="{6B737BDD-FE53-49BD-B1CE-285300AE49E5}" srcOrd="0" destOrd="0" presId="urn:microsoft.com/office/officeart/2005/8/layout/bProcess3"/>
    <dgm:cxn modelId="{C999AA21-E502-45B7-A563-0EFD88176872}" type="presOf" srcId="{49C7F473-5AB6-4699-AC78-0BA711176A0B}" destId="{EC3792CC-CD7D-4D4F-8029-562516031028}" srcOrd="0" destOrd="0" presId="urn:microsoft.com/office/officeart/2005/8/layout/bProcess3"/>
    <dgm:cxn modelId="{2C018D24-EB93-48B6-B1C3-407F9686F5B3}" type="presOf" srcId="{940F52CA-A0B1-4650-805C-85FB4DD41764}" destId="{9A65725C-661F-459E-A5A6-2D02AEF7535D}" srcOrd="0" destOrd="0" presId="urn:microsoft.com/office/officeart/2005/8/layout/bProcess3"/>
    <dgm:cxn modelId="{81293C31-6AB0-4465-9FC5-C3D0736BA72A}" type="presOf" srcId="{70DF66ED-CA2C-47C0-A97C-A9929AC97C26}" destId="{81DF84E2-EC3A-4FF5-8E0A-8269473FCB5A}" srcOrd="1" destOrd="0" presId="urn:microsoft.com/office/officeart/2005/8/layout/bProcess3"/>
    <dgm:cxn modelId="{A8267539-B8B0-44F1-A2B8-A6356F26DA4F}" type="presOf" srcId="{96EA486B-9118-495F-942E-85F974435D2D}" destId="{8FFF459E-F2BB-4E4F-ACCF-EC254FAEDB56}" srcOrd="0" destOrd="0" presId="urn:microsoft.com/office/officeart/2005/8/layout/bProcess3"/>
    <dgm:cxn modelId="{9CA6973B-AD61-42C1-8231-0150B230E219}" srcId="{AF0ECBB0-B207-44F8-857A-BBC414C709A1}" destId="{49C7F473-5AB6-4699-AC78-0BA711176A0B}" srcOrd="7" destOrd="0" parTransId="{9887EE82-FC18-4539-A9ED-1A1A40E4001D}" sibTransId="{940F52CA-A0B1-4650-805C-85FB4DD41764}"/>
    <dgm:cxn modelId="{11A7B95C-22F5-4D1C-8E70-0083B8181B11}" type="presOf" srcId="{84CB23C7-98B9-44B4-955D-AFB7A2EE99C2}" destId="{49309C52-B902-4799-9721-7DB51967B2D4}" srcOrd="0" destOrd="0" presId="urn:microsoft.com/office/officeart/2005/8/layout/bProcess3"/>
    <dgm:cxn modelId="{15C3885E-1385-4E58-89F8-D64FC6F8493C}" type="presOf" srcId="{39325A2B-9F98-4BFB-AD07-8B461BD7E20F}" destId="{C65D7741-0C7E-4414-BE0B-4400B6121181}" srcOrd="1" destOrd="0" presId="urn:microsoft.com/office/officeart/2005/8/layout/bProcess3"/>
    <dgm:cxn modelId="{EB6C7143-20FB-4F17-950E-72944AE49846}" type="presOf" srcId="{857DA7F0-D7B6-42A4-8BA2-534159710AC5}" destId="{96EEE62E-FF6C-4108-9D77-C952C7EFFA23}" srcOrd="0" destOrd="0" presId="urn:microsoft.com/office/officeart/2005/8/layout/bProcess3"/>
    <dgm:cxn modelId="{98CE4D44-FBD6-41C4-B0EF-0D43455DB3E4}" type="presOf" srcId="{1BD2BC79-1729-452E-82C9-5BB053D9D50B}" destId="{D9016C6E-03C3-4855-96DA-10A93DD0CD15}" srcOrd="0" destOrd="0" presId="urn:microsoft.com/office/officeart/2005/8/layout/bProcess3"/>
    <dgm:cxn modelId="{79A57245-9F56-4556-9C37-E2081B2DD666}" type="presOf" srcId="{A31B6C71-414E-4B86-8E75-5661380F83C6}" destId="{C4B792FA-2057-44AB-99B1-B682984480FB}" srcOrd="0" destOrd="0" presId="urn:microsoft.com/office/officeart/2005/8/layout/bProcess3"/>
    <dgm:cxn modelId="{CE065D49-93D8-4D54-AD8D-2C962E727D7A}" type="presOf" srcId="{B0E6C2E5-E8E5-41F1-9613-C88859487467}" destId="{A0EF8569-C245-4C63-B0A9-C23741C00B34}" srcOrd="0" destOrd="0" presId="urn:microsoft.com/office/officeart/2005/8/layout/bProcess3"/>
    <dgm:cxn modelId="{5268BD49-BA2A-4E1F-9885-2F9B6F5655C0}" srcId="{AF0ECBB0-B207-44F8-857A-BBC414C709A1}" destId="{0C7FA5C0-DB1E-47BC-8BE3-FED3BE463239}" srcOrd="0" destOrd="0" parTransId="{75280060-5F9A-4891-A935-1D78F3CB6C5A}" sibTransId="{8BD58FB1-1C7B-4463-AB1D-4D6C741264F1}"/>
    <dgm:cxn modelId="{35FA236C-3058-41E8-9DC4-4736C0B2D05F}" type="presOf" srcId="{0C7FA5C0-DB1E-47BC-8BE3-FED3BE463239}" destId="{1214FD6F-75E9-4A4C-A2EF-F857C052CEAE}" srcOrd="0" destOrd="0" presId="urn:microsoft.com/office/officeart/2005/8/layout/bProcess3"/>
    <dgm:cxn modelId="{62333E50-9187-41FE-B815-3A2219DDCCE0}" type="presOf" srcId="{32F91316-6056-4A76-A185-CA57A05F04A5}" destId="{E16ED2F1-E003-4E63-8283-A6C16F33AECE}" srcOrd="0" destOrd="0" presId="urn:microsoft.com/office/officeart/2005/8/layout/bProcess3"/>
    <dgm:cxn modelId="{22907F74-5A66-440D-A449-FF9204A6B4F2}" srcId="{AF0ECBB0-B207-44F8-857A-BBC414C709A1}" destId="{84CB23C7-98B9-44B4-955D-AFB7A2EE99C2}" srcOrd="5" destOrd="0" parTransId="{6A2A1218-920C-4EE6-B523-29DEE7BDF18A}" sibTransId="{1BD2BC79-1729-452E-82C9-5BB053D9D50B}"/>
    <dgm:cxn modelId="{C197DD7E-B3F3-481B-A86A-E0C488C75089}" srcId="{AF0ECBB0-B207-44F8-857A-BBC414C709A1}" destId="{857DA7F0-D7B6-42A4-8BA2-534159710AC5}" srcOrd="6" destOrd="0" parTransId="{B48A65CB-A93B-4F65-8EA2-715BC3730097}" sibTransId="{A31B6C71-414E-4B86-8E75-5661380F83C6}"/>
    <dgm:cxn modelId="{41D7767F-6FA2-4886-A7E1-EB23AA3D25BA}" type="presOf" srcId="{A31B6C71-414E-4B86-8E75-5661380F83C6}" destId="{1CB181A4-2CF8-4B70-A83C-D576B23E5BDF}" srcOrd="1" destOrd="0" presId="urn:microsoft.com/office/officeart/2005/8/layout/bProcess3"/>
    <dgm:cxn modelId="{42147591-8907-43BE-88FD-F7DCF1E7D799}" type="presOf" srcId="{3130FC99-3327-4ED0-8CA9-4CF176104968}" destId="{9DC18059-D871-44F9-B15B-2A07FC996107}" srcOrd="1" destOrd="0" presId="urn:microsoft.com/office/officeart/2005/8/layout/bProcess3"/>
    <dgm:cxn modelId="{878C6396-F951-4411-A63A-D632D4D64C3F}" type="presOf" srcId="{6D80A8F7-5F40-4ADB-A8A6-5FAFB089AB21}" destId="{A7B59530-106E-475C-801D-917D63B32977}" srcOrd="0" destOrd="0" presId="urn:microsoft.com/office/officeart/2005/8/layout/bProcess3"/>
    <dgm:cxn modelId="{EF36389C-C259-4180-A8F0-061C43553184}" type="presOf" srcId="{6D80A8F7-5F40-4ADB-A8A6-5FAFB089AB21}" destId="{86773E3B-2B6E-4343-A50C-0969C97C61F5}" srcOrd="1" destOrd="0" presId="urn:microsoft.com/office/officeart/2005/8/layout/bProcess3"/>
    <dgm:cxn modelId="{2F37AD9F-9C35-4E3E-A15F-177FFEE77171}" type="presOf" srcId="{E83ADDB2-B4FB-4755-9BFD-CD43B41989ED}" destId="{038FF6A4-314B-4EC9-B727-741EB15DD32C}" srcOrd="0" destOrd="0" presId="urn:microsoft.com/office/officeart/2005/8/layout/bProcess3"/>
    <dgm:cxn modelId="{984FFA9F-FD13-4309-AC9E-38F6F2C934EC}" type="presOf" srcId="{940F52CA-A0B1-4650-805C-85FB4DD41764}" destId="{15989688-2859-4895-AF63-6F290C96A953}" srcOrd="1" destOrd="0" presId="urn:microsoft.com/office/officeart/2005/8/layout/bProcess3"/>
    <dgm:cxn modelId="{6020E4A0-ED80-4F2D-9299-C15AF5131C83}" type="presOf" srcId="{3CBDFC1C-E41C-4A86-AF81-FC2A004C7A23}" destId="{18CF0E47-07B8-41AA-AD35-7A5D9B4DB9F6}" srcOrd="0" destOrd="0" presId="urn:microsoft.com/office/officeart/2005/8/layout/bProcess3"/>
    <dgm:cxn modelId="{B3CD60A6-6C12-439B-A138-F2C0D6EA415C}" type="presOf" srcId="{CA36CE8C-7642-4D5C-99EE-7B90CFAA52E7}" destId="{C9BB77FF-742D-497F-88C1-E3128D9CDA2F}" srcOrd="1" destOrd="0" presId="urn:microsoft.com/office/officeart/2005/8/layout/bProcess3"/>
    <dgm:cxn modelId="{DAA99AAB-866B-4DE6-87A9-74ED1D4AD2EA}" srcId="{AF0ECBB0-B207-44F8-857A-BBC414C709A1}" destId="{0293BD65-F139-4088-A61E-AFF9E32D757E}" srcOrd="1" destOrd="0" parTransId="{45A42C86-4500-4028-A34A-C2246EFB77A4}" sibTransId="{6D80A8F7-5F40-4ADB-A8A6-5FAFB089AB21}"/>
    <dgm:cxn modelId="{7DC9A0B0-A1D0-4992-A758-CBBF2A8CC009}" srcId="{AF0ECBB0-B207-44F8-857A-BBC414C709A1}" destId="{32F91316-6056-4A76-A185-CA57A05F04A5}" srcOrd="4" destOrd="0" parTransId="{6A786222-3E46-4076-AACE-D34ACE044C56}" sibTransId="{39325A2B-9F98-4BFB-AD07-8B461BD7E20F}"/>
    <dgm:cxn modelId="{E43823B9-3BE6-4B5C-A236-5F9C226397F4}" type="presOf" srcId="{3CBDFC1C-E41C-4A86-AF81-FC2A004C7A23}" destId="{9992DFAA-C3AD-421E-8408-2F6111B2997A}" srcOrd="1" destOrd="0" presId="urn:microsoft.com/office/officeart/2005/8/layout/bProcess3"/>
    <dgm:cxn modelId="{B234F3C0-14D6-400D-8019-063443C39247}" type="presOf" srcId="{AF0ECBB0-B207-44F8-857A-BBC414C709A1}" destId="{8521AE97-82AD-4ABA-BCBC-4F9A2279C9E0}" srcOrd="0" destOrd="0" presId="urn:microsoft.com/office/officeart/2005/8/layout/bProcess3"/>
    <dgm:cxn modelId="{732973C2-2F0F-463C-8637-55EB11CF8AF5}" type="presOf" srcId="{39325A2B-9F98-4BFB-AD07-8B461BD7E20F}" destId="{C32D5E22-1B2B-478F-AEC5-1BAA4E9B735B}" srcOrd="0" destOrd="0" presId="urn:microsoft.com/office/officeart/2005/8/layout/bProcess3"/>
    <dgm:cxn modelId="{49A076C8-4A22-4F54-8154-B74379BD3E3C}" srcId="{AF0ECBB0-B207-44F8-857A-BBC414C709A1}" destId="{E83ADDB2-B4FB-4755-9BFD-CD43B41989ED}" srcOrd="8" destOrd="0" parTransId="{5E76166E-9BD8-4106-81C5-A0E914C0524E}" sibTransId="{70DF66ED-CA2C-47C0-A97C-A9929AC97C26}"/>
    <dgm:cxn modelId="{F1CC70D2-9D6A-4671-91E7-5C01049D9640}" type="presOf" srcId="{32126BE2-A7BC-4AAD-A237-CB331356712F}" destId="{B23272B6-3BDD-4C60-96AA-F9F1D9D6C6BC}" srcOrd="0" destOrd="0" presId="urn:microsoft.com/office/officeart/2005/8/layout/bProcess3"/>
    <dgm:cxn modelId="{E27DEDD6-904B-46CA-ABCE-607717DC75B0}" srcId="{AF0ECBB0-B207-44F8-857A-BBC414C709A1}" destId="{96EA486B-9118-495F-942E-85F974435D2D}" srcOrd="10" destOrd="0" parTransId="{C2782EE1-F3C5-4040-9C59-1316F8C0CD47}" sibTransId="{AD1E4E07-E46E-41C5-A2DC-4B60BD6E0021}"/>
    <dgm:cxn modelId="{9FFCEED9-228A-4069-9F9F-707CE4485CE5}" type="presOf" srcId="{3130FC99-3327-4ED0-8CA9-4CF176104968}" destId="{F6EAF74A-F4DA-4B33-A382-7A4E3FB4E37B}" srcOrd="0" destOrd="0" presId="urn:microsoft.com/office/officeart/2005/8/layout/bProcess3"/>
    <dgm:cxn modelId="{4DD255DC-D6CF-4385-8C82-EE3DA9E315A2}" type="presOf" srcId="{70DF66ED-CA2C-47C0-A97C-A9929AC97C26}" destId="{7DE7F2D5-1F26-4F17-B5D8-6F052EA01634}" srcOrd="0" destOrd="0" presId="urn:microsoft.com/office/officeart/2005/8/layout/bProcess3"/>
    <dgm:cxn modelId="{D8323BDD-098D-46E9-8842-593C93427C22}" type="presOf" srcId="{0293BD65-F139-4088-A61E-AFF9E32D757E}" destId="{6F70B7E4-2480-4F73-A51D-113C12A18933}" srcOrd="0" destOrd="0" presId="urn:microsoft.com/office/officeart/2005/8/layout/bProcess3"/>
    <dgm:cxn modelId="{AAE78CE0-9063-407F-A12B-451A26D257DE}" srcId="{AF0ECBB0-B207-44F8-857A-BBC414C709A1}" destId="{C6B00812-A6BD-4B13-9228-59FE3C7119A8}" srcOrd="9" destOrd="0" parTransId="{9F903866-9EC9-4D37-AB7A-852F8EC7D49F}" sibTransId="{3130FC99-3327-4ED0-8CA9-4CF176104968}"/>
    <dgm:cxn modelId="{1F245CF7-D7CA-4ED6-8731-464633E1C1BA}" type="presOf" srcId="{8BD58FB1-1C7B-4463-AB1D-4D6C741264F1}" destId="{F3FEE3E1-24FD-4680-890D-2FE9BCC253CC}" srcOrd="1" destOrd="0" presId="urn:microsoft.com/office/officeart/2005/8/layout/bProcess3"/>
    <dgm:cxn modelId="{9434D7FA-A811-423D-9C22-A0203EB80C09}" type="presOf" srcId="{C6B00812-A6BD-4B13-9228-59FE3C7119A8}" destId="{5F1847E8-072F-47CF-A6F7-6F1B803CE809}" srcOrd="0" destOrd="0" presId="urn:microsoft.com/office/officeart/2005/8/layout/bProcess3"/>
    <dgm:cxn modelId="{F4E3705C-BAE7-4763-8DC1-CCC29D5EFD38}" type="presParOf" srcId="{8521AE97-82AD-4ABA-BCBC-4F9A2279C9E0}" destId="{1214FD6F-75E9-4A4C-A2EF-F857C052CEAE}" srcOrd="0" destOrd="0" presId="urn:microsoft.com/office/officeart/2005/8/layout/bProcess3"/>
    <dgm:cxn modelId="{94224B05-5316-45D6-8322-EF4F929E1EBA}" type="presParOf" srcId="{8521AE97-82AD-4ABA-BCBC-4F9A2279C9E0}" destId="{6B737BDD-FE53-49BD-B1CE-285300AE49E5}" srcOrd="1" destOrd="0" presId="urn:microsoft.com/office/officeart/2005/8/layout/bProcess3"/>
    <dgm:cxn modelId="{D15C0C33-51A4-47DC-AFCE-E066A42792AA}" type="presParOf" srcId="{6B737BDD-FE53-49BD-B1CE-285300AE49E5}" destId="{F3FEE3E1-24FD-4680-890D-2FE9BCC253CC}" srcOrd="0" destOrd="0" presId="urn:microsoft.com/office/officeart/2005/8/layout/bProcess3"/>
    <dgm:cxn modelId="{BEB9CEC4-023F-44CF-95A1-23524E285C25}" type="presParOf" srcId="{8521AE97-82AD-4ABA-BCBC-4F9A2279C9E0}" destId="{6F70B7E4-2480-4F73-A51D-113C12A18933}" srcOrd="2" destOrd="0" presId="urn:microsoft.com/office/officeart/2005/8/layout/bProcess3"/>
    <dgm:cxn modelId="{2DB82BA2-9B55-4DB1-8A2B-7B7D37A037B7}" type="presParOf" srcId="{8521AE97-82AD-4ABA-BCBC-4F9A2279C9E0}" destId="{A7B59530-106E-475C-801D-917D63B32977}" srcOrd="3" destOrd="0" presId="urn:microsoft.com/office/officeart/2005/8/layout/bProcess3"/>
    <dgm:cxn modelId="{99913511-3B52-49B8-987A-CAA03F05CA48}" type="presParOf" srcId="{A7B59530-106E-475C-801D-917D63B32977}" destId="{86773E3B-2B6E-4343-A50C-0969C97C61F5}" srcOrd="0" destOrd="0" presId="urn:microsoft.com/office/officeart/2005/8/layout/bProcess3"/>
    <dgm:cxn modelId="{259D534C-FF03-4621-8492-CBAD3A786D49}" type="presParOf" srcId="{8521AE97-82AD-4ABA-BCBC-4F9A2279C9E0}" destId="{A0EF8569-C245-4C63-B0A9-C23741C00B34}" srcOrd="4" destOrd="0" presId="urn:microsoft.com/office/officeart/2005/8/layout/bProcess3"/>
    <dgm:cxn modelId="{BBE89912-544C-403D-8259-E7E51FC23AF2}" type="presParOf" srcId="{8521AE97-82AD-4ABA-BCBC-4F9A2279C9E0}" destId="{B6A5E6C1-149F-469C-9128-F7AB8E0DEA76}" srcOrd="5" destOrd="0" presId="urn:microsoft.com/office/officeart/2005/8/layout/bProcess3"/>
    <dgm:cxn modelId="{26F2B433-CB6C-4575-B572-CA1D1750C1BB}" type="presParOf" srcId="{B6A5E6C1-149F-469C-9128-F7AB8E0DEA76}" destId="{C9BB77FF-742D-497F-88C1-E3128D9CDA2F}" srcOrd="0" destOrd="0" presId="urn:microsoft.com/office/officeart/2005/8/layout/bProcess3"/>
    <dgm:cxn modelId="{8F871F77-F3AC-4626-A44F-861BE7DA7B0A}" type="presParOf" srcId="{8521AE97-82AD-4ABA-BCBC-4F9A2279C9E0}" destId="{B23272B6-3BDD-4C60-96AA-F9F1D9D6C6BC}" srcOrd="6" destOrd="0" presId="urn:microsoft.com/office/officeart/2005/8/layout/bProcess3"/>
    <dgm:cxn modelId="{9C4A986A-8139-4CE6-9F39-D4FD95018AE9}" type="presParOf" srcId="{8521AE97-82AD-4ABA-BCBC-4F9A2279C9E0}" destId="{18CF0E47-07B8-41AA-AD35-7A5D9B4DB9F6}" srcOrd="7" destOrd="0" presId="urn:microsoft.com/office/officeart/2005/8/layout/bProcess3"/>
    <dgm:cxn modelId="{3605887F-8630-4B23-A8D2-4C97ECA9A53C}" type="presParOf" srcId="{18CF0E47-07B8-41AA-AD35-7A5D9B4DB9F6}" destId="{9992DFAA-C3AD-421E-8408-2F6111B2997A}" srcOrd="0" destOrd="0" presId="urn:microsoft.com/office/officeart/2005/8/layout/bProcess3"/>
    <dgm:cxn modelId="{F1EB0F3D-A5DB-43E4-A5E2-AB13E4CAD872}" type="presParOf" srcId="{8521AE97-82AD-4ABA-BCBC-4F9A2279C9E0}" destId="{E16ED2F1-E003-4E63-8283-A6C16F33AECE}" srcOrd="8" destOrd="0" presId="urn:microsoft.com/office/officeart/2005/8/layout/bProcess3"/>
    <dgm:cxn modelId="{420383BE-611F-463B-B5FB-FA65D5CC8787}" type="presParOf" srcId="{8521AE97-82AD-4ABA-BCBC-4F9A2279C9E0}" destId="{C32D5E22-1B2B-478F-AEC5-1BAA4E9B735B}" srcOrd="9" destOrd="0" presId="urn:microsoft.com/office/officeart/2005/8/layout/bProcess3"/>
    <dgm:cxn modelId="{DD204F12-A01B-49FC-B614-6019794D0256}" type="presParOf" srcId="{C32D5E22-1B2B-478F-AEC5-1BAA4E9B735B}" destId="{C65D7741-0C7E-4414-BE0B-4400B6121181}" srcOrd="0" destOrd="0" presId="urn:microsoft.com/office/officeart/2005/8/layout/bProcess3"/>
    <dgm:cxn modelId="{9100A6BC-7596-4FF0-B584-AA94BA71918C}" type="presParOf" srcId="{8521AE97-82AD-4ABA-BCBC-4F9A2279C9E0}" destId="{49309C52-B902-4799-9721-7DB51967B2D4}" srcOrd="10" destOrd="0" presId="urn:microsoft.com/office/officeart/2005/8/layout/bProcess3"/>
    <dgm:cxn modelId="{8A9626A5-A8F4-4292-8256-DEE6A1E1D839}" type="presParOf" srcId="{8521AE97-82AD-4ABA-BCBC-4F9A2279C9E0}" destId="{D9016C6E-03C3-4855-96DA-10A93DD0CD15}" srcOrd="11" destOrd="0" presId="urn:microsoft.com/office/officeart/2005/8/layout/bProcess3"/>
    <dgm:cxn modelId="{0779663A-15E0-4CE4-AB7B-C8375D2A203D}" type="presParOf" srcId="{D9016C6E-03C3-4855-96DA-10A93DD0CD15}" destId="{7D88690B-0FBB-4591-ADEC-B0AC80DEDF7C}" srcOrd="0" destOrd="0" presId="urn:microsoft.com/office/officeart/2005/8/layout/bProcess3"/>
    <dgm:cxn modelId="{940926A9-C0AB-4713-86AB-FFA10CFDFDCA}" type="presParOf" srcId="{8521AE97-82AD-4ABA-BCBC-4F9A2279C9E0}" destId="{96EEE62E-FF6C-4108-9D77-C952C7EFFA23}" srcOrd="12" destOrd="0" presId="urn:microsoft.com/office/officeart/2005/8/layout/bProcess3"/>
    <dgm:cxn modelId="{30A686C8-3A18-4287-97DD-7D62315B2DA8}" type="presParOf" srcId="{8521AE97-82AD-4ABA-BCBC-4F9A2279C9E0}" destId="{C4B792FA-2057-44AB-99B1-B682984480FB}" srcOrd="13" destOrd="0" presId="urn:microsoft.com/office/officeart/2005/8/layout/bProcess3"/>
    <dgm:cxn modelId="{D651E2F0-4DC1-459C-B08A-5AC59D67076E}" type="presParOf" srcId="{C4B792FA-2057-44AB-99B1-B682984480FB}" destId="{1CB181A4-2CF8-4B70-A83C-D576B23E5BDF}" srcOrd="0" destOrd="0" presId="urn:microsoft.com/office/officeart/2005/8/layout/bProcess3"/>
    <dgm:cxn modelId="{5F8BD505-0266-40DD-9845-D33CEF37BE46}" type="presParOf" srcId="{8521AE97-82AD-4ABA-BCBC-4F9A2279C9E0}" destId="{EC3792CC-CD7D-4D4F-8029-562516031028}" srcOrd="14" destOrd="0" presId="urn:microsoft.com/office/officeart/2005/8/layout/bProcess3"/>
    <dgm:cxn modelId="{FFBF5203-D3E5-491F-8131-AB5321BFCEE7}" type="presParOf" srcId="{8521AE97-82AD-4ABA-BCBC-4F9A2279C9E0}" destId="{9A65725C-661F-459E-A5A6-2D02AEF7535D}" srcOrd="15" destOrd="0" presId="urn:microsoft.com/office/officeart/2005/8/layout/bProcess3"/>
    <dgm:cxn modelId="{4EAE25E3-513C-402E-AAE9-7FBFB22C57DD}" type="presParOf" srcId="{9A65725C-661F-459E-A5A6-2D02AEF7535D}" destId="{15989688-2859-4895-AF63-6F290C96A953}" srcOrd="0" destOrd="0" presId="urn:microsoft.com/office/officeart/2005/8/layout/bProcess3"/>
    <dgm:cxn modelId="{B14E9C50-61F4-4472-981C-61EC29667D05}" type="presParOf" srcId="{8521AE97-82AD-4ABA-BCBC-4F9A2279C9E0}" destId="{038FF6A4-314B-4EC9-B727-741EB15DD32C}" srcOrd="16" destOrd="0" presId="urn:microsoft.com/office/officeart/2005/8/layout/bProcess3"/>
    <dgm:cxn modelId="{D3D21CBE-1B5A-41A5-8C32-93877B23CF08}" type="presParOf" srcId="{8521AE97-82AD-4ABA-BCBC-4F9A2279C9E0}" destId="{7DE7F2D5-1F26-4F17-B5D8-6F052EA01634}" srcOrd="17" destOrd="0" presId="urn:microsoft.com/office/officeart/2005/8/layout/bProcess3"/>
    <dgm:cxn modelId="{F4FC8E7E-E71E-40D3-B3D8-0B38DC403702}" type="presParOf" srcId="{7DE7F2D5-1F26-4F17-B5D8-6F052EA01634}" destId="{81DF84E2-EC3A-4FF5-8E0A-8269473FCB5A}" srcOrd="0" destOrd="0" presId="urn:microsoft.com/office/officeart/2005/8/layout/bProcess3"/>
    <dgm:cxn modelId="{0B2A23FB-CE38-4815-A5E6-DCF5F419C78A}" type="presParOf" srcId="{8521AE97-82AD-4ABA-BCBC-4F9A2279C9E0}" destId="{5F1847E8-072F-47CF-A6F7-6F1B803CE809}" srcOrd="18" destOrd="0" presId="urn:microsoft.com/office/officeart/2005/8/layout/bProcess3"/>
    <dgm:cxn modelId="{3F9B1D8B-297D-4B19-8EDC-03AD320CF2FA}" type="presParOf" srcId="{8521AE97-82AD-4ABA-BCBC-4F9A2279C9E0}" destId="{F6EAF74A-F4DA-4B33-A382-7A4E3FB4E37B}" srcOrd="19" destOrd="0" presId="urn:microsoft.com/office/officeart/2005/8/layout/bProcess3"/>
    <dgm:cxn modelId="{2BF1C9F2-668C-4C53-B9B1-1024299DB1D3}" type="presParOf" srcId="{F6EAF74A-F4DA-4B33-A382-7A4E3FB4E37B}" destId="{9DC18059-D871-44F9-B15B-2A07FC996107}" srcOrd="0" destOrd="0" presId="urn:microsoft.com/office/officeart/2005/8/layout/bProcess3"/>
    <dgm:cxn modelId="{073D2977-F21A-4626-9E57-523B8898DB89}" type="presParOf" srcId="{8521AE97-82AD-4ABA-BCBC-4F9A2279C9E0}" destId="{8FFF459E-F2BB-4E4F-ACCF-EC254FAEDB56}" srcOrd="2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737BDD-FE53-49BD-B1CE-285300AE49E5}">
      <dsp:nvSpPr>
        <dsp:cNvPr id="0" name=""/>
        <dsp:cNvSpPr/>
      </dsp:nvSpPr>
      <dsp:spPr>
        <a:xfrm>
          <a:off x="2415223" y="480082"/>
          <a:ext cx="2266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698" y="45720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22140" y="524514"/>
        <a:ext cx="12864" cy="2575"/>
      </dsp:txXfrm>
    </dsp:sp>
    <dsp:sp modelId="{1214FD6F-75E9-4A4C-A2EF-F857C052CEAE}">
      <dsp:nvSpPr>
        <dsp:cNvPr id="0" name=""/>
        <dsp:cNvSpPr/>
      </dsp:nvSpPr>
      <dsp:spPr>
        <a:xfrm>
          <a:off x="450468" y="4219"/>
          <a:ext cx="1966555" cy="10431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National Banking Act: 1863</a:t>
          </a:r>
        </a:p>
      </dsp:txBody>
      <dsp:txXfrm>
        <a:off x="450468" y="4219"/>
        <a:ext cx="1966555" cy="1043166"/>
      </dsp:txXfrm>
    </dsp:sp>
    <dsp:sp modelId="{A7B59530-106E-475C-801D-917D63B32977}">
      <dsp:nvSpPr>
        <dsp:cNvPr id="0" name=""/>
        <dsp:cNvSpPr/>
      </dsp:nvSpPr>
      <dsp:spPr>
        <a:xfrm>
          <a:off x="4639077" y="480082"/>
          <a:ext cx="2266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698" y="45720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45994" y="524514"/>
        <a:ext cx="12864" cy="2575"/>
      </dsp:txXfrm>
    </dsp:sp>
    <dsp:sp modelId="{6F70B7E4-2480-4F73-A51D-113C12A18933}">
      <dsp:nvSpPr>
        <dsp:cNvPr id="0" name=""/>
        <dsp:cNvSpPr/>
      </dsp:nvSpPr>
      <dsp:spPr>
        <a:xfrm>
          <a:off x="2674322" y="4219"/>
          <a:ext cx="1966555" cy="10431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Trusts</a:t>
          </a:r>
        </a:p>
      </dsp:txBody>
      <dsp:txXfrm>
        <a:off x="2674322" y="4219"/>
        <a:ext cx="1966555" cy="1043166"/>
      </dsp:txXfrm>
    </dsp:sp>
    <dsp:sp modelId="{B6A5E6C1-149F-469C-9128-F7AB8E0DEA76}">
      <dsp:nvSpPr>
        <dsp:cNvPr id="0" name=""/>
        <dsp:cNvSpPr/>
      </dsp:nvSpPr>
      <dsp:spPr>
        <a:xfrm>
          <a:off x="1433746" y="1045585"/>
          <a:ext cx="4447707" cy="226698"/>
        </a:xfrm>
        <a:custGeom>
          <a:avLst/>
          <a:gdLst/>
          <a:ahLst/>
          <a:cxnLst/>
          <a:rect l="0" t="0" r="0" b="0"/>
          <a:pathLst>
            <a:path>
              <a:moveTo>
                <a:pt x="4447707" y="0"/>
              </a:moveTo>
              <a:lnTo>
                <a:pt x="4447707" y="130449"/>
              </a:lnTo>
              <a:lnTo>
                <a:pt x="0" y="130449"/>
              </a:lnTo>
              <a:lnTo>
                <a:pt x="0" y="226698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46221" y="1157647"/>
        <a:ext cx="222757" cy="2575"/>
      </dsp:txXfrm>
    </dsp:sp>
    <dsp:sp modelId="{A0EF8569-C245-4C63-B0A9-C23741C00B34}">
      <dsp:nvSpPr>
        <dsp:cNvPr id="0" name=""/>
        <dsp:cNvSpPr/>
      </dsp:nvSpPr>
      <dsp:spPr>
        <a:xfrm>
          <a:off x="4898176" y="4219"/>
          <a:ext cx="1966555" cy="10431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Panic of 1907</a:t>
          </a:r>
        </a:p>
      </dsp:txBody>
      <dsp:txXfrm>
        <a:off x="4898176" y="4219"/>
        <a:ext cx="1966555" cy="1043166"/>
      </dsp:txXfrm>
    </dsp:sp>
    <dsp:sp modelId="{18CF0E47-07B8-41AA-AD35-7A5D9B4DB9F6}">
      <dsp:nvSpPr>
        <dsp:cNvPr id="0" name=""/>
        <dsp:cNvSpPr/>
      </dsp:nvSpPr>
      <dsp:spPr>
        <a:xfrm>
          <a:off x="2415223" y="1780547"/>
          <a:ext cx="2266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698" y="45720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22140" y="1824979"/>
        <a:ext cx="12864" cy="2575"/>
      </dsp:txXfrm>
    </dsp:sp>
    <dsp:sp modelId="{B23272B6-3BDD-4C60-96AA-F9F1D9D6C6BC}">
      <dsp:nvSpPr>
        <dsp:cNvPr id="0" name=""/>
        <dsp:cNvSpPr/>
      </dsp:nvSpPr>
      <dsp:spPr>
        <a:xfrm>
          <a:off x="450468" y="1304684"/>
          <a:ext cx="1966555" cy="10431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Federal Reserve Act: 1913</a:t>
          </a:r>
        </a:p>
      </dsp:txBody>
      <dsp:txXfrm>
        <a:off x="450468" y="1304684"/>
        <a:ext cx="1966555" cy="1043166"/>
      </dsp:txXfrm>
    </dsp:sp>
    <dsp:sp modelId="{C32D5E22-1B2B-478F-AEC5-1BAA4E9B735B}">
      <dsp:nvSpPr>
        <dsp:cNvPr id="0" name=""/>
        <dsp:cNvSpPr/>
      </dsp:nvSpPr>
      <dsp:spPr>
        <a:xfrm>
          <a:off x="4639077" y="1780547"/>
          <a:ext cx="2266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698" y="45720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45994" y="1824979"/>
        <a:ext cx="12864" cy="2575"/>
      </dsp:txXfrm>
    </dsp:sp>
    <dsp:sp modelId="{E16ED2F1-E003-4E63-8283-A6C16F33AECE}">
      <dsp:nvSpPr>
        <dsp:cNvPr id="0" name=""/>
        <dsp:cNvSpPr/>
      </dsp:nvSpPr>
      <dsp:spPr>
        <a:xfrm>
          <a:off x="2674322" y="1304684"/>
          <a:ext cx="1966555" cy="10431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State Banks</a:t>
          </a:r>
        </a:p>
      </dsp:txBody>
      <dsp:txXfrm>
        <a:off x="2674322" y="1304684"/>
        <a:ext cx="1966555" cy="1043166"/>
      </dsp:txXfrm>
    </dsp:sp>
    <dsp:sp modelId="{D9016C6E-03C3-4855-96DA-10A93DD0CD15}">
      <dsp:nvSpPr>
        <dsp:cNvPr id="0" name=""/>
        <dsp:cNvSpPr/>
      </dsp:nvSpPr>
      <dsp:spPr>
        <a:xfrm>
          <a:off x="1433746" y="2346050"/>
          <a:ext cx="4447707" cy="226698"/>
        </a:xfrm>
        <a:custGeom>
          <a:avLst/>
          <a:gdLst/>
          <a:ahLst/>
          <a:cxnLst/>
          <a:rect l="0" t="0" r="0" b="0"/>
          <a:pathLst>
            <a:path>
              <a:moveTo>
                <a:pt x="4447707" y="0"/>
              </a:moveTo>
              <a:lnTo>
                <a:pt x="4447707" y="130449"/>
              </a:lnTo>
              <a:lnTo>
                <a:pt x="0" y="130449"/>
              </a:lnTo>
              <a:lnTo>
                <a:pt x="0" y="226698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46221" y="2458112"/>
        <a:ext cx="222757" cy="2575"/>
      </dsp:txXfrm>
    </dsp:sp>
    <dsp:sp modelId="{49309C52-B902-4799-9721-7DB51967B2D4}">
      <dsp:nvSpPr>
        <dsp:cNvPr id="0" name=""/>
        <dsp:cNvSpPr/>
      </dsp:nvSpPr>
      <dsp:spPr>
        <a:xfrm>
          <a:off x="4898176" y="1304684"/>
          <a:ext cx="1966555" cy="10431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Great Contraction: 1929-1933</a:t>
          </a:r>
        </a:p>
      </dsp:txBody>
      <dsp:txXfrm>
        <a:off x="4898176" y="1304684"/>
        <a:ext cx="1966555" cy="1043166"/>
      </dsp:txXfrm>
    </dsp:sp>
    <dsp:sp modelId="{C4B792FA-2057-44AB-99B1-B682984480FB}">
      <dsp:nvSpPr>
        <dsp:cNvPr id="0" name=""/>
        <dsp:cNvSpPr/>
      </dsp:nvSpPr>
      <dsp:spPr>
        <a:xfrm>
          <a:off x="2415223" y="3081012"/>
          <a:ext cx="2266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698" y="45720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22140" y="3125444"/>
        <a:ext cx="12864" cy="2575"/>
      </dsp:txXfrm>
    </dsp:sp>
    <dsp:sp modelId="{96EEE62E-FF6C-4108-9D77-C952C7EFFA23}">
      <dsp:nvSpPr>
        <dsp:cNvPr id="0" name=""/>
        <dsp:cNvSpPr/>
      </dsp:nvSpPr>
      <dsp:spPr>
        <a:xfrm>
          <a:off x="450468" y="2605149"/>
          <a:ext cx="1966555" cy="10431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Banking Act 1933: FDIC</a:t>
          </a:r>
        </a:p>
      </dsp:txBody>
      <dsp:txXfrm>
        <a:off x="450468" y="2605149"/>
        <a:ext cx="1966555" cy="1043166"/>
      </dsp:txXfrm>
    </dsp:sp>
    <dsp:sp modelId="{9A65725C-661F-459E-A5A6-2D02AEF7535D}">
      <dsp:nvSpPr>
        <dsp:cNvPr id="0" name=""/>
        <dsp:cNvSpPr/>
      </dsp:nvSpPr>
      <dsp:spPr>
        <a:xfrm>
          <a:off x="4639077" y="3081012"/>
          <a:ext cx="2266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698" y="45720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45994" y="3125444"/>
        <a:ext cx="12864" cy="2575"/>
      </dsp:txXfrm>
    </dsp:sp>
    <dsp:sp modelId="{EC3792CC-CD7D-4D4F-8029-562516031028}">
      <dsp:nvSpPr>
        <dsp:cNvPr id="0" name=""/>
        <dsp:cNvSpPr/>
      </dsp:nvSpPr>
      <dsp:spPr>
        <a:xfrm>
          <a:off x="2674322" y="2605149"/>
          <a:ext cx="1966555" cy="10431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Shadow Banks</a:t>
          </a:r>
        </a:p>
      </dsp:txBody>
      <dsp:txXfrm>
        <a:off x="2674322" y="2605149"/>
        <a:ext cx="1966555" cy="1043166"/>
      </dsp:txXfrm>
    </dsp:sp>
    <dsp:sp modelId="{7DE7F2D5-1F26-4F17-B5D8-6F052EA01634}">
      <dsp:nvSpPr>
        <dsp:cNvPr id="0" name=""/>
        <dsp:cNvSpPr/>
      </dsp:nvSpPr>
      <dsp:spPr>
        <a:xfrm>
          <a:off x="1433746" y="3646515"/>
          <a:ext cx="4447707" cy="226698"/>
        </a:xfrm>
        <a:custGeom>
          <a:avLst/>
          <a:gdLst/>
          <a:ahLst/>
          <a:cxnLst/>
          <a:rect l="0" t="0" r="0" b="0"/>
          <a:pathLst>
            <a:path>
              <a:moveTo>
                <a:pt x="4447707" y="0"/>
              </a:moveTo>
              <a:lnTo>
                <a:pt x="4447707" y="130449"/>
              </a:lnTo>
              <a:lnTo>
                <a:pt x="0" y="130449"/>
              </a:lnTo>
              <a:lnTo>
                <a:pt x="0" y="226698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46221" y="3758577"/>
        <a:ext cx="222757" cy="2575"/>
      </dsp:txXfrm>
    </dsp:sp>
    <dsp:sp modelId="{038FF6A4-314B-4EC9-B727-741EB15DD32C}">
      <dsp:nvSpPr>
        <dsp:cNvPr id="0" name=""/>
        <dsp:cNvSpPr/>
      </dsp:nvSpPr>
      <dsp:spPr>
        <a:xfrm>
          <a:off x="4898176" y="2605149"/>
          <a:ext cx="1966555" cy="10431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Panic of 2008</a:t>
          </a:r>
        </a:p>
      </dsp:txBody>
      <dsp:txXfrm>
        <a:off x="4898176" y="2605149"/>
        <a:ext cx="1966555" cy="1043166"/>
      </dsp:txXfrm>
    </dsp:sp>
    <dsp:sp modelId="{F6EAF74A-F4DA-4B33-A382-7A4E3FB4E37B}">
      <dsp:nvSpPr>
        <dsp:cNvPr id="0" name=""/>
        <dsp:cNvSpPr/>
      </dsp:nvSpPr>
      <dsp:spPr>
        <a:xfrm>
          <a:off x="2415223" y="4381477"/>
          <a:ext cx="2266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698" y="45720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22140" y="4425909"/>
        <a:ext cx="12864" cy="2575"/>
      </dsp:txXfrm>
    </dsp:sp>
    <dsp:sp modelId="{5F1847E8-072F-47CF-A6F7-6F1B803CE809}">
      <dsp:nvSpPr>
        <dsp:cNvPr id="0" name=""/>
        <dsp:cNvSpPr/>
      </dsp:nvSpPr>
      <dsp:spPr>
        <a:xfrm>
          <a:off x="450468" y="3905614"/>
          <a:ext cx="1966555" cy="10431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Dodd-Frank Act: 2010</a:t>
          </a:r>
        </a:p>
      </dsp:txBody>
      <dsp:txXfrm>
        <a:off x="450468" y="3905614"/>
        <a:ext cx="1966555" cy="1043166"/>
      </dsp:txXfrm>
    </dsp:sp>
    <dsp:sp modelId="{8FFF459E-F2BB-4E4F-ACCF-EC254FAEDB56}">
      <dsp:nvSpPr>
        <dsp:cNvPr id="0" name=""/>
        <dsp:cNvSpPr/>
      </dsp:nvSpPr>
      <dsp:spPr>
        <a:xfrm>
          <a:off x="2674322" y="3905614"/>
          <a:ext cx="1966555" cy="10431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Fintech?</a:t>
          </a:r>
        </a:p>
      </dsp:txBody>
      <dsp:txXfrm>
        <a:off x="2674322" y="3905614"/>
        <a:ext cx="1966555" cy="10431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EE973-9CBD-434C-AFBF-5A9F6F47EACC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EBC9F-C149-4582-B409-83C0985EC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749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 dimensions could be large value v small value payments, privacy, etc.</a:t>
            </a:r>
          </a:p>
          <a:p>
            <a:r>
              <a:rPr lang="en-US" dirty="0"/>
              <a:t>Successful state money is what people want to use when not obliged to.</a:t>
            </a:r>
          </a:p>
          <a:p>
            <a:r>
              <a:rPr lang="en-US" dirty="0"/>
              <a:t>Very hard to be less risky than a successful state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EBC9F-C149-4582-B409-83C0985EC5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52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Innovations move along a cost/risk trade off from the anchor.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nodes are combinations of firms, instruments, and supporting technology.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Innovation requires rule of law and sufficiently non-expropriative government.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Model emphasized payments heterogeneity.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EBC9F-C149-4582-B409-83C0985EC5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2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represents payment system development: lower cost for the same risk/lower risk for the same cost.</a:t>
            </a:r>
          </a:p>
          <a:p>
            <a:r>
              <a:rPr lang="en-US" dirty="0"/>
              <a:t>Requires building of a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EBC9F-C149-4582-B409-83C0985EC5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85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focus of our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EBC9F-C149-4582-B409-83C0985EC5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3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modern era was full of experiments in creating public banks with paper anchors.</a:t>
            </a:r>
          </a:p>
          <a:p>
            <a:r>
              <a:rPr lang="en-US" dirty="0"/>
              <a:t>Most flounder.  A few, like Amsterdam and England, succeeded: i.e. people wanted to use their money.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EBC9F-C149-4582-B409-83C0985EC5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47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Again, successful state money is what people want to use when not obliged to.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EBC9F-C149-4582-B409-83C0985EC54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42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keep public bank close enough to politics to gain legitimacy yet far enough away from politics to gain credibility? Today, one answer is a Paul Tucker style narrow mandate. Amsterdam stayed narrow by being a municipal entity that avoided state (provincial) debt.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EBC9F-C149-4582-B409-83C0985EC54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97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Shifts in payments system anchor is highly entwined with political economy.  Success made the Bank florin (guilder) the era’s reserve currency.</a:t>
            </a: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shift can also spark rapid innovation.  Merchant banking used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balances for wholesale funding (acceptance credit) using bills of exchange instead of demand deposits.  Amsterdam money market becomes hub for much of Europe in the 1700s.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EBC9F-C149-4582-B409-83C0985EC54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89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New Deal regulations like Regulation Q became very costly with inflation.  </a:t>
            </a:r>
          </a:p>
          <a:p>
            <a:r>
              <a:rPr lang="en-US" dirty="0"/>
              <a:t>Powerful incentives developed to circumvent regulations.  Note, Fed reserves are now the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EBC9F-C149-4582-B409-83C0985EC54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08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Banks want to form: they are a profitable risk/cost trade off favored by customers.</a:t>
            </a:r>
          </a:p>
          <a:p>
            <a:r>
              <a:rPr lang="en-US" dirty="0"/>
              <a:t>Banks are also a fragile arrangement with negative externalities at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EBC9F-C149-4582-B409-83C0985EC54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60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Innovation/circumvention was the creation of MMMFs and Repo-based market funding.</a:t>
            </a:r>
          </a:p>
          <a:p>
            <a:r>
              <a:rPr lang="en-US" dirty="0"/>
              <a:t>The new rivals pressured banks who pressured regulators for the relaxation: end Reg Q, allow interstate branch banking, end Glass-Steagall.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EBC9F-C149-4582-B409-83C0985EC54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429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Regulation reduces risks but increases costs.  In time, innovation works around regulations.  Often incumbents gain accommodation to compete with new forms.  Eventually, a crisis occurs, and the severe crises include a payments (safe assets) panic.  New regulations seek to solve the problem, and the cycle resumes.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EBC9F-C149-4582-B409-83C0985EC54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49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083D-7A44-49DE-AD0F-04DE382CD16C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40096-B4BD-4979-90D9-AEEB0468B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3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083D-7A44-49DE-AD0F-04DE382CD16C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40096-B4BD-4979-90D9-AEEB0468B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5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083D-7A44-49DE-AD0F-04DE382CD16C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40096-B4BD-4979-90D9-AEEB0468B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324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083D-7A44-49DE-AD0F-04DE382CD16C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40096-B4BD-4979-90D9-AEEB0468B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083D-7A44-49DE-AD0F-04DE382CD16C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40096-B4BD-4979-90D9-AEEB0468B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212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083D-7A44-49DE-AD0F-04DE382CD16C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40096-B4BD-4979-90D9-AEEB0468B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0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083D-7A44-49DE-AD0F-04DE382CD16C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40096-B4BD-4979-90D9-AEEB0468B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7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083D-7A44-49DE-AD0F-04DE382CD16C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40096-B4BD-4979-90D9-AEEB0468B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16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083D-7A44-49DE-AD0F-04DE382CD16C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40096-B4BD-4979-90D9-AEEB0468B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083D-7A44-49DE-AD0F-04DE382CD16C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40096-B4BD-4979-90D9-AEEB0468B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3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083D-7A44-49DE-AD0F-04DE382CD16C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40096-B4BD-4979-90D9-AEEB0468B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20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0083D-7A44-49DE-AD0F-04DE382CD16C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40096-B4BD-4979-90D9-AEEB0468B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62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1"/>
            <a:ext cx="7772400" cy="2762250"/>
          </a:xfrm>
        </p:spPr>
        <p:txBody>
          <a:bodyPr>
            <a:normAutofit/>
          </a:bodyPr>
          <a:lstStyle/>
          <a:p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Evolution of Payments Systems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200400"/>
            <a:ext cx="8001000" cy="2971800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Stephen Quinn (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Texas Christian University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William Roberds (Federal Reserve Bank of Atlanta)</a:t>
            </a:r>
          </a:p>
          <a:p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Views presented are those of the authors and do not represent the official views of any part of the Federal Reserve System.</a:t>
            </a:r>
          </a:p>
          <a:p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679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Suggests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3152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intervention is a key factor.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State-supplied money anchors the payments system.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Regulations orient the direction of payments system innovation.  </a:t>
            </a:r>
          </a:p>
          <a:p>
            <a:pPr marL="0" indent="0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evolving system then creates new innovations, new crises, and new regulations.</a:t>
            </a:r>
          </a:p>
        </p:txBody>
      </p:sp>
    </p:spTree>
    <p:extLst>
      <p:ext uri="{BB962C8B-B14F-4D97-AF65-F5344CB8AC3E}">
        <p14:creationId xmlns:p14="http://schemas.microsoft.com/office/powerpoint/2010/main" val="207346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Framework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769244" y="1570507"/>
            <a:ext cx="0" cy="35039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769244" y="5074426"/>
            <a:ext cx="40685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687798" y="1570506"/>
            <a:ext cx="1902378" cy="2087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effectLst/>
                <a:latin typeface="Times New Roman"/>
                <a:ea typeface="Calibri"/>
                <a:cs typeface="Times New Roman"/>
              </a:rPr>
              <a:t>Risk of payment technology not working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648199" y="5293421"/>
            <a:ext cx="3535681" cy="620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effectLst/>
                <a:latin typeface="Times New Roman"/>
                <a:ea typeface="Calibri"/>
                <a:cs typeface="Times New Roman"/>
              </a:rPr>
              <a:t>Resource cost of using payment technology</a:t>
            </a:r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3223964" y="1877268"/>
            <a:ext cx="2628198" cy="2541025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63965" y="4002794"/>
            <a:ext cx="17475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Successful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State Money</a:t>
            </a:r>
          </a:p>
        </p:txBody>
      </p:sp>
      <p:sp>
        <p:nvSpPr>
          <p:cNvPr id="11" name="TextBox 10"/>
          <p:cNvSpPr txBox="1"/>
          <p:nvPr/>
        </p:nvSpPr>
        <p:spPr>
          <a:xfrm rot="13435936" flipV="1">
            <a:off x="3032003" y="2833996"/>
            <a:ext cx="4037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Saving Innovations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396ECE-ABB5-4340-9D84-8EF65CB37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61" y="6384484"/>
            <a:ext cx="776840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Calibri" pitchFamily="34" charset="0"/>
                <a:cs typeface="Times New Roman" pitchFamily="18" charset="0"/>
              </a:rPr>
              <a:t>Source: Adaptation of Berger, Hancock and Marquardt (1996: 700)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020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Venice circa 1500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70172" y="1114713"/>
            <a:ext cx="7490372" cy="4812467"/>
            <a:chOff x="-268331" y="-210599"/>
            <a:chExt cx="3741526" cy="251177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565150" y="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565150" y="1828800"/>
              <a:ext cx="203227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 Box 2"/>
            <p:cNvSpPr txBox="1">
              <a:spLocks noChangeArrowheads="1"/>
            </p:cNvSpPr>
            <p:nvPr/>
          </p:nvSpPr>
          <p:spPr bwMode="auto">
            <a:xfrm>
              <a:off x="-268331" y="-210599"/>
              <a:ext cx="721331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400" dirty="0">
                  <a:effectLst/>
                  <a:latin typeface="Times New Roman"/>
                  <a:ea typeface="Calibri"/>
                  <a:cs typeface="Times New Roman"/>
                </a:rPr>
                <a:t>Risk</a:t>
              </a:r>
            </a:p>
          </p:txBody>
        </p:sp>
        <p:sp>
          <p:nvSpPr>
            <p:cNvPr id="8" name="Text Box 2"/>
            <p:cNvSpPr txBox="1">
              <a:spLocks noChangeArrowheads="1"/>
            </p:cNvSpPr>
            <p:nvPr/>
          </p:nvSpPr>
          <p:spPr bwMode="auto">
            <a:xfrm>
              <a:off x="2751864" y="1977321"/>
              <a:ext cx="721331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000" dirty="0">
                  <a:effectLst/>
                  <a:latin typeface="Times New Roman"/>
                  <a:ea typeface="Calibri"/>
                  <a:cs typeface="Times New Roman"/>
                </a:rPr>
                <a:t>Cost</a:t>
              </a:r>
            </a:p>
          </p:txBody>
        </p:sp>
        <p:cxnSp>
          <p:nvCxnSpPr>
            <p:cNvPr id="10" name="Straight Connector 9"/>
            <p:cNvCxnSpPr>
              <a:cxnSpLocks/>
            </p:cNvCxnSpPr>
            <p:nvPr/>
          </p:nvCxnSpPr>
          <p:spPr>
            <a:xfrm>
              <a:off x="1062181" y="0"/>
              <a:ext cx="1298772" cy="1282700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6333884" y="3791158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514600"/>
            <a:ext cx="2387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Bills of Exchange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3761" y="1626790"/>
            <a:ext cx="1988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Deposit Banks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625" y="3741661"/>
            <a:ext cx="2114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lacking 3% of content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738765" y="3975825"/>
            <a:ext cx="3476770" cy="2308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40512" y="5324113"/>
            <a:ext cx="82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3%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6367935" y="4151308"/>
            <a:ext cx="0" cy="8708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73024" y="5324108"/>
            <a:ext cx="82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1%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5105400" y="2976265"/>
            <a:ext cx="0" cy="20458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2738765" y="2880848"/>
            <a:ext cx="227803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9116" y="2644873"/>
            <a:ext cx="2114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risk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918BF0-7DAC-43F9-88CD-A8632647FEF6}"/>
              </a:ext>
            </a:extLst>
          </p:cNvPr>
          <p:cNvSpPr txBox="1"/>
          <p:nvPr/>
        </p:nvSpPr>
        <p:spPr>
          <a:xfrm>
            <a:off x="600511" y="1821928"/>
            <a:ext cx="2114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failure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052A5E-28FE-4CB4-961D-4DF904885A2A}"/>
              </a:ext>
            </a:extLst>
          </p:cNvPr>
          <p:cNvCxnSpPr>
            <a:cxnSpLocks/>
          </p:cNvCxnSpPr>
          <p:nvPr/>
        </p:nvCxnSpPr>
        <p:spPr>
          <a:xfrm>
            <a:off x="2714651" y="2070898"/>
            <a:ext cx="1400149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895FA9E-3232-47E6-B129-FBF548569F95}"/>
              </a:ext>
            </a:extLst>
          </p:cNvPr>
          <p:cNvCxnSpPr>
            <a:cxnSpLocks/>
          </p:cNvCxnSpPr>
          <p:nvPr/>
        </p:nvCxnSpPr>
        <p:spPr>
          <a:xfrm flipV="1">
            <a:off x="4158903" y="2196775"/>
            <a:ext cx="26318" cy="28022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635A5A0-0831-44D6-8230-2A2F7807A881}"/>
              </a:ext>
            </a:extLst>
          </p:cNvPr>
          <p:cNvSpPr txBox="1"/>
          <p:nvPr/>
        </p:nvSpPr>
        <p:spPr>
          <a:xfrm>
            <a:off x="3877784" y="5306694"/>
            <a:ext cx="82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0%</a:t>
            </a:r>
          </a:p>
        </p:txBody>
      </p:sp>
    </p:spTree>
    <p:extLst>
      <p:ext uri="{BB962C8B-B14F-4D97-AF65-F5344CB8AC3E}">
        <p14:creationId xmlns:p14="http://schemas.microsoft.com/office/powerpoint/2010/main" val="247181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Venetian Pivot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607359" y="1518214"/>
            <a:ext cx="5921961" cy="4282127"/>
            <a:chOff x="0" y="0"/>
            <a:chExt cx="2958087" cy="223497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565150" y="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565150" y="1828800"/>
              <a:ext cx="203227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 Box 2"/>
            <p:cNvSpPr txBox="1">
              <a:spLocks noChangeArrowheads="1"/>
            </p:cNvSpPr>
            <p:nvPr/>
          </p:nvSpPr>
          <p:spPr bwMode="auto">
            <a:xfrm>
              <a:off x="0" y="0"/>
              <a:ext cx="721331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400" dirty="0">
                  <a:effectLst/>
                  <a:latin typeface="Times New Roman"/>
                  <a:ea typeface="Calibri"/>
                  <a:cs typeface="Times New Roman"/>
                </a:rPr>
                <a:t>Risk</a:t>
              </a:r>
            </a:p>
          </p:txBody>
        </p:sp>
        <p:sp>
          <p:nvSpPr>
            <p:cNvPr id="8" name="Text Box 2"/>
            <p:cNvSpPr txBox="1">
              <a:spLocks noChangeArrowheads="1"/>
            </p:cNvSpPr>
            <p:nvPr/>
          </p:nvSpPr>
          <p:spPr bwMode="auto">
            <a:xfrm>
              <a:off x="2236756" y="1911120"/>
              <a:ext cx="721331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000" dirty="0">
                  <a:effectLst/>
                  <a:latin typeface="Times New Roman"/>
                  <a:ea typeface="Calibri"/>
                  <a:cs typeface="Times New Roman"/>
                </a:rPr>
                <a:t>Cost</a:t>
              </a:r>
            </a:p>
          </p:txBody>
        </p:sp>
        <p:cxnSp>
          <p:nvCxnSpPr>
            <p:cNvPr id="10" name="Straight Connector 9"/>
            <p:cNvCxnSpPr>
              <a:endCxn id="20" idx="1"/>
            </p:cNvCxnSpPr>
            <p:nvPr/>
          </p:nvCxnSpPr>
          <p:spPr>
            <a:xfrm>
              <a:off x="1823437" y="0"/>
              <a:ext cx="537516" cy="1306796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6333884" y="3791158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8874" y="3312426"/>
            <a:ext cx="13965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Bills of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122" y="2481429"/>
            <a:ext cx="1207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Deposit Banks</a:t>
            </a:r>
          </a:p>
        </p:txBody>
      </p:sp>
      <p:cxnSp>
        <p:nvCxnSpPr>
          <p:cNvPr id="13" name="Straight Connector 12"/>
          <p:cNvCxnSpPr>
            <a:endCxn id="20" idx="1"/>
          </p:cNvCxnSpPr>
          <p:nvPr/>
        </p:nvCxnSpPr>
        <p:spPr>
          <a:xfrm>
            <a:off x="3200400" y="2209800"/>
            <a:ext cx="3133484" cy="1812191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91818" y="2019764"/>
            <a:ext cx="2207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Merchant Credit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E080B7B9-4F4C-4A78-B02C-9546D63EBEC6}"/>
              </a:ext>
            </a:extLst>
          </p:cNvPr>
          <p:cNvSpPr/>
          <p:nvPr/>
        </p:nvSpPr>
        <p:spPr>
          <a:xfrm rot="18507484">
            <a:off x="3491480" y="2258522"/>
            <a:ext cx="2522471" cy="1934823"/>
          </a:xfrm>
          <a:prstGeom prst="arc">
            <a:avLst>
              <a:gd name="adj1" fmla="val 16200000"/>
              <a:gd name="adj2" fmla="val 259842"/>
            </a:avLst>
          </a:prstGeom>
          <a:ln w="38100">
            <a:prstDash val="solid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692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Anchor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34" y="1595437"/>
            <a:ext cx="8834438" cy="366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901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Anchor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34355E-4B99-4ACD-B8B9-B3447382AA9D}"/>
              </a:ext>
            </a:extLst>
          </p:cNvPr>
          <p:cNvSpPr/>
          <p:nvPr/>
        </p:nvSpPr>
        <p:spPr>
          <a:xfrm>
            <a:off x="457200" y="2438400"/>
            <a:ext cx="5562600" cy="2743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BE6E75-1008-4792-9760-11A67771DCA2}"/>
              </a:ext>
            </a:extLst>
          </p:cNvPr>
          <p:cNvSpPr/>
          <p:nvPr/>
        </p:nvSpPr>
        <p:spPr>
          <a:xfrm>
            <a:off x="3429000" y="2438400"/>
            <a:ext cx="5410200" cy="2743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435E4-42F9-4D2A-B4B5-6C5208F245EF}"/>
              </a:ext>
            </a:extLst>
          </p:cNvPr>
          <p:cNvSpPr txBox="1"/>
          <p:nvPr/>
        </p:nvSpPr>
        <p:spPr>
          <a:xfrm>
            <a:off x="1295400" y="3302168"/>
            <a:ext cx="167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Shortage of coins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CFA9D3-C59A-445A-A8F0-094D404FFE5A}"/>
              </a:ext>
            </a:extLst>
          </p:cNvPr>
          <p:cNvSpPr txBox="1"/>
          <p:nvPr/>
        </p:nvSpPr>
        <p:spPr>
          <a:xfrm>
            <a:off x="6362700" y="3378366"/>
            <a:ext cx="1828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Sovereign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1756AB-C90F-43CF-808B-332F4F69592E}"/>
              </a:ext>
            </a:extLst>
          </p:cNvPr>
          <p:cNvSpPr txBox="1"/>
          <p:nvPr/>
        </p:nvSpPr>
        <p:spPr>
          <a:xfrm>
            <a:off x="4165600" y="3071335"/>
            <a:ext cx="152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Bank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Ledgers</a:t>
            </a:r>
          </a:p>
        </p:txBody>
      </p:sp>
    </p:spTree>
    <p:extLst>
      <p:ext uri="{BB962C8B-B14F-4D97-AF65-F5344CB8AC3E}">
        <p14:creationId xmlns:p14="http://schemas.microsoft.com/office/powerpoint/2010/main" val="3783871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713E3-70E6-BC48-B9D5-093AB4C0B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Alchemy of an Anchor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A38A0-D242-1B4D-A4A7-B3030A764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Paradox: state-sponsored payments entities hold the same assets as private-sector rivals.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is to create more trustworthy liabilities.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success, some magic ingredient is required.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Survivor Bias: Alchemy often does not work, yet easy to remember the successes.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Failure: France, 1720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830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315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 risks determine long run success of new anchor, i.e.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generate credibility (the expectation of repayment)?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generate legitimacy (the appropriate application of state power)?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458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Amsterdam Shift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914400" y="1600200"/>
            <a:ext cx="5791200" cy="3824387"/>
            <a:chOff x="0" y="0"/>
            <a:chExt cx="2626331" cy="226695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565150" y="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565150" y="1828800"/>
              <a:ext cx="203227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 Box 2"/>
            <p:cNvSpPr txBox="1">
              <a:spLocks noChangeArrowheads="1"/>
            </p:cNvSpPr>
            <p:nvPr/>
          </p:nvSpPr>
          <p:spPr bwMode="auto">
            <a:xfrm>
              <a:off x="0" y="0"/>
              <a:ext cx="721331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400" dirty="0">
                  <a:effectLst/>
                  <a:latin typeface="Times New Roman"/>
                  <a:ea typeface="Calibri"/>
                  <a:cs typeface="Times New Roman"/>
                </a:rPr>
                <a:t>Risk</a:t>
              </a:r>
            </a:p>
          </p:txBody>
        </p:sp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1905000" y="1943100"/>
              <a:ext cx="721331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400" dirty="0">
                  <a:effectLst/>
                  <a:latin typeface="Times New Roman"/>
                  <a:ea typeface="Calibri"/>
                  <a:cs typeface="Times New Roman"/>
                </a:rPr>
                <a:t>Cost</a:t>
              </a:r>
            </a:p>
          </p:txBody>
        </p:sp>
        <p:cxnSp>
          <p:nvCxnSpPr>
            <p:cNvPr id="10" name="Straight Arrow Connector 9"/>
            <p:cNvCxnSpPr>
              <a:cxnSpLocks/>
            </p:cNvCxnSpPr>
            <p:nvPr/>
          </p:nvCxnSpPr>
          <p:spPr>
            <a:xfrm flipH="1">
              <a:off x="1693294" y="1355053"/>
              <a:ext cx="483797" cy="13550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015532" y="114269"/>
              <a:ext cx="1220631" cy="1205022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cxnSpLocks/>
            </p:cNvCxnSpPr>
            <p:nvPr/>
          </p:nvCxnSpPr>
          <p:spPr>
            <a:xfrm>
              <a:off x="680383" y="571424"/>
              <a:ext cx="943795" cy="919134"/>
            </a:xfrm>
            <a:prstGeom prst="line">
              <a:avLst/>
            </a:prstGeom>
            <a:ln>
              <a:solidFill>
                <a:schemeClr val="tx1"/>
              </a:solidFill>
              <a:headEnd type="arrow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Box 306"/>
          <p:cNvSpPr txBox="1"/>
          <p:nvPr/>
        </p:nvSpPr>
        <p:spPr>
          <a:xfrm>
            <a:off x="4465319" y="4114799"/>
            <a:ext cx="2728236" cy="61887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effectLst/>
                <a:latin typeface="Times New Roman"/>
                <a:ea typeface="Calibri"/>
                <a:cs typeface="Times New Roman"/>
              </a:rPr>
              <a:t>Bank of Amsterdam Ledger</a:t>
            </a:r>
          </a:p>
        </p:txBody>
      </p:sp>
      <p:sp>
        <p:nvSpPr>
          <p:cNvPr id="14" name="Text Box 307"/>
          <p:cNvSpPr txBox="1"/>
          <p:nvPr/>
        </p:nvSpPr>
        <p:spPr>
          <a:xfrm rot="2216130">
            <a:off x="2208984" y="2790877"/>
            <a:ext cx="2865489" cy="61887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effectLst/>
                <a:latin typeface="Times New Roman"/>
                <a:ea typeface="Calibri"/>
                <a:cs typeface="Times New Roman"/>
              </a:rPr>
              <a:t>Merchant Banking</a:t>
            </a: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 Box 306">
            <a:extLst>
              <a:ext uri="{FF2B5EF4-FFF2-40B4-BE49-F238E27FC236}">
                <a16:creationId xmlns:a16="http://schemas.microsoft.com/office/drawing/2014/main" id="{83E314DA-5AAA-4551-A9D8-337E5D454D87}"/>
              </a:ext>
            </a:extLst>
          </p:cNvPr>
          <p:cNvSpPr txBox="1"/>
          <p:nvPr/>
        </p:nvSpPr>
        <p:spPr>
          <a:xfrm>
            <a:off x="5940606" y="3576760"/>
            <a:ext cx="990198" cy="61887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effectLst/>
                <a:latin typeface="Times New Roman"/>
                <a:ea typeface="Calibri"/>
                <a:cs typeface="Times New Roman"/>
              </a:rPr>
              <a:t>Coins</a:t>
            </a:r>
          </a:p>
        </p:txBody>
      </p:sp>
    </p:spTree>
    <p:extLst>
      <p:ext uri="{BB962C8B-B14F-4D97-AF65-F5344CB8AC3E}">
        <p14:creationId xmlns:p14="http://schemas.microsoft.com/office/powerpoint/2010/main" val="1583448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F840-70A6-42E9-9860-1BCD87860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en-US" dirty="0"/>
              <a:t>Regulation</a:t>
            </a:r>
          </a:p>
        </p:txBody>
      </p:sp>
    </p:spTree>
    <p:extLst>
      <p:ext uri="{BB962C8B-B14F-4D97-AF65-F5344CB8AC3E}">
        <p14:creationId xmlns:p14="http://schemas.microsoft.com/office/powerpoint/2010/main" val="2158836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York circa 1970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66800" y="1775181"/>
            <a:ext cx="6502804" cy="3758900"/>
            <a:chOff x="0" y="0"/>
            <a:chExt cx="2949046" cy="2228132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565150" y="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565150" y="1828800"/>
              <a:ext cx="203227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 Box 2"/>
            <p:cNvSpPr txBox="1">
              <a:spLocks noChangeArrowheads="1"/>
            </p:cNvSpPr>
            <p:nvPr/>
          </p:nvSpPr>
          <p:spPr bwMode="auto">
            <a:xfrm>
              <a:off x="0" y="0"/>
              <a:ext cx="721331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400" dirty="0">
                  <a:effectLst/>
                  <a:latin typeface="Times New Roman"/>
                  <a:ea typeface="Calibri"/>
                  <a:cs typeface="Times New Roman"/>
                </a:rPr>
                <a:t>Risk</a:t>
              </a:r>
            </a:p>
          </p:txBody>
        </p:sp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2227715" y="1904282"/>
              <a:ext cx="721331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400" dirty="0">
                  <a:effectLst/>
                  <a:latin typeface="Times New Roman"/>
                  <a:ea typeface="Calibri"/>
                  <a:cs typeface="Times New Roman"/>
                </a:rPr>
                <a:t>Cost</a:t>
              </a:r>
            </a:p>
          </p:txBody>
        </p:sp>
        <p:cxnSp>
          <p:nvCxnSpPr>
            <p:cNvPr id="10" name="Straight Arrow Connector 9"/>
            <p:cNvCxnSpPr>
              <a:cxnSpLocks/>
            </p:cNvCxnSpPr>
            <p:nvPr/>
          </p:nvCxnSpPr>
          <p:spPr>
            <a:xfrm>
              <a:off x="749018" y="392370"/>
              <a:ext cx="605443" cy="58795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796273" y="311889"/>
              <a:ext cx="1220631" cy="1205022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Box 306"/>
          <p:cNvSpPr txBox="1"/>
          <p:nvPr/>
        </p:nvSpPr>
        <p:spPr>
          <a:xfrm>
            <a:off x="5618382" y="4020434"/>
            <a:ext cx="2728236" cy="61887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effectLst/>
                <a:latin typeface="Times New Roman"/>
                <a:ea typeface="Calibri"/>
                <a:cs typeface="Times New Roman"/>
              </a:rPr>
              <a:t>Federal Reserve</a:t>
            </a:r>
          </a:p>
        </p:txBody>
      </p:sp>
      <p:sp>
        <p:nvSpPr>
          <p:cNvPr id="14" name="Text Box 307"/>
          <p:cNvSpPr txBox="1"/>
          <p:nvPr/>
        </p:nvSpPr>
        <p:spPr>
          <a:xfrm rot="2270580">
            <a:off x="1971453" y="3595880"/>
            <a:ext cx="4164012" cy="57773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effectLst/>
                <a:latin typeface="Times New Roman"/>
                <a:ea typeface="Calibri"/>
                <a:cs typeface="Times New Roman"/>
              </a:rPr>
              <a:t>New Deal Regulations</a:t>
            </a: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 Box 307">
            <a:extLst>
              <a:ext uri="{FF2B5EF4-FFF2-40B4-BE49-F238E27FC236}">
                <a16:creationId xmlns:a16="http://schemas.microsoft.com/office/drawing/2014/main" id="{8FA195D7-478F-443D-BED6-E940FF36992C}"/>
              </a:ext>
            </a:extLst>
          </p:cNvPr>
          <p:cNvSpPr txBox="1"/>
          <p:nvPr/>
        </p:nvSpPr>
        <p:spPr>
          <a:xfrm>
            <a:off x="4169424" y="2922912"/>
            <a:ext cx="1006476" cy="55256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Times New Roman"/>
                <a:ea typeface="Calibri"/>
                <a:cs typeface="Times New Roman"/>
              </a:rPr>
              <a:t>Banks</a:t>
            </a:r>
            <a:endParaRPr lang="en-US" sz="2400" dirty="0">
              <a:effectLst/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1825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34355E-4B99-4ACD-B8B9-B3447382AA9D}"/>
              </a:ext>
            </a:extLst>
          </p:cNvPr>
          <p:cNvSpPr/>
          <p:nvPr/>
        </p:nvSpPr>
        <p:spPr>
          <a:xfrm>
            <a:off x="457200" y="2438400"/>
            <a:ext cx="5562600" cy="2743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BE6E75-1008-4792-9760-11A67771DCA2}"/>
              </a:ext>
            </a:extLst>
          </p:cNvPr>
          <p:cNvSpPr/>
          <p:nvPr/>
        </p:nvSpPr>
        <p:spPr>
          <a:xfrm>
            <a:off x="3429000" y="2438400"/>
            <a:ext cx="5410200" cy="2743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435E4-42F9-4D2A-B4B5-6C5208F245EF}"/>
              </a:ext>
            </a:extLst>
          </p:cNvPr>
          <p:cNvSpPr txBox="1"/>
          <p:nvPr/>
        </p:nvSpPr>
        <p:spPr>
          <a:xfrm>
            <a:off x="1104900" y="3147533"/>
            <a:ext cx="2514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Sensitive Lending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CFA9D3-C59A-445A-A8F0-094D404FFE5A}"/>
              </a:ext>
            </a:extLst>
          </p:cNvPr>
          <p:cNvSpPr txBox="1"/>
          <p:nvPr/>
        </p:nvSpPr>
        <p:spPr>
          <a:xfrm>
            <a:off x="6235700" y="3302167"/>
            <a:ext cx="2298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Money-like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Asset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1756AB-C90F-43CF-808B-332F4F69592E}"/>
              </a:ext>
            </a:extLst>
          </p:cNvPr>
          <p:cNvSpPr txBox="1"/>
          <p:nvPr/>
        </p:nvSpPr>
        <p:spPr>
          <a:xfrm>
            <a:off x="4064577" y="3532999"/>
            <a:ext cx="1524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</a:t>
            </a:r>
          </a:p>
        </p:txBody>
      </p:sp>
    </p:spTree>
    <p:extLst>
      <p:ext uri="{BB962C8B-B14F-4D97-AF65-F5344CB8AC3E}">
        <p14:creationId xmlns:p14="http://schemas.microsoft.com/office/powerpoint/2010/main" val="2527974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York Cycle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66800" y="1775181"/>
            <a:ext cx="6502804" cy="3758900"/>
            <a:chOff x="0" y="0"/>
            <a:chExt cx="2949046" cy="2228132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565150" y="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565150" y="1828800"/>
              <a:ext cx="203227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 Box 2"/>
            <p:cNvSpPr txBox="1">
              <a:spLocks noChangeArrowheads="1"/>
            </p:cNvSpPr>
            <p:nvPr/>
          </p:nvSpPr>
          <p:spPr bwMode="auto">
            <a:xfrm>
              <a:off x="0" y="0"/>
              <a:ext cx="721331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400" dirty="0">
                  <a:effectLst/>
                  <a:latin typeface="Times New Roman"/>
                  <a:ea typeface="Calibri"/>
                  <a:cs typeface="Times New Roman"/>
                </a:rPr>
                <a:t>Risk</a:t>
              </a:r>
            </a:p>
          </p:txBody>
        </p:sp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2227715" y="1904282"/>
              <a:ext cx="721331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400" dirty="0">
                  <a:effectLst/>
                  <a:latin typeface="Times New Roman"/>
                  <a:ea typeface="Calibri"/>
                  <a:cs typeface="Times New Roman"/>
                </a:rPr>
                <a:t>Cost</a:t>
              </a:r>
            </a:p>
          </p:txBody>
        </p:sp>
        <p:cxnSp>
          <p:nvCxnSpPr>
            <p:cNvPr id="10" name="Straight Arrow Connector 9"/>
            <p:cNvCxnSpPr>
              <a:cxnSpLocks/>
            </p:cNvCxnSpPr>
            <p:nvPr/>
          </p:nvCxnSpPr>
          <p:spPr>
            <a:xfrm>
              <a:off x="749018" y="392370"/>
              <a:ext cx="605443" cy="58795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796273" y="311889"/>
              <a:ext cx="1220631" cy="1205022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Box 306"/>
          <p:cNvSpPr txBox="1"/>
          <p:nvPr/>
        </p:nvSpPr>
        <p:spPr>
          <a:xfrm>
            <a:off x="5618382" y="4020434"/>
            <a:ext cx="2728236" cy="61887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effectLst/>
                <a:latin typeface="Times New Roman"/>
                <a:ea typeface="Calibri"/>
                <a:cs typeface="Times New Roman"/>
              </a:rPr>
              <a:t>Federal Reserve</a:t>
            </a:r>
          </a:p>
        </p:txBody>
      </p:sp>
      <p:sp>
        <p:nvSpPr>
          <p:cNvPr id="14" name="Text Box 307"/>
          <p:cNvSpPr txBox="1"/>
          <p:nvPr/>
        </p:nvSpPr>
        <p:spPr>
          <a:xfrm rot="2270580">
            <a:off x="1971453" y="3595880"/>
            <a:ext cx="4164012" cy="57773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effectLst/>
                <a:latin typeface="Times New Roman"/>
                <a:ea typeface="Calibri"/>
                <a:cs typeface="Times New Roman"/>
              </a:rPr>
              <a:t>New Deal Regulations</a:t>
            </a: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 Box 307">
            <a:extLst>
              <a:ext uri="{FF2B5EF4-FFF2-40B4-BE49-F238E27FC236}">
                <a16:creationId xmlns:a16="http://schemas.microsoft.com/office/drawing/2014/main" id="{8FA195D7-478F-443D-BED6-E940FF36992C}"/>
              </a:ext>
            </a:extLst>
          </p:cNvPr>
          <p:cNvSpPr txBox="1"/>
          <p:nvPr/>
        </p:nvSpPr>
        <p:spPr>
          <a:xfrm>
            <a:off x="4169424" y="2922912"/>
            <a:ext cx="1006476" cy="55256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Times New Roman"/>
                <a:ea typeface="Calibri"/>
                <a:cs typeface="Times New Roman"/>
              </a:rPr>
              <a:t>Banks</a:t>
            </a:r>
            <a:endParaRPr lang="en-US" sz="2400" dirty="0">
              <a:effectLst/>
              <a:latin typeface="Times New Roman"/>
              <a:ea typeface="Calibri"/>
              <a:cs typeface="Times New Roman"/>
            </a:endParaRPr>
          </a:p>
        </p:txBody>
      </p:sp>
      <p:sp>
        <p:nvSpPr>
          <p:cNvPr id="19" name="Text Box 307">
            <a:extLst>
              <a:ext uri="{FF2B5EF4-FFF2-40B4-BE49-F238E27FC236}">
                <a16:creationId xmlns:a16="http://schemas.microsoft.com/office/drawing/2014/main" id="{F85096BE-8684-4B79-B846-1CA88C5B961A}"/>
              </a:ext>
            </a:extLst>
          </p:cNvPr>
          <p:cNvSpPr txBox="1"/>
          <p:nvPr/>
        </p:nvSpPr>
        <p:spPr>
          <a:xfrm>
            <a:off x="2773831" y="1860899"/>
            <a:ext cx="1006476" cy="55256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Times New Roman"/>
                <a:ea typeface="Calibri"/>
                <a:cs typeface="Times New Roman"/>
              </a:rPr>
              <a:t>Shadow Banks</a:t>
            </a:r>
            <a:endParaRPr lang="en-US" sz="2400" dirty="0">
              <a:effectLst/>
              <a:latin typeface="Times New Roman"/>
              <a:ea typeface="Calibri"/>
              <a:cs typeface="Times New Roman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4A006E9-335E-4262-B86C-7BC97918A2A4}"/>
              </a:ext>
            </a:extLst>
          </p:cNvPr>
          <p:cNvSpPr/>
          <p:nvPr/>
        </p:nvSpPr>
        <p:spPr>
          <a:xfrm>
            <a:off x="4876800" y="2123883"/>
            <a:ext cx="1147017" cy="1019726"/>
          </a:xfrm>
          <a:custGeom>
            <a:avLst/>
            <a:gdLst>
              <a:gd name="connsiteX0" fmla="*/ 585216 w 2539353"/>
              <a:gd name="connsiteY0" fmla="*/ 1298448 h 1298448"/>
              <a:gd name="connsiteX1" fmla="*/ 2532888 w 2539353"/>
              <a:gd name="connsiteY1" fmla="*/ 667512 h 1298448"/>
              <a:gd name="connsiteX2" fmla="*/ 0 w 2539353"/>
              <a:gd name="connsiteY2" fmla="*/ 0 h 1298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39353" h="1298448">
                <a:moveTo>
                  <a:pt x="585216" y="1298448"/>
                </a:moveTo>
                <a:cubicBezTo>
                  <a:pt x="1607820" y="1091184"/>
                  <a:pt x="2630424" y="883920"/>
                  <a:pt x="2532888" y="667512"/>
                </a:cubicBezTo>
                <a:cubicBezTo>
                  <a:pt x="2435352" y="451104"/>
                  <a:pt x="547116" y="97536"/>
                  <a:pt x="0" y="0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307">
            <a:extLst>
              <a:ext uri="{FF2B5EF4-FFF2-40B4-BE49-F238E27FC236}">
                <a16:creationId xmlns:a16="http://schemas.microsoft.com/office/drawing/2014/main" id="{20D90EB0-6330-46CC-BD3F-E59DA13122BC}"/>
              </a:ext>
            </a:extLst>
          </p:cNvPr>
          <p:cNvSpPr txBox="1"/>
          <p:nvPr/>
        </p:nvSpPr>
        <p:spPr>
          <a:xfrm>
            <a:off x="6056775" y="2123883"/>
            <a:ext cx="2416428" cy="1107478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Times New Roman"/>
                <a:ea typeface="Calibri"/>
                <a:cs typeface="Times New Roman"/>
              </a:rPr>
              <a:t>Innovation and/or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effectLst/>
                <a:latin typeface="Times New Roman"/>
                <a:ea typeface="Calibri"/>
                <a:cs typeface="Times New Roman"/>
              </a:rPr>
              <a:t>cir</a:t>
            </a:r>
            <a:r>
              <a:rPr lang="en-US" sz="2400" dirty="0">
                <a:latin typeface="Times New Roman"/>
                <a:ea typeface="Calibri"/>
                <a:cs typeface="Times New Roman"/>
              </a:rPr>
              <a:t>cumvention</a:t>
            </a:r>
            <a:endParaRPr lang="en-US" sz="2400" dirty="0">
              <a:effectLst/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43875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U.S. Regulatory Cycle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446319997"/>
              </p:ext>
            </p:extLst>
          </p:nvPr>
        </p:nvGraphicFramePr>
        <p:xfrm>
          <a:off x="914400" y="1417638"/>
          <a:ext cx="73152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7762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73152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system innovation is usually the incremental building of networks on a state anchor (Venice).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anchors can cause punctuated evolution that turns on political economy (Amsterdam).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Regulation often reduces risk now and increases risk later (New York).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81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5022</TotalTime>
  <Words>850</Words>
  <Application>Microsoft Office PowerPoint</Application>
  <PresentationFormat>On-screen Show (4:3)</PresentationFormat>
  <Paragraphs>138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Times New Roman</vt:lpstr>
      <vt:lpstr>Office Theme</vt:lpstr>
      <vt:lpstr>On the Evolution of Payments Systems</vt:lpstr>
      <vt:lpstr>History Suggests</vt:lpstr>
      <vt:lpstr>Analytical Framework</vt:lpstr>
      <vt:lpstr>Venice circa 1500</vt:lpstr>
      <vt:lpstr>Venetian Pivot</vt:lpstr>
      <vt:lpstr>Anchor</vt:lpstr>
      <vt:lpstr>Paper Anchor</vt:lpstr>
      <vt:lpstr>Alchemy of an Anchor</vt:lpstr>
      <vt:lpstr>Political Economy</vt:lpstr>
      <vt:lpstr>Amsterdam Shift</vt:lpstr>
      <vt:lpstr>Regulation</vt:lpstr>
      <vt:lpstr>New York circa 1970</vt:lpstr>
      <vt:lpstr>Banks</vt:lpstr>
      <vt:lpstr>New York Cycle</vt:lpstr>
      <vt:lpstr>U.S. Regulatory Cycle</vt:lpstr>
      <vt:lpstr>Conclusions</vt:lpstr>
    </vt:vector>
  </TitlesOfParts>
  <Company>Texas Christian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Banks and Payment Systems:  the Evolving Trade-off between Cost and Risk</dc:title>
  <dc:creator>Quinn, Stephen</dc:creator>
  <cp:lastModifiedBy>Quinn, Stephen</cp:lastModifiedBy>
  <cp:revision>175</cp:revision>
  <cp:lastPrinted>2013-04-15T19:03:42Z</cp:lastPrinted>
  <dcterms:created xsi:type="dcterms:W3CDTF">2013-04-09T13:50:01Z</dcterms:created>
  <dcterms:modified xsi:type="dcterms:W3CDTF">2020-10-13T20:06:23Z</dcterms:modified>
</cp:coreProperties>
</file>