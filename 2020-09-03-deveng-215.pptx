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Vertical Text">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 Title and Text">
    <p:spTree>
      <p:nvGrpSpPr>
        <p:cNvPr id="1" name=""/>
        <p:cNvGrpSpPr/>
        <p:nvPr/>
      </p:nvGrpSpPr>
      <p:grpSpPr>
        <a:xfrm>
          <a:off x="0" y="0"/>
          <a:ext cx="0" cy="0"/>
          <a:chOff x="0" y="0"/>
          <a:chExt cx="0" cy="0"/>
        </a:xfrm>
      </p:grpSpPr>
      <p:sp>
        <p:nvSpPr>
          <p:cNvPr id="101" name="Title Text"/>
          <p:cNvSpPr txBox="1"/>
          <p:nvPr>
            <p:ph type="title"/>
          </p:nvPr>
        </p:nvSpPr>
        <p:spPr>
          <a:xfrm>
            <a:off x="6629400" y="274638"/>
            <a:ext cx="2057400" cy="5851526"/>
          </a:xfrm>
          <a:prstGeom prst="rect">
            <a:avLst/>
          </a:prstGeom>
        </p:spPr>
        <p:txBody>
          <a:bodyPr/>
          <a:lstStyle/>
          <a:p>
            <a:pPr/>
            <a:r>
              <a:t>Title Text</a:t>
            </a:r>
          </a:p>
        </p:txBody>
      </p:sp>
      <p:sp>
        <p:nvSpPr>
          <p:cNvPr id="102" name="Body Level One…"/>
          <p:cNvSpPr txBox="1"/>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04292"/>
            <a:ext cx="258624" cy="269241"/>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courses.berkeley.edu/courses/1497095"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urworldindata.org/" TargetMode="Externa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Development Engineering 215: Global Poverty Challenges and Hopes: A Perspective for Development Engineers"/>
          <p:cNvSpPr txBox="1"/>
          <p:nvPr>
            <p:ph type="title" idx="4294967295"/>
          </p:nvPr>
        </p:nvSpPr>
        <p:spPr>
          <a:xfrm>
            <a:off x="685799" y="530740"/>
            <a:ext cx="7772401" cy="2429430"/>
          </a:xfrm>
          <a:prstGeom prst="rect">
            <a:avLst/>
          </a:prstGeom>
        </p:spPr>
        <p:txBody>
          <a:bodyPr/>
          <a:lstStyle>
            <a:lvl1pPr defTabSz="310895">
              <a:defRPr b="1" sz="3808">
                <a:solidFill>
                  <a:srgbClr val="800000"/>
                </a:solidFill>
                <a:uFill>
                  <a:solidFill>
                    <a:srgbClr val="000000"/>
                  </a:solidFill>
                </a:uFill>
              </a:defRPr>
            </a:lvl1pPr>
          </a:lstStyle>
          <a:p>
            <a:pPr/>
            <a:r>
              <a:t>Development Engineering 215: Global Poverty Challenges and Hopes: A Perspective for Development Engineers </a:t>
            </a:r>
          </a:p>
        </p:txBody>
      </p:sp>
      <p:sp>
        <p:nvSpPr>
          <p:cNvPr id="113" name="J. Bradford DeLong…"/>
          <p:cNvSpPr txBox="1"/>
          <p:nvPr>
            <p:ph type="body" sz="half" idx="4294967295"/>
          </p:nvPr>
        </p:nvSpPr>
        <p:spPr>
          <a:xfrm>
            <a:off x="994997" y="3280857"/>
            <a:ext cx="6991279" cy="2953204"/>
          </a:xfrm>
          <a:prstGeom prst="rect">
            <a:avLst/>
          </a:prstGeom>
        </p:spPr>
        <p:txBody>
          <a:bodyPr/>
          <a:lstStyle/>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J. Bradford DeLong</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Professor of Economics and Chief Economist Blum Center for Developing Economies, U.C. Berkeley</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r>
              <a:rPr>
                <a:solidFill>
                  <a:srgbClr val="898989"/>
                </a:solidFill>
                <a:uFill>
                  <a:solidFill>
                    <a:srgbClr val="898989"/>
                  </a:solidFill>
                </a:uFill>
              </a:rPr>
              <a:t>Th 2020-09-03 12:00 Noon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Introduction"/>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Introduction</a:t>
            </a:r>
          </a:p>
        </p:txBody>
      </p:sp>
      <p:sp>
        <p:nvSpPr>
          <p:cNvPr id="116" name="Despair: At most 8% of the world’s population has a standard of living more than half of today’s U.S. median. Rejoice: the world today is so much fabulously richer than it was in 1800. That is a miracle. Recoil: our knowledge—of how to run governments; o"/>
          <p:cNvSpPr txBox="1"/>
          <p:nvPr>
            <p:ph type="body" idx="4294967295"/>
          </p:nvPr>
        </p:nvSpPr>
        <p:spPr>
          <a:xfrm>
            <a:off x="457199" y="1143000"/>
            <a:ext cx="8229601" cy="5218543"/>
          </a:xfrm>
          <a:prstGeom prst="rect">
            <a:avLst/>
          </a:prstGeom>
        </p:spPr>
        <p:txBody>
          <a:bodyPr/>
          <a:lstStyle/>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rPr b="1"/>
              <a:t>Despair</a:t>
            </a:r>
            <a:r>
              <a:t>: At most 8% of the world’s population has a standard of living more than half of today’s U.S. median. </a:t>
            </a:r>
            <a:r>
              <a:rPr b="1"/>
              <a:t>Rejoice</a:t>
            </a:r>
            <a:r>
              <a:t>: the world today is so much fabulously richer than it was in 1800. That is a miracle. </a:t>
            </a:r>
            <a:r>
              <a:rPr b="1"/>
              <a:t>Recoil</a:t>
            </a:r>
            <a:r>
              <a:t>: our knowledge—of how to run governments; of how to organize markets, firms, and property; and of how to apply science and technology—is so sketchily and unevenly distributed around the world, leaving only a small part of it as what we would see as rich and huge chunks of it as what we do see as desperately poor, is a scandal, and a crime against humanity.</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Today the median household’s standard of living in the United States, Switzerland, or Singapore is 55 times $1.90 a day. Yet 9% of humanity today—700 million people—lives below that dire poverty line. Half the world’s population lives at less than $7 a day. 20% of humanity at less than $3.</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Except for the last generation’s worth, all of technological progress has been open-sourced by the workings of the global patent system. All of the organizational and business models of the most productive firms and value chain networks in the world are public: open to inspection. Anyone who can gain access to one of the nine billion telephones currently existing can dial-up anybody else—although not necessarily gain an answer. There are readily scheduled or easily chartered transportation services that allow people to reach nearly any point of land (save for pieces of Antarctica) on the globe in twenty-four hours. Non-perishable goods can be carried around the world for pennies: twenty dollars per cubic foot is the current quoted price for Shanghai-Long Beach. And services can be delivered for less over those nine billion phones and other network connections. The world today is—in communications and transportations—tiny.</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How can it be that a world that is so much richer and so much smaller than the world of two centuries ago is so much more unequal—that we still have 9% of the globe’s population at a living standard that is (save for public health, and access to the village phone) little distinguished from those of our pre-industrial ancestors?</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And what can sociology, economics, political science, and history tell us about the answer to that question, and about the future question: what can we do about it?</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What do future development engineers need to know in addition to knowing the engineers—what do they need to know about the economics, the political economy, the sociology, the anthropology, and the institutions—in order to be effective and competent?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Development”"/>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“Development”</a:t>
            </a:r>
          </a:p>
        </p:txBody>
      </p:sp>
      <p:sp>
        <p:nvSpPr>
          <p:cNvPr id="119" name="Three Big Questions:…"/>
          <p:cNvSpPr txBox="1"/>
          <p:nvPr>
            <p:ph type="body" idx="4294967295"/>
          </p:nvPr>
        </p:nvSpPr>
        <p:spPr>
          <a:xfrm>
            <a:off x="457199" y="1143000"/>
            <a:ext cx="8229601" cy="5218543"/>
          </a:xfrm>
          <a:prstGeom prst="rect">
            <a:avLst/>
          </a:prstGeom>
        </p:spPr>
        <p:txBody>
          <a:bodyPr/>
          <a:lstStyle/>
          <a:p>
            <a:pPr marL="0" indent="0" defTabSz="457200">
              <a:spcBef>
                <a:spcPts val="800"/>
              </a:spcBef>
              <a:buSzTx/>
              <a:buFontTx/>
              <a:buNone/>
              <a:defRPr sz="2400">
                <a:uFill>
                  <a:solidFill>
                    <a:srgbClr val="000000"/>
                  </a:solidFill>
                </a:uFill>
                <a:latin typeface="+mj-lt"/>
                <a:ea typeface="+mj-ea"/>
                <a:cs typeface="+mj-cs"/>
                <a:sym typeface="Helvetica"/>
              </a:defRPr>
            </a:pPr>
            <a:r>
              <a:rPr b="1"/>
              <a:t>Three Big Questions:</a:t>
            </a:r>
          </a:p>
          <a:p>
            <a:pPr marL="320842" indent="-320842"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How can it be that a world that is so much richer and so much smaller than the world of two centuries ago is so much more unequal—that we still have 9% of the globe’s population at a living standard that is little distinguished from those of our pre-industrial ancestors?</a:t>
            </a:r>
          </a:p>
          <a:p>
            <a:pPr marL="320842" indent="-320842"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What can sociology, economics, political science, and history tell us about the answer to that question, and about the future question: what can we do about it?</a:t>
            </a:r>
          </a:p>
          <a:p>
            <a:pPr marL="320842" indent="-320842"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What do future development engineers need to know in addition to knowing the engineering—what do they need to know about the economics, the political economy, the sociology, the anthropology, and the institutions—in order to be effective and competent?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DevEng 215 &amp; GPP 115"/>
          <p:cNvSpPr txBox="1"/>
          <p:nvPr>
            <p:ph type="title" idx="4294967295"/>
          </p:nvPr>
        </p:nvSpPr>
        <p:spPr>
          <a:xfrm>
            <a:off x="457199" y="-1"/>
            <a:ext cx="8229601" cy="1143002"/>
          </a:xfrm>
          <a:prstGeom prst="rect">
            <a:avLst/>
          </a:prstGeom>
        </p:spPr>
        <p:txBody>
          <a:bodyPr/>
          <a:lstStyle>
            <a:lvl1pPr defTabSz="333756">
              <a:defRPr b="1" sz="5840">
                <a:solidFill>
                  <a:srgbClr val="000080"/>
                </a:solidFill>
                <a:uFill>
                  <a:solidFill>
                    <a:srgbClr val="000000"/>
                  </a:solidFill>
                </a:uFill>
                <a:latin typeface="+mj-lt"/>
                <a:ea typeface="+mj-ea"/>
                <a:cs typeface="+mj-cs"/>
                <a:sym typeface="Helvetica"/>
              </a:defRPr>
            </a:lvl1pPr>
          </a:lstStyle>
          <a:p>
            <a:pPr/>
            <a:r>
              <a:t>DevEng 215 &amp; GPP 115</a:t>
            </a:r>
          </a:p>
        </p:txBody>
      </p:sp>
      <p:sp>
        <p:nvSpPr>
          <p:cNvPr id="122" name="GPP 115:…"/>
          <p:cNvSpPr txBox="1"/>
          <p:nvPr>
            <p:ph type="body" idx="4294967295"/>
          </p:nvPr>
        </p:nvSpPr>
        <p:spPr>
          <a:xfrm>
            <a:off x="457199" y="1143000"/>
            <a:ext cx="8229601" cy="5218543"/>
          </a:xfrm>
          <a:prstGeom prst="rect">
            <a:avLst/>
          </a:prstGeom>
        </p:spPr>
        <p:txBody>
          <a:bodyPr/>
          <a:lstStyle/>
          <a:p>
            <a:pPr marL="0" indent="0" defTabSz="429768">
              <a:buSzTx/>
              <a:buFontTx/>
              <a:buNone/>
              <a:defRPr sz="2256">
                <a:uFill>
                  <a:solidFill>
                    <a:srgbClr val="000000"/>
                  </a:solidFill>
                </a:uFill>
                <a:latin typeface="+mj-lt"/>
                <a:ea typeface="+mj-ea"/>
                <a:cs typeface="+mj-cs"/>
                <a:sym typeface="Helvetica"/>
              </a:defRPr>
            </a:pPr>
            <a:r>
              <a:rPr b="1"/>
              <a:t>GPP 115:</a:t>
            </a:r>
          </a:p>
          <a:p>
            <a:pPr marL="226193" indent="-226193" defTabSz="429768">
              <a:buFontTx/>
              <a:defRPr sz="2256">
                <a:uFill>
                  <a:solidFill>
                    <a:srgbClr val="000000"/>
                  </a:solidFill>
                </a:uFill>
                <a:latin typeface="Times New Roman"/>
                <a:ea typeface="Times New Roman"/>
                <a:cs typeface="Times New Roman"/>
                <a:sym typeface="Times New Roman"/>
              </a:defRPr>
            </a:pPr>
            <a:r>
              <a:t>Joeva Rock</a:t>
            </a:r>
          </a:p>
          <a:p>
            <a:pPr marL="226193" indent="-226193" defTabSz="429768">
              <a:buFontTx/>
              <a:defRPr sz="2256">
                <a:uFill>
                  <a:solidFill>
                    <a:srgbClr val="000000"/>
                  </a:solidFill>
                </a:uFill>
                <a:latin typeface="Times New Roman"/>
                <a:ea typeface="Times New Roman"/>
                <a:cs typeface="Times New Roman"/>
                <a:sym typeface="Times New Roman"/>
              </a:defRPr>
            </a:pPr>
            <a:r>
              <a:t>&lt;</a:t>
            </a:r>
            <a:r>
              <a:rPr u="sng">
                <a:solidFill>
                  <a:srgbClr val="0000FF"/>
                </a:solidFill>
                <a:uFill>
                  <a:solidFill>
                    <a:srgbClr val="0000FF"/>
                  </a:solidFill>
                </a:uFill>
                <a:hlinkClick r:id="rId2" invalidUrl="" action="" tgtFrame="" tooltip="" history="1" highlightClick="0" endSnd="0"/>
              </a:rPr>
              <a:t>https://bcourses.berkeley.edu/courses/1497095</a:t>
            </a:r>
            <a:r>
              <a:t>&gt;</a:t>
            </a:r>
          </a:p>
          <a:p>
            <a:pPr marL="226193" indent="-226193" defTabSz="429768">
              <a:buFontTx/>
              <a:defRPr sz="2256">
                <a:uFill>
                  <a:solidFill>
                    <a:srgbClr val="000000"/>
                  </a:solidFill>
                </a:uFill>
                <a:latin typeface="Times New Roman"/>
                <a:ea typeface="Times New Roman"/>
                <a:cs typeface="Times New Roman"/>
                <a:sym typeface="Times New Roman"/>
              </a:defRPr>
            </a:pPr>
            <a:r>
              <a:t>What do we know?</a:t>
            </a:r>
          </a:p>
          <a:p>
            <a:pPr marL="0" indent="0" defTabSz="429768">
              <a:buSzTx/>
              <a:buFontTx/>
              <a:buNone/>
              <a:defRPr sz="2256">
                <a:uFill>
                  <a:solidFill>
                    <a:srgbClr val="000000"/>
                  </a:solidFill>
                </a:uFill>
                <a:latin typeface="+mj-lt"/>
                <a:ea typeface="+mj-ea"/>
                <a:cs typeface="+mj-cs"/>
                <a:sym typeface="Helvetica"/>
              </a:defRPr>
            </a:pPr>
          </a:p>
          <a:p>
            <a:pPr marL="0" indent="0" defTabSz="429768">
              <a:buSzTx/>
              <a:buFontTx/>
              <a:buNone/>
              <a:defRPr sz="2256">
                <a:uFill>
                  <a:solidFill>
                    <a:srgbClr val="000000"/>
                  </a:solidFill>
                </a:uFill>
                <a:latin typeface="+mj-lt"/>
                <a:ea typeface="+mj-ea"/>
                <a:cs typeface="+mj-cs"/>
                <a:sym typeface="Helvetica"/>
              </a:defRPr>
            </a:pPr>
            <a:r>
              <a:rPr b="1"/>
              <a:t>DevEng 215:</a:t>
            </a:r>
          </a:p>
          <a:p>
            <a:pPr marL="226193" indent="-226193" defTabSz="429768">
              <a:buFontTx/>
              <a:defRPr sz="2256">
                <a:uFill>
                  <a:solidFill>
                    <a:srgbClr val="000000"/>
                  </a:solidFill>
                </a:uFill>
                <a:latin typeface="Times New Roman"/>
                <a:ea typeface="Times New Roman"/>
                <a:cs typeface="Times New Roman"/>
                <a:sym typeface="Times New Roman"/>
              </a:defRPr>
            </a:pPr>
            <a:r>
              <a:t>What can we do?</a:t>
            </a:r>
          </a:p>
          <a:p>
            <a:pPr marL="226193" indent="-226193" defTabSz="429768">
              <a:buFontTx/>
              <a:defRPr sz="2256">
                <a:uFill>
                  <a:solidFill>
                    <a:srgbClr val="000000"/>
                  </a:solidFill>
                </a:uFill>
                <a:latin typeface="Times New Roman"/>
                <a:ea typeface="Times New Roman"/>
                <a:cs typeface="Times New Roman"/>
                <a:sym typeface="Times New Roman"/>
              </a:defRPr>
            </a:pPr>
            <a:r>
              <a:t>What do we need to watch out for?</a:t>
            </a:r>
          </a:p>
          <a:p>
            <a:pPr marL="226193" indent="-226193" defTabSz="429768">
              <a:buFontTx/>
              <a:defRPr sz="2256">
                <a:uFill>
                  <a:solidFill>
                    <a:srgbClr val="000000"/>
                  </a:solidFill>
                </a:uFill>
                <a:latin typeface="Times New Roman"/>
                <a:ea typeface="Times New Roman"/>
                <a:cs typeface="Times New Roman"/>
                <a:sym typeface="Times New Roman"/>
              </a:defRPr>
            </a:pPr>
            <a:r>
              <a:t>How can we leverage GPP for DevEng</a:t>
            </a:r>
          </a:p>
          <a:p>
            <a:pPr lvl="1" marL="584333" indent="-226193" defTabSz="429768">
              <a:buFontTx/>
              <a:buChar char="•"/>
              <a:defRPr sz="2256">
                <a:uFill>
                  <a:solidFill>
                    <a:srgbClr val="000000"/>
                  </a:solidFill>
                </a:uFill>
                <a:latin typeface="Times New Roman"/>
                <a:ea typeface="Times New Roman"/>
                <a:cs typeface="Times New Roman"/>
                <a:sym typeface="Times New Roman"/>
              </a:defRPr>
            </a:pPr>
            <a:r>
              <a:t>Given that the Blum Center has very little resources for this…</a:t>
            </a:r>
          </a:p>
          <a:p>
            <a:pPr marL="226193" indent="-226193" defTabSz="429768">
              <a:buFontTx/>
              <a:defRPr sz="2256">
                <a:uFill>
                  <a:solidFill>
                    <a:srgbClr val="000000"/>
                  </a:solidFill>
                </a:uFill>
                <a:latin typeface="Times New Roman"/>
                <a:ea typeface="Times New Roman"/>
                <a:cs typeface="Times New Roman"/>
                <a:sym typeface="Times New Roman"/>
              </a:defRPr>
            </a:pPr>
            <a:r>
              <a:t>DevEng: Development </a:t>
            </a:r>
            <a:r>
              <a:rPr i="1"/>
              <a:t>Engineering?</a:t>
            </a:r>
            <a:endParaRPr i="1"/>
          </a:p>
          <a:p>
            <a:pPr marL="226193" indent="-226193" defTabSz="429768">
              <a:buFontTx/>
              <a:defRPr sz="2256">
                <a:uFill>
                  <a:solidFill>
                    <a:srgbClr val="000000"/>
                  </a:solidFill>
                </a:uFill>
                <a:latin typeface="Times New Roman"/>
                <a:ea typeface="Times New Roman"/>
                <a:cs typeface="Times New Roman"/>
                <a:sym typeface="Times New Roman"/>
              </a:defRPr>
            </a:pPr>
            <a:r>
              <a:t>DevEng: Engineering </a:t>
            </a:r>
            <a:r>
              <a:rPr i="1"/>
              <a:t>Development?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Plan of Course"/>
          <p:cNvSpPr txBox="1"/>
          <p:nvPr>
            <p:ph type="title" idx="4294967295"/>
          </p:nvPr>
        </p:nvSpPr>
        <p:spPr>
          <a:xfrm>
            <a:off x="107246" y="0"/>
            <a:ext cx="8890001" cy="1143001"/>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Plan of Course</a:t>
            </a:r>
          </a:p>
        </p:txBody>
      </p:sp>
      <p:sp>
        <p:nvSpPr>
          <p:cNvPr id="125" name="Imagining the “end of poverty” &amp; Millennial development—Brad 2020-09-03…"/>
          <p:cNvSpPr txBox="1"/>
          <p:nvPr>
            <p:ph type="body" sz="half" idx="4294967295"/>
          </p:nvPr>
        </p:nvSpPr>
        <p:spPr>
          <a:xfrm>
            <a:off x="107246" y="1053898"/>
            <a:ext cx="4318001" cy="5461001"/>
          </a:xfrm>
          <a:prstGeom prst="rect">
            <a:avLst/>
          </a:prstGeom>
        </p:spPr>
        <p:txBody>
          <a:bodyPr/>
          <a:lstStyle/>
          <a:p>
            <a:pPr marL="0" indent="0" defTabSz="429768">
              <a:buSzTx/>
              <a:buFontTx/>
              <a:buNone/>
              <a:defRPr sz="1692">
                <a:uFill>
                  <a:solidFill>
                    <a:srgbClr val="000000"/>
                  </a:solidFill>
                </a:uFill>
                <a:latin typeface="Times New Roman"/>
                <a:ea typeface="Times New Roman"/>
                <a:cs typeface="Times New Roman"/>
                <a:sym typeface="Times New Roman"/>
              </a:defRPr>
            </a:pPr>
            <a:r>
              <a:t>Imagining the “end of poverty” &amp; Millennial development—Brad 2020-09-03</a:t>
            </a:r>
          </a:p>
          <a:p>
            <a:pPr marL="0" indent="0" defTabSz="429768">
              <a:buSzTx/>
              <a:buFontTx/>
              <a:buNone/>
              <a:defRPr sz="1692">
                <a:uFill>
                  <a:solidFill>
                    <a:srgbClr val="000000"/>
                  </a:solidFill>
                </a:uFill>
                <a:latin typeface="Times New Roman"/>
                <a:ea typeface="Times New Roman"/>
                <a:cs typeface="Times New Roman"/>
                <a:sym typeface="Times New Roman"/>
              </a:defRPr>
            </a:pPr>
            <a:r>
              <a:t>Colonial &amp; imperial beginnings—Adrian 2020-09-10</a:t>
            </a:r>
          </a:p>
          <a:p>
            <a:pPr marL="0" indent="0" defTabSz="429768">
              <a:buSzTx/>
              <a:buFontTx/>
              <a:buNone/>
              <a:defRPr sz="1692">
                <a:uFill>
                  <a:solidFill>
                    <a:srgbClr val="000000"/>
                  </a:solidFill>
                </a:uFill>
                <a:latin typeface="Times New Roman"/>
                <a:ea typeface="Times New Roman"/>
                <a:cs typeface="Times New Roman"/>
                <a:sym typeface="Times New Roman"/>
              </a:defRPr>
            </a:pPr>
            <a:r>
              <a:t>Modernization to “development” 2020-09-17</a:t>
            </a:r>
          </a:p>
          <a:p>
            <a:pPr marL="0" indent="0" defTabSz="429768">
              <a:buSzTx/>
              <a:buFontTx/>
              <a:buNone/>
              <a:defRPr sz="1692">
                <a:uFill>
                  <a:solidFill>
                    <a:srgbClr val="000000"/>
                  </a:solidFill>
                </a:uFill>
                <a:latin typeface="Times New Roman"/>
                <a:ea typeface="Times New Roman"/>
                <a:cs typeface="Times New Roman"/>
                <a:sym typeface="Times New Roman"/>
              </a:defRPr>
            </a:pPr>
            <a:r>
              <a:t>Inventing “development” 2020-09-24</a:t>
            </a:r>
          </a:p>
          <a:p>
            <a:pPr marL="0" indent="0" defTabSz="429768">
              <a:buSzTx/>
              <a:buFontTx/>
              <a:buNone/>
              <a:defRPr sz="1692">
                <a:uFill>
                  <a:solidFill>
                    <a:srgbClr val="000000"/>
                  </a:solidFill>
                </a:uFill>
                <a:latin typeface="Times New Roman"/>
                <a:ea typeface="Times New Roman"/>
                <a:cs typeface="Times New Roman"/>
                <a:sym typeface="Times New Roman"/>
              </a:defRPr>
            </a:pPr>
            <a:r>
              <a:t>Globalization 2020-10-01</a:t>
            </a:r>
          </a:p>
          <a:p>
            <a:pPr marL="0" indent="0" defTabSz="429768">
              <a:buSzTx/>
              <a:buFontTx/>
              <a:buNone/>
              <a:defRPr sz="1692">
                <a:uFill>
                  <a:solidFill>
                    <a:srgbClr val="000000"/>
                  </a:solidFill>
                </a:uFill>
                <a:latin typeface="Times New Roman"/>
                <a:ea typeface="Times New Roman"/>
                <a:cs typeface="Times New Roman"/>
                <a:sym typeface="Times New Roman"/>
              </a:defRPr>
            </a:pPr>
            <a:r>
              <a:t>Philanthropy 2020-10-08</a:t>
            </a:r>
          </a:p>
          <a:p>
            <a:pPr marL="0" indent="0" defTabSz="429768">
              <a:buSzTx/>
              <a:buFontTx/>
              <a:buNone/>
              <a:defRPr sz="1692">
                <a:uFill>
                  <a:solidFill>
                    <a:srgbClr val="000000"/>
                  </a:solidFill>
                </a:uFill>
                <a:latin typeface="Times New Roman"/>
                <a:ea typeface="Times New Roman"/>
                <a:cs typeface="Times New Roman"/>
                <a:sym typeface="Times New Roman"/>
              </a:defRPr>
            </a:pPr>
          </a:p>
          <a:p>
            <a:pPr marL="0" indent="0" defTabSz="429768">
              <a:buSzTx/>
              <a:buFontTx/>
              <a:buNone/>
              <a:defRPr sz="1692">
                <a:uFill>
                  <a:solidFill>
                    <a:srgbClr val="000000"/>
                  </a:solidFill>
                </a:uFill>
                <a:latin typeface="Times New Roman"/>
                <a:ea typeface="Times New Roman"/>
                <a:cs typeface="Times New Roman"/>
                <a:sym typeface="Times New Roman"/>
              </a:defRPr>
            </a:pPr>
            <a:r>
              <a:t>Disaster capitalism: Katrina 2020-10-22</a:t>
            </a:r>
          </a:p>
          <a:p>
            <a:pPr marL="0" indent="0" defTabSz="429768">
              <a:buSzTx/>
              <a:buFontTx/>
              <a:buNone/>
              <a:defRPr sz="1692">
                <a:uFill>
                  <a:solidFill>
                    <a:srgbClr val="000000"/>
                  </a:solidFill>
                </a:uFill>
                <a:latin typeface="Times New Roman"/>
                <a:ea typeface="Times New Roman"/>
                <a:cs typeface="Times New Roman"/>
                <a:sym typeface="Times New Roman"/>
              </a:defRPr>
            </a:pPr>
            <a:r>
              <a:t>Disaster capitalism: Maria 2020-10-29</a:t>
            </a:r>
          </a:p>
          <a:p>
            <a:pPr marL="0" indent="0" defTabSz="429768">
              <a:buSzTx/>
              <a:buFontTx/>
              <a:buNone/>
              <a:defRPr sz="1692">
                <a:uFill>
                  <a:solidFill>
                    <a:srgbClr val="000000"/>
                  </a:solidFill>
                </a:uFill>
                <a:latin typeface="Times New Roman"/>
                <a:ea typeface="Times New Roman"/>
                <a:cs typeface="Times New Roman"/>
                <a:sym typeface="Times New Roman"/>
              </a:defRPr>
            </a:pPr>
            <a:r>
              <a:t>The business of agriculture 2020-11-05</a:t>
            </a:r>
          </a:p>
          <a:p>
            <a:pPr marL="0" indent="0" defTabSz="429768">
              <a:buSzTx/>
              <a:buFontTx/>
              <a:buNone/>
              <a:defRPr sz="1692">
                <a:uFill>
                  <a:solidFill>
                    <a:srgbClr val="000000"/>
                  </a:solidFill>
                </a:uFill>
                <a:latin typeface="Times New Roman"/>
                <a:ea typeface="Times New Roman"/>
                <a:cs typeface="Times New Roman"/>
                <a:sym typeface="Times New Roman"/>
              </a:defRPr>
            </a:pPr>
            <a:r>
              <a:t>Sovereignty over food 2020-11-12</a:t>
            </a:r>
          </a:p>
          <a:p>
            <a:pPr marL="0" indent="0" defTabSz="429768">
              <a:buSzTx/>
              <a:buFontTx/>
              <a:buNone/>
              <a:defRPr sz="1692">
                <a:uFill>
                  <a:solidFill>
                    <a:srgbClr val="000000"/>
                  </a:solidFill>
                </a:uFill>
                <a:latin typeface="Times New Roman"/>
                <a:ea typeface="Times New Roman"/>
                <a:cs typeface="Times New Roman"/>
                <a:sym typeface="Times New Roman"/>
              </a:defRPr>
            </a:pPr>
            <a:r>
              <a:t>Health infrastructure 2020-11-19</a:t>
            </a:r>
          </a:p>
          <a:p>
            <a:pPr marL="0" indent="0" defTabSz="429768">
              <a:buSzTx/>
              <a:buFontTx/>
              <a:buNone/>
              <a:defRPr sz="1692">
                <a:uFill>
                  <a:solidFill>
                    <a:srgbClr val="000000"/>
                  </a:solidFill>
                </a:uFill>
                <a:latin typeface="Times New Roman"/>
                <a:ea typeface="Times New Roman"/>
                <a:cs typeface="Times New Roman"/>
                <a:sym typeface="Times New Roman"/>
              </a:defRPr>
            </a:pPr>
            <a:r>
              <a:t>Health citizenship 2020-11-25 (rescheduled)</a:t>
            </a:r>
          </a:p>
          <a:p>
            <a:pPr marL="0" indent="0" defTabSz="429768">
              <a:buSzTx/>
              <a:buFontTx/>
              <a:buNone/>
              <a:defRPr sz="1692">
                <a:uFill>
                  <a:solidFill>
                    <a:srgbClr val="000000"/>
                  </a:solidFill>
                </a:uFill>
                <a:latin typeface="Times New Roman"/>
                <a:ea typeface="Times New Roman"/>
                <a:cs typeface="Times New Roman"/>
                <a:sym typeface="Times New Roman"/>
              </a:defRPr>
            </a:pPr>
            <a:r>
              <a:t>Global citizenship 2020-12-03</a:t>
            </a:r>
          </a:p>
        </p:txBody>
      </p:sp>
      <p:sp>
        <p:nvSpPr>
          <p:cNvPr id="126" name="Be willing to lead (or at least step in to fill awkward pauses and direct discussion in a productive direction) one (or maybe two) Thursday class sessions:…"/>
          <p:cNvSpPr txBox="1"/>
          <p:nvPr/>
        </p:nvSpPr>
        <p:spPr>
          <a:xfrm>
            <a:off x="4679246" y="1053898"/>
            <a:ext cx="4318001" cy="54610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40631" indent="-240631" defTabSz="457200">
              <a:spcBef>
                <a:spcPts val="800"/>
              </a:spcBef>
              <a:buSzPct val="100000"/>
              <a:buChar char="•"/>
              <a:defRPr sz="1500">
                <a:uFill>
                  <a:solidFill>
                    <a:srgbClr val="000000"/>
                  </a:solidFill>
                </a:uFill>
                <a:latin typeface="Times New Roman"/>
                <a:ea typeface="Times New Roman"/>
                <a:cs typeface="Times New Roman"/>
                <a:sym typeface="Times New Roman"/>
              </a:defRPr>
            </a:pPr>
            <a:r>
              <a:t>Be willing to lead (or at least step in to fill awkward pauses and direct discussion in a productive direction) one (or maybe two) Thursday class sessions:</a:t>
            </a:r>
          </a:p>
          <a:p>
            <a:pPr lvl="1" marL="609600" indent="-228600" defTabSz="457200">
              <a:spcBef>
                <a:spcPts val="800"/>
              </a:spcBef>
              <a:buSzPct val="100000"/>
              <a:buAutoNum type="arabicPeriod" startAt="1"/>
              <a:defRPr sz="1500">
                <a:uFill>
                  <a:solidFill>
                    <a:srgbClr val="000000"/>
                  </a:solidFill>
                </a:uFill>
                <a:latin typeface="Times New Roman"/>
                <a:ea typeface="Times New Roman"/>
                <a:cs typeface="Times New Roman"/>
                <a:sym typeface="Times New Roman"/>
              </a:defRPr>
            </a:pPr>
            <a:r>
              <a:t>Circulate a list of seven questions for thought about the GPP 115 readings/lectures for that week</a:t>
            </a:r>
          </a:p>
          <a:p>
            <a:pPr lvl="1" marL="609600" indent="-228600" defTabSz="457200">
              <a:spcBef>
                <a:spcPts val="800"/>
              </a:spcBef>
              <a:buSzPct val="100000"/>
              <a:buAutoNum type="arabicPeriod" startAt="1"/>
              <a:defRPr sz="1500">
                <a:uFill>
                  <a:solidFill>
                    <a:srgbClr val="000000"/>
                  </a:solidFill>
                </a:uFill>
                <a:latin typeface="Times New Roman"/>
                <a:ea typeface="Times New Roman"/>
                <a:cs typeface="Times New Roman"/>
                <a:sym typeface="Times New Roman"/>
              </a:defRPr>
            </a:pPr>
            <a:r>
              <a:t>Suggest at least one additional reading/video/object in the world to engage with that would have been the next thing to add to the course materials</a:t>
            </a:r>
          </a:p>
          <a:p>
            <a:pPr lvl="1" marL="609600" indent="-228600" defTabSz="457200">
              <a:spcBef>
                <a:spcPts val="800"/>
              </a:spcBef>
              <a:buSzPct val="100000"/>
              <a:buAutoNum type="arabicPeriod" startAt="1"/>
              <a:defRPr sz="1500">
                <a:uFill>
                  <a:solidFill>
                    <a:srgbClr val="000000"/>
                  </a:solidFill>
                </a:uFill>
                <a:latin typeface="Times New Roman"/>
                <a:ea typeface="Times New Roman"/>
                <a:cs typeface="Times New Roman"/>
                <a:sym typeface="Times New Roman"/>
              </a:defRPr>
            </a:pPr>
            <a:r>
              <a:t>Ask Joeva if the DevEng 215 students can present to GPP 115</a:t>
            </a:r>
          </a:p>
          <a:p>
            <a:pPr marL="240631" indent="-240631" defTabSz="457200">
              <a:spcBef>
                <a:spcPts val="800"/>
              </a:spcBef>
              <a:buSzPct val="100000"/>
              <a:buChar char="•"/>
              <a:defRPr sz="1500">
                <a:uFill>
                  <a:solidFill>
                    <a:srgbClr val="000000"/>
                  </a:solidFill>
                </a:uFill>
                <a:latin typeface="Times New Roman"/>
                <a:ea typeface="Times New Roman"/>
                <a:cs typeface="Times New Roman"/>
                <a:sym typeface="Times New Roman"/>
              </a:defRPr>
            </a:pPr>
            <a:r>
              <a:t>By mid December, come up with a prospectus for what a DevEng-relevant chapter of your Ph.D. dissertation might be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even Questions for Week 1"/>
          <p:cNvSpPr txBox="1"/>
          <p:nvPr>
            <p:ph type="title" idx="4294967295"/>
          </p:nvPr>
        </p:nvSpPr>
        <p:spPr>
          <a:xfrm>
            <a:off x="107246" y="0"/>
            <a:ext cx="8890001" cy="1143001"/>
          </a:xfrm>
          <a:prstGeom prst="rect">
            <a:avLst/>
          </a:prstGeom>
        </p:spPr>
        <p:txBody>
          <a:bodyPr/>
          <a:lstStyle>
            <a:lvl1pPr defTabSz="292607">
              <a:defRPr b="1" sz="5119">
                <a:solidFill>
                  <a:srgbClr val="000080"/>
                </a:solidFill>
                <a:uFill>
                  <a:solidFill>
                    <a:srgbClr val="000000"/>
                  </a:solidFill>
                </a:uFill>
                <a:latin typeface="+mj-lt"/>
                <a:ea typeface="+mj-ea"/>
                <a:cs typeface="+mj-cs"/>
                <a:sym typeface="Helvetica"/>
              </a:defRPr>
            </a:lvl1pPr>
          </a:lstStyle>
          <a:p>
            <a:pPr/>
            <a:r>
              <a:t>Seven Questions for Week 1</a:t>
            </a:r>
          </a:p>
        </p:txBody>
      </p:sp>
      <p:sp>
        <p:nvSpPr>
          <p:cNvPr id="129" name="Hickel, Marcos, Perspectives, Talwalker, Sachs, Easterly, Kanbur &amp; Sumner:…"/>
          <p:cNvSpPr txBox="1"/>
          <p:nvPr>
            <p:ph type="body" idx="4294967295"/>
          </p:nvPr>
        </p:nvSpPr>
        <p:spPr>
          <a:xfrm>
            <a:off x="107246" y="1053898"/>
            <a:ext cx="8890001" cy="5461001"/>
          </a:xfrm>
          <a:prstGeom prst="rect">
            <a:avLst/>
          </a:prstGeom>
        </p:spPr>
        <p:txBody>
          <a:bodyPr/>
          <a:lstStyle/>
          <a:p>
            <a:pPr marL="0" indent="0" defTabSz="406908">
              <a:buSzTx/>
              <a:buFontTx/>
              <a:buNone/>
              <a:defRPr b="1" sz="1602">
                <a:uFill>
                  <a:solidFill>
                    <a:srgbClr val="000000"/>
                  </a:solidFill>
                </a:uFill>
                <a:latin typeface="+mj-lt"/>
                <a:ea typeface="+mj-ea"/>
                <a:cs typeface="+mj-cs"/>
                <a:sym typeface="Helvetica"/>
              </a:defRPr>
            </a:pPr>
            <a:r>
              <a:t>Hickel, Marcos, </a:t>
            </a:r>
            <a:r>
              <a:rPr i="1"/>
              <a:t>Perspectives</a:t>
            </a:r>
            <a:r>
              <a:t>, Talwalker, Sachs, Easterly, Kanbur &amp; Sumner:</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Hickel: Odious debt, pharmaceutical IP &amp; grey-market transactions, global north agricultural subsidies &amp; export programs—how do those narrow possibilities for economic development in the village of Mpaka on the road from Manzini in Eswatini to Maputo in Mozambique?</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Subcommander Marcos writes that, for progressive intellectuals, “fight[ing] the power of images with nothing but words” is “to their considerable disadvantage”. Why does he think it is to their disadvantage?</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As we approached 2015, could we have “be[en] proud of steady progress on many fronts, including reducing poverty, expanding access to improved water sources, increasing primary school enrolment of girls, and lowering child and maternal mortality rates”? Did “these results represent a steadfast commitment to improving the human condition, and a validation of the approach embodied in the MDGs”?</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Clare Talwalker: how can we make progress in reducing global poverty in a world in which (a) the market economy focuses its attention on satisfying the preferences and desires of the rich, and (b) the “loyalty” of the rich to the world’s poor is very thin?</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Jeff Sachs believes in “Big Pushes”. Why?</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Bill Easterly believes in “gardening” and in grass-roots. Why?</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Kanbur &amp; Sumner: How is it that from 1990 to 2012 deep global poverty changed from their being huge numbers of very poor people in poor countries, to there being (predominantly) very poor people in middle-income countries?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Development”"/>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“Development”</a:t>
            </a:r>
          </a:p>
        </p:txBody>
      </p:sp>
      <p:sp>
        <p:nvSpPr>
          <p:cNvPr id="132" name="Karl Marx (1867): Capital:…"/>
          <p:cNvSpPr txBox="1"/>
          <p:nvPr>
            <p:ph type="body" idx="4294967295"/>
          </p:nvPr>
        </p:nvSpPr>
        <p:spPr>
          <a:xfrm>
            <a:off x="457199" y="1143000"/>
            <a:ext cx="8229601" cy="5218543"/>
          </a:xfrm>
          <a:prstGeom prst="rect">
            <a:avLst/>
          </a:prstGeom>
        </p:spPr>
        <p:txBody>
          <a:bodyPr/>
          <a:lstStyle/>
          <a:p>
            <a:pPr marL="0" indent="0" defTabSz="416052">
              <a:buSzTx/>
              <a:buFontTx/>
              <a:buNone/>
              <a:defRPr sz="2184">
                <a:uFill>
                  <a:solidFill>
                    <a:srgbClr val="000000"/>
                  </a:solidFill>
                </a:uFill>
                <a:latin typeface="+mj-lt"/>
                <a:ea typeface="+mj-ea"/>
                <a:cs typeface="+mj-cs"/>
                <a:sym typeface="Helvetica"/>
              </a:defRPr>
            </a:pPr>
            <a:r>
              <a:rPr b="1"/>
              <a:t>Karl Marx</a:t>
            </a:r>
            <a:r>
              <a:t> (1867): </a:t>
            </a:r>
            <a:r>
              <a:rPr i="1"/>
              <a:t>Capital</a:t>
            </a:r>
            <a:r>
              <a:t>: </a:t>
            </a:r>
          </a:p>
          <a:p>
            <a:pPr marL="312039" indent="-312039" defTabSz="416052">
              <a:defRPr sz="2184">
                <a:uFill>
                  <a:solidFill>
                    <a:srgbClr val="000000"/>
                  </a:solidFill>
                </a:uFill>
                <a:latin typeface="Times New Roman"/>
                <a:ea typeface="Times New Roman"/>
                <a:cs typeface="Times New Roman"/>
                <a:sym typeface="Times New Roman"/>
              </a:defRPr>
            </a:pPr>
            <a:r>
              <a:t>“The physicist either observes physical phenomena where they occur in their most typical form and most free from disturbing influence, or, wherever possible, he makes experiments under conditions that assure the occurrence of the phenomenon in its normality. In this work I have to examine the capitalist mode of production.... Their classic ground is England. That is the reason why England is used as the chief illustration.... If... the German reader... in optimist fashion comforts himself with the thought that in Germany things are not nearly so bad; I must plainly tell him, 'De te fabula narratur!’ [‘It’s the story of you’ – Horace].... </a:t>
            </a:r>
          </a:p>
          <a:p>
            <a:pPr marL="312039" indent="-312039" defTabSz="416052">
              <a:defRPr sz="2184">
                <a:uFill>
                  <a:solidFill>
                    <a:srgbClr val="000000"/>
                  </a:solidFill>
                </a:uFill>
                <a:latin typeface="Times New Roman"/>
                <a:ea typeface="Times New Roman"/>
                <a:cs typeface="Times New Roman"/>
                <a:sym typeface="Times New Roman"/>
              </a:defRPr>
            </a:pPr>
            <a:r>
              <a:t>“The natural laws of capitalist production... [are] working with iron necessity towards inevitable results. The country that is more developed industrially only shows, to the less developed, the image of its own future…”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itle 1"/>
          <p:cNvSpPr txBox="1"/>
          <p:nvPr>
            <p:ph type="title"/>
          </p:nvPr>
        </p:nvSpPr>
        <p:spPr>
          <a:prstGeom prst="rect">
            <a:avLst/>
          </a:prstGeom>
        </p:spPr>
        <p:txBody>
          <a:bodyPr/>
          <a:lstStyle>
            <a:lvl1pPr defTabSz="731520">
              <a:defRPr b="1" sz="6400">
                <a:solidFill>
                  <a:srgbClr val="000080"/>
                </a:solidFill>
                <a:latin typeface="+mj-lt"/>
                <a:ea typeface="+mj-ea"/>
                <a:cs typeface="+mj-cs"/>
                <a:sym typeface="Helvetica"/>
              </a:defRPr>
            </a:lvl1pPr>
          </a:lstStyle>
          <a:p>
            <a:pPr/>
            <a:r>
              <a:t>Eras of Development</a:t>
            </a:r>
          </a:p>
        </p:txBody>
      </p:sp>
      <p:sp>
        <p:nvSpPr>
          <p:cNvPr id="135" name="Content Placeholder 2"/>
          <p:cNvSpPr txBox="1"/>
          <p:nvPr>
            <p:ph type="body" idx="1"/>
          </p:nvPr>
        </p:nvSpPr>
        <p:spPr>
          <a:xfrm>
            <a:off x="457200" y="1600200"/>
            <a:ext cx="8229600" cy="4525963"/>
          </a:xfrm>
          <a:prstGeom prst="rect">
            <a:avLst/>
          </a:prstGeom>
        </p:spPr>
        <p:txBody>
          <a:bodyPr/>
          <a:lstStyle/>
          <a:p>
            <a:pPr marL="209169" indent="-209169" defTabSz="557784">
              <a:lnSpc>
                <a:spcPct val="90000"/>
              </a:lnSpc>
              <a:spcBef>
                <a:spcPts val="400"/>
              </a:spcBef>
              <a:defRPr sz="1769">
                <a:latin typeface="Times New Roman"/>
                <a:ea typeface="Times New Roman"/>
                <a:cs typeface="Times New Roman"/>
                <a:sym typeface="Times New Roman"/>
              </a:defRPr>
            </a:pPr>
            <a:r>
              <a:t>Post-WWII Truman: “hand up”—technocratic: infrastructure, institutions, technologies</a:t>
            </a:r>
          </a:p>
          <a:p>
            <a:pPr lvl="1" marL="488061" indent="-209169" defTabSz="557784">
              <a:lnSpc>
                <a:spcPct val="90000"/>
              </a:lnSpc>
              <a:spcBef>
                <a:spcPts val="400"/>
              </a:spcBef>
              <a:buChar char="•"/>
              <a:defRPr sz="1769">
                <a:latin typeface="Times New Roman"/>
                <a:ea typeface="Times New Roman"/>
                <a:cs typeface="Times New Roman"/>
                <a:sym typeface="Times New Roman"/>
              </a:defRPr>
            </a:pPr>
            <a:r>
              <a:t>The “drive to high mass consumption”</a:t>
            </a:r>
          </a:p>
          <a:p>
            <a:pPr lvl="1" marL="488061" indent="-209169" defTabSz="557784">
              <a:lnSpc>
                <a:spcPct val="90000"/>
              </a:lnSpc>
              <a:spcBef>
                <a:spcPts val="400"/>
              </a:spcBef>
              <a:buChar char="•"/>
              <a:defRPr sz="1769">
                <a:latin typeface="Times New Roman"/>
                <a:ea typeface="Times New Roman"/>
                <a:cs typeface="Times New Roman"/>
                <a:sym typeface="Times New Roman"/>
              </a:defRPr>
            </a:pPr>
            <a:r>
              <a:t>Division of labor depends on the extent of the market; cf.: Adam Smith: Wealth of Nations</a:t>
            </a:r>
          </a:p>
          <a:p>
            <a:pPr lvl="1" marL="488061" indent="-209169" defTabSz="557784">
              <a:lnSpc>
                <a:spcPct val="90000"/>
              </a:lnSpc>
              <a:spcBef>
                <a:spcPts val="400"/>
              </a:spcBef>
              <a:buChar char="•"/>
              <a:defRPr sz="1769">
                <a:latin typeface="Times New Roman"/>
                <a:ea typeface="Times New Roman"/>
                <a:cs typeface="Times New Roman"/>
                <a:sym typeface="Times New Roman"/>
              </a:defRPr>
            </a:pPr>
            <a:r>
              <a:t>Institutionalization via Bretton Woods macro NGOs (World Bank, IMF) and other institutions (USAID)</a:t>
            </a:r>
          </a:p>
          <a:p>
            <a:pPr marL="209169" indent="-209169" defTabSz="557784">
              <a:lnSpc>
                <a:spcPct val="90000"/>
              </a:lnSpc>
              <a:spcBef>
                <a:spcPts val="400"/>
              </a:spcBef>
              <a:defRPr sz="1769">
                <a:latin typeface="Times New Roman"/>
                <a:ea typeface="Times New Roman"/>
                <a:cs typeface="Times New Roman"/>
                <a:sym typeface="Times New Roman"/>
              </a:defRPr>
            </a:pPr>
            <a:r>
              <a:t>Karl Polanyiesque: A “Great Transformation”</a:t>
            </a:r>
          </a:p>
          <a:p>
            <a:pPr lvl="1" marL="488061" indent="-209169" defTabSz="557784">
              <a:lnSpc>
                <a:spcPct val="90000"/>
              </a:lnSpc>
              <a:spcBef>
                <a:spcPts val="400"/>
              </a:spcBef>
              <a:buChar char="•"/>
              <a:defRPr sz="1769">
                <a:latin typeface="Times New Roman"/>
                <a:ea typeface="Times New Roman"/>
                <a:cs typeface="Times New Roman"/>
                <a:sym typeface="Times New Roman"/>
              </a:defRPr>
            </a:pPr>
            <a:r>
              <a:t>In contrast to a belief in the “system of natural liberty”</a:t>
            </a:r>
          </a:p>
          <a:p>
            <a:pPr lvl="1" marL="488061" indent="-209169" defTabSz="557784">
              <a:lnSpc>
                <a:spcPct val="90000"/>
              </a:lnSpc>
              <a:spcBef>
                <a:spcPts val="400"/>
              </a:spcBef>
              <a:buChar char="•"/>
              <a:defRPr sz="1769">
                <a:latin typeface="Times New Roman"/>
                <a:ea typeface="Times New Roman"/>
                <a:cs typeface="Times New Roman"/>
                <a:sym typeface="Times New Roman"/>
              </a:defRPr>
            </a:pPr>
            <a:r>
              <a:t>Human institutions and practices need to be transformed for industrialization to take hold</a:t>
            </a:r>
          </a:p>
          <a:p>
            <a:pPr lvl="2" marL="766953" indent="-209169" defTabSz="557784">
              <a:lnSpc>
                <a:spcPct val="90000"/>
              </a:lnSpc>
              <a:spcBef>
                <a:spcPts val="400"/>
              </a:spcBef>
              <a:defRPr sz="1769">
                <a:latin typeface="Times New Roman"/>
                <a:ea typeface="Times New Roman"/>
                <a:cs typeface="Times New Roman"/>
                <a:sym typeface="Times New Roman"/>
              </a:defRPr>
            </a:pPr>
            <a:r>
              <a:t>Market economy/market society/“double movement”</a:t>
            </a:r>
          </a:p>
          <a:p>
            <a:pPr marL="209169" indent="-209169" defTabSz="557784">
              <a:lnSpc>
                <a:spcPct val="90000"/>
              </a:lnSpc>
              <a:spcBef>
                <a:spcPts val="400"/>
              </a:spcBef>
              <a:defRPr sz="1769">
                <a:latin typeface="Times New Roman"/>
                <a:ea typeface="Times New Roman"/>
                <a:cs typeface="Times New Roman"/>
                <a:sym typeface="Times New Roman"/>
              </a:defRPr>
            </a:pPr>
            <a:r>
              <a:t>“Washington Consensus” of neoliberalism did not produce hoped-for results. Or did it?</a:t>
            </a:r>
          </a:p>
          <a:p>
            <a:pPr lvl="1" marL="488061" indent="-209169" defTabSz="557784">
              <a:lnSpc>
                <a:spcPct val="90000"/>
              </a:lnSpc>
              <a:spcBef>
                <a:spcPts val="400"/>
              </a:spcBef>
              <a:buChar char="•"/>
              <a:defRPr sz="1769">
                <a:latin typeface="Times New Roman"/>
                <a:ea typeface="Times New Roman"/>
                <a:cs typeface="Times New Roman"/>
                <a:sym typeface="Times New Roman"/>
              </a:defRPr>
            </a:pPr>
            <a:r>
              <a:t>If a country cannot run a public utility water system in the public interest, why would you think it be able to conduct a privatization auction in the public interest?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Title 1"/>
          <p:cNvSpPr txBox="1"/>
          <p:nvPr>
            <p:ph type="title"/>
          </p:nvPr>
        </p:nvSpPr>
        <p:spPr>
          <a:prstGeom prst="rect">
            <a:avLst/>
          </a:prstGeom>
        </p:spPr>
        <p:txBody>
          <a:bodyPr/>
          <a:lstStyle>
            <a:lvl1pPr defTabSz="704087">
              <a:defRPr b="1" sz="6160">
                <a:solidFill>
                  <a:srgbClr val="000080"/>
                </a:solidFill>
                <a:latin typeface="+mj-lt"/>
                <a:ea typeface="+mj-ea"/>
                <a:cs typeface="+mj-cs"/>
                <a:sym typeface="Helvetica"/>
              </a:defRPr>
            </a:lvl1pPr>
          </a:lstStyle>
          <a:p>
            <a:pPr/>
            <a:r>
              <a:t>The Great Divergence</a:t>
            </a:r>
          </a:p>
        </p:txBody>
      </p:sp>
      <p:pic>
        <p:nvPicPr>
          <p:cNvPr id="138" name="Picture 2" descr="Picture 2"/>
          <p:cNvPicPr>
            <a:picLocks noChangeAspect="1"/>
          </p:cNvPicPr>
          <p:nvPr/>
        </p:nvPicPr>
        <p:blipFill>
          <a:blip r:embed="rId2">
            <a:extLst/>
          </a:blip>
          <a:stretch>
            <a:fillRect/>
          </a:stretch>
        </p:blipFill>
        <p:spPr>
          <a:xfrm>
            <a:off x="609600" y="1600200"/>
            <a:ext cx="8247851" cy="460216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Max Roser et al.: Our World in Data"/>
          <p:cNvSpPr txBox="1"/>
          <p:nvPr>
            <p:ph type="title" idx="4294967295"/>
          </p:nvPr>
        </p:nvSpPr>
        <p:spPr>
          <a:xfrm>
            <a:off x="457199" y="-1"/>
            <a:ext cx="8229601" cy="1143002"/>
          </a:xfrm>
          <a:prstGeom prst="rect">
            <a:avLst/>
          </a:prstGeom>
        </p:spPr>
        <p:txBody>
          <a:bodyPr/>
          <a:lstStyle/>
          <a:p>
            <a:pPr defTabSz="246888">
              <a:defRPr b="1" sz="4320">
                <a:solidFill>
                  <a:srgbClr val="000080"/>
                </a:solidFill>
                <a:uFill>
                  <a:solidFill>
                    <a:srgbClr val="000000"/>
                  </a:solidFill>
                </a:uFill>
              </a:defRPr>
            </a:pPr>
            <a:r>
              <a:t>Max Roser </a:t>
            </a:r>
            <a:r>
              <a:rPr i="1"/>
              <a:t>et </a:t>
            </a:r>
            <a:r>
              <a:t>al.: Our World in Data</a:t>
            </a:r>
          </a:p>
        </p:txBody>
      </p:sp>
      <p:sp>
        <p:nvSpPr>
          <p:cNvPr id="141" name="&lt;https://ourworldindata.org/&gt;…"/>
          <p:cNvSpPr txBox="1"/>
          <p:nvPr>
            <p:ph type="body" idx="4294967295"/>
          </p:nvPr>
        </p:nvSpPr>
        <p:spPr>
          <a:xfrm>
            <a:off x="457199" y="1143000"/>
            <a:ext cx="5238595" cy="5218543"/>
          </a:xfrm>
          <a:prstGeom prst="rect">
            <a:avLst/>
          </a:prstGeom>
        </p:spPr>
        <p:txBody>
          <a:bodyPr/>
          <a:lstStyle/>
          <a:p>
            <a:pPr marL="291465" indent="-291465" defTabSz="388620">
              <a:defRPr sz="2040">
                <a:uFill>
                  <a:solidFill>
                    <a:srgbClr val="000000"/>
                  </a:solidFill>
                </a:uFill>
              </a:defRPr>
            </a:pPr>
            <a:r>
              <a:t>&lt;</a:t>
            </a:r>
            <a:r>
              <a:rPr u="sng">
                <a:solidFill>
                  <a:srgbClr val="0000FF"/>
                </a:solidFill>
                <a:uFillTx/>
                <a:hlinkClick r:id="rId2" invalidUrl="" action="" tgtFrame="" tooltip="" history="1" highlightClick="0" endSnd="0"/>
              </a:rPr>
              <a:t>https://ourworldindata.org/</a:t>
            </a:r>
            <a:r>
              <a:t>&gt;</a:t>
            </a:r>
          </a:p>
          <a:p>
            <a:pPr lvl="1" marL="680085" indent="-291465" defTabSz="388620">
              <a:buChar char="•"/>
              <a:defRPr sz="2040">
                <a:uFill>
                  <a:solidFill>
                    <a:srgbClr val="000000"/>
                  </a:solidFill>
                </a:uFill>
              </a:defRPr>
            </a:pPr>
            <a:r>
              <a:t>Stasis at the bottom—people whose lives are still not that distinguishable from all of our pre-industrial ancestors</a:t>
            </a:r>
          </a:p>
          <a:p>
            <a:pPr lvl="2" marL="1068705" indent="-291465" defTabSz="388620">
              <a:defRPr sz="2040">
                <a:uFill>
                  <a:solidFill>
                    <a:srgbClr val="000000"/>
                  </a:solidFill>
                </a:uFill>
              </a:defRPr>
            </a:pPr>
            <a:r>
              <a:t>How is such an atrocity </a:t>
            </a:r>
            <a:r>
              <a:rPr i="1"/>
              <a:t>possible</a:t>
            </a:r>
            <a:r>
              <a:t> in a world as rich and as connected as ours is?</a:t>
            </a:r>
          </a:p>
          <a:p>
            <a:pPr lvl="1" marL="680085" indent="-291465" defTabSz="388620">
              <a:buChar char="•"/>
              <a:defRPr sz="2040">
                <a:uFill>
                  <a:solidFill>
                    <a:srgbClr val="000000"/>
                  </a:solidFill>
                </a:uFill>
              </a:defRPr>
            </a:pPr>
            <a:r>
              <a:t>1800-1975: Industrial Revolution, Modern Economic Growth—and the creation of the First and Third Worlds</a:t>
            </a:r>
          </a:p>
          <a:p>
            <a:pPr lvl="2" marL="1068705" indent="-291465" defTabSz="388620">
              <a:defRPr sz="2040">
                <a:uFill>
                  <a:solidFill>
                    <a:srgbClr val="000000"/>
                  </a:solidFill>
                </a:uFill>
              </a:defRPr>
            </a:pPr>
            <a:r>
              <a:t>The “development of underdevelopment”</a:t>
            </a:r>
          </a:p>
          <a:p>
            <a:pPr lvl="1" marL="680085" indent="-291465" defTabSz="388620">
              <a:buChar char="•"/>
              <a:defRPr sz="2040">
                <a:uFill>
                  <a:solidFill>
                    <a:srgbClr val="000000"/>
                  </a:solidFill>
                </a:uFill>
              </a:defRPr>
            </a:pPr>
            <a:r>
              <a:t>1975-2015: China stands up; India gets off the ground—back to one bell-shape</a:t>
            </a:r>
          </a:p>
          <a:p>
            <a:pPr lvl="2" marL="1068705" indent="-291465" defTabSz="388620">
              <a:defRPr sz="2040">
                <a:uFill>
                  <a:solidFill>
                    <a:srgbClr val="000000"/>
                  </a:solidFill>
                </a:uFill>
              </a:defRPr>
            </a:pPr>
            <a:r>
              <a:t>With a lower African tail…</a:t>
            </a:r>
          </a:p>
        </p:txBody>
      </p:sp>
      <p:pic>
        <p:nvPicPr>
          <p:cNvPr id="142" name="Image" descr="Image"/>
          <p:cNvPicPr>
            <a:picLocks noChangeAspect="1"/>
          </p:cNvPicPr>
          <p:nvPr/>
        </p:nvPicPr>
        <p:blipFill>
          <a:blip r:embed="rId3">
            <a:extLst/>
          </a:blip>
          <a:stretch>
            <a:fillRect/>
          </a:stretch>
        </p:blipFill>
        <p:spPr>
          <a:xfrm>
            <a:off x="5695793" y="1143000"/>
            <a:ext cx="2991007" cy="521854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