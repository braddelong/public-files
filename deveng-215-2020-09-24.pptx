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9" name="Shape 109"/>
          <p:cNvSpPr/>
          <p:nvPr>
            <p:ph type="sldImg"/>
          </p:nvPr>
        </p:nvSpPr>
        <p:spPr>
          <a:xfrm>
            <a:off x="1143000" y="685800"/>
            <a:ext cx="4572000" cy="3429000"/>
          </a:xfrm>
          <a:prstGeom prst="rect">
            <a:avLst/>
          </a:prstGeom>
        </p:spPr>
        <p:txBody>
          <a:bodyPr/>
          <a:lstStyle/>
          <a:p>
            <a:pPr/>
          </a:p>
        </p:txBody>
      </p:sp>
      <p:sp>
        <p:nvSpPr>
          <p:cNvPr id="110" name="Shape 11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Shape 154"/>
          <p:cNvSpPr/>
          <p:nvPr>
            <p:ph type="sldImg"/>
          </p:nvPr>
        </p:nvSpPr>
        <p:spPr>
          <a:prstGeom prst="rect">
            <a:avLst/>
          </a:prstGeom>
        </p:spPr>
        <p:txBody>
          <a:bodyPr/>
          <a:lstStyle/>
          <a:p>
            <a:pPr/>
          </a:p>
        </p:txBody>
      </p:sp>
      <p:sp>
        <p:nvSpPr>
          <p:cNvPr id="155" name="Shape 155"/>
          <p:cNvSpPr/>
          <p:nvPr>
            <p:ph type="body" sz="quarter" idx="1"/>
          </p:nvPr>
        </p:nvSpPr>
        <p:spPr>
          <a:prstGeom prst="rect">
            <a:avLst/>
          </a:prstGeom>
        </p:spPr>
        <p:txBody>
          <a:bodyPr/>
          <a:lstStyle/>
          <a:p>
            <a:pPr defTabSz="457200">
              <a:lnSpc>
                <a:spcPct val="125000"/>
              </a:lnSpc>
              <a:defRPr sz="2400">
                <a:latin typeface="Avenir Roman"/>
                <a:ea typeface="Avenir Roman"/>
                <a:cs typeface="Avenir Roman"/>
                <a:sym typeface="Avenir Roman"/>
              </a:defRPr>
            </a:pPr>
            <a:r>
              <a:t>From a cynical perspective the interesting question might be not why was there economic stagnation in much and absolute economic decline in some ofemerging markets, but why there was rapid growth in other portions. Chile, Mexico, southern Brazil, and Panama in Latin America; Algeria in Saharan and Botswana in sub-Saharan Africa; and Hong Kong, Malaysia, Singapore, South Korea, Taiwan, Thailand, and now, of course, China in Asia are countries that have made impressive strides toward closing the relative material prosperity gap vis-a-vis the global north in the post-World War II era. How have they managed to do this? What have been the key factors separating successful from unsuccessful episodes of economic development?</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The natural conclusion from emerging-market history is that successful economic development is difficult without either a limited government or a developmental state: the logic of politics is that of favors performed, wealth redistributed, inﬂuence exercised, and taxes collected; that is very different from the logic of economic growth. Only a state that is limited in the amount of damage it can do to the economy, or a state that is secure enough, independent enough, and committed to rapid economic growth can avoid this development trap.</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These are the two roads to successful rapid development: “neoliberalism,” on the one hand; and the so-called “developmental state” approach that has been so successful in East Asia on the other. Either insulate the economy from the (semi-predatory) government so that the government’s attempts to tilt the distribution of income in favor of the politically powerful are relatively ineffective and do little harm, or create a government bureaucracy whose first goal is development, and which views interests as its tools to be used in promoting economic growth, rather than as its masters.</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These pressures have, in the post-World War II period at least, been strong enough to counteract the natural tendency for poor countries to learn rapidly about technology and catch up to rich ones. There is no clear reason on the horizon for these pressures to diminish. Optimists hope that the record of economic failure provided by much third world experience in the past generation will lead to the creation of intellectual pressures for reform strong enough to overcome the bias for stagnation. </a:t>
            </a:r>
            <a:br/>
            <a:br/>
            <a:r>
              <a:t>And if ideas truly are the decisive forces making history in the long run, perhaps the optimists are right.</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If the optimists are wrong, then we are all in big trouble. Successful handling of the future’s global environmental problems, and successful long-run stabilization of human populations, hinges on successful industrialization in the third world and the consequent—rapid—passage through the demographic transition.</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One way to read the economic history is as repeated attempts to produce the second: to create a pro-growth “developmental state.” Yet in the last analysis there is nothing worse than state-led development led by an anti-developmental state. And that was what too many post-independence Asian and African and too many post-World War II Latin American states turned out to be.</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Thus starting in the 1980s hopes for development—outside of the Pacific Rim, where the successful “developmental state” has been was already clearly a reality— shifted in the direction of “neoliberalism.” It seemed better to try to limit the state’s involvement in the process of development, because its interventions were more likely to be destructive than constructive. Rely, instead, on the world market as a source of demand, and on the requirements for integration into the world market and cooperation with the international agencies set up after World War II as a source of good-enough governance.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half"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Vertical Text">
    <p:spTree>
      <p:nvGrpSpPr>
        <p:cNvPr id="1" name=""/>
        <p:cNvGrpSpPr/>
        <p:nvPr/>
      </p:nvGrpSpPr>
      <p:grpSpPr>
        <a:xfrm>
          <a:off x="0" y="0"/>
          <a:ext cx="0" cy="0"/>
          <a:chOff x="0" y="0"/>
          <a:chExt cx="0" cy="0"/>
        </a:xfrm>
      </p:grpSpPr>
      <p:sp>
        <p:nvSpPr>
          <p:cNvPr id="92" name="Title Text"/>
          <p:cNvSpPr txBox="1"/>
          <p:nvPr>
            <p:ph type="title"/>
          </p:nvPr>
        </p:nvSpPr>
        <p:spPr>
          <a:prstGeom prst="rect">
            <a:avLst/>
          </a:prstGeom>
        </p:spPr>
        <p:txBody>
          <a:bodyPr/>
          <a:lstStyle/>
          <a:p>
            <a:pPr/>
            <a:r>
              <a:t>Title Text</a:t>
            </a:r>
          </a:p>
        </p:txBody>
      </p:sp>
      <p:sp>
        <p:nvSpPr>
          <p:cNvPr id="93"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 Title and Text">
    <p:spTree>
      <p:nvGrpSpPr>
        <p:cNvPr id="1" name=""/>
        <p:cNvGrpSpPr/>
        <p:nvPr/>
      </p:nvGrpSpPr>
      <p:grpSpPr>
        <a:xfrm>
          <a:off x="0" y="0"/>
          <a:ext cx="0" cy="0"/>
          <a:chOff x="0" y="0"/>
          <a:chExt cx="0" cy="0"/>
        </a:xfrm>
      </p:grpSpPr>
      <p:sp>
        <p:nvSpPr>
          <p:cNvPr id="101" name="Title Text"/>
          <p:cNvSpPr txBox="1"/>
          <p:nvPr>
            <p:ph type="title"/>
          </p:nvPr>
        </p:nvSpPr>
        <p:spPr>
          <a:xfrm>
            <a:off x="6629400" y="274638"/>
            <a:ext cx="2057400" cy="5851526"/>
          </a:xfrm>
          <a:prstGeom prst="rect">
            <a:avLst/>
          </a:prstGeom>
        </p:spPr>
        <p:txBody>
          <a:bodyPr/>
          <a:lstStyle/>
          <a:p>
            <a:pPr/>
            <a:r>
              <a:t>Title Text</a:t>
            </a:r>
          </a:p>
        </p:txBody>
      </p:sp>
      <p:sp>
        <p:nvSpPr>
          <p:cNvPr id="102" name="Body Level One…"/>
          <p:cNvSpPr txBox="1"/>
          <p:nvPr>
            <p:ph type="body" idx="1"/>
          </p:nvPr>
        </p:nvSpPr>
        <p:spPr>
          <a:xfrm>
            <a:off x="457200" y="274638"/>
            <a:ext cx="6019800" cy="5851526"/>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04292"/>
            <a:ext cx="258624" cy="269241"/>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cloud.com/keynote/0O18MqdAKb4Cmadq15O8r3b9Q" TargetMode="External"/></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braddelong/public-files/blob/master/readings/article-pigg-categories-place.pdf" TargetMode="External"/><Relationship Id="rId3"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braddelong/public-files/blob/master/readings/article-escobar-1999-invention-of-development.pdf" TargetMode="External"/></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braddelong/public-files/blob/master/readings/article-milanovic-%26-al-pre-industrial-inequality.pdf" TargetMode="Externa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braddelong/public-files/blob/master/readings/article-ferguson-1994-antipolitics.pdf"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braddelong/public-files/blob/master/readings/article-lawson-%26-ellwood-1993-encountering-poverty.pdf" TargetMode="External"/></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hyperlink" Target="mailto:tjcarlson@berkeley.edu" TargetMode="External"/><Relationship Id="rId4" Type="http://schemas.openxmlformats.org/officeDocument/2006/relationships/hyperlink" Target="mailto:casey.finnerty@berkeley.edu" TargetMode="External"/><Relationship Id="rId5" Type="http://schemas.openxmlformats.org/officeDocument/2006/relationships/hyperlink" Target="mailto:adrian.hinkle@berkeley.edu" TargetMode="External"/><Relationship Id="rId6" Type="http://schemas.openxmlformats.org/officeDocument/2006/relationships/hyperlink" Target="mailto:mdhoskote@berkeley.edu" TargetMode="External"/><Relationship Id="rId7" Type="http://schemas.openxmlformats.org/officeDocument/2006/relationships/hyperlink" Target="mailto:kelly_conway@berkeley.edu" TargetMode="External"/><Relationship Id="rId8" Type="http://schemas.openxmlformats.org/officeDocument/2006/relationships/hyperlink" Target="mailto:haley.wohlever@berkeley.edu" TargetMode="External"/><Relationship Id="rId9" Type="http://schemas.openxmlformats.org/officeDocument/2006/relationships/hyperlink" Target="mailto:hanna_seo@berkeley.edu" TargetMode="External"/><Relationship Id="rId10" Type="http://schemas.openxmlformats.org/officeDocument/2006/relationships/hyperlink" Target="mailto:sara_mahmoud@berkeley.edu" TargetMode="External"/><Relationship Id="rId11" Type="http://schemas.openxmlformats.org/officeDocument/2006/relationships/hyperlink" Target="mailto:margielauter@berkeley.edu" TargetMode="External"/><Relationship Id="rId12" Type="http://schemas.openxmlformats.org/officeDocument/2006/relationships/hyperlink" Target="mailto:dana_geffner@berkeley.edu" TargetMode="Externa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DevEng 215:…"/>
          <p:cNvSpPr txBox="1"/>
          <p:nvPr>
            <p:ph type="title" idx="4294967295"/>
          </p:nvPr>
        </p:nvSpPr>
        <p:spPr>
          <a:xfrm>
            <a:off x="685799" y="530740"/>
            <a:ext cx="7772401" cy="2429430"/>
          </a:xfrm>
          <a:prstGeom prst="rect">
            <a:avLst/>
          </a:prstGeom>
        </p:spPr>
        <p:txBody>
          <a:bodyPr/>
          <a:lstStyle/>
          <a:p>
            <a:pPr defTabSz="406908">
              <a:defRPr b="1" sz="4984">
                <a:solidFill>
                  <a:srgbClr val="800000"/>
                </a:solidFill>
                <a:uFill>
                  <a:solidFill>
                    <a:srgbClr val="000000"/>
                  </a:solidFill>
                </a:uFill>
              </a:defRPr>
            </a:pPr>
            <a:r>
              <a:t>DevEng 215: </a:t>
            </a:r>
          </a:p>
          <a:p>
            <a:pPr defTabSz="406908">
              <a:defRPr b="1" sz="4984">
                <a:solidFill>
                  <a:srgbClr val="800000"/>
                </a:solidFill>
                <a:uFill>
                  <a:solidFill>
                    <a:srgbClr val="000000"/>
                  </a:solidFill>
                </a:uFill>
              </a:defRPr>
            </a:pPr>
            <a:r>
              <a:t>Week 5: Development as an Industry</a:t>
            </a:r>
          </a:p>
        </p:txBody>
      </p:sp>
      <p:sp>
        <p:nvSpPr>
          <p:cNvPr id="113" name="J. Bradford DeLong…"/>
          <p:cNvSpPr txBox="1"/>
          <p:nvPr>
            <p:ph type="body" sz="half" idx="4294967295"/>
          </p:nvPr>
        </p:nvSpPr>
        <p:spPr>
          <a:xfrm>
            <a:off x="970328" y="3280857"/>
            <a:ext cx="6991279" cy="2953204"/>
          </a:xfrm>
          <a:prstGeom prst="rect">
            <a:avLst/>
          </a:prstGeom>
        </p:spPr>
        <p:txBody>
          <a:bodyPr/>
          <a:lstStyle/>
          <a:p>
            <a:pPr marL="0" indent="0" algn="ctr" defTabSz="457200">
              <a:lnSpc>
                <a:spcPct val="80000"/>
              </a:lnSpc>
              <a:spcBef>
                <a:spcPts val="400"/>
              </a:spcBef>
              <a:buSzTx/>
              <a:buNone/>
              <a:defRPr sz="2400">
                <a:uFill>
                  <a:solidFill>
                    <a:srgbClr val="000000"/>
                  </a:solidFill>
                </a:uFill>
              </a:defRPr>
            </a:pPr>
            <a:r>
              <a:rPr>
                <a:solidFill>
                  <a:srgbClr val="898989"/>
                </a:solidFill>
                <a:uFill>
                  <a:solidFill>
                    <a:srgbClr val="898989"/>
                  </a:solidFill>
                </a:uFill>
              </a:rPr>
              <a:t>J. Bradford DeLong</a:t>
            </a:r>
            <a:endParaRPr>
              <a:solidFill>
                <a:srgbClr val="898989"/>
              </a:solidFill>
              <a:uFill>
                <a:solidFill>
                  <a:srgbClr val="898989"/>
                </a:solidFill>
              </a:uFill>
            </a:endParaRPr>
          </a:p>
          <a:p>
            <a:pPr marL="0" indent="0" algn="ctr" defTabSz="457200">
              <a:lnSpc>
                <a:spcPct val="80000"/>
              </a:lnSpc>
              <a:spcBef>
                <a:spcPts val="400"/>
              </a:spcBef>
              <a:buSzTx/>
              <a:buNone/>
              <a:defRPr sz="2400">
                <a:uFill>
                  <a:solidFill>
                    <a:srgbClr val="000000"/>
                  </a:solidFill>
                </a:uFill>
              </a:defRPr>
            </a:pPr>
            <a:r>
              <a:rPr>
                <a:solidFill>
                  <a:srgbClr val="898989"/>
                </a:solidFill>
                <a:uFill>
                  <a:solidFill>
                    <a:srgbClr val="898989"/>
                  </a:solidFill>
                </a:uFill>
              </a:rPr>
              <a:t>Professor of Economics and Chief Economist Blum Center for Developing Economies, U.C. Berkeley</a:t>
            </a:r>
            <a:endParaRPr>
              <a:solidFill>
                <a:srgbClr val="898989"/>
              </a:solidFill>
              <a:uFill>
                <a:solidFill>
                  <a:srgbClr val="898989"/>
                </a:solidFill>
              </a:uFill>
            </a:endParaRPr>
          </a:p>
          <a:p>
            <a:pPr marL="0" indent="0" algn="ctr" defTabSz="457200">
              <a:lnSpc>
                <a:spcPct val="80000"/>
              </a:lnSpc>
              <a:spcBef>
                <a:spcPts val="400"/>
              </a:spcBef>
              <a:buSzTx/>
              <a:buNone/>
              <a:defRPr sz="2400">
                <a:uFill>
                  <a:solidFill>
                    <a:srgbClr val="000000"/>
                  </a:solidFill>
                </a:uFill>
              </a:defRPr>
            </a:pPr>
            <a:endParaRPr>
              <a:solidFill>
                <a:srgbClr val="898989"/>
              </a:solidFill>
              <a:uFill>
                <a:solidFill>
                  <a:srgbClr val="898989"/>
                </a:solidFill>
              </a:uFill>
            </a:endParaRPr>
          </a:p>
          <a:p>
            <a:pPr marL="0" indent="0" algn="ctr" defTabSz="457200">
              <a:lnSpc>
                <a:spcPct val="80000"/>
              </a:lnSpc>
              <a:spcBef>
                <a:spcPts val="400"/>
              </a:spcBef>
              <a:buSzTx/>
              <a:buNone/>
              <a:defRPr sz="1600">
                <a:uFill>
                  <a:solidFill>
                    <a:srgbClr val="000000"/>
                  </a:solidFill>
                </a:uFill>
              </a:defRPr>
            </a:pPr>
            <a:r>
              <a:rPr>
                <a:solidFill>
                  <a:srgbClr val="898989"/>
                </a:solidFill>
                <a:uFill>
                  <a:solidFill>
                    <a:srgbClr val="898989"/>
                  </a:solidFill>
                </a:uFill>
              </a:rPr>
              <a:t>Week 5: Th 2020-09-24 12:00 Noon</a:t>
            </a:r>
            <a:endParaRPr>
              <a:solidFill>
                <a:srgbClr val="898989"/>
              </a:solidFill>
              <a:uFill>
                <a:solidFill>
                  <a:srgbClr val="898989"/>
                </a:solidFill>
              </a:uFill>
            </a:endParaRPr>
          </a:p>
          <a:p>
            <a:pPr marL="0" indent="0" algn="ctr" defTabSz="457200">
              <a:lnSpc>
                <a:spcPct val="80000"/>
              </a:lnSpc>
              <a:spcBef>
                <a:spcPts val="400"/>
              </a:spcBef>
              <a:buSzTx/>
              <a:buNone/>
              <a:defRPr sz="1600">
                <a:uFill>
                  <a:solidFill>
                    <a:srgbClr val="000000"/>
                  </a:solidFill>
                </a:uFill>
              </a:defRPr>
            </a:pPr>
            <a:endParaRPr>
              <a:solidFill>
                <a:srgbClr val="898989"/>
              </a:solidFill>
              <a:uFill>
                <a:solidFill>
                  <a:srgbClr val="898989"/>
                </a:solidFill>
              </a:uFill>
            </a:endParaRPr>
          </a:p>
          <a:p>
            <a:pPr marL="0" indent="0" algn="ctr" defTabSz="457200">
              <a:lnSpc>
                <a:spcPct val="80000"/>
              </a:lnSpc>
              <a:spcBef>
                <a:spcPts val="400"/>
              </a:spcBef>
              <a:buSzTx/>
              <a:buNone/>
              <a:defRPr sz="1600">
                <a:uFill>
                  <a:solidFill>
                    <a:srgbClr val="000000"/>
                  </a:solidFill>
                </a:uFill>
              </a:defRPr>
            </a:pPr>
            <a:endParaRPr>
              <a:solidFill>
                <a:srgbClr val="898989"/>
              </a:solidFill>
              <a:uFill>
                <a:solidFill>
                  <a:srgbClr val="898989"/>
                </a:solidFill>
              </a:uFill>
            </a:endParaRPr>
          </a:p>
          <a:p>
            <a:pPr marL="0" indent="0" algn="ctr" defTabSz="457200">
              <a:lnSpc>
                <a:spcPct val="80000"/>
              </a:lnSpc>
              <a:spcBef>
                <a:spcPts val="400"/>
              </a:spcBef>
              <a:buSzTx/>
              <a:buNone/>
              <a:defRPr sz="1600">
                <a:uFill>
                  <a:solidFill>
                    <a:srgbClr val="000000"/>
                  </a:solidFill>
                </a:uFill>
              </a:defRPr>
            </a:pPr>
            <a:endParaRPr>
              <a:solidFill>
                <a:srgbClr val="898989"/>
              </a:solidFill>
              <a:uFill>
                <a:solidFill>
                  <a:srgbClr val="898989"/>
                </a:solidFill>
              </a:uFill>
            </a:endParaRPr>
          </a:p>
          <a:p>
            <a:pPr marL="0" indent="0" algn="ctr" defTabSz="457200">
              <a:lnSpc>
                <a:spcPct val="80000"/>
              </a:lnSpc>
              <a:spcBef>
                <a:spcPts val="400"/>
              </a:spcBef>
              <a:buSzTx/>
              <a:buNone/>
              <a:defRPr sz="1600">
                <a:uFill>
                  <a:solidFill>
                    <a:srgbClr val="000000"/>
                  </a:solidFill>
                </a:uFill>
              </a:defRPr>
            </a:pPr>
            <a:endParaRPr>
              <a:solidFill>
                <a:srgbClr val="898989"/>
              </a:solidFill>
              <a:uFill>
                <a:solidFill>
                  <a:srgbClr val="898989"/>
                </a:solidFill>
              </a:uFill>
            </a:endParaRPr>
          </a:p>
          <a:p>
            <a:pPr marL="0" indent="0" algn="ctr" defTabSz="457200">
              <a:lnSpc>
                <a:spcPct val="80000"/>
              </a:lnSpc>
              <a:spcBef>
                <a:spcPts val="400"/>
              </a:spcBef>
              <a:buSzTx/>
              <a:buNone/>
              <a:defRPr sz="1600">
                <a:uFill>
                  <a:solidFill>
                    <a:srgbClr val="000000"/>
                  </a:solidFill>
                </a:uFill>
              </a:defRPr>
            </a:pPr>
            <a:r>
              <a:rPr>
                <a:solidFill>
                  <a:srgbClr val="898989"/>
                </a:solidFill>
                <a:uFill>
                  <a:solidFill>
                    <a:srgbClr val="898989"/>
                  </a:solidFill>
                </a:uFill>
              </a:rPr>
              <a:t>&lt;</a:t>
            </a:r>
            <a:r>
              <a:rPr u="sng">
                <a:solidFill>
                  <a:srgbClr val="0000FF"/>
                </a:solidFill>
                <a:uFill>
                  <a:solidFill>
                    <a:srgbClr val="0000FF"/>
                  </a:solidFill>
                </a:uFill>
                <a:hlinkClick r:id="rId2" invalidUrl="" action="" tgtFrame="" tooltip="" history="1" highlightClick="0" endSnd="0"/>
              </a:rPr>
              <a:t>https://www.icloud.com/keynote/0O18MqdAKb4Cmadq15O8r3b9Q</a:t>
            </a:r>
            <a:r>
              <a:rPr>
                <a:solidFill>
                  <a:srgbClr val="898989"/>
                </a:solidFill>
                <a:uFill>
                  <a:solidFill>
                    <a:srgbClr val="898989"/>
                  </a:solidFill>
                </a:uFill>
              </a:rPr>
              <a:t>&gt;</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Joeva Rock Says: GPP 115 Live"/>
          <p:cNvSpPr txBox="1"/>
          <p:nvPr>
            <p:ph type="title" idx="4294967295"/>
          </p:nvPr>
        </p:nvSpPr>
        <p:spPr>
          <a:xfrm>
            <a:off x="457199" y="-1"/>
            <a:ext cx="8229601" cy="1143002"/>
          </a:xfrm>
          <a:prstGeom prst="rect">
            <a:avLst/>
          </a:prstGeom>
        </p:spPr>
        <p:txBody>
          <a:bodyPr/>
          <a:lstStyle>
            <a:lvl1pPr defTabSz="242315">
              <a:defRPr b="1" sz="4240">
                <a:solidFill>
                  <a:srgbClr val="000080"/>
                </a:solidFill>
                <a:uFill>
                  <a:solidFill>
                    <a:srgbClr val="000000"/>
                  </a:solidFill>
                </a:uFill>
                <a:latin typeface="+mj-lt"/>
                <a:ea typeface="+mj-ea"/>
                <a:cs typeface="+mj-cs"/>
                <a:sym typeface="Helvetica"/>
              </a:defRPr>
            </a:lvl1pPr>
          </a:lstStyle>
          <a:p>
            <a:pPr/>
            <a:r>
              <a:t>Joeva Rock Says: GPP 115 Live</a:t>
            </a:r>
          </a:p>
        </p:txBody>
      </p:sp>
      <p:sp>
        <p:nvSpPr>
          <p:cNvPr id="116" name="From Joeva Rock:…"/>
          <p:cNvSpPr txBox="1"/>
          <p:nvPr>
            <p:ph type="body" idx="4294967295"/>
          </p:nvPr>
        </p:nvSpPr>
        <p:spPr>
          <a:xfrm>
            <a:off x="457199" y="1143000"/>
            <a:ext cx="8229601" cy="5218543"/>
          </a:xfrm>
          <a:prstGeom prst="rect">
            <a:avLst/>
          </a:prstGeom>
        </p:spPr>
        <p:txBody>
          <a:bodyPr/>
          <a:lstStyle/>
          <a:p>
            <a:pPr marL="0" indent="0" defTabSz="457200">
              <a:spcBef>
                <a:spcPts val="800"/>
              </a:spcBef>
              <a:buSzTx/>
              <a:buFontTx/>
              <a:buNone/>
              <a:defRPr b="1" sz="3000">
                <a:uFill>
                  <a:solidFill>
                    <a:srgbClr val="000000"/>
                  </a:solidFill>
                </a:uFill>
                <a:latin typeface="+mj-lt"/>
                <a:ea typeface="+mj-ea"/>
                <a:cs typeface="+mj-cs"/>
                <a:sym typeface="Helvetica"/>
              </a:defRPr>
            </a:pPr>
            <a:r>
              <a:t>From Joeva Rock: </a:t>
            </a:r>
          </a:p>
          <a:p>
            <a:pPr marL="304800" indent="-304800" defTabSz="457200">
              <a:spcBef>
                <a:spcPts val="800"/>
              </a:spcBef>
              <a:buFontTx/>
              <a:defRPr sz="2400">
                <a:uFill>
                  <a:solidFill>
                    <a:srgbClr val="000000"/>
                  </a:solidFill>
                </a:uFill>
                <a:latin typeface="Times New Roman"/>
                <a:ea typeface="Times New Roman"/>
                <a:cs typeface="Times New Roman"/>
                <a:sym typeface="Times New Roman"/>
              </a:defRPr>
            </a:pPr>
            <a:r>
              <a:t>Tu September 22nd, 2-3:30p (Week 5)</a:t>
            </a:r>
          </a:p>
          <a:p>
            <a:pPr marL="304800" indent="-304800" defTabSz="457200">
              <a:spcBef>
                <a:spcPts val="800"/>
              </a:spcBef>
              <a:buFontTx/>
              <a:defRPr sz="2400">
                <a:uFill>
                  <a:solidFill>
                    <a:srgbClr val="000000"/>
                  </a:solidFill>
                </a:uFill>
                <a:latin typeface="Times New Roman"/>
                <a:ea typeface="Times New Roman"/>
                <a:cs typeface="Times New Roman"/>
                <a:sym typeface="Times New Roman"/>
              </a:defRPr>
            </a:pPr>
            <a:r>
              <a:t>Tu October 6th, 2-3:30p (Week 7)</a:t>
            </a:r>
          </a:p>
          <a:p>
            <a:pPr marL="304800" indent="-304800" defTabSz="457200">
              <a:spcBef>
                <a:spcPts val="800"/>
              </a:spcBef>
              <a:buFontTx/>
              <a:defRPr sz="2400">
                <a:uFill>
                  <a:solidFill>
                    <a:srgbClr val="000000"/>
                  </a:solidFill>
                </a:uFill>
                <a:latin typeface="Times New Roman"/>
                <a:ea typeface="Times New Roman"/>
                <a:cs typeface="Times New Roman"/>
                <a:sym typeface="Times New Roman"/>
              </a:defRPr>
            </a:pPr>
            <a:r>
              <a:t>Tu October 20th, 2-3:30p (Week 9)</a:t>
            </a:r>
          </a:p>
          <a:p>
            <a:pPr marL="304800" indent="-304800" defTabSz="457200">
              <a:spcBef>
                <a:spcPts val="800"/>
              </a:spcBef>
              <a:buFontTx/>
              <a:defRPr sz="2400">
                <a:uFill>
                  <a:solidFill>
                    <a:srgbClr val="000000"/>
                  </a:solidFill>
                </a:uFill>
                <a:latin typeface="Times New Roman"/>
                <a:ea typeface="Times New Roman"/>
                <a:cs typeface="Times New Roman"/>
                <a:sym typeface="Times New Roman"/>
              </a:defRPr>
            </a:pPr>
            <a:r>
              <a:t>Tu October 27th, 2-3:30p (Week 10)</a:t>
            </a:r>
          </a:p>
          <a:p>
            <a:pPr marL="304800" indent="-304800" defTabSz="457200">
              <a:spcBef>
                <a:spcPts val="800"/>
              </a:spcBef>
              <a:buFontTx/>
              <a:defRPr sz="2400">
                <a:uFill>
                  <a:solidFill>
                    <a:srgbClr val="000000"/>
                  </a:solidFill>
                </a:uFill>
                <a:latin typeface="Times New Roman"/>
                <a:ea typeface="Times New Roman"/>
                <a:cs typeface="Times New Roman"/>
                <a:sym typeface="Times New Roman"/>
              </a:defRPr>
            </a:pPr>
            <a:r>
              <a:t>Tu November 10th, 2-3:30p (Week 12)</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Seven Questions…"/>
          <p:cNvSpPr txBox="1"/>
          <p:nvPr>
            <p:ph type="title" idx="4294967295"/>
          </p:nvPr>
        </p:nvSpPr>
        <p:spPr>
          <a:xfrm>
            <a:off x="116731" y="0"/>
            <a:ext cx="8890001" cy="1143001"/>
          </a:xfrm>
          <a:prstGeom prst="rect">
            <a:avLst/>
          </a:prstGeom>
        </p:spPr>
        <p:txBody>
          <a:bodyPr/>
          <a:lstStyle>
            <a:lvl1pPr defTabSz="393192">
              <a:defRPr b="1" sz="6880">
                <a:solidFill>
                  <a:srgbClr val="000080"/>
                </a:solidFill>
                <a:uFill>
                  <a:solidFill>
                    <a:srgbClr val="000000"/>
                  </a:solidFill>
                </a:uFill>
                <a:latin typeface="+mj-lt"/>
                <a:ea typeface="+mj-ea"/>
                <a:cs typeface="+mj-cs"/>
                <a:sym typeface="Helvetica"/>
              </a:defRPr>
            </a:lvl1pPr>
          </a:lstStyle>
          <a:p>
            <a:pPr/>
            <a:r>
              <a:t>Seven Questions…</a:t>
            </a:r>
          </a:p>
        </p:txBody>
      </p:sp>
      <p:sp>
        <p:nvSpPr>
          <p:cNvPr id="119" name="From Haley Wohlever:…"/>
          <p:cNvSpPr txBox="1"/>
          <p:nvPr>
            <p:ph type="body" idx="4294967295"/>
          </p:nvPr>
        </p:nvSpPr>
        <p:spPr>
          <a:xfrm>
            <a:off x="116731" y="1143000"/>
            <a:ext cx="8890001" cy="5397501"/>
          </a:xfrm>
          <a:prstGeom prst="rect">
            <a:avLst/>
          </a:prstGeom>
        </p:spPr>
        <p:txBody>
          <a:bodyPr/>
          <a:lstStyle/>
          <a:p>
            <a:pPr marL="0" indent="0" defTabSz="393192">
              <a:spcBef>
                <a:spcPts val="600"/>
              </a:spcBef>
              <a:buSzTx/>
              <a:buFontTx/>
              <a:buNone/>
              <a:defRPr b="1" sz="2580">
                <a:uFill>
                  <a:solidFill>
                    <a:srgbClr val="000000"/>
                  </a:solidFill>
                </a:uFill>
                <a:latin typeface="+mj-lt"/>
                <a:ea typeface="+mj-ea"/>
                <a:cs typeface="+mj-cs"/>
                <a:sym typeface="Helvetica"/>
              </a:defRPr>
            </a:pPr>
            <a:r>
              <a:t>From Haley Wohlever: </a:t>
            </a:r>
          </a:p>
          <a:p>
            <a:pPr marL="275924" indent="-275924" defTabSz="393192">
              <a:spcBef>
                <a:spcPts val="600"/>
              </a:spcBef>
              <a:buFontTx/>
              <a:buAutoNum type="arabicPeriod" startAt="1"/>
              <a:defRPr sz="2064">
                <a:uFill>
                  <a:solidFill>
                    <a:srgbClr val="000000"/>
                  </a:solidFill>
                </a:uFill>
                <a:latin typeface="Times New Roman"/>
                <a:ea typeface="Times New Roman"/>
                <a:cs typeface="Times New Roman"/>
                <a:sym typeface="Times New Roman"/>
              </a:defRPr>
            </a:pPr>
            <a:r>
              <a:t>Are the notions of progress and modernity universal? If not, whose notions should we adhere to? (Pigg's study)</a:t>
            </a:r>
          </a:p>
          <a:p>
            <a:pPr marL="275924" indent="-275924" defTabSz="393192">
              <a:spcBef>
                <a:spcPts val="600"/>
              </a:spcBef>
              <a:buFontTx/>
              <a:buAutoNum type="arabicPeriod" startAt="1"/>
              <a:defRPr sz="2064">
                <a:uFill>
                  <a:solidFill>
                    <a:srgbClr val="000000"/>
                  </a:solidFill>
                </a:uFill>
                <a:latin typeface="Times New Roman"/>
                <a:ea typeface="Times New Roman"/>
                <a:cs typeface="Times New Roman"/>
                <a:sym typeface="Times New Roman"/>
              </a:defRPr>
            </a:pPr>
            <a:r>
              <a:t>In today's world, can social, cultural, and political progress be achieved without material advancement?</a:t>
            </a:r>
          </a:p>
          <a:p>
            <a:pPr marL="275924" indent="-275924" defTabSz="393192">
              <a:spcBef>
                <a:spcPts val="600"/>
              </a:spcBef>
              <a:buFontTx/>
              <a:buAutoNum type="arabicPeriod" startAt="1"/>
              <a:defRPr sz="2064">
                <a:uFill>
                  <a:solidFill>
                    <a:srgbClr val="000000"/>
                  </a:solidFill>
                </a:uFill>
                <a:latin typeface="Times New Roman"/>
                <a:ea typeface="Times New Roman"/>
                <a:cs typeface="Times New Roman"/>
                <a:sym typeface="Times New Roman"/>
              </a:defRPr>
            </a:pPr>
            <a:r>
              <a:t>Rather than viewing poverty as purely economic, is there a more holistic and perhaps better way to conceptualize it? (Escobar's paper)</a:t>
            </a:r>
          </a:p>
          <a:p>
            <a:pPr marL="275924" indent="-275924" defTabSz="393192">
              <a:spcBef>
                <a:spcPts val="600"/>
              </a:spcBef>
              <a:buFontTx/>
              <a:buAutoNum type="arabicPeriod" startAt="1"/>
              <a:defRPr sz="2064">
                <a:uFill>
                  <a:solidFill>
                    <a:srgbClr val="000000"/>
                  </a:solidFill>
                </a:uFill>
                <a:latin typeface="Times New Roman"/>
                <a:ea typeface="Times New Roman"/>
                <a:cs typeface="Times New Roman"/>
                <a:sym typeface="Times New Roman"/>
              </a:defRPr>
            </a:pPr>
            <a:r>
              <a:t>Where do statistics/narratives come from and how can we validate them? (Ferguson's paper)</a:t>
            </a:r>
          </a:p>
          <a:p>
            <a:pPr marL="275924" indent="-275924" defTabSz="393192">
              <a:spcBef>
                <a:spcPts val="600"/>
              </a:spcBef>
              <a:buFontTx/>
              <a:buAutoNum type="arabicPeriod" startAt="1"/>
              <a:defRPr sz="2064">
                <a:uFill>
                  <a:solidFill>
                    <a:srgbClr val="000000"/>
                  </a:solidFill>
                </a:uFill>
                <a:latin typeface="Times New Roman"/>
                <a:ea typeface="Times New Roman"/>
                <a:cs typeface="Times New Roman"/>
                <a:sym typeface="Times New Roman"/>
              </a:defRPr>
            </a:pPr>
            <a:r>
              <a:t>What were social norms around discussing money when you grew up? What factors influenced that and how has it influenced the way you view your own and others' economic status today? (Lawson and Elwood's case studies)</a:t>
            </a:r>
          </a:p>
          <a:p>
            <a:pPr marL="275924" indent="-275924" defTabSz="393192">
              <a:spcBef>
                <a:spcPts val="600"/>
              </a:spcBef>
              <a:buFontTx/>
              <a:buAutoNum type="arabicPeriod" startAt="1"/>
              <a:defRPr sz="2064">
                <a:uFill>
                  <a:solidFill>
                    <a:srgbClr val="000000"/>
                  </a:solidFill>
                </a:uFill>
                <a:latin typeface="Times New Roman"/>
                <a:ea typeface="Times New Roman"/>
                <a:cs typeface="Times New Roman"/>
                <a:sym typeface="Times New Roman"/>
              </a:defRPr>
            </a:pPr>
            <a:r>
              <a:t>What/when is the most dangerous rhetoric around development today and why?</a:t>
            </a:r>
          </a:p>
          <a:p>
            <a:pPr marL="275924" indent="-275924" defTabSz="393192">
              <a:spcBef>
                <a:spcPts val="600"/>
              </a:spcBef>
              <a:buFontTx/>
              <a:buAutoNum type="arabicPeriod" startAt="1"/>
              <a:defRPr sz="2064">
                <a:uFill>
                  <a:solidFill>
                    <a:srgbClr val="000000"/>
                  </a:solidFill>
                </a:uFill>
                <a:latin typeface="Times New Roman"/>
                <a:ea typeface="Times New Roman"/>
                <a:cs typeface="Times New Roman"/>
                <a:sym typeface="Times New Roman"/>
              </a:defRPr>
            </a:pPr>
            <a:r>
              <a:t>How closely linked are the destinies of "developed" and "underdeveloped" or "developing" countries?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Pigg: Inventing Social Categories via Place"/>
          <p:cNvSpPr txBox="1"/>
          <p:nvPr>
            <p:ph type="title" idx="4294967295"/>
          </p:nvPr>
        </p:nvSpPr>
        <p:spPr>
          <a:xfrm>
            <a:off x="116731" y="0"/>
            <a:ext cx="8890001" cy="1143001"/>
          </a:xfrm>
          <a:prstGeom prst="rect">
            <a:avLst/>
          </a:prstGeom>
        </p:spPr>
        <p:txBody>
          <a:bodyPr/>
          <a:lstStyle>
            <a:lvl1pPr defTabSz="196596">
              <a:defRPr b="1" sz="3440">
                <a:solidFill>
                  <a:srgbClr val="000080"/>
                </a:solidFill>
                <a:uFill>
                  <a:solidFill>
                    <a:srgbClr val="000000"/>
                  </a:solidFill>
                </a:uFill>
                <a:latin typeface="+mj-lt"/>
                <a:ea typeface="+mj-ea"/>
                <a:cs typeface="+mj-cs"/>
                <a:sym typeface="Helvetica"/>
              </a:defRPr>
            </a:lvl1pPr>
          </a:lstStyle>
          <a:p>
            <a:pPr/>
            <a:r>
              <a:t>Pigg: Inventing Social Categories via Place</a:t>
            </a:r>
          </a:p>
        </p:txBody>
      </p:sp>
      <p:sp>
        <p:nvSpPr>
          <p:cNvPr id="122" name="Conceptualizing “development” in Nepal:…"/>
          <p:cNvSpPr txBox="1"/>
          <p:nvPr>
            <p:ph type="body" idx="4294967295"/>
          </p:nvPr>
        </p:nvSpPr>
        <p:spPr>
          <a:xfrm>
            <a:off x="116731" y="1143000"/>
            <a:ext cx="5428398" cy="5397501"/>
          </a:xfrm>
          <a:prstGeom prst="rect">
            <a:avLst/>
          </a:prstGeom>
        </p:spPr>
        <p:txBody>
          <a:bodyPr/>
          <a:lstStyle/>
          <a:p>
            <a:pPr marL="0" indent="0" defTabSz="251460">
              <a:spcBef>
                <a:spcPts val="400"/>
              </a:spcBef>
              <a:buSzTx/>
              <a:buFontTx/>
              <a:buNone/>
              <a:defRPr b="1" sz="1650">
                <a:uFill>
                  <a:solidFill>
                    <a:srgbClr val="000000"/>
                  </a:solidFill>
                </a:uFill>
                <a:latin typeface="+mj-lt"/>
                <a:ea typeface="+mj-ea"/>
                <a:cs typeface="+mj-cs"/>
                <a:sym typeface="Helvetica"/>
              </a:defRPr>
            </a:pPr>
            <a:r>
              <a:t>Conceptualizing “development” in Nepal: </a:t>
            </a:r>
          </a:p>
          <a:p>
            <a:pPr marL="167640" indent="-167640" defTabSz="251460">
              <a:spcBef>
                <a:spcPts val="400"/>
              </a:spcBef>
              <a:buFontTx/>
              <a:defRPr sz="1320">
                <a:uFill>
                  <a:solidFill>
                    <a:srgbClr val="000000"/>
                  </a:solidFill>
                </a:uFill>
                <a:latin typeface="Times New Roman"/>
                <a:ea typeface="Times New Roman"/>
                <a:cs typeface="Times New Roman"/>
                <a:sym typeface="Times New Roman"/>
              </a:defRPr>
            </a:pPr>
            <a:r>
              <a:t>“bikas”—dherai bikas, thorai bikas, bikas chhaina</a:t>
            </a:r>
          </a:p>
          <a:p>
            <a:pPr marL="167640" indent="-167640" defTabSz="251460">
              <a:spcBef>
                <a:spcPts val="400"/>
              </a:spcBef>
              <a:buFontTx/>
              <a:defRPr sz="1320">
                <a:uFill>
                  <a:solidFill>
                    <a:srgbClr val="000000"/>
                  </a:solidFill>
                </a:uFill>
                <a:latin typeface="Times New Roman"/>
                <a:ea typeface="Times New Roman"/>
                <a:cs typeface="Times New Roman"/>
                <a:sym typeface="Times New Roman"/>
              </a:defRPr>
            </a:pPr>
            <a:r>
              <a:t>New breeds of goats and chickens, water pipes, electricity, videos, schools, commercial fertilizer, roads, airplanes, health posts, and medicines… </a:t>
            </a:r>
          </a:p>
          <a:p>
            <a:pPr lvl="1" marL="251460" indent="-167640" defTabSz="251460">
              <a:spcBef>
                <a:spcPts val="400"/>
              </a:spcBef>
              <a:buFontTx/>
              <a:buChar char="•"/>
              <a:defRPr sz="1320">
                <a:uFill>
                  <a:solidFill>
                    <a:srgbClr val="000000"/>
                  </a:solidFill>
                </a:uFill>
                <a:latin typeface="Times New Roman"/>
                <a:ea typeface="Times New Roman"/>
                <a:cs typeface="Times New Roman"/>
                <a:sym typeface="Times New Roman"/>
              </a:defRPr>
            </a:pPr>
            <a:r>
              <a:t>A</a:t>
            </a:r>
            <a:r>
              <a:rPr baseline="-11363"/>
              <a:t>dministered from Kathmandu</a:t>
            </a:r>
            <a:endParaRPr baseline="-11363"/>
          </a:p>
          <a:p>
            <a:pPr lvl="1" marL="251460" indent="-167640" defTabSz="251460">
              <a:spcBef>
                <a:spcPts val="400"/>
              </a:spcBef>
              <a:buFontTx/>
              <a:buChar char="•"/>
              <a:defRPr sz="1320">
                <a:uFill>
                  <a:solidFill>
                    <a:srgbClr val="000000"/>
                  </a:solidFill>
                </a:uFill>
                <a:latin typeface="Times New Roman"/>
                <a:ea typeface="Times New Roman"/>
                <a:cs typeface="Times New Roman"/>
                <a:sym typeface="Times New Roman"/>
              </a:defRPr>
            </a:pPr>
            <a:r>
              <a:rPr baseline="-11363"/>
              <a:t>Staffed at the higher levels by people posted to local projects from other places. </a:t>
            </a:r>
            <a:endParaRPr baseline="-11363"/>
          </a:p>
          <a:p>
            <a:pPr lvl="1" marL="251460" indent="-167640" defTabSz="251460">
              <a:spcBef>
                <a:spcPts val="400"/>
              </a:spcBef>
              <a:buFontTx/>
              <a:buChar char="•"/>
              <a:defRPr sz="1320">
                <a:uFill>
                  <a:solidFill>
                    <a:srgbClr val="000000"/>
                  </a:solidFill>
                </a:uFill>
                <a:latin typeface="Times New Roman"/>
                <a:ea typeface="Times New Roman"/>
                <a:cs typeface="Times New Roman"/>
                <a:sym typeface="Times New Roman"/>
              </a:defRPr>
            </a:pPr>
            <a:r>
              <a:rPr baseline="-11363"/>
              <a:t>Geographically concentrated, to varying degrees </a:t>
            </a:r>
            <a:endParaRPr baseline="-11363"/>
          </a:p>
          <a:p>
            <a:pPr lvl="1" marL="167640" indent="-167640" defTabSz="251460">
              <a:spcBef>
                <a:spcPts val="400"/>
              </a:spcBef>
              <a:buFontTx/>
              <a:buChar char="•"/>
              <a:defRPr sz="1320">
                <a:uFill>
                  <a:solidFill>
                    <a:srgbClr val="000000"/>
                  </a:solidFill>
                </a:uFill>
                <a:latin typeface="Times New Roman"/>
                <a:ea typeface="Times New Roman"/>
                <a:cs typeface="Times New Roman"/>
                <a:sym typeface="Times New Roman"/>
              </a:defRPr>
            </a:pPr>
            <a:r>
              <a:rPr baseline="-11363"/>
              <a:t>National pedagogy:</a:t>
            </a:r>
            <a:endParaRPr baseline="-11363"/>
          </a:p>
          <a:p>
            <a:pPr lvl="1" marL="251460" indent="-167640" defTabSz="251460">
              <a:spcBef>
                <a:spcPts val="400"/>
              </a:spcBef>
              <a:buFontTx/>
              <a:buChar char="•"/>
              <a:defRPr sz="1320">
                <a:uFill>
                  <a:solidFill>
                    <a:srgbClr val="000000"/>
                  </a:solidFill>
                </a:uFill>
                <a:latin typeface="Times New Roman"/>
                <a:ea typeface="Times New Roman"/>
                <a:cs typeface="Times New Roman"/>
                <a:sym typeface="Times New Roman"/>
              </a:defRPr>
            </a:pPr>
            <a:r>
              <a:rPr baseline="-11363"/>
              <a:t>We are all Nepalis—ethnic, regional, linguistic differences unimportant</a:t>
            </a:r>
            <a:endParaRPr baseline="-11363"/>
          </a:p>
          <a:p>
            <a:pPr lvl="1" marL="251460" indent="-167640" defTabSz="251460">
              <a:spcBef>
                <a:spcPts val="400"/>
              </a:spcBef>
              <a:buFontTx/>
              <a:buChar char="•"/>
              <a:defRPr sz="1320">
                <a:uFill>
                  <a:solidFill>
                    <a:srgbClr val="000000"/>
                  </a:solidFill>
                </a:uFill>
                <a:latin typeface="Times New Roman"/>
                <a:ea typeface="Times New Roman"/>
                <a:cs typeface="Times New Roman"/>
                <a:sym typeface="Times New Roman"/>
              </a:defRPr>
            </a:pPr>
            <a:r>
              <a:rPr baseline="-11363"/>
              <a:t>We are peaceloving and brave</a:t>
            </a:r>
            <a:endParaRPr baseline="-11363"/>
          </a:p>
          <a:p>
            <a:pPr lvl="1" marL="251460" indent="-167640" defTabSz="251460">
              <a:spcBef>
                <a:spcPts val="400"/>
              </a:spcBef>
              <a:buFontTx/>
              <a:buChar char="•"/>
              <a:defRPr sz="1320">
                <a:uFill>
                  <a:solidFill>
                    <a:srgbClr val="000000"/>
                  </a:solidFill>
                </a:uFill>
                <a:latin typeface="Times New Roman"/>
                <a:ea typeface="Times New Roman"/>
                <a:cs typeface="Times New Roman"/>
                <a:sym typeface="Times New Roman"/>
              </a:defRPr>
            </a:pPr>
            <a:r>
              <a:rPr baseline="-11363"/>
              <a:t>We live from Sagarmāthā to Lumbin </a:t>
            </a:r>
            <a:endParaRPr baseline="-11363"/>
          </a:p>
          <a:p>
            <a:pPr lvl="1" marL="251460" indent="-167640" defTabSz="251460">
              <a:spcBef>
                <a:spcPts val="400"/>
              </a:spcBef>
              <a:buFontTx/>
              <a:buChar char="•"/>
              <a:defRPr sz="1320">
                <a:uFill>
                  <a:solidFill>
                    <a:srgbClr val="000000"/>
                  </a:solidFill>
                </a:uFill>
                <a:latin typeface="Times New Roman"/>
                <a:ea typeface="Times New Roman"/>
                <a:cs typeface="Times New Roman"/>
                <a:sym typeface="Times New Roman"/>
              </a:defRPr>
            </a:pPr>
            <a:r>
              <a:rPr baseline="-11363"/>
              <a:t>Small families are good</a:t>
            </a:r>
            <a:endParaRPr baseline="-11363"/>
          </a:p>
          <a:p>
            <a:pPr lvl="1" marL="251460" indent="-167640" defTabSz="251460">
              <a:spcBef>
                <a:spcPts val="400"/>
              </a:spcBef>
              <a:buFontTx/>
              <a:buChar char="•"/>
              <a:defRPr sz="1320">
                <a:uFill>
                  <a:solidFill>
                    <a:srgbClr val="000000"/>
                  </a:solidFill>
                </a:uFill>
                <a:latin typeface="Times New Roman"/>
                <a:ea typeface="Times New Roman"/>
                <a:cs typeface="Times New Roman"/>
                <a:sym typeface="Times New Roman"/>
              </a:defRPr>
            </a:pPr>
            <a:r>
              <a:rPr baseline="-11363"/>
              <a:t>Children should be vaccinated</a:t>
            </a:r>
            <a:endParaRPr baseline="-11363"/>
          </a:p>
          <a:p>
            <a:pPr lvl="1" marL="251460" indent="-167640" defTabSz="251460">
              <a:spcBef>
                <a:spcPts val="400"/>
              </a:spcBef>
              <a:buFontTx/>
              <a:buChar char="•"/>
              <a:defRPr sz="1320">
                <a:uFill>
                  <a:solidFill>
                    <a:srgbClr val="000000"/>
                  </a:solidFill>
                </a:uFill>
                <a:latin typeface="Times New Roman"/>
                <a:ea typeface="Times New Roman"/>
                <a:cs typeface="Times New Roman"/>
                <a:sym typeface="Times New Roman"/>
              </a:defRPr>
            </a:pPr>
            <a:r>
              <a:rPr baseline="-11363"/>
              <a:t>Our villages are good—and we need to leave or at least transform them</a:t>
            </a:r>
            <a:endParaRPr baseline="-11363"/>
          </a:p>
          <a:p>
            <a:pPr lvl="1" marL="251460" indent="-167640" defTabSz="251460">
              <a:spcBef>
                <a:spcPts val="400"/>
              </a:spcBef>
              <a:buFontTx/>
              <a:buChar char="•"/>
              <a:defRPr sz="1320">
                <a:uFill>
                  <a:solidFill>
                    <a:srgbClr val="000000"/>
                  </a:solidFill>
                </a:uFill>
                <a:latin typeface="Times New Roman"/>
                <a:ea typeface="Times New Roman"/>
                <a:cs typeface="Times New Roman"/>
                <a:sym typeface="Times New Roman"/>
              </a:defRPr>
            </a:pPr>
          </a:p>
          <a:p>
            <a:pPr marL="176463" indent="-176463" defTabSz="251460">
              <a:spcBef>
                <a:spcPts val="400"/>
              </a:spcBef>
              <a:buFontTx/>
              <a:buAutoNum type="arabicPeriod" startAt="1"/>
              <a:defRPr sz="1320">
                <a:uFill>
                  <a:solidFill>
                    <a:srgbClr val="000000"/>
                  </a:solidFill>
                </a:uFill>
                <a:latin typeface="Times New Roman"/>
                <a:ea typeface="Times New Roman"/>
                <a:cs typeface="Times New Roman"/>
                <a:sym typeface="Times New Roman"/>
              </a:defRPr>
            </a:pPr>
          </a:p>
          <a:p>
            <a:pPr marL="167640" indent="-167640" defTabSz="251460">
              <a:spcBef>
                <a:spcPts val="400"/>
              </a:spcBef>
              <a:buFontTx/>
              <a:defRPr sz="1320">
                <a:uFill>
                  <a:solidFill>
                    <a:srgbClr val="000000"/>
                  </a:solidFill>
                </a:uFill>
                <a:latin typeface="Times New Roman"/>
                <a:ea typeface="Times New Roman"/>
                <a:cs typeface="Times New Roman"/>
                <a:sym typeface="Times New Roman"/>
              </a:defRPr>
            </a:pPr>
            <a:r>
              <a:rPr b="1"/>
              <a:t>Stacy Leigh Pigg</a:t>
            </a:r>
            <a:r>
              <a:t> (1992): </a:t>
            </a:r>
            <a:r>
              <a:rPr i="1"/>
              <a:t>Inventing Social Categories through Place: Social Representations and Development in Nepal</a:t>
            </a:r>
            <a:r>
              <a:t> &lt;</a:t>
            </a:r>
            <a:r>
              <a:rPr u="sng">
                <a:solidFill>
                  <a:srgbClr val="0000FF"/>
                </a:solidFill>
                <a:uFill>
                  <a:solidFill>
                    <a:srgbClr val="0000FF"/>
                  </a:solidFill>
                </a:uFill>
                <a:hlinkClick r:id="rId2" invalidUrl="" action="" tgtFrame="" tooltip="" history="1" highlightClick="0" endSnd="0"/>
              </a:rPr>
              <a:t>https://github.com/braddelong/public-files/blob/master/readings/article-pigg-categories-place.pdf</a:t>
            </a:r>
            <a:r>
              <a:t>&gt;</a:t>
            </a:r>
          </a:p>
        </p:txBody>
      </p:sp>
      <p:pic>
        <p:nvPicPr>
          <p:cNvPr id="123" name="Image" descr="Image"/>
          <p:cNvPicPr>
            <a:picLocks noChangeAspect="1"/>
          </p:cNvPicPr>
          <p:nvPr/>
        </p:nvPicPr>
        <p:blipFill>
          <a:blip r:embed="rId3">
            <a:extLst/>
          </a:blip>
          <a:stretch>
            <a:fillRect/>
          </a:stretch>
        </p:blipFill>
        <p:spPr>
          <a:xfrm>
            <a:off x="5545128" y="1143000"/>
            <a:ext cx="3461604" cy="5446531"/>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Walter Womacka: The Family &amp; Society Under Full Communism"/>
          <p:cNvSpPr txBox="1"/>
          <p:nvPr>
            <p:ph type="title" idx="4294967295"/>
          </p:nvPr>
        </p:nvSpPr>
        <p:spPr>
          <a:xfrm>
            <a:off x="116731" y="0"/>
            <a:ext cx="8890001" cy="1143001"/>
          </a:xfrm>
          <a:prstGeom prst="rect">
            <a:avLst/>
          </a:prstGeom>
        </p:spPr>
        <p:txBody>
          <a:bodyPr/>
          <a:lstStyle>
            <a:lvl1pPr defTabSz="196596">
              <a:defRPr b="1" sz="3440">
                <a:solidFill>
                  <a:srgbClr val="000080"/>
                </a:solidFill>
                <a:uFill>
                  <a:solidFill>
                    <a:srgbClr val="000000"/>
                  </a:solidFill>
                </a:uFill>
                <a:latin typeface="+mj-lt"/>
                <a:ea typeface="+mj-ea"/>
                <a:cs typeface="+mj-cs"/>
                <a:sym typeface="Helvetica"/>
              </a:defRPr>
            </a:lvl1pPr>
          </a:lstStyle>
          <a:p>
            <a:pPr/>
            <a:r>
              <a:t>Walter Womacka: The Family &amp; Society Under Full Communism</a:t>
            </a:r>
          </a:p>
        </p:txBody>
      </p:sp>
      <p:sp>
        <p:nvSpPr>
          <p:cNvPr id="126" name="The former State Council building…"/>
          <p:cNvSpPr txBox="1"/>
          <p:nvPr>
            <p:ph type="body" sz="quarter" idx="4294967295"/>
          </p:nvPr>
        </p:nvSpPr>
        <p:spPr>
          <a:xfrm>
            <a:off x="116731" y="1143000"/>
            <a:ext cx="2020204" cy="5397501"/>
          </a:xfrm>
          <a:prstGeom prst="rect">
            <a:avLst/>
          </a:prstGeom>
        </p:spPr>
        <p:txBody>
          <a:bodyPr>
            <a:noAutofit/>
          </a:bodyPr>
          <a:lstStyle/>
          <a:p>
            <a:pPr marL="0" indent="0" defTabSz="457200">
              <a:spcBef>
                <a:spcPts val="400"/>
              </a:spcBef>
              <a:buSzTx/>
              <a:buFontTx/>
              <a:buNone/>
              <a:defRPr b="1" sz="1400">
                <a:uFill>
                  <a:solidFill>
                    <a:srgbClr val="000000"/>
                  </a:solidFill>
                </a:uFill>
                <a:latin typeface="+mj-lt"/>
                <a:ea typeface="+mj-ea"/>
                <a:cs typeface="+mj-cs"/>
                <a:sym typeface="Helvetica"/>
              </a:defRPr>
            </a:pPr>
            <a:r>
              <a:t>The former State Council building</a:t>
            </a:r>
          </a:p>
          <a:p>
            <a:pPr marL="120315" indent="-120315" defTabSz="457200">
              <a:spcBef>
                <a:spcPts val="400"/>
              </a:spcBef>
              <a:buFontTx/>
              <a:defRPr sz="1400">
                <a:uFill>
                  <a:solidFill>
                    <a:srgbClr val="000000"/>
                  </a:solidFill>
                </a:uFill>
                <a:latin typeface="Times New Roman"/>
                <a:ea typeface="Times New Roman"/>
                <a:cs typeface="Times New Roman"/>
                <a:sym typeface="Times New Roman"/>
              </a:defRPr>
            </a:pPr>
            <a:r>
              <a:t>Berlin’s </a:t>
            </a:r>
            <a:r>
              <a:rPr i="1"/>
              <a:t>Schlossplatz</a:t>
            </a:r>
            <a:r>
              <a:t>—Palace Plaza</a:t>
            </a:r>
          </a:p>
          <a:p>
            <a:pPr marL="120315" indent="-120315" defTabSz="457200">
              <a:spcBef>
                <a:spcPts val="400"/>
              </a:spcBef>
              <a:buFontTx/>
              <a:defRPr sz="1400">
                <a:uFill>
                  <a:solidFill>
                    <a:srgbClr val="000000"/>
                  </a:solidFill>
                </a:uFill>
                <a:latin typeface="Times New Roman"/>
                <a:ea typeface="Times New Roman"/>
                <a:cs typeface="Times New Roman"/>
                <a:sym typeface="Times New Roman"/>
              </a:defRPr>
            </a:pPr>
            <a:r>
              <a:t>How East Germany imagined it would be…</a:t>
            </a:r>
          </a:p>
          <a:p>
            <a:pPr marL="120315" indent="-120315" defTabSz="457200">
              <a:spcBef>
                <a:spcPts val="400"/>
              </a:spcBef>
              <a:buFontTx/>
              <a:defRPr sz="1400">
                <a:uFill>
                  <a:solidFill>
                    <a:srgbClr val="000000"/>
                  </a:solidFill>
                </a:uFill>
                <a:latin typeface="Times New Roman"/>
                <a:ea typeface="Times New Roman"/>
                <a:cs typeface="Times New Roman"/>
                <a:sym typeface="Times New Roman"/>
              </a:defRPr>
            </a:pPr>
          </a:p>
          <a:p>
            <a:pPr marL="120315" indent="-120315" defTabSz="457200">
              <a:spcBef>
                <a:spcPts val="400"/>
              </a:spcBef>
              <a:buFontTx/>
              <a:defRPr sz="1400">
                <a:uFill>
                  <a:solidFill>
                    <a:srgbClr val="000000"/>
                  </a:solidFill>
                </a:uFill>
                <a:latin typeface="Times New Roman"/>
                <a:ea typeface="Times New Roman"/>
                <a:cs typeface="Times New Roman"/>
                <a:sym typeface="Times New Roman"/>
              </a:defRPr>
            </a:pPr>
            <a:r>
              <a:t>Comsats</a:t>
            </a:r>
          </a:p>
          <a:p>
            <a:pPr marL="120315" indent="-120315" defTabSz="457200">
              <a:spcBef>
                <a:spcPts val="400"/>
              </a:spcBef>
              <a:buFontTx/>
              <a:defRPr sz="1400">
                <a:uFill>
                  <a:solidFill>
                    <a:srgbClr val="000000"/>
                  </a:solidFill>
                </a:uFill>
                <a:latin typeface="Times New Roman"/>
                <a:ea typeface="Times New Roman"/>
                <a:cs typeface="Times New Roman"/>
                <a:sym typeface="Times New Roman"/>
              </a:defRPr>
            </a:pPr>
            <a:r>
              <a:t>Refineries</a:t>
            </a:r>
          </a:p>
          <a:p>
            <a:pPr marL="120315" indent="-120315" defTabSz="457200">
              <a:spcBef>
                <a:spcPts val="400"/>
              </a:spcBef>
              <a:buFontTx/>
              <a:defRPr sz="1400">
                <a:uFill>
                  <a:solidFill>
                    <a:srgbClr val="000000"/>
                  </a:solidFill>
                </a:uFill>
                <a:latin typeface="Times New Roman"/>
                <a:ea typeface="Times New Roman"/>
                <a:cs typeface="Times New Roman"/>
                <a:sym typeface="Times New Roman"/>
              </a:defRPr>
            </a:pPr>
            <a:r>
              <a:t>Steelmakinig</a:t>
            </a:r>
          </a:p>
          <a:p>
            <a:pPr marL="120315" indent="-120315" defTabSz="457200">
              <a:spcBef>
                <a:spcPts val="400"/>
              </a:spcBef>
              <a:buFontTx/>
              <a:defRPr sz="1400">
                <a:uFill>
                  <a:solidFill>
                    <a:srgbClr val="000000"/>
                  </a:solidFill>
                </a:uFill>
                <a:latin typeface="Times New Roman"/>
                <a:ea typeface="Times New Roman"/>
                <a:cs typeface="Times New Roman"/>
                <a:sym typeface="Times New Roman"/>
              </a:defRPr>
            </a:pPr>
            <a:r>
              <a:t>Power generation</a:t>
            </a:r>
          </a:p>
          <a:p>
            <a:pPr marL="120315" indent="-120315" defTabSz="457200">
              <a:spcBef>
                <a:spcPts val="400"/>
              </a:spcBef>
              <a:buFontTx/>
              <a:defRPr sz="1400">
                <a:uFill>
                  <a:solidFill>
                    <a:srgbClr val="000000"/>
                  </a:solidFill>
                </a:uFill>
                <a:latin typeface="Times New Roman"/>
                <a:ea typeface="Times New Roman"/>
                <a:cs typeface="Times New Roman"/>
                <a:sym typeface="Times New Roman"/>
              </a:defRPr>
            </a:pPr>
            <a:r>
              <a:t>Construction</a:t>
            </a:r>
          </a:p>
          <a:p>
            <a:pPr marL="120315" indent="-120315" defTabSz="457200">
              <a:spcBef>
                <a:spcPts val="400"/>
              </a:spcBef>
              <a:buFontTx/>
              <a:defRPr sz="1400">
                <a:uFill>
                  <a:solidFill>
                    <a:srgbClr val="000000"/>
                  </a:solidFill>
                </a:uFill>
                <a:latin typeface="Times New Roman"/>
                <a:ea typeface="Times New Roman"/>
                <a:cs typeface="Times New Roman"/>
                <a:sym typeface="Times New Roman"/>
              </a:defRPr>
            </a:pPr>
            <a:r>
              <a:t>Cross-occupation cooperation</a:t>
            </a:r>
          </a:p>
          <a:p>
            <a:pPr marL="120315" indent="-120315" defTabSz="457200">
              <a:spcBef>
                <a:spcPts val="400"/>
              </a:spcBef>
              <a:buFontTx/>
              <a:defRPr sz="1400">
                <a:uFill>
                  <a:solidFill>
                    <a:srgbClr val="000000"/>
                  </a:solidFill>
                </a:uFill>
                <a:latin typeface="Times New Roman"/>
                <a:ea typeface="Times New Roman"/>
                <a:cs typeface="Times New Roman"/>
                <a:sym typeface="Times New Roman"/>
              </a:defRPr>
            </a:pPr>
            <a:r>
              <a:t>Aerospace</a:t>
            </a:r>
          </a:p>
          <a:p>
            <a:pPr marL="120315" indent="-120315" defTabSz="457200">
              <a:spcBef>
                <a:spcPts val="400"/>
              </a:spcBef>
              <a:buFontTx/>
              <a:defRPr sz="1400">
                <a:uFill>
                  <a:solidFill>
                    <a:srgbClr val="000000"/>
                  </a:solidFill>
                </a:uFill>
                <a:latin typeface="Times New Roman"/>
                <a:ea typeface="Times New Roman"/>
                <a:cs typeface="Times New Roman"/>
                <a:sym typeface="Times New Roman"/>
              </a:defRPr>
            </a:pPr>
            <a:r>
              <a:t>Nature</a:t>
            </a:r>
          </a:p>
          <a:p>
            <a:pPr marL="120315" indent="-120315" defTabSz="457200">
              <a:spcBef>
                <a:spcPts val="400"/>
              </a:spcBef>
              <a:buFontTx/>
              <a:defRPr sz="1400">
                <a:uFill>
                  <a:solidFill>
                    <a:srgbClr val="000000"/>
                  </a:solidFill>
                </a:uFill>
                <a:latin typeface="Times New Roman"/>
                <a:ea typeface="Times New Roman"/>
                <a:cs typeface="Times New Roman"/>
                <a:sym typeface="Times New Roman"/>
              </a:defRPr>
            </a:pPr>
            <a:r>
              <a:t>Electricity transmission</a:t>
            </a:r>
          </a:p>
          <a:p>
            <a:pPr marL="120315" indent="-120315" defTabSz="457200">
              <a:spcBef>
                <a:spcPts val="400"/>
              </a:spcBef>
              <a:buFontTx/>
              <a:defRPr sz="1400">
                <a:uFill>
                  <a:solidFill>
                    <a:srgbClr val="000000"/>
                  </a:solidFill>
                </a:uFill>
                <a:latin typeface="Times New Roman"/>
                <a:ea typeface="Times New Roman"/>
                <a:cs typeface="Times New Roman"/>
                <a:sym typeface="Times New Roman"/>
              </a:defRPr>
            </a:pPr>
            <a:r>
              <a:t>Masonic</a:t>
            </a:r>
          </a:p>
          <a:p>
            <a:pPr marL="120315" indent="-120315" defTabSz="457200">
              <a:spcBef>
                <a:spcPts val="400"/>
              </a:spcBef>
              <a:buFontTx/>
              <a:defRPr sz="1400">
                <a:uFill>
                  <a:solidFill>
                    <a:srgbClr val="000000"/>
                  </a:solidFill>
                </a:uFill>
                <a:latin typeface="Times New Roman"/>
                <a:ea typeface="Times New Roman"/>
                <a:cs typeface="Times New Roman"/>
                <a:sym typeface="Times New Roman"/>
              </a:defRPr>
            </a:pPr>
            <a:r>
              <a:t>Flowers</a:t>
            </a:r>
          </a:p>
          <a:p>
            <a:pPr marL="120315" indent="-120315" defTabSz="457200">
              <a:spcBef>
                <a:spcPts val="400"/>
              </a:spcBef>
              <a:buFontTx/>
              <a:defRPr sz="1400">
                <a:uFill>
                  <a:solidFill>
                    <a:srgbClr val="000000"/>
                  </a:solidFill>
                </a:uFill>
                <a:latin typeface="Times New Roman"/>
                <a:ea typeface="Times New Roman"/>
                <a:cs typeface="Times New Roman"/>
                <a:sym typeface="Times New Roman"/>
              </a:defRPr>
            </a:pPr>
            <a:r>
              <a:t>Nuclear family—bourgeois &amp; working class &amp; health signifiers</a:t>
            </a:r>
          </a:p>
        </p:txBody>
      </p:sp>
      <p:pic>
        <p:nvPicPr>
          <p:cNvPr id="127" name="Image" descr="Image"/>
          <p:cNvPicPr>
            <a:picLocks noChangeAspect="1"/>
          </p:cNvPicPr>
          <p:nvPr/>
        </p:nvPicPr>
        <p:blipFill>
          <a:blip r:embed="rId2">
            <a:extLst/>
          </a:blip>
          <a:stretch>
            <a:fillRect/>
          </a:stretch>
        </p:blipFill>
        <p:spPr>
          <a:xfrm>
            <a:off x="2136934" y="1143000"/>
            <a:ext cx="6869798" cy="5558627"/>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The Ideological Milieu: Escobar’s Characterization"/>
          <p:cNvSpPr txBox="1"/>
          <p:nvPr>
            <p:ph type="title" idx="4294967295"/>
          </p:nvPr>
        </p:nvSpPr>
        <p:spPr>
          <a:xfrm>
            <a:off x="120514" y="-1"/>
            <a:ext cx="8890001" cy="1143002"/>
          </a:xfrm>
          <a:prstGeom prst="rect">
            <a:avLst/>
          </a:prstGeom>
        </p:spPr>
        <p:txBody>
          <a:bodyPr/>
          <a:lstStyle>
            <a:lvl1pPr defTabSz="196596">
              <a:defRPr b="1" sz="3440">
                <a:solidFill>
                  <a:srgbClr val="000080"/>
                </a:solidFill>
                <a:uFill>
                  <a:solidFill>
                    <a:srgbClr val="000000"/>
                  </a:solidFill>
                </a:uFill>
                <a:latin typeface="+mj-lt"/>
                <a:ea typeface="+mj-ea"/>
                <a:cs typeface="+mj-cs"/>
                <a:sym typeface="Helvetica"/>
              </a:defRPr>
            </a:lvl1pPr>
          </a:lstStyle>
          <a:p>
            <a:pPr/>
            <a:r>
              <a:t>The Ideological Milieu: Escobar’s Characterization</a:t>
            </a:r>
          </a:p>
        </p:txBody>
      </p:sp>
      <p:sp>
        <p:nvSpPr>
          <p:cNvPr id="130" name="Development Discourse:…"/>
          <p:cNvSpPr txBox="1"/>
          <p:nvPr>
            <p:ph type="body" idx="4294967295"/>
          </p:nvPr>
        </p:nvSpPr>
        <p:spPr>
          <a:xfrm>
            <a:off x="120514" y="1143000"/>
            <a:ext cx="8890001" cy="5397501"/>
          </a:xfrm>
          <a:prstGeom prst="rect">
            <a:avLst/>
          </a:prstGeom>
        </p:spPr>
        <p:txBody>
          <a:bodyPr/>
          <a:lstStyle/>
          <a:p>
            <a:pPr marL="0" indent="0" defTabSz="361188">
              <a:spcBef>
                <a:spcPts val="900"/>
              </a:spcBef>
              <a:buSzTx/>
              <a:buFontTx/>
              <a:buNone/>
              <a:defRPr b="1" sz="2370">
                <a:uFill>
                  <a:solidFill>
                    <a:srgbClr val="000000"/>
                  </a:solidFill>
                </a:uFill>
                <a:latin typeface="+mj-lt"/>
                <a:ea typeface="+mj-ea"/>
                <a:cs typeface="+mj-cs"/>
                <a:sym typeface="Helvetica"/>
              </a:defRPr>
            </a:pPr>
            <a:r>
              <a:t>Development Discourse: </a:t>
            </a:r>
          </a:p>
          <a:p>
            <a:pPr marL="321056" indent="-321056" defTabSz="361188">
              <a:spcBef>
                <a:spcPts val="900"/>
              </a:spcBef>
              <a:buFontTx/>
              <a:buAutoNum type="arabicPeriod" startAt="1"/>
              <a:defRPr sz="2370">
                <a:uFill>
                  <a:solidFill>
                    <a:srgbClr val="000000"/>
                  </a:solidFill>
                </a:uFill>
                <a:latin typeface="Times New Roman"/>
                <a:ea typeface="Times New Roman"/>
                <a:cs typeface="Times New Roman"/>
                <a:sym typeface="Times New Roman"/>
              </a:defRPr>
            </a:pPr>
            <a:r>
              <a:t>“Modernization” as the only alternative to archaism</a:t>
            </a:r>
          </a:p>
          <a:p>
            <a:pPr marL="321056" indent="-321056" defTabSz="361188">
              <a:spcBef>
                <a:spcPts val="900"/>
              </a:spcBef>
              <a:buFontTx/>
              <a:buAutoNum type="arabicPeriod" startAt="1"/>
              <a:defRPr sz="2370">
                <a:uFill>
                  <a:solidFill>
                    <a:srgbClr val="000000"/>
                  </a:solidFill>
                </a:uFill>
                <a:latin typeface="Times New Roman"/>
                <a:ea typeface="Times New Roman"/>
                <a:cs typeface="Times New Roman"/>
                <a:sym typeface="Times New Roman"/>
              </a:defRPr>
            </a:pPr>
            <a:r>
              <a:t>Industrialization and urbanization as inevitable road to progressive change</a:t>
            </a:r>
          </a:p>
          <a:p>
            <a:pPr marL="321056" indent="-321056" defTabSz="361188">
              <a:spcBef>
                <a:spcPts val="900"/>
              </a:spcBef>
              <a:buFontTx/>
              <a:buAutoNum type="arabicPeriod" startAt="1"/>
              <a:defRPr sz="2370">
                <a:uFill>
                  <a:solidFill>
                    <a:srgbClr val="000000"/>
                  </a:solidFill>
                </a:uFill>
                <a:latin typeface="Times New Roman"/>
                <a:ea typeface="Times New Roman"/>
                <a:cs typeface="Times New Roman"/>
                <a:sym typeface="Times New Roman"/>
              </a:defRPr>
            </a:pPr>
            <a:r>
              <a:t>Material advancement as the only road to social, cultural, and political progress</a:t>
            </a:r>
          </a:p>
          <a:p>
            <a:pPr marL="321056" indent="-321056" defTabSz="361188">
              <a:spcBef>
                <a:spcPts val="900"/>
              </a:spcBef>
              <a:buFontTx/>
              <a:buAutoNum type="arabicPeriod" startAt="1"/>
              <a:defRPr sz="2370">
                <a:uFill>
                  <a:solidFill>
                    <a:srgbClr val="000000"/>
                  </a:solidFill>
                </a:uFill>
                <a:latin typeface="Times New Roman"/>
                <a:ea typeface="Times New Roman"/>
                <a:cs typeface="Times New Roman"/>
                <a:sym typeface="Times New Roman"/>
              </a:defRPr>
            </a:pPr>
            <a:r>
              <a:t>Capital formation as the key link</a:t>
            </a:r>
          </a:p>
          <a:p>
            <a:pPr marL="321056" indent="-321056" defTabSz="361188">
              <a:spcBef>
                <a:spcPts val="900"/>
              </a:spcBef>
              <a:buFontTx/>
              <a:buAutoNum type="arabicPeriod" startAt="1"/>
              <a:defRPr sz="2370">
                <a:uFill>
                  <a:solidFill>
                    <a:srgbClr val="000000"/>
                  </a:solidFill>
                </a:uFill>
                <a:latin typeface="Times New Roman"/>
                <a:ea typeface="Times New Roman"/>
                <a:cs typeface="Times New Roman"/>
                <a:sym typeface="Times New Roman"/>
              </a:defRPr>
            </a:pPr>
            <a:r>
              <a:t>Poverty prevents sufficient domestic savings mobilization—at least at less than a horrific and near-genocidal cost</a:t>
            </a:r>
          </a:p>
          <a:p>
            <a:pPr marL="321056" indent="-321056" defTabSz="361188">
              <a:spcBef>
                <a:spcPts val="900"/>
              </a:spcBef>
              <a:buFontTx/>
              <a:buAutoNum type="arabicPeriod" startAt="1"/>
              <a:defRPr sz="2370">
                <a:uFill>
                  <a:solidFill>
                    <a:srgbClr val="000000"/>
                  </a:solidFill>
                </a:uFill>
                <a:latin typeface="Times New Roman"/>
                <a:ea typeface="Times New Roman"/>
                <a:cs typeface="Times New Roman"/>
                <a:sym typeface="Times New Roman"/>
              </a:defRPr>
            </a:pPr>
          </a:p>
          <a:p>
            <a:pPr marL="321056" indent="-321056" defTabSz="361188">
              <a:spcBef>
                <a:spcPts val="900"/>
              </a:spcBef>
              <a:buFontTx/>
              <a:defRPr sz="2370">
                <a:uFill>
                  <a:solidFill>
                    <a:srgbClr val="000000"/>
                  </a:solidFill>
                </a:uFill>
                <a:latin typeface="Times New Roman"/>
                <a:ea typeface="Times New Roman"/>
                <a:cs typeface="Times New Roman"/>
                <a:sym typeface="Times New Roman"/>
              </a:defRPr>
            </a:pPr>
            <a:r>
              <a:rPr b="1"/>
              <a:t>Arturo Escobar</a:t>
            </a:r>
            <a:r>
              <a:t>: </a:t>
            </a:r>
            <a:r>
              <a:rPr i="1"/>
              <a:t>The Invention of “Development”</a:t>
            </a:r>
            <a:r>
              <a:t> &lt;</a:t>
            </a:r>
            <a:r>
              <a:rPr u="sng">
                <a:solidFill>
                  <a:srgbClr val="0000FF"/>
                </a:solidFill>
                <a:uFill>
                  <a:solidFill>
                    <a:srgbClr val="0000FF"/>
                  </a:solidFill>
                </a:uFill>
                <a:hlinkClick r:id="rId2" invalidUrl="" action="" tgtFrame="" tooltip="" history="1" highlightClick="0" endSnd="0"/>
              </a:rPr>
              <a:t>https://github.com/braddelong/public-files/blob/master/readings/article-escobar-1999-invention-of-development.pdf</a:t>
            </a:r>
            <a:r>
              <a:t>&gt;</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2" name="Left-Wing “Sacrifice” Discourse"/>
          <p:cNvSpPr txBox="1"/>
          <p:nvPr>
            <p:ph type="title" idx="4294967295"/>
          </p:nvPr>
        </p:nvSpPr>
        <p:spPr>
          <a:xfrm>
            <a:off x="126459" y="0"/>
            <a:ext cx="8890001" cy="1143001"/>
          </a:xfrm>
          <a:prstGeom prst="rect">
            <a:avLst/>
          </a:prstGeom>
        </p:spPr>
        <p:txBody>
          <a:bodyPr/>
          <a:lstStyle>
            <a:lvl1pPr defTabSz="260604">
              <a:defRPr b="1" sz="4560">
                <a:solidFill>
                  <a:srgbClr val="000080"/>
                </a:solidFill>
                <a:uFill>
                  <a:solidFill>
                    <a:srgbClr val="000000"/>
                  </a:solidFill>
                </a:uFill>
                <a:latin typeface="+mj-lt"/>
                <a:ea typeface="+mj-ea"/>
                <a:cs typeface="+mj-cs"/>
                <a:sym typeface="Helvetica"/>
              </a:defRPr>
            </a:lvl1pPr>
          </a:lstStyle>
          <a:p>
            <a:pPr/>
            <a:r>
              <a:t>Left-Wing “Sacrifice” Discourse</a:t>
            </a:r>
          </a:p>
        </p:txBody>
      </p:sp>
      <p:sp>
        <p:nvSpPr>
          <p:cNvPr id="133" name="Bertholt Brecht: To Those Born Afterwards:…"/>
          <p:cNvSpPr txBox="1"/>
          <p:nvPr>
            <p:ph type="body" idx="4294967295"/>
          </p:nvPr>
        </p:nvSpPr>
        <p:spPr>
          <a:xfrm>
            <a:off x="126459" y="1143000"/>
            <a:ext cx="8890001" cy="5550652"/>
          </a:xfrm>
          <a:prstGeom prst="rect">
            <a:avLst/>
          </a:prstGeom>
        </p:spPr>
        <p:txBody>
          <a:bodyPr/>
          <a:lstStyle/>
          <a:p>
            <a:pPr marL="0" indent="0" defTabSz="457200">
              <a:spcBef>
                <a:spcPts val="800"/>
              </a:spcBef>
              <a:buSzTx/>
              <a:buFontTx/>
              <a:buNone/>
              <a:defRPr b="1" sz="3000">
                <a:uFill>
                  <a:solidFill>
                    <a:srgbClr val="000000"/>
                  </a:solidFill>
                </a:uFill>
                <a:latin typeface="+mj-lt"/>
                <a:ea typeface="+mj-ea"/>
                <a:cs typeface="+mj-cs"/>
                <a:sym typeface="Helvetica"/>
              </a:defRPr>
            </a:pPr>
            <a:r>
              <a:t>Bertholt Brecht: </a:t>
            </a:r>
            <a:r>
              <a:rPr i="1"/>
              <a:t>To Those Born Afterwards</a:t>
            </a:r>
            <a:r>
              <a:t>:</a:t>
            </a:r>
          </a:p>
          <a:p>
            <a:pPr marL="0" indent="0" defTabSz="457200">
              <a:spcBef>
                <a:spcPts val="800"/>
              </a:spcBef>
              <a:buSzTx/>
              <a:buFontTx/>
              <a:buNone/>
              <a:defRPr sz="2400">
                <a:uFill>
                  <a:solidFill>
                    <a:srgbClr val="000000"/>
                  </a:solidFill>
                </a:uFill>
                <a:latin typeface="Times New Roman"/>
                <a:ea typeface="Times New Roman"/>
                <a:cs typeface="Times New Roman"/>
                <a:sym typeface="Times New Roman"/>
              </a:defRPr>
            </a:pPr>
            <a:r>
              <a:t>Our strength was limited. The goal</a:t>
            </a:r>
            <a:br/>
            <a:r>
              <a:t>was far away</a:t>
            </a:r>
            <a:br/>
            <a:r>
              <a:t>It was clearly visible, even though for me</a:t>
            </a:r>
            <a:br/>
            <a:r>
              <a:t>unreachable.</a:t>
            </a:r>
            <a:br/>
            <a:r>
              <a:t>Thus passed my time</a:t>
            </a:r>
            <a:br/>
            <a:r>
              <a:t>that was given to me on earth.</a:t>
            </a:r>
          </a:p>
          <a:p>
            <a:pPr marL="0" indent="0" defTabSz="457200">
              <a:spcBef>
                <a:spcPts val="800"/>
              </a:spcBef>
              <a:buSzTx/>
              <a:buFontTx/>
              <a:buNone/>
              <a:defRPr sz="2400">
                <a:uFill>
                  <a:solidFill>
                    <a:srgbClr val="000000"/>
                  </a:solidFill>
                </a:uFill>
                <a:latin typeface="Times New Roman"/>
                <a:ea typeface="Times New Roman"/>
                <a:cs typeface="Times New Roman"/>
                <a:sym typeface="Times New Roman"/>
              </a:defRPr>
            </a:pPr>
          </a:p>
          <a:p>
            <a:pPr marL="0" indent="0" defTabSz="457200">
              <a:spcBef>
                <a:spcPts val="800"/>
              </a:spcBef>
              <a:buSzTx/>
              <a:buFontTx/>
              <a:buNone/>
              <a:defRPr sz="2400">
                <a:uFill>
                  <a:solidFill>
                    <a:srgbClr val="000000"/>
                  </a:solidFill>
                </a:uFill>
                <a:latin typeface="Times New Roman"/>
                <a:ea typeface="Times New Roman"/>
                <a:cs typeface="Times New Roman"/>
                <a:sym typeface="Times New Roman"/>
              </a:defRPr>
            </a:pPr>
            <a:r>
              <a:t>You who will emerge on the surface of the floodwater</a:t>
            </a:r>
            <a:br/>
            <a:r>
              <a:t>in which we drowned</a:t>
            </a:r>
            <a:br/>
            <a:r>
              <a:t>remember also</a:t>
            </a:r>
            <a:br/>
            <a:r>
              <a:t>when you speak of our weaknesses</a:t>
            </a:r>
            <a:br/>
            <a:r>
              <a:t>the dark times</a:t>
            </a:r>
            <a:br/>
            <a:r>
              <a:t>whom you escaped…</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Right-Wing “Sacrifice” Discourse"/>
          <p:cNvSpPr txBox="1"/>
          <p:nvPr>
            <p:ph type="title" idx="4294967295"/>
          </p:nvPr>
        </p:nvSpPr>
        <p:spPr>
          <a:xfrm>
            <a:off x="126459" y="0"/>
            <a:ext cx="8890001" cy="1143001"/>
          </a:xfrm>
          <a:prstGeom prst="rect">
            <a:avLst/>
          </a:prstGeom>
        </p:spPr>
        <p:txBody>
          <a:bodyPr/>
          <a:lstStyle>
            <a:lvl1pPr defTabSz="246888">
              <a:defRPr b="1" sz="4320">
                <a:solidFill>
                  <a:srgbClr val="000080"/>
                </a:solidFill>
                <a:uFill>
                  <a:solidFill>
                    <a:srgbClr val="000000"/>
                  </a:solidFill>
                </a:uFill>
                <a:latin typeface="+mj-lt"/>
                <a:ea typeface="+mj-ea"/>
                <a:cs typeface="+mj-cs"/>
                <a:sym typeface="Helvetica"/>
              </a:defRPr>
            </a:lvl1pPr>
          </a:lstStyle>
          <a:p>
            <a:pPr/>
            <a:r>
              <a:t>Right-Wing “Sacrifice” Discourse</a:t>
            </a:r>
          </a:p>
        </p:txBody>
      </p:sp>
      <p:sp>
        <p:nvSpPr>
          <p:cNvPr id="136" name="John Maynard Keynes: Economic Consequences of the Peace:…"/>
          <p:cNvSpPr txBox="1"/>
          <p:nvPr>
            <p:ph type="body" idx="4294967295"/>
          </p:nvPr>
        </p:nvSpPr>
        <p:spPr>
          <a:xfrm>
            <a:off x="126459" y="1143000"/>
            <a:ext cx="8890001" cy="5550652"/>
          </a:xfrm>
          <a:prstGeom prst="rect">
            <a:avLst/>
          </a:prstGeom>
        </p:spPr>
        <p:txBody>
          <a:bodyPr>
            <a:noAutofit/>
          </a:bodyPr>
          <a:lstStyle/>
          <a:p>
            <a:pPr marL="0" indent="0" defTabSz="457200">
              <a:buSzTx/>
              <a:buFontTx/>
              <a:buNone/>
              <a:defRPr b="1" sz="1700">
                <a:uFill>
                  <a:solidFill>
                    <a:srgbClr val="000000"/>
                  </a:solidFill>
                </a:uFill>
                <a:latin typeface="+mj-lt"/>
                <a:ea typeface="+mj-ea"/>
                <a:cs typeface="+mj-cs"/>
                <a:sym typeface="Helvetica"/>
              </a:defRPr>
            </a:pPr>
            <a:r>
              <a:t>John Maynard Keynes: </a:t>
            </a:r>
            <a:r>
              <a:rPr i="1"/>
              <a:t>Economic Consequences of the Peace</a:t>
            </a:r>
            <a:r>
              <a:t>:</a:t>
            </a:r>
          </a:p>
          <a:p>
            <a:pPr marL="0" indent="0" defTabSz="457200">
              <a:buSzTx/>
              <a:buFontTx/>
              <a:buNone/>
              <a:defRPr sz="1700">
                <a:uFill>
                  <a:solidFill>
                    <a:srgbClr val="000000"/>
                  </a:solidFill>
                </a:uFill>
                <a:latin typeface="Times New Roman"/>
                <a:ea typeface="Times New Roman"/>
                <a:cs typeface="Times New Roman"/>
                <a:sym typeface="Times New Roman"/>
              </a:defRPr>
            </a:pPr>
            <a:r>
              <a:t>The immense accumulations of fixed capital which, to the great benefit of mankind, were built up… could never have come about in a society where wealth was divided equitably. The railways… [were,] not less than the pyramids of Egypt, the work of labour which was not free to consume in immediate enjoyment the full equivalent of its efforts. Thus this remarkable system depended for its growth on a double bluff or deception. On the one hand the labouring classes accepted from ignorance or powerlessness, or were compelled, persuaded, or cajoled by custom, convention, authority, and the well-established order of society into accepting, a situation in which they could call their own very little of the cake that they and nature and the capitalists were co-operating to produce. And on the other hand the capitalist classes were allowed to call the best part of the cake theirs and were theoretically free to consume it, on the tacit underlying condition that they consumed very little of it in practice….</a:t>
            </a:r>
          </a:p>
          <a:p>
            <a:pPr marL="0" indent="0" defTabSz="457200">
              <a:buSzTx/>
              <a:buFontTx/>
              <a:buNone/>
              <a:defRPr sz="1700">
                <a:uFill>
                  <a:solidFill>
                    <a:srgbClr val="000000"/>
                  </a:solidFill>
                </a:uFill>
                <a:latin typeface="Times New Roman"/>
                <a:ea typeface="Times New Roman"/>
                <a:cs typeface="Times New Roman"/>
                <a:sym typeface="Times New Roman"/>
              </a:defRPr>
            </a:pPr>
            <a:r>
              <a:t>In the unconscious recesses of its being society knew what it was about. The cake was really very small in proportion to the appetites of consumption, and no one, if it were shared all round, would be much the better off by the cutting of it. Society was working not for the small pleasures of today but for the future security and improvement of the race— in fact for 'progress'. If only the cake were not cut but was allowed to grow in the geometrical proportion predicted by Malthus of population, but not less true of compound interest, perhaps a day might come when there would at last be enough to go round, and when posterity could enter into the enjoyment of our labours. In that day overwork, overcrowding, and under- feeding would come to an end, and men, secure of the comforts and necessities of the body, could proceed to the nobler exercises of their faculties…</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Inequality Possibility Frontiers”"/>
          <p:cNvSpPr txBox="1"/>
          <p:nvPr>
            <p:ph type="title" idx="4294967295"/>
          </p:nvPr>
        </p:nvSpPr>
        <p:spPr>
          <a:xfrm>
            <a:off x="126459" y="0"/>
            <a:ext cx="8890001" cy="1143001"/>
          </a:xfrm>
          <a:prstGeom prst="rect">
            <a:avLst/>
          </a:prstGeom>
        </p:spPr>
        <p:txBody>
          <a:bodyPr/>
          <a:lstStyle>
            <a:lvl1pPr defTabSz="251460">
              <a:defRPr b="1">
                <a:solidFill>
                  <a:srgbClr val="000080"/>
                </a:solidFill>
                <a:uFill>
                  <a:solidFill>
                    <a:srgbClr val="000000"/>
                  </a:solidFill>
                </a:uFill>
                <a:latin typeface="+mj-lt"/>
                <a:ea typeface="+mj-ea"/>
                <a:cs typeface="+mj-cs"/>
                <a:sym typeface="Helvetica"/>
              </a:defRPr>
            </a:lvl1pPr>
          </a:lstStyle>
          <a:p>
            <a:pPr/>
            <a:r>
              <a:t>“Inequality Possibility Frontiers”</a:t>
            </a:r>
          </a:p>
        </p:txBody>
      </p:sp>
      <p:sp>
        <p:nvSpPr>
          <p:cNvPr id="139" name="Without societal wealth, little is possible:…"/>
          <p:cNvSpPr txBox="1"/>
          <p:nvPr>
            <p:ph type="body" sz="half" idx="4294967295"/>
          </p:nvPr>
        </p:nvSpPr>
        <p:spPr>
          <a:xfrm>
            <a:off x="126459" y="1143000"/>
            <a:ext cx="8890001" cy="1872988"/>
          </a:xfrm>
          <a:prstGeom prst="rect">
            <a:avLst/>
          </a:prstGeom>
        </p:spPr>
        <p:txBody>
          <a:bodyPr/>
          <a:lstStyle/>
          <a:p>
            <a:pPr marL="0" indent="0" defTabSz="457200">
              <a:spcBef>
                <a:spcPts val="800"/>
              </a:spcBef>
              <a:buSzTx/>
              <a:buFontTx/>
              <a:buNone/>
              <a:defRPr b="1" sz="3000">
                <a:uFill>
                  <a:solidFill>
                    <a:srgbClr val="000000"/>
                  </a:solidFill>
                </a:uFill>
                <a:latin typeface="+mj-lt"/>
                <a:ea typeface="+mj-ea"/>
                <a:cs typeface="+mj-cs"/>
                <a:sym typeface="Helvetica"/>
              </a:defRPr>
            </a:pPr>
            <a:r>
              <a:t>Without societal wealth, little is possible: </a:t>
            </a:r>
          </a:p>
          <a:p>
            <a:pPr marL="240631" indent="-240631" defTabSz="457200">
              <a:spcBef>
                <a:spcPts val="800"/>
              </a:spcBef>
              <a:buFontTx/>
              <a:defRPr sz="2400">
                <a:uFill>
                  <a:solidFill>
                    <a:srgbClr val="000000"/>
                  </a:solidFill>
                </a:uFill>
                <a:latin typeface="Times New Roman"/>
                <a:ea typeface="Times New Roman"/>
                <a:cs typeface="Times New Roman"/>
                <a:sym typeface="Times New Roman"/>
              </a:defRPr>
            </a:pPr>
            <a:r>
              <a:rPr b="1"/>
              <a:t>Branko Milanovic &amp; .al</a:t>
            </a:r>
            <a:r>
              <a:t>: </a:t>
            </a:r>
            <a:r>
              <a:rPr i="1"/>
              <a:t>Pre-Industrial Inequality</a:t>
            </a:r>
            <a:r>
              <a:t> &lt;</a:t>
            </a:r>
            <a:r>
              <a:rPr u="sng">
                <a:solidFill>
                  <a:srgbClr val="0000FF"/>
                </a:solidFill>
                <a:uFill>
                  <a:solidFill>
                    <a:srgbClr val="0000FF"/>
                  </a:solidFill>
                </a:uFill>
                <a:hlinkClick r:id="rId2" invalidUrl="" action="" tgtFrame="" tooltip="" history="1" highlightClick="0" endSnd="0"/>
              </a:rPr>
              <a:t>https://github.com/braddelong/public-files/blob/master/readings/article-milanovic-%26-al-pre-industrial-inequality.pdf</a:t>
            </a:r>
            <a:r>
              <a:t>&gt;</a:t>
            </a:r>
          </a:p>
        </p:txBody>
      </p:sp>
      <p:pic>
        <p:nvPicPr>
          <p:cNvPr id="140" name="Image" descr="Image"/>
          <p:cNvPicPr>
            <a:picLocks noChangeAspect="1"/>
          </p:cNvPicPr>
          <p:nvPr/>
        </p:nvPicPr>
        <p:blipFill>
          <a:blip r:embed="rId3">
            <a:extLst/>
          </a:blip>
          <a:stretch>
            <a:fillRect/>
          </a:stretch>
        </p:blipFill>
        <p:spPr>
          <a:xfrm>
            <a:off x="126459" y="3220268"/>
            <a:ext cx="4380679" cy="3383099"/>
          </a:xfrm>
          <a:prstGeom prst="rect">
            <a:avLst/>
          </a:prstGeom>
          <a:ln w="12700">
            <a:miter lim="400000"/>
          </a:ln>
        </p:spPr>
      </p:pic>
      <p:pic>
        <p:nvPicPr>
          <p:cNvPr id="141" name="Image" descr="Image"/>
          <p:cNvPicPr>
            <a:picLocks noChangeAspect="1"/>
          </p:cNvPicPr>
          <p:nvPr/>
        </p:nvPicPr>
        <p:blipFill>
          <a:blip r:embed="rId4">
            <a:extLst/>
          </a:blip>
          <a:stretch>
            <a:fillRect/>
          </a:stretch>
        </p:blipFill>
        <p:spPr>
          <a:xfrm>
            <a:off x="4374220" y="3146646"/>
            <a:ext cx="4642240" cy="3456721"/>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 name="Ferguson"/>
          <p:cNvSpPr txBox="1"/>
          <p:nvPr>
            <p:ph type="title" idx="4294967295"/>
          </p:nvPr>
        </p:nvSpPr>
        <p:spPr>
          <a:xfrm>
            <a:off x="116731" y="0"/>
            <a:ext cx="8890001" cy="1143001"/>
          </a:xfrm>
          <a:prstGeom prst="rect">
            <a:avLst/>
          </a:prstGeom>
        </p:spPr>
        <p:txBody>
          <a:bodyPr/>
          <a:lstStyle>
            <a:lvl1pPr defTabSz="393192">
              <a:defRPr b="1" sz="6880">
                <a:solidFill>
                  <a:srgbClr val="000080"/>
                </a:solidFill>
                <a:uFill>
                  <a:solidFill>
                    <a:srgbClr val="000000"/>
                  </a:solidFill>
                </a:uFill>
                <a:latin typeface="+mj-lt"/>
                <a:ea typeface="+mj-ea"/>
                <a:cs typeface="+mj-cs"/>
                <a:sym typeface="Helvetica"/>
              </a:defRPr>
            </a:lvl1pPr>
          </a:lstStyle>
          <a:p>
            <a:pPr/>
            <a:r>
              <a:t>Ferguson</a:t>
            </a:r>
          </a:p>
        </p:txBody>
      </p:sp>
      <p:sp>
        <p:nvSpPr>
          <p:cNvPr id="144" name="Excluded from the World Bank’s analysis are:…"/>
          <p:cNvSpPr txBox="1"/>
          <p:nvPr>
            <p:ph type="body" idx="4294967295"/>
          </p:nvPr>
        </p:nvSpPr>
        <p:spPr>
          <a:xfrm>
            <a:off x="116731" y="1143000"/>
            <a:ext cx="8890001" cy="5397501"/>
          </a:xfrm>
          <a:prstGeom prst="rect">
            <a:avLst/>
          </a:prstGeom>
        </p:spPr>
        <p:txBody>
          <a:bodyPr/>
          <a:lstStyle/>
          <a:p>
            <a:pPr marL="0" indent="0" defTabSz="306324">
              <a:spcBef>
                <a:spcPts val="500"/>
              </a:spcBef>
              <a:buSzTx/>
              <a:buFontTx/>
              <a:buNone/>
              <a:defRPr b="1" sz="2010">
                <a:uFill>
                  <a:solidFill>
                    <a:srgbClr val="000000"/>
                  </a:solidFill>
                </a:uFill>
                <a:latin typeface="+mj-lt"/>
                <a:ea typeface="+mj-ea"/>
                <a:cs typeface="+mj-cs"/>
                <a:sym typeface="Helvetica"/>
              </a:defRPr>
            </a:pPr>
            <a:r>
              <a:t>Excluded from the World Bank’s analysis are: </a:t>
            </a:r>
          </a:p>
          <a:p>
            <a:pPr lvl="1" marL="204215" indent="-204215" defTabSz="306324">
              <a:spcBef>
                <a:spcPts val="500"/>
              </a:spcBef>
              <a:buFontTx/>
              <a:buChar char="•"/>
              <a:defRPr sz="1608">
                <a:uFill>
                  <a:solidFill>
                    <a:srgbClr val="000000"/>
                  </a:solidFill>
                </a:uFill>
                <a:latin typeface="Times New Roman"/>
                <a:ea typeface="Times New Roman"/>
                <a:cs typeface="Times New Roman"/>
                <a:sym typeface="Times New Roman"/>
              </a:defRPr>
            </a:pPr>
            <a:r>
              <a:t>The political power of the state and its class basis</a:t>
            </a:r>
          </a:p>
          <a:p>
            <a:pPr lvl="1" marL="204215" indent="-204215" defTabSz="306324">
              <a:spcBef>
                <a:spcPts val="500"/>
              </a:spcBef>
              <a:buFontTx/>
              <a:buChar char="•"/>
              <a:defRPr sz="1608">
                <a:uFill>
                  <a:solidFill>
                    <a:srgbClr val="000000"/>
                  </a:solidFill>
                </a:uFill>
                <a:latin typeface="Times New Roman"/>
                <a:ea typeface="Times New Roman"/>
                <a:cs typeface="Times New Roman"/>
                <a:sym typeface="Times New Roman"/>
              </a:defRPr>
            </a:pPr>
            <a:r>
              <a:t>Use of official positions and state power by the bureaucratic elite , cliques, and fashions</a:t>
            </a:r>
          </a:p>
          <a:p>
            <a:pPr lvl="1" marL="204215" indent="-204215" defTabSz="306324">
              <a:spcBef>
                <a:spcPts val="500"/>
              </a:spcBef>
              <a:buFontTx/>
              <a:buChar char="•"/>
              <a:defRPr sz="1608">
                <a:uFill>
                  <a:solidFill>
                    <a:srgbClr val="000000"/>
                  </a:solidFill>
                </a:uFill>
                <a:latin typeface="Times New Roman"/>
                <a:ea typeface="Times New Roman"/>
                <a:cs typeface="Times New Roman"/>
                <a:sym typeface="Times New Roman"/>
              </a:defRPr>
            </a:pPr>
            <a:r>
              <a:t>Mention of the undemocratic character of the ruling government or political opposition is studiously avoided</a:t>
            </a:r>
          </a:p>
          <a:p>
            <a:pPr lvl="1" marL="204215" indent="-204215" defTabSz="306324">
              <a:spcBef>
                <a:spcPts val="500"/>
              </a:spcBef>
              <a:buFontTx/>
              <a:buChar char="•"/>
              <a:defRPr sz="1608">
                <a:uFill>
                  <a:solidFill>
                    <a:srgbClr val="000000"/>
                  </a:solidFill>
                </a:uFill>
                <a:latin typeface="Times New Roman"/>
                <a:ea typeface="Times New Roman"/>
                <a:cs typeface="Times New Roman"/>
                <a:sym typeface="Times New Roman"/>
              </a:defRPr>
            </a:pPr>
            <a:r>
              <a:t>The state is taken to have no interest other than “development”</a:t>
            </a:r>
          </a:p>
          <a:p>
            <a:pPr lvl="1" marL="204215" indent="-204215" defTabSz="306324">
              <a:spcBef>
                <a:spcPts val="500"/>
              </a:spcBef>
              <a:buFontTx/>
              <a:buChar char="•"/>
              <a:defRPr sz="1608">
                <a:uFill>
                  <a:solidFill>
                    <a:srgbClr val="000000"/>
                  </a:solidFill>
                </a:uFill>
                <a:latin typeface="Times New Roman"/>
                <a:ea typeface="Times New Roman"/>
                <a:cs typeface="Times New Roman"/>
                <a:sym typeface="Times New Roman"/>
              </a:defRPr>
            </a:pPr>
            <a:r>
              <a:t>Where “bureaucracy” is seen as a problem, it is not a </a:t>
            </a:r>
            <a:r>
              <a:rPr i="1"/>
              <a:t>political </a:t>
            </a:r>
            <a:r>
              <a:t>but merely an </a:t>
            </a:r>
            <a:r>
              <a:rPr i="1"/>
              <a:t>organizational </a:t>
            </a:r>
            <a:r>
              <a:t>matter</a:t>
            </a:r>
          </a:p>
          <a:p>
            <a:pPr lvl="1" marL="204215" indent="-204215" defTabSz="306324">
              <a:spcBef>
                <a:spcPts val="500"/>
              </a:spcBef>
              <a:buFontTx/>
              <a:buChar char="•"/>
              <a:defRPr sz="1608">
                <a:uFill>
                  <a:solidFill>
                    <a:srgbClr val="000000"/>
                  </a:solidFill>
                </a:uFill>
                <a:latin typeface="Times New Roman"/>
                <a:ea typeface="Times New Roman"/>
                <a:cs typeface="Times New Roman"/>
                <a:sym typeface="Times New Roman"/>
              </a:defRPr>
            </a:pPr>
            <a:r>
              <a:t>The Thaba-Tseka project “became like a bread crumb thrown into an ant’s nest”</a:t>
            </a:r>
          </a:p>
          <a:p>
            <a:pPr lvl="2" marL="323342" indent="-204215" defTabSz="306324">
              <a:spcBef>
                <a:spcPts val="500"/>
              </a:spcBef>
              <a:buFontTx/>
              <a:defRPr sz="1608">
                <a:uFill>
                  <a:solidFill>
                    <a:srgbClr val="000000"/>
                  </a:solidFill>
                </a:uFill>
                <a:latin typeface="Times New Roman"/>
                <a:ea typeface="Times New Roman"/>
                <a:cs typeface="Times New Roman"/>
                <a:sym typeface="Times New Roman"/>
              </a:defRPr>
            </a:pPr>
            <a:r>
              <a:t>Needing to construe themselves as apolitical, the planners viewed its failure as…</a:t>
            </a:r>
          </a:p>
          <a:p>
            <a:pPr lvl="2" marL="323342" indent="-204215" defTabSz="306324">
              <a:spcBef>
                <a:spcPts val="500"/>
              </a:spcBef>
              <a:buFontTx/>
              <a:defRPr sz="1608">
                <a:uFill>
                  <a:solidFill>
                    <a:srgbClr val="000000"/>
                  </a:solidFill>
                </a:uFill>
                <a:latin typeface="Times New Roman"/>
                <a:ea typeface="Times New Roman"/>
                <a:cs typeface="Times New Roman"/>
                <a:sym typeface="Times New Roman"/>
              </a:defRPr>
            </a:pPr>
            <a:r>
              <a:t>The result of choosing the wrong organizational chart</a:t>
            </a:r>
          </a:p>
          <a:p>
            <a:pPr lvl="2" marL="323342" indent="-204215" defTabSz="306324">
              <a:spcBef>
                <a:spcPts val="500"/>
              </a:spcBef>
              <a:buFontTx/>
              <a:defRPr sz="1608">
                <a:uFill>
                  <a:solidFill>
                    <a:srgbClr val="000000"/>
                  </a:solidFill>
                </a:uFill>
                <a:latin typeface="Times New Roman"/>
                <a:ea typeface="Times New Roman"/>
                <a:cs typeface="Times New Roman"/>
                <a:sym typeface="Times New Roman"/>
              </a:defRPr>
            </a:pPr>
            <a:r>
              <a:t>Rather than of a predatory government using project resources for the purpose of strengthening the position of its own functionaries</a:t>
            </a:r>
          </a:p>
          <a:p>
            <a:pPr lvl="2" marL="323342" indent="-204215" defTabSz="306324">
              <a:spcBef>
                <a:spcPts val="500"/>
              </a:spcBef>
              <a:buFontTx/>
              <a:defRPr sz="1608">
                <a:uFill>
                  <a:solidFill>
                    <a:srgbClr val="000000"/>
                  </a:solidFill>
                </a:uFill>
                <a:latin typeface="Times New Roman"/>
                <a:ea typeface="Times New Roman"/>
                <a:cs typeface="Times New Roman"/>
                <a:sym typeface="Times New Roman"/>
              </a:defRPr>
            </a:pPr>
          </a:p>
          <a:p>
            <a:pPr lvl="1" marL="204215" indent="-204215" defTabSz="306324">
              <a:spcBef>
                <a:spcPts val="500"/>
              </a:spcBef>
              <a:buFontTx/>
              <a:buChar char="•"/>
              <a:defRPr sz="1608">
                <a:uFill>
                  <a:solidFill>
                    <a:srgbClr val="000000"/>
                  </a:solidFill>
                </a:uFill>
                <a:latin typeface="Times New Roman"/>
                <a:ea typeface="Times New Roman"/>
                <a:cs typeface="Times New Roman"/>
                <a:sym typeface="Times New Roman"/>
              </a:defRPr>
            </a:pPr>
            <a:r>
              <a:t>What does Ferguson mean by: “Change comes when, as Michel Foucault says, ‘critique has been played out in the real, not when reformers have realized their ideas…’”</a:t>
            </a:r>
          </a:p>
          <a:p>
            <a:pPr marL="204215" indent="-204215" defTabSz="306324">
              <a:spcBef>
                <a:spcPts val="500"/>
              </a:spcBef>
              <a:buFontTx/>
              <a:defRPr sz="1608">
                <a:uFill>
                  <a:solidFill>
                    <a:srgbClr val="000000"/>
                  </a:solidFill>
                </a:uFill>
                <a:latin typeface="Times New Roman"/>
                <a:ea typeface="Times New Roman"/>
                <a:cs typeface="Times New Roman"/>
                <a:sym typeface="Times New Roman"/>
              </a:defRPr>
            </a:pPr>
          </a:p>
          <a:p>
            <a:pPr marL="204215" indent="-204215" defTabSz="306324">
              <a:spcBef>
                <a:spcPts val="500"/>
              </a:spcBef>
              <a:buFontTx/>
              <a:defRPr sz="1608">
                <a:uFill>
                  <a:solidFill>
                    <a:srgbClr val="000000"/>
                  </a:solidFill>
                </a:uFill>
                <a:latin typeface="Times New Roman"/>
                <a:ea typeface="Times New Roman"/>
                <a:cs typeface="Times New Roman"/>
                <a:sym typeface="Times New Roman"/>
              </a:defRPr>
            </a:pPr>
            <a:r>
              <a:rPr b="1"/>
              <a:t>James Ferguson</a:t>
            </a:r>
            <a:r>
              <a:t> (1994): </a:t>
            </a:r>
            <a:r>
              <a:rPr i="1"/>
              <a:t>The Antipolitics Machine: “Development” &amp; Bureaucratic Power in Lesotho</a:t>
            </a:r>
            <a:r>
              <a:t> &lt;</a:t>
            </a:r>
            <a:r>
              <a:rPr u="sng">
                <a:solidFill>
                  <a:srgbClr val="0000FF"/>
                </a:solidFill>
                <a:uFill>
                  <a:solidFill>
                    <a:srgbClr val="0000FF"/>
                  </a:solidFill>
                </a:uFill>
                <a:hlinkClick r:id="rId2" invalidUrl="" action="" tgtFrame="" tooltip="" history="1" highlightClick="0" endSnd="0"/>
              </a:rPr>
              <a:t>https://github.com/braddelong/public-files/blob/master/readings/article-ferguson-1994-antipolitics.pdf</a:t>
            </a:r>
            <a:r>
              <a:t>&gt;</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Lawson &amp; Ellwood"/>
          <p:cNvSpPr txBox="1"/>
          <p:nvPr>
            <p:ph type="title" idx="4294967295"/>
          </p:nvPr>
        </p:nvSpPr>
        <p:spPr>
          <a:xfrm>
            <a:off x="116731" y="0"/>
            <a:ext cx="8890001" cy="1143001"/>
          </a:xfrm>
          <a:prstGeom prst="rect">
            <a:avLst/>
          </a:prstGeom>
        </p:spPr>
        <p:txBody>
          <a:bodyPr/>
          <a:lstStyle>
            <a:lvl1pPr defTabSz="393192">
              <a:defRPr b="1" sz="6880">
                <a:solidFill>
                  <a:srgbClr val="000080"/>
                </a:solidFill>
                <a:uFill>
                  <a:solidFill>
                    <a:srgbClr val="000000"/>
                  </a:solidFill>
                </a:uFill>
                <a:latin typeface="+mj-lt"/>
                <a:ea typeface="+mj-ea"/>
                <a:cs typeface="+mj-cs"/>
                <a:sym typeface="Helvetica"/>
              </a:defRPr>
            </a:lvl1pPr>
          </a:lstStyle>
          <a:p>
            <a:pPr/>
            <a:r>
              <a:t>Lawson &amp; Ellwood</a:t>
            </a:r>
          </a:p>
        </p:txBody>
      </p:sp>
      <p:sp>
        <p:nvSpPr>
          <p:cNvPr id="147" name="When &amp; how do non-poor people with social power meet, interact with, and come to know about poor people &amp; poverty?:…"/>
          <p:cNvSpPr txBox="1"/>
          <p:nvPr>
            <p:ph type="body" idx="4294967295"/>
          </p:nvPr>
        </p:nvSpPr>
        <p:spPr>
          <a:xfrm>
            <a:off x="116731" y="1143000"/>
            <a:ext cx="8890001" cy="5397501"/>
          </a:xfrm>
          <a:prstGeom prst="rect">
            <a:avLst/>
          </a:prstGeom>
        </p:spPr>
        <p:txBody>
          <a:bodyPr/>
          <a:lstStyle/>
          <a:p>
            <a:pPr marL="0" indent="0" defTabSz="370331">
              <a:spcBef>
                <a:spcPts val="600"/>
              </a:spcBef>
              <a:buSzTx/>
              <a:buFontTx/>
              <a:buNone/>
              <a:defRPr b="1" sz="2430">
                <a:uFill>
                  <a:solidFill>
                    <a:srgbClr val="000000"/>
                  </a:solidFill>
                </a:uFill>
                <a:latin typeface="+mj-lt"/>
                <a:ea typeface="+mj-ea"/>
                <a:cs typeface="+mj-cs"/>
                <a:sym typeface="Helvetica"/>
              </a:defRPr>
            </a:pPr>
            <a:r>
              <a:t>When &amp; how do non-poor people with social power meet, interact with, and come to know about poor people &amp; poverty?: </a:t>
            </a:r>
          </a:p>
          <a:p>
            <a:pPr lvl="2" marL="246888" indent="-246888" defTabSz="370331">
              <a:spcBef>
                <a:spcPts val="600"/>
              </a:spcBef>
              <a:buFontTx/>
              <a:defRPr sz="1944">
                <a:uFill>
                  <a:solidFill>
                    <a:srgbClr val="000000"/>
                  </a:solidFill>
                </a:uFill>
                <a:latin typeface="Times New Roman"/>
                <a:ea typeface="Times New Roman"/>
                <a:cs typeface="Times New Roman"/>
                <a:sym typeface="Times New Roman"/>
              </a:defRPr>
            </a:pPr>
            <a:r>
              <a:t>Welfare office &amp; community task force</a:t>
            </a:r>
          </a:p>
          <a:p>
            <a:pPr lvl="2" marL="246888" indent="-246888" defTabSz="370331">
              <a:spcBef>
                <a:spcPts val="600"/>
              </a:spcBef>
              <a:buFontTx/>
              <a:defRPr sz="1944">
                <a:uFill>
                  <a:solidFill>
                    <a:srgbClr val="000000"/>
                  </a:solidFill>
                </a:uFill>
                <a:latin typeface="Times New Roman"/>
                <a:ea typeface="Times New Roman"/>
                <a:cs typeface="Times New Roman"/>
                <a:sym typeface="Times New Roman"/>
              </a:defRPr>
            </a:pPr>
            <a:r>
              <a:t>Processes of governance:</a:t>
            </a:r>
          </a:p>
          <a:p>
            <a:pPr lvl="3" marL="452627" indent="-246888" defTabSz="370331">
              <a:spcBef>
                <a:spcPts val="600"/>
              </a:spcBef>
              <a:buFontTx/>
              <a:buChar char="•"/>
              <a:defRPr sz="1944">
                <a:uFill>
                  <a:solidFill>
                    <a:srgbClr val="000000"/>
                  </a:solidFill>
                </a:uFill>
                <a:latin typeface="Times New Roman"/>
                <a:ea typeface="Times New Roman"/>
                <a:cs typeface="Times New Roman"/>
                <a:sym typeface="Times New Roman"/>
              </a:defRPr>
            </a:pPr>
            <a:r>
              <a:t>“Insiders”</a:t>
            </a:r>
          </a:p>
          <a:p>
            <a:pPr lvl="3" marL="452627" indent="-246888" defTabSz="370331">
              <a:spcBef>
                <a:spcPts val="600"/>
              </a:spcBef>
              <a:buFontTx/>
              <a:buChar char="•"/>
              <a:defRPr sz="1944">
                <a:uFill>
                  <a:solidFill>
                    <a:srgbClr val="000000"/>
                  </a:solidFill>
                </a:uFill>
                <a:latin typeface="Times New Roman"/>
                <a:ea typeface="Times New Roman"/>
                <a:cs typeface="Times New Roman"/>
                <a:sym typeface="Times New Roman"/>
              </a:defRPr>
            </a:pPr>
            <a:r>
              <a:t>“Space invaders”</a:t>
            </a:r>
          </a:p>
          <a:p>
            <a:pPr lvl="3" marL="452627" indent="-246888" defTabSz="370331">
              <a:spcBef>
                <a:spcPts val="600"/>
              </a:spcBef>
              <a:buFontTx/>
              <a:buChar char="•"/>
              <a:defRPr sz="1944">
                <a:uFill>
                  <a:solidFill>
                    <a:srgbClr val="000000"/>
                  </a:solidFill>
                </a:uFill>
                <a:latin typeface="Times New Roman"/>
                <a:ea typeface="Times New Roman"/>
                <a:cs typeface="Times New Roman"/>
                <a:sym typeface="Times New Roman"/>
              </a:defRPr>
            </a:pPr>
            <a:r>
              <a:t>Governance &amp; discipline</a:t>
            </a:r>
          </a:p>
          <a:p>
            <a:pPr lvl="2" marL="246888" indent="-246888" defTabSz="370331">
              <a:spcBef>
                <a:spcPts val="600"/>
              </a:spcBef>
              <a:buFontTx/>
              <a:defRPr sz="1944">
                <a:uFill>
                  <a:solidFill>
                    <a:srgbClr val="000000"/>
                  </a:solidFill>
                </a:uFill>
                <a:latin typeface="Times New Roman"/>
                <a:ea typeface="Times New Roman"/>
                <a:cs typeface="Times New Roman"/>
                <a:sym typeface="Times New Roman"/>
              </a:defRPr>
            </a:pPr>
            <a:r>
              <a:t>Zones of contact: </a:t>
            </a:r>
          </a:p>
          <a:p>
            <a:pPr lvl="2" marL="452627" indent="-246888" defTabSz="370331">
              <a:spcBef>
                <a:spcPts val="600"/>
              </a:spcBef>
              <a:buFontTx/>
              <a:defRPr sz="1944">
                <a:uFill>
                  <a:solidFill>
                    <a:srgbClr val="000000"/>
                  </a:solidFill>
                </a:uFill>
                <a:latin typeface="Times New Roman"/>
                <a:ea typeface="Times New Roman"/>
                <a:cs typeface="Times New Roman"/>
                <a:sym typeface="Times New Roman"/>
              </a:defRPr>
            </a:pPr>
            <a:r>
              <a:t>Constraints &amp; options…</a:t>
            </a:r>
          </a:p>
          <a:p>
            <a:pPr lvl="2" marL="452627" indent="-246888" defTabSz="370331">
              <a:spcBef>
                <a:spcPts val="600"/>
              </a:spcBef>
              <a:buFontTx/>
              <a:defRPr sz="1944">
                <a:uFill>
                  <a:solidFill>
                    <a:srgbClr val="000000"/>
                  </a:solidFill>
                </a:uFill>
                <a:latin typeface="Times New Roman"/>
                <a:ea typeface="Times New Roman"/>
                <a:cs typeface="Times New Roman"/>
                <a:sym typeface="Times New Roman"/>
              </a:defRPr>
            </a:pPr>
            <a:r>
              <a:t>Choices, guardrails, coaching, &amp; reflection mechanisms…</a:t>
            </a:r>
          </a:p>
          <a:p>
            <a:pPr marL="246888" indent="-246888" defTabSz="370331">
              <a:spcBef>
                <a:spcPts val="600"/>
              </a:spcBef>
              <a:buFontTx/>
              <a:defRPr sz="1944">
                <a:uFill>
                  <a:solidFill>
                    <a:srgbClr val="000000"/>
                  </a:solidFill>
                </a:uFill>
                <a:latin typeface="Times New Roman"/>
                <a:ea typeface="Times New Roman"/>
                <a:cs typeface="Times New Roman"/>
                <a:sym typeface="Times New Roman"/>
              </a:defRPr>
            </a:pPr>
          </a:p>
          <a:p>
            <a:pPr marL="246888" indent="-246888" defTabSz="370331">
              <a:spcBef>
                <a:spcPts val="600"/>
              </a:spcBef>
              <a:buFontTx/>
              <a:defRPr sz="1944">
                <a:uFill>
                  <a:solidFill>
                    <a:srgbClr val="000000"/>
                  </a:solidFill>
                </a:uFill>
                <a:latin typeface="Times New Roman"/>
                <a:ea typeface="Times New Roman"/>
                <a:cs typeface="Times New Roman"/>
                <a:sym typeface="Times New Roman"/>
              </a:defRPr>
            </a:pPr>
            <a:r>
              <a:rPr b="1"/>
              <a:t>Victoria Lawson &amp; Sarah Elwood</a:t>
            </a:r>
            <a:r>
              <a:t> (1994): </a:t>
            </a:r>
            <a:r>
              <a:rPr i="1"/>
              <a:t>Encountering Poverty: Space, Class, and Poverty Politics</a:t>
            </a:r>
            <a:r>
              <a:t> &lt;</a:t>
            </a:r>
            <a:r>
              <a:rPr u="sng">
                <a:solidFill>
                  <a:srgbClr val="0000FF"/>
                </a:solidFill>
                <a:uFill>
                  <a:solidFill>
                    <a:srgbClr val="0000FF"/>
                  </a:solidFill>
                </a:uFill>
                <a:hlinkClick r:id="rId2" invalidUrl="" action="" tgtFrame="" tooltip="" history="1" highlightClick="0" endSnd="0"/>
              </a:rPr>
              <a:t>https://github.com/braddelong/public-files/blob/master/readings/article-lawson-%26-ellwood-1993-encountering-poverty.pdf</a:t>
            </a:r>
            <a:r>
              <a:t>&gt;</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Lawson &amp; Ellwood"/>
          <p:cNvSpPr txBox="1"/>
          <p:nvPr>
            <p:ph type="title" idx="4294967295"/>
          </p:nvPr>
        </p:nvSpPr>
        <p:spPr>
          <a:xfrm>
            <a:off x="116731" y="0"/>
            <a:ext cx="8890001" cy="1143001"/>
          </a:xfrm>
          <a:prstGeom prst="rect">
            <a:avLst/>
          </a:prstGeom>
        </p:spPr>
        <p:txBody>
          <a:bodyPr/>
          <a:lstStyle>
            <a:lvl1pPr defTabSz="393192">
              <a:defRPr b="1" sz="6880">
                <a:solidFill>
                  <a:srgbClr val="000080"/>
                </a:solidFill>
                <a:uFill>
                  <a:solidFill>
                    <a:srgbClr val="000000"/>
                  </a:solidFill>
                </a:uFill>
                <a:latin typeface="+mj-lt"/>
                <a:ea typeface="+mj-ea"/>
                <a:cs typeface="+mj-cs"/>
                <a:sym typeface="Helvetica"/>
              </a:defRPr>
            </a:lvl1pPr>
          </a:lstStyle>
          <a:p>
            <a:pPr/>
            <a:r>
              <a:t>Lawson &amp; Ellwood</a:t>
            </a:r>
          </a:p>
        </p:txBody>
      </p:sp>
      <p:sp>
        <p:nvSpPr>
          <p:cNvPr id="150" name="From Haley Wohlever:…"/>
          <p:cNvSpPr txBox="1"/>
          <p:nvPr>
            <p:ph type="body" idx="4294967295"/>
          </p:nvPr>
        </p:nvSpPr>
        <p:spPr>
          <a:xfrm>
            <a:off x="116731" y="1143000"/>
            <a:ext cx="8890001" cy="5397501"/>
          </a:xfrm>
          <a:prstGeom prst="rect">
            <a:avLst/>
          </a:prstGeom>
        </p:spPr>
        <p:txBody>
          <a:bodyPr/>
          <a:lstStyle/>
          <a:p>
            <a:pPr marL="0" indent="0" defTabSz="393192">
              <a:spcBef>
                <a:spcPts val="600"/>
              </a:spcBef>
              <a:buSzTx/>
              <a:buFontTx/>
              <a:buNone/>
              <a:defRPr b="1" sz="2580">
                <a:uFill>
                  <a:solidFill>
                    <a:srgbClr val="000000"/>
                  </a:solidFill>
                </a:uFill>
                <a:latin typeface="+mj-lt"/>
                <a:ea typeface="+mj-ea"/>
                <a:cs typeface="+mj-cs"/>
                <a:sym typeface="Helvetica"/>
              </a:defRPr>
            </a:pPr>
            <a:r>
              <a:t>From Haley Wohlever: </a:t>
            </a:r>
          </a:p>
          <a:p>
            <a:pPr marL="275924" indent="-275924" defTabSz="393192">
              <a:spcBef>
                <a:spcPts val="600"/>
              </a:spcBef>
              <a:buFontTx/>
              <a:buAutoNum type="arabicPeriod" startAt="1"/>
              <a:defRPr sz="2064">
                <a:uFill>
                  <a:solidFill>
                    <a:srgbClr val="000000"/>
                  </a:solidFill>
                </a:uFill>
                <a:latin typeface="Times New Roman"/>
                <a:ea typeface="Times New Roman"/>
                <a:cs typeface="Times New Roman"/>
                <a:sym typeface="Times New Roman"/>
              </a:defRPr>
            </a:pPr>
            <a:r>
              <a:t>Are the notions of progress and modernity universal? If not, whose notions should we adhere to? (Pigg's study)</a:t>
            </a:r>
          </a:p>
          <a:p>
            <a:pPr marL="275924" indent="-275924" defTabSz="393192">
              <a:spcBef>
                <a:spcPts val="600"/>
              </a:spcBef>
              <a:buFontTx/>
              <a:buAutoNum type="arabicPeriod" startAt="1"/>
              <a:defRPr sz="2064">
                <a:uFill>
                  <a:solidFill>
                    <a:srgbClr val="000000"/>
                  </a:solidFill>
                </a:uFill>
                <a:latin typeface="Times New Roman"/>
                <a:ea typeface="Times New Roman"/>
                <a:cs typeface="Times New Roman"/>
                <a:sym typeface="Times New Roman"/>
              </a:defRPr>
            </a:pPr>
            <a:r>
              <a:t>In today's world, can social, cultural, and political progress be achieved without material advancement?</a:t>
            </a:r>
          </a:p>
          <a:p>
            <a:pPr marL="275924" indent="-275924" defTabSz="393192">
              <a:spcBef>
                <a:spcPts val="600"/>
              </a:spcBef>
              <a:buFontTx/>
              <a:buAutoNum type="arabicPeriod" startAt="1"/>
              <a:defRPr sz="2064">
                <a:uFill>
                  <a:solidFill>
                    <a:srgbClr val="000000"/>
                  </a:solidFill>
                </a:uFill>
                <a:latin typeface="Times New Roman"/>
                <a:ea typeface="Times New Roman"/>
                <a:cs typeface="Times New Roman"/>
                <a:sym typeface="Times New Roman"/>
              </a:defRPr>
            </a:pPr>
            <a:r>
              <a:t>Rather than viewing poverty as purely economic, is there a more holistic and perhaps better way to conceptualize it? (Escobar's paper)</a:t>
            </a:r>
          </a:p>
          <a:p>
            <a:pPr marL="275924" indent="-275924" defTabSz="393192">
              <a:spcBef>
                <a:spcPts val="600"/>
              </a:spcBef>
              <a:buFontTx/>
              <a:buAutoNum type="arabicPeriod" startAt="1"/>
              <a:defRPr sz="2064">
                <a:uFill>
                  <a:solidFill>
                    <a:srgbClr val="000000"/>
                  </a:solidFill>
                </a:uFill>
                <a:latin typeface="Times New Roman"/>
                <a:ea typeface="Times New Roman"/>
                <a:cs typeface="Times New Roman"/>
                <a:sym typeface="Times New Roman"/>
              </a:defRPr>
            </a:pPr>
            <a:r>
              <a:t>Where do statistics/narratives come from and how can we validate them? (Ferguson's paper)</a:t>
            </a:r>
          </a:p>
          <a:p>
            <a:pPr marL="275924" indent="-275924" defTabSz="393192">
              <a:spcBef>
                <a:spcPts val="600"/>
              </a:spcBef>
              <a:buFontTx/>
              <a:buAutoNum type="arabicPeriod" startAt="1"/>
              <a:defRPr sz="2064">
                <a:uFill>
                  <a:solidFill>
                    <a:srgbClr val="000000"/>
                  </a:solidFill>
                </a:uFill>
                <a:latin typeface="Times New Roman"/>
                <a:ea typeface="Times New Roman"/>
                <a:cs typeface="Times New Roman"/>
                <a:sym typeface="Times New Roman"/>
              </a:defRPr>
            </a:pPr>
            <a:r>
              <a:t>What were social norms around discussing money when you grew up? What factors influenced that and how has it influenced the way you view your own and others' economic status today? (Lawson and Elwood's case studies)</a:t>
            </a:r>
          </a:p>
          <a:p>
            <a:pPr marL="275924" indent="-275924" defTabSz="393192">
              <a:spcBef>
                <a:spcPts val="600"/>
              </a:spcBef>
              <a:buFontTx/>
              <a:buAutoNum type="arabicPeriod" startAt="1"/>
              <a:defRPr sz="2064">
                <a:uFill>
                  <a:solidFill>
                    <a:srgbClr val="000000"/>
                  </a:solidFill>
                </a:uFill>
                <a:latin typeface="Times New Roman"/>
                <a:ea typeface="Times New Roman"/>
                <a:cs typeface="Times New Roman"/>
                <a:sym typeface="Times New Roman"/>
              </a:defRPr>
            </a:pPr>
            <a:r>
              <a:t>What/when is the most dangerous rhetoric around development today and why?</a:t>
            </a:r>
          </a:p>
          <a:p>
            <a:pPr marL="275924" indent="-275924" defTabSz="393192">
              <a:spcBef>
                <a:spcPts val="600"/>
              </a:spcBef>
              <a:buFontTx/>
              <a:buAutoNum type="arabicPeriod" startAt="1"/>
              <a:defRPr sz="2064">
                <a:uFill>
                  <a:solidFill>
                    <a:srgbClr val="000000"/>
                  </a:solidFill>
                </a:uFill>
                <a:latin typeface="Times New Roman"/>
                <a:ea typeface="Times New Roman"/>
                <a:cs typeface="Times New Roman"/>
                <a:sym typeface="Times New Roman"/>
              </a:defRPr>
            </a:pPr>
            <a:r>
              <a:t>How closely linked are the destinies of "developed" and "underdeveloped" or "developing" countries?</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About the Course"/>
          <p:cNvSpPr txBox="1"/>
          <p:nvPr>
            <p:ph type="title" idx="4294967295"/>
          </p:nvPr>
        </p:nvSpPr>
        <p:spPr>
          <a:xfrm>
            <a:off x="112563" y="-3"/>
            <a:ext cx="8890001" cy="1143001"/>
          </a:xfrm>
          <a:prstGeom prst="rect">
            <a:avLst/>
          </a:prstGeom>
        </p:spPr>
        <p:txBody>
          <a:bodyPr lIns="45718" tIns="45718" rIns="45718" bIns="45718"/>
          <a:lstStyle>
            <a:lvl1pPr defTabSz="393192">
              <a:defRPr b="1" sz="6880">
                <a:solidFill>
                  <a:srgbClr val="000080"/>
                </a:solidFill>
                <a:uFill>
                  <a:solidFill>
                    <a:srgbClr val="000000"/>
                  </a:solidFill>
                </a:uFill>
                <a:latin typeface="+mj-lt"/>
                <a:ea typeface="+mj-ea"/>
                <a:cs typeface="+mj-cs"/>
                <a:sym typeface="Helvetica"/>
              </a:defRPr>
            </a:lvl1pPr>
          </a:lstStyle>
          <a:p>
            <a:pPr/>
            <a:r>
              <a:t>People</a:t>
            </a:r>
          </a:p>
        </p:txBody>
      </p:sp>
      <p:sp>
        <p:nvSpPr>
          <p:cNvPr id="153" name="The long 20th century will in all likelihood be seen in the future as the watershed in human experience:…"/>
          <p:cNvSpPr txBox="1"/>
          <p:nvPr/>
        </p:nvSpPr>
        <p:spPr>
          <a:xfrm>
            <a:off x="112563" y="1142997"/>
            <a:ext cx="8890001" cy="53975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defTabSz="410764">
              <a:spcBef>
                <a:spcPts val="900"/>
              </a:spcBef>
              <a:defRPr b="1" sz="1900">
                <a:latin typeface="+mj-lt"/>
                <a:ea typeface="+mj-ea"/>
                <a:cs typeface="+mj-cs"/>
                <a:sym typeface="Helvetica"/>
              </a:defRPr>
            </a:pPr>
            <a:r>
              <a:t>Brad DeLong delong@econ.berkeley.edu</a:t>
            </a:r>
          </a:p>
          <a:p>
            <a:pPr marL="342899" indent="-342899" defTabSz="410764">
              <a:spcBef>
                <a:spcPts val="800"/>
              </a:spcBef>
              <a:buSzPct val="100000"/>
              <a:buChar char="•"/>
              <a:defRPr sz="1900">
                <a:latin typeface="Times New Roman"/>
                <a:ea typeface="Times New Roman"/>
                <a:cs typeface="Times New Roman"/>
                <a:sym typeface="Times New Roman"/>
              </a:defRPr>
            </a:pPr>
            <a:r>
              <a:t>Tvetene Carlson </a:t>
            </a:r>
            <a:r>
              <a:rPr u="sng">
                <a:solidFill>
                  <a:srgbClr val="0000FF"/>
                </a:solidFill>
                <a:uFill>
                  <a:solidFill>
                    <a:srgbClr val="0000FF"/>
                  </a:solidFill>
                </a:uFill>
                <a:hlinkClick r:id="rId3" invalidUrl="" action="" tgtFrame="" tooltip="" history="1" highlightClick="0" endSnd="0"/>
              </a:rPr>
              <a:t>tjcarlson@berkeley.edu</a:t>
            </a:r>
            <a:r>
              <a:t> 3034966195 G Civil &amp; Environmental Eng MS, Civil &amp; Environmenta</a:t>
            </a:r>
          </a:p>
          <a:p>
            <a:pPr marL="342899" indent="-342899" defTabSz="410764">
              <a:spcBef>
                <a:spcPts val="800"/>
              </a:spcBef>
              <a:buSzPct val="100000"/>
              <a:buChar char="•"/>
              <a:defRPr sz="1900">
                <a:latin typeface="Times New Roman"/>
                <a:ea typeface="Times New Roman"/>
                <a:cs typeface="Times New Roman"/>
                <a:sym typeface="Times New Roman"/>
              </a:defRPr>
            </a:pPr>
            <a:r>
              <a:t>Casey Finnerty </a:t>
            </a:r>
            <a:r>
              <a:rPr u="sng">
                <a:solidFill>
                  <a:srgbClr val="0000FF"/>
                </a:solidFill>
                <a:uFill>
                  <a:solidFill>
                    <a:srgbClr val="0000FF"/>
                  </a:solidFill>
                </a:uFill>
                <a:hlinkClick r:id="rId4" invalidUrl="" action="" tgtFrame="" tooltip="" history="1" highlightClick="0" endSnd="0"/>
              </a:rPr>
              <a:t>casey.finnerty@berkeley.edu</a:t>
            </a:r>
            <a:r>
              <a:t> 20956015 G Civil &amp; Environmental Eng PhD</a:t>
            </a:r>
          </a:p>
          <a:p>
            <a:pPr marL="342899" indent="-342899" defTabSz="410764">
              <a:spcBef>
                <a:spcPts val="800"/>
              </a:spcBef>
              <a:buSzPct val="100000"/>
              <a:buChar char="•"/>
              <a:defRPr sz="1900">
                <a:latin typeface="Times New Roman"/>
                <a:ea typeface="Times New Roman"/>
                <a:cs typeface="Times New Roman"/>
                <a:sym typeface="Times New Roman"/>
              </a:defRPr>
            </a:pPr>
            <a:r>
              <a:t>Adrian Hinkle </a:t>
            </a:r>
            <a:r>
              <a:rPr u="sng">
                <a:solidFill>
                  <a:srgbClr val="0000FF"/>
                </a:solidFill>
                <a:uFill>
                  <a:solidFill>
                    <a:srgbClr val="0000FF"/>
                  </a:solidFill>
                </a:uFill>
                <a:hlinkClick r:id="rId5" invalidUrl="" action="" tgtFrame="" tooltip="" history="1" highlightClick="0" endSnd="0"/>
              </a:rPr>
              <a:t>adrian.hinkle@berkeley.edu</a:t>
            </a:r>
            <a:r>
              <a:t> 3034272154 G Civil &amp; Environmental Eng PhD</a:t>
            </a:r>
          </a:p>
          <a:p>
            <a:pPr marL="342899" indent="-342899" defTabSz="410764">
              <a:spcBef>
                <a:spcPts val="800"/>
              </a:spcBef>
              <a:buSzPct val="100000"/>
              <a:buChar char="•"/>
              <a:defRPr sz="1900">
                <a:latin typeface="Times New Roman"/>
                <a:ea typeface="Times New Roman"/>
                <a:cs typeface="Times New Roman"/>
                <a:sym typeface="Times New Roman"/>
              </a:defRPr>
            </a:pPr>
            <a:r>
              <a:t>Mekhala Hoskote </a:t>
            </a:r>
            <a:r>
              <a:rPr u="sng">
                <a:solidFill>
                  <a:srgbClr val="0000FF"/>
                </a:solidFill>
                <a:uFill>
                  <a:solidFill>
                    <a:srgbClr val="0000FF"/>
                  </a:solidFill>
                </a:uFill>
                <a:hlinkClick r:id="rId6" invalidUrl="" action="" tgtFrame="" tooltip="" history="1" highlightClick="0" endSnd="0"/>
              </a:rPr>
              <a:t>mdhoskote@berkeley.edu</a:t>
            </a:r>
            <a:r>
              <a:t> 24205468 G Health &amp; Medical Sciences MS</a:t>
            </a:r>
          </a:p>
          <a:p>
            <a:pPr marL="342899" indent="-342899" defTabSz="410764">
              <a:spcBef>
                <a:spcPts val="800"/>
              </a:spcBef>
              <a:buSzPct val="100000"/>
              <a:buChar char="•"/>
              <a:defRPr sz="1900">
                <a:latin typeface="Times New Roman"/>
                <a:ea typeface="Times New Roman"/>
                <a:cs typeface="Times New Roman"/>
                <a:sym typeface="Times New Roman"/>
              </a:defRPr>
            </a:pPr>
            <a:r>
              <a:t>Kelly Conway </a:t>
            </a:r>
            <a:r>
              <a:rPr u="sng">
                <a:solidFill>
                  <a:srgbClr val="0000FF"/>
                </a:solidFill>
                <a:uFill>
                  <a:solidFill>
                    <a:srgbClr val="0000FF"/>
                  </a:solidFill>
                </a:uFill>
                <a:hlinkClick r:id="rId7" invalidUrl="" action="" tgtFrame="" tooltip="" history="1" highlightClick="0" endSnd="0"/>
              </a:rPr>
              <a:t>kelly_conway@berkeley.edu</a:t>
            </a:r>
          </a:p>
          <a:p>
            <a:pPr marL="342899" indent="-342899" defTabSz="410764">
              <a:spcBef>
                <a:spcPts val="800"/>
              </a:spcBef>
              <a:buSzPct val="100000"/>
              <a:buChar char="•"/>
              <a:defRPr sz="1900">
                <a:latin typeface="Times New Roman"/>
                <a:ea typeface="Times New Roman"/>
                <a:cs typeface="Times New Roman"/>
                <a:sym typeface="Times New Roman"/>
              </a:defRPr>
            </a:pPr>
            <a:r>
              <a:t>Haley Wohlever </a:t>
            </a:r>
            <a:r>
              <a:rPr u="sng">
                <a:solidFill>
                  <a:srgbClr val="0000FF"/>
                </a:solidFill>
                <a:uFill>
                  <a:solidFill>
                    <a:srgbClr val="0000FF"/>
                  </a:solidFill>
                </a:uFill>
                <a:hlinkClick r:id="rId8" invalidUrl="" action="" tgtFrame="" tooltip="" history="1" highlightClick="0" endSnd="0"/>
              </a:rPr>
              <a:t>haley.wohlever@berkeley.edu</a:t>
            </a:r>
            <a:r>
              <a:t> </a:t>
            </a:r>
          </a:p>
          <a:p>
            <a:pPr marL="342899" indent="-342899" defTabSz="410764">
              <a:spcBef>
                <a:spcPts val="800"/>
              </a:spcBef>
              <a:buSzPct val="100000"/>
              <a:buChar char="•"/>
              <a:defRPr sz="1900">
                <a:latin typeface="Times New Roman"/>
                <a:ea typeface="Times New Roman"/>
                <a:cs typeface="Times New Roman"/>
                <a:sym typeface="Times New Roman"/>
              </a:defRPr>
            </a:pPr>
            <a:r>
              <a:t>Hanna Seo </a:t>
            </a:r>
            <a:r>
              <a:rPr u="sng">
                <a:solidFill>
                  <a:srgbClr val="0000FF"/>
                </a:solidFill>
                <a:uFill>
                  <a:solidFill>
                    <a:srgbClr val="0000FF"/>
                  </a:solidFill>
                </a:uFill>
                <a:hlinkClick r:id="rId9" invalidUrl="" action="" tgtFrame="" tooltip="" history="1" highlightClick="0" endSnd="0"/>
              </a:rPr>
              <a:t>hanna_seo@berkeley.edu</a:t>
            </a:r>
            <a:r>
              <a:t> </a:t>
            </a:r>
          </a:p>
          <a:p>
            <a:pPr marL="342899" indent="-342899" defTabSz="410764">
              <a:spcBef>
                <a:spcPts val="800"/>
              </a:spcBef>
              <a:buSzPct val="100000"/>
              <a:buChar char="•"/>
              <a:defRPr sz="1900">
                <a:latin typeface="Times New Roman"/>
                <a:ea typeface="Times New Roman"/>
                <a:cs typeface="Times New Roman"/>
                <a:sym typeface="Times New Roman"/>
              </a:defRPr>
            </a:pPr>
            <a:r>
              <a:t>Sara Mahmoud </a:t>
            </a:r>
            <a:r>
              <a:rPr u="sng">
                <a:solidFill>
                  <a:srgbClr val="0000FF"/>
                </a:solidFill>
                <a:uFill>
                  <a:solidFill>
                    <a:srgbClr val="0000FF"/>
                  </a:solidFill>
                </a:uFill>
                <a:hlinkClick r:id="rId10" invalidUrl="" action="" tgtFrame="" tooltip="" history="1" highlightClick="0" endSnd="0"/>
              </a:rPr>
              <a:t>sara_mahmoud@berkeley.edu</a:t>
            </a:r>
          </a:p>
          <a:p>
            <a:pPr marL="342899" indent="-342899" defTabSz="410764">
              <a:spcBef>
                <a:spcPts val="800"/>
              </a:spcBef>
              <a:buSzPct val="100000"/>
              <a:buChar char="•"/>
              <a:defRPr sz="1900">
                <a:latin typeface="Times New Roman"/>
                <a:ea typeface="Times New Roman"/>
                <a:cs typeface="Times New Roman"/>
                <a:sym typeface="Times New Roman"/>
              </a:defRPr>
            </a:pPr>
            <a:r>
              <a:t>Margie Lauter </a:t>
            </a:r>
            <a:r>
              <a:rPr u="sng">
                <a:solidFill>
                  <a:srgbClr val="0000FF"/>
                </a:solidFill>
                <a:uFill>
                  <a:solidFill>
                    <a:srgbClr val="0000FF"/>
                  </a:solidFill>
                </a:uFill>
                <a:hlinkClick r:id="rId11" invalidUrl="" action="" tgtFrame="" tooltip="" history="1" highlightClick="0" endSnd="0"/>
              </a:rPr>
              <a:t>margielauter@berkeley.edu</a:t>
            </a:r>
            <a:r>
              <a:t> </a:t>
            </a:r>
          </a:p>
          <a:p>
            <a:pPr marL="342899" indent="-342899" defTabSz="410764">
              <a:spcBef>
                <a:spcPts val="800"/>
              </a:spcBef>
              <a:buSzPct val="100000"/>
              <a:buChar char="•"/>
              <a:defRPr sz="1900">
                <a:latin typeface="Times New Roman"/>
                <a:ea typeface="Times New Roman"/>
                <a:cs typeface="Times New Roman"/>
                <a:sym typeface="Times New Roman"/>
              </a:defRPr>
            </a:pPr>
            <a:r>
              <a:t>Dana Geffner </a:t>
            </a:r>
            <a:r>
              <a:rPr u="sng">
                <a:solidFill>
                  <a:srgbClr val="0000FF"/>
                </a:solidFill>
                <a:uFill>
                  <a:solidFill>
                    <a:srgbClr val="0000FF"/>
                  </a:solidFill>
                </a:uFill>
                <a:hlinkClick r:id="rId12" invalidUrl="" action="" tgtFrame="" tooltip="" history="1" highlightClick="0" endSnd="0"/>
              </a:rPr>
              <a:t>dana_geffner@berkeley.edu</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Title 1"/>
          <p:cNvSpPr txBox="1"/>
          <p:nvPr>
            <p:ph type="title"/>
          </p:nvPr>
        </p:nvSpPr>
        <p:spPr>
          <a:prstGeom prst="rect">
            <a:avLst/>
          </a:prstGeom>
        </p:spPr>
        <p:txBody>
          <a:bodyPr/>
          <a:lstStyle>
            <a:lvl1pPr>
              <a:defRPr b="1"/>
            </a:lvl1pPr>
          </a:lstStyle>
          <a:p>
            <a:pPr/>
            <a:r>
              <a:t>The Great Divergence</a:t>
            </a:r>
          </a:p>
        </p:txBody>
      </p:sp>
      <p:pic>
        <p:nvPicPr>
          <p:cNvPr id="158" name="Picture 2" descr="Picture 2"/>
          <p:cNvPicPr>
            <a:picLocks noChangeAspect="1"/>
          </p:cNvPicPr>
          <p:nvPr/>
        </p:nvPicPr>
        <p:blipFill>
          <a:blip r:embed="rId2">
            <a:extLst/>
          </a:blip>
          <a:stretch>
            <a:fillRect/>
          </a:stretch>
        </p:blipFill>
        <p:spPr>
          <a:xfrm>
            <a:off x="609600" y="1600200"/>
            <a:ext cx="8247851" cy="4602163"/>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