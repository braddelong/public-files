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93" name="Shape 193"/>
          <p:cNvSpPr/>
          <p:nvPr>
            <p:ph type="sldImg"/>
          </p:nvPr>
        </p:nvSpPr>
        <p:spPr>
          <a:xfrm>
            <a:off x="1143000" y="685800"/>
            <a:ext cx="4572000" cy="3429000"/>
          </a:xfrm>
          <a:prstGeom prst="rect">
            <a:avLst/>
          </a:prstGeom>
        </p:spPr>
        <p:txBody>
          <a:bodyPr/>
          <a:lstStyle/>
          <a:p>
            <a:pPr/>
          </a:p>
        </p:txBody>
      </p:sp>
      <p:sp>
        <p:nvSpPr>
          <p:cNvPr id="194" name="Shape 194"/>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5" name="Shape 205"/>
          <p:cNvSpPr/>
          <p:nvPr>
            <p:ph type="sldImg"/>
          </p:nvPr>
        </p:nvSpPr>
        <p:spPr>
          <a:prstGeom prst="rect">
            <a:avLst/>
          </a:prstGeom>
        </p:spPr>
        <p:txBody>
          <a:bodyPr/>
          <a:lstStyle/>
          <a:p>
            <a:pPr/>
          </a:p>
        </p:txBody>
      </p:sp>
      <p:sp>
        <p:nvSpPr>
          <p:cNvPr id="206" name="Shape 206"/>
          <p:cNvSpPr/>
          <p:nvPr>
            <p:ph type="body" sz="quarter" idx="1"/>
          </p:nvPr>
        </p:nvSpPr>
        <p:spPr>
          <a:prstGeom prst="rect">
            <a:avLst/>
          </a:prstGeom>
        </p:spPr>
        <p:txBody>
          <a:bodyPr/>
          <a:lstStyle/>
          <a:p>
            <a:pPr/>
            <a:r>
              <a:t>It gives me no pleasure that my simple national model of coronavirus cases—project cases back three weeks from deaths, and then extrapolate case growth out from confirmed case growth and from the number of cases per test—is running dead-on:</a:t>
            </a:r>
          </a:p>
          <a:p>
            <a:pPr/>
            <a:r>
              <a:t>I forecast a week ago that we would have 6641 deaths in the seven days ending Th 2020-11-05.</a:t>
            </a:r>
          </a:p>
          <a:p>
            <a:pPr/>
            <a:r>
              <a:t>We had 6805 deaths.</a:t>
            </a:r>
          </a:p>
          <a:p>
            <a:pPr/>
            <a:r>
              <a:t>The model is now predicting that we will see 12893 deaths in the seven days ending on Thanksgiving: Th 2020-11-26. </a:t>
            </a:r>
          </a:p>
          <a:p>
            <a:pPr/>
            <a:r>
              <a:t>And if our current inferred last-three-weeks R=1.24 were to continue, we would have 3,671,728 cases in the seven days ending on Thanksgiving.</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7" name="Shape 217"/>
          <p:cNvSpPr/>
          <p:nvPr>
            <p:ph type="sldImg"/>
          </p:nvPr>
        </p:nvSpPr>
        <p:spPr>
          <a:prstGeom prst="rect">
            <a:avLst/>
          </a:prstGeom>
        </p:spPr>
        <p:txBody>
          <a:bodyPr/>
          <a:lstStyle/>
          <a:p>
            <a:pPr/>
          </a:p>
        </p:txBody>
      </p:sp>
      <p:sp>
        <p:nvSpPr>
          <p:cNvPr id="218" name="Shape 218"/>
          <p:cNvSpPr/>
          <p:nvPr>
            <p:ph type="body" sz="quarter" idx="1"/>
          </p:nvPr>
        </p:nvSpPr>
        <p:spPr>
          <a:prstGeom prst="rect">
            <a:avLst/>
          </a:prstGeom>
        </p:spPr>
        <p:txBody>
          <a:bodyPr/>
          <a:lstStyle/>
          <a:p>
            <a:pPr/>
            <a:r>
              <a:t>It gives me no pleasure that my simple national model of coronavirus cases—project cases back three weeks from deaths, and then extrapolate case growth out from confirmed case growth and from the number of cases per test—is running dead-on:</a:t>
            </a:r>
          </a:p>
          <a:p>
            <a:pPr/>
            <a:r>
              <a:t>I forecast a week ago that we would have 6641 deaths in the seven days ending Th 2020-11-05.</a:t>
            </a:r>
          </a:p>
          <a:p>
            <a:pPr/>
            <a:r>
              <a:t>We had 6805 deaths.</a:t>
            </a:r>
          </a:p>
          <a:p>
            <a:pPr/>
            <a:r>
              <a:t>The model is now predicting that we will see 12893 deaths in the seven days ending on Thanksgiving: Th 2020-11-26. </a:t>
            </a:r>
          </a:p>
          <a:p>
            <a:pPr/>
            <a:r>
              <a:t>And if our current inferred last-three-weeks R=1.24 were to continue, we would have 3,671,728 cases in the seven days ending on Thanksgiving.</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666699290_02_crop_3159x1892.jpg"/>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910457886_1434x1669.jpg"/>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660384004_1290x1720.jpg"/>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7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7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7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8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8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8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9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9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0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0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0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1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24" name="Image"/>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25" name="Image"/>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26" name="Imag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34" name="Image"/>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3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49"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lnSpc>
                <a:spcPct val="100000"/>
              </a:lnSpc>
              <a:defRPr b="0" spc="0" sz="10800">
                <a:latin typeface="Helvetica Light"/>
                <a:ea typeface="Helvetica Light"/>
                <a:cs typeface="Helvetica Light"/>
                <a:sym typeface="Helvetica Light"/>
              </a:defRPr>
            </a:lvl1pPr>
          </a:lstStyle>
          <a:p>
            <a:pPr/>
            <a:r>
              <a:t>Title Text</a:t>
            </a:r>
          </a:p>
        </p:txBody>
      </p:sp>
      <p:sp>
        <p:nvSpPr>
          <p:cNvPr id="150" name="Body Level One…"/>
          <p:cNvSpPr txBox="1"/>
          <p:nvPr>
            <p:ph type="body" idx="1"/>
          </p:nvPr>
        </p:nvSpPr>
        <p:spPr>
          <a:xfrm>
            <a:off x="4387451" y="3661169"/>
            <a:ext cx="15609097" cy="8840395"/>
          </a:xfrm>
          <a:prstGeom prst="rect">
            <a:avLst/>
          </a:prstGeom>
        </p:spPr>
        <p:txBody>
          <a:bodyPr lIns="71435" tIns="71435" rIns="71435" bIns="71435" anchor="ctr"/>
          <a:lstStyle>
            <a:lvl1pPr marL="592664" indent="-592664" defTabSz="583286">
              <a:lnSpc>
                <a:spcPct val="100000"/>
              </a:lnSpc>
              <a:spcBef>
                <a:spcPts val="1600"/>
              </a:spcBef>
              <a:buSzPct val="75000"/>
              <a:defRPr>
                <a:latin typeface="Helvetica"/>
                <a:ea typeface="Helvetica"/>
                <a:cs typeface="Helvetica"/>
                <a:sym typeface="Helvetica"/>
              </a:defRPr>
            </a:lvl1pPr>
            <a:lvl2pPr marL="1037164" indent="-592664" defTabSz="583286">
              <a:lnSpc>
                <a:spcPct val="100000"/>
              </a:lnSpc>
              <a:spcBef>
                <a:spcPts val="1600"/>
              </a:spcBef>
              <a:buSzPct val="75000"/>
              <a:defRPr>
                <a:latin typeface="Helvetica"/>
                <a:ea typeface="Helvetica"/>
                <a:cs typeface="Helvetica"/>
                <a:sym typeface="Helvetica"/>
              </a:defRPr>
            </a:lvl2pPr>
            <a:lvl3pPr marL="1481664" indent="-592664" defTabSz="583286">
              <a:lnSpc>
                <a:spcPct val="100000"/>
              </a:lnSpc>
              <a:spcBef>
                <a:spcPts val="1600"/>
              </a:spcBef>
              <a:buSzPct val="75000"/>
              <a:defRPr>
                <a:latin typeface="Helvetica"/>
                <a:ea typeface="Helvetica"/>
                <a:cs typeface="Helvetica"/>
                <a:sym typeface="Helvetica"/>
              </a:defRPr>
            </a:lvl3pPr>
            <a:lvl4pPr marL="1926164" indent="-592664" defTabSz="583286">
              <a:lnSpc>
                <a:spcPct val="100000"/>
              </a:lnSpc>
              <a:spcBef>
                <a:spcPts val="1600"/>
              </a:spcBef>
              <a:buSzPct val="75000"/>
              <a:defRPr>
                <a:latin typeface="Helvetica"/>
                <a:ea typeface="Helvetica"/>
                <a:cs typeface="Helvetica"/>
                <a:sym typeface="Helvetica"/>
              </a:defRPr>
            </a:lvl4pPr>
            <a:lvl5pPr marL="2370664" indent="-592664" defTabSz="583286">
              <a:lnSpc>
                <a:spcPct val="100000"/>
              </a:lnSpc>
              <a:spcBef>
                <a:spcPts val="1600"/>
              </a:spcBef>
              <a:buSzPct val="75000"/>
              <a:defRPr>
                <a:latin typeface="Helvetica"/>
                <a:ea typeface="Helvetica"/>
                <a:cs typeface="Helvetica"/>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151"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58" name="Title Text"/>
          <p:cNvSpPr txBox="1"/>
          <p:nvPr>
            <p:ph type="title"/>
          </p:nvPr>
        </p:nvSpPr>
        <p:spPr>
          <a:xfrm>
            <a:off x="4387451" y="625075"/>
            <a:ext cx="15609097" cy="3036098"/>
          </a:xfrm>
          <a:prstGeom prst="rect">
            <a:avLst/>
          </a:prstGeom>
        </p:spPr>
        <p:txBody>
          <a:bodyPr lIns="71435" tIns="71435" rIns="71435" bIns="71435" anchor="ctr"/>
          <a:lstStyle>
            <a:lvl1pPr algn="ctr" defTabSz="714732">
              <a:lnSpc>
                <a:spcPct val="100000"/>
              </a:lnSpc>
              <a:defRPr spc="0" sz="16000">
                <a:solidFill>
                  <a:srgbClr val="000080"/>
                </a:solidFill>
                <a:latin typeface="Helvetica"/>
                <a:ea typeface="Helvetica"/>
                <a:cs typeface="Helvetica"/>
                <a:sym typeface="Helvetica"/>
              </a:defRPr>
            </a:lvl1pPr>
          </a:lstStyle>
          <a:p>
            <a:pPr/>
            <a:r>
              <a:t>Title Text</a:t>
            </a:r>
          </a:p>
        </p:txBody>
      </p:sp>
      <p:sp>
        <p:nvSpPr>
          <p:cNvPr id="159"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lnSpc>
                <a:spcPct val="100000"/>
              </a:lnSpc>
              <a:spcBef>
                <a:spcPts val="5800"/>
              </a:spcBef>
              <a:buSzPct val="75000"/>
              <a:defRPr sz="4400">
                <a:latin typeface="Helvetica Light"/>
                <a:ea typeface="Helvetica Light"/>
                <a:cs typeface="Helvetica Light"/>
                <a:sym typeface="Helvetica Light"/>
              </a:defRPr>
            </a:lvl1pPr>
            <a:lvl2pPr marL="987776" indent="-543276" defTabSz="821529">
              <a:lnSpc>
                <a:spcPct val="100000"/>
              </a:lnSpc>
              <a:spcBef>
                <a:spcPts val="5800"/>
              </a:spcBef>
              <a:buSzPct val="75000"/>
              <a:defRPr sz="4400">
                <a:latin typeface="Helvetica Light"/>
                <a:ea typeface="Helvetica Light"/>
                <a:cs typeface="Helvetica Light"/>
                <a:sym typeface="Helvetica Light"/>
              </a:defRPr>
            </a:lvl2pPr>
            <a:lvl3pPr marL="1432275" indent="-543275" defTabSz="821529">
              <a:lnSpc>
                <a:spcPct val="100000"/>
              </a:lnSpc>
              <a:spcBef>
                <a:spcPts val="5800"/>
              </a:spcBef>
              <a:buSzPct val="75000"/>
              <a:defRPr sz="4400">
                <a:latin typeface="Helvetica Light"/>
                <a:ea typeface="Helvetica Light"/>
                <a:cs typeface="Helvetica Light"/>
                <a:sym typeface="Helvetica Light"/>
              </a:defRPr>
            </a:lvl3pPr>
            <a:lvl4pPr marL="1876775" indent="-543275" defTabSz="821529">
              <a:lnSpc>
                <a:spcPct val="100000"/>
              </a:lnSpc>
              <a:spcBef>
                <a:spcPts val="5800"/>
              </a:spcBef>
              <a:buSzPct val="75000"/>
              <a:defRPr sz="4400">
                <a:latin typeface="Helvetica Light"/>
                <a:ea typeface="Helvetica Light"/>
                <a:cs typeface="Helvetica Light"/>
                <a:sym typeface="Helvetica Light"/>
              </a:defRPr>
            </a:lvl4pPr>
            <a:lvl5pPr marL="2321276" indent="-543276" defTabSz="821529">
              <a:lnSpc>
                <a:spcPct val="100000"/>
              </a:lnSpc>
              <a:spcBef>
                <a:spcPts val="5800"/>
              </a:spcBef>
              <a:buSzPct val="75000"/>
              <a:defRPr sz="4400">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0"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67" name="Title Text"/>
          <p:cNvSpPr txBox="1"/>
          <p:nvPr>
            <p:ph type="title"/>
          </p:nvPr>
        </p:nvSpPr>
        <p:spPr>
          <a:xfrm>
            <a:off x="4387451" y="625077"/>
            <a:ext cx="15609097" cy="3036095"/>
          </a:xfrm>
          <a:prstGeom prst="rect">
            <a:avLst/>
          </a:prstGeom>
        </p:spPr>
        <p:txBody>
          <a:bodyPr lIns="71435" tIns="71435" rIns="71435" bIns="71435" anchor="ctr"/>
          <a:lstStyle>
            <a:lvl1pPr algn="ctr" defTabSz="914400">
              <a:lnSpc>
                <a:spcPct val="100000"/>
              </a:lnSpc>
              <a:defRPr spc="0" sz="11200">
                <a:solidFill>
                  <a:srgbClr val="000080"/>
                </a:solidFill>
                <a:uFill>
                  <a:solidFill>
                    <a:srgbClr val="000000"/>
                  </a:solidFill>
                </a:uFill>
                <a:latin typeface="Calibri"/>
                <a:ea typeface="Calibri"/>
                <a:cs typeface="Calibri"/>
                <a:sym typeface="Calibri"/>
              </a:defRPr>
            </a:lvl1pPr>
          </a:lstStyle>
          <a:p>
            <a:pPr/>
            <a:r>
              <a:t>Title Text</a:t>
            </a:r>
          </a:p>
        </p:txBody>
      </p:sp>
      <p:sp>
        <p:nvSpPr>
          <p:cNvPr id="168"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lnSpc>
                <a:spcPct val="100000"/>
              </a:lnSpc>
              <a:spcBef>
                <a:spcPts val="5800"/>
              </a:spcBef>
              <a:buSzPct val="75000"/>
              <a:defRPr>
                <a:latin typeface="Helvetica Light"/>
                <a:ea typeface="Helvetica Light"/>
                <a:cs typeface="Helvetica Light"/>
                <a:sym typeface="Helvetica Light"/>
              </a:defRPr>
            </a:lvl1pPr>
            <a:lvl2pPr marL="1037165" indent="-592665" defTabSz="821529">
              <a:lnSpc>
                <a:spcPct val="100000"/>
              </a:lnSpc>
              <a:spcBef>
                <a:spcPts val="5800"/>
              </a:spcBef>
              <a:buSzPct val="75000"/>
              <a:defRPr>
                <a:latin typeface="Helvetica Light"/>
                <a:ea typeface="Helvetica Light"/>
                <a:cs typeface="Helvetica Light"/>
                <a:sym typeface="Helvetica Light"/>
              </a:defRPr>
            </a:lvl2pPr>
            <a:lvl3pPr marL="1481665" indent="-592665" defTabSz="821529">
              <a:lnSpc>
                <a:spcPct val="100000"/>
              </a:lnSpc>
              <a:spcBef>
                <a:spcPts val="5800"/>
              </a:spcBef>
              <a:buSzPct val="75000"/>
              <a:defRPr>
                <a:latin typeface="Helvetica Light"/>
                <a:ea typeface="Helvetica Light"/>
                <a:cs typeface="Helvetica Light"/>
                <a:sym typeface="Helvetica Light"/>
              </a:defRPr>
            </a:lvl3pPr>
            <a:lvl4pPr marL="1926166" indent="-592666" defTabSz="821529">
              <a:lnSpc>
                <a:spcPct val="100000"/>
              </a:lnSpc>
              <a:spcBef>
                <a:spcPts val="5800"/>
              </a:spcBef>
              <a:buSzPct val="75000"/>
              <a:defRPr>
                <a:latin typeface="Helvetica Light"/>
                <a:ea typeface="Helvetica Light"/>
                <a:cs typeface="Helvetica Light"/>
                <a:sym typeface="Helvetica Light"/>
              </a:defRPr>
            </a:lvl4pPr>
            <a:lvl5pPr marL="2370666" indent="-592666" defTabSz="821529">
              <a:lnSpc>
                <a:spcPct val="100000"/>
              </a:lnSpc>
              <a:spcBef>
                <a:spcPts val="5800"/>
              </a:spcBef>
              <a:buSzPct val="75000"/>
              <a:defRPr>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9"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76"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lnSpc>
                <a:spcPct val="100000"/>
              </a:lnSpc>
              <a:defRPr b="0" spc="0" sz="10800">
                <a:latin typeface="Helvetica Light"/>
                <a:ea typeface="Helvetica Light"/>
                <a:cs typeface="Helvetica Light"/>
                <a:sym typeface="Helvetica Light"/>
              </a:defRPr>
            </a:lvl1pPr>
          </a:lstStyle>
          <a:p>
            <a:pPr/>
            <a:r>
              <a:t>Title Text</a:t>
            </a:r>
          </a:p>
        </p:txBody>
      </p:sp>
      <p:sp>
        <p:nvSpPr>
          <p:cNvPr id="177"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lnSpc>
                <a:spcPct val="100000"/>
              </a:lnSpc>
              <a:spcBef>
                <a:spcPts val="5800"/>
              </a:spcBef>
              <a:buSzPct val="75000"/>
              <a:defRPr sz="4400">
                <a:latin typeface="Helvetica Light"/>
                <a:ea typeface="Helvetica Light"/>
                <a:cs typeface="Helvetica Light"/>
                <a:sym typeface="Helvetica Light"/>
              </a:defRPr>
            </a:lvl1pPr>
            <a:lvl2pPr marL="987776" indent="-543276" defTabSz="821529">
              <a:lnSpc>
                <a:spcPct val="100000"/>
              </a:lnSpc>
              <a:spcBef>
                <a:spcPts val="5800"/>
              </a:spcBef>
              <a:buSzPct val="75000"/>
              <a:defRPr sz="4400">
                <a:latin typeface="Helvetica Light"/>
                <a:ea typeface="Helvetica Light"/>
                <a:cs typeface="Helvetica Light"/>
                <a:sym typeface="Helvetica Light"/>
              </a:defRPr>
            </a:lvl2pPr>
            <a:lvl3pPr marL="1432275" indent="-543275" defTabSz="821529">
              <a:lnSpc>
                <a:spcPct val="100000"/>
              </a:lnSpc>
              <a:spcBef>
                <a:spcPts val="5800"/>
              </a:spcBef>
              <a:buSzPct val="75000"/>
              <a:defRPr sz="4400">
                <a:latin typeface="Helvetica Light"/>
                <a:ea typeface="Helvetica Light"/>
                <a:cs typeface="Helvetica Light"/>
                <a:sym typeface="Helvetica Light"/>
              </a:defRPr>
            </a:lvl3pPr>
            <a:lvl4pPr marL="1876775" indent="-543275" defTabSz="821529">
              <a:lnSpc>
                <a:spcPct val="100000"/>
              </a:lnSpc>
              <a:spcBef>
                <a:spcPts val="5800"/>
              </a:spcBef>
              <a:buSzPct val="75000"/>
              <a:defRPr sz="4400">
                <a:latin typeface="Helvetica Light"/>
                <a:ea typeface="Helvetica Light"/>
                <a:cs typeface="Helvetica Light"/>
                <a:sym typeface="Helvetica Light"/>
              </a:defRPr>
            </a:lvl4pPr>
            <a:lvl5pPr marL="2321276" indent="-543276" defTabSz="821529">
              <a:lnSpc>
                <a:spcPct val="100000"/>
              </a:lnSpc>
              <a:spcBef>
                <a:spcPts val="5800"/>
              </a:spcBef>
              <a:buSzPct val="75000"/>
              <a:defRPr sz="4400">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78"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85" name="Title Text"/>
          <p:cNvSpPr txBox="1"/>
          <p:nvPr>
            <p:ph type="title"/>
          </p:nvPr>
        </p:nvSpPr>
        <p:spPr>
          <a:xfrm>
            <a:off x="4387450" y="625075"/>
            <a:ext cx="15609099" cy="3036098"/>
          </a:xfrm>
          <a:prstGeom prst="rect">
            <a:avLst/>
          </a:prstGeom>
        </p:spPr>
        <p:txBody>
          <a:bodyPr lIns="71433" tIns="71433" rIns="71433" bIns="71433" anchor="ctr"/>
          <a:lstStyle>
            <a:lvl1pPr algn="ctr" defTabSz="914400">
              <a:lnSpc>
                <a:spcPct val="100000"/>
              </a:lnSpc>
              <a:defRPr spc="0" sz="16000">
                <a:solidFill>
                  <a:srgbClr val="800000"/>
                </a:solidFill>
                <a:uFill>
                  <a:solidFill>
                    <a:srgbClr val="000000"/>
                  </a:solidFill>
                </a:uFill>
                <a:latin typeface="Helvetica"/>
                <a:ea typeface="Helvetica"/>
                <a:cs typeface="Helvetica"/>
                <a:sym typeface="Helvetica"/>
              </a:defRPr>
            </a:lvl1pPr>
          </a:lstStyle>
          <a:p>
            <a:pPr/>
            <a:r>
              <a:t>Title Text</a:t>
            </a:r>
          </a:p>
        </p:txBody>
      </p:sp>
      <p:sp>
        <p:nvSpPr>
          <p:cNvPr id="186"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lnSpc>
                <a:spcPct val="100000"/>
              </a:lnSpc>
              <a:spcBef>
                <a:spcPts val="5800"/>
              </a:spcBef>
              <a:buSzPct val="75000"/>
              <a:defRPr>
                <a:latin typeface="Helvetica Light"/>
                <a:ea typeface="Helvetica Light"/>
                <a:cs typeface="Helvetica Light"/>
                <a:sym typeface="Helvetica Light"/>
              </a:defRPr>
            </a:lvl1pPr>
            <a:lvl2pPr marL="1037164" indent="-592664" defTabSz="821527">
              <a:lnSpc>
                <a:spcPct val="100000"/>
              </a:lnSpc>
              <a:spcBef>
                <a:spcPts val="5800"/>
              </a:spcBef>
              <a:buSzPct val="75000"/>
              <a:defRPr>
                <a:latin typeface="Helvetica Light"/>
                <a:ea typeface="Helvetica Light"/>
                <a:cs typeface="Helvetica Light"/>
                <a:sym typeface="Helvetica Light"/>
              </a:defRPr>
            </a:lvl2pPr>
            <a:lvl3pPr marL="1481664" indent="-592664" defTabSz="821527">
              <a:lnSpc>
                <a:spcPct val="100000"/>
              </a:lnSpc>
              <a:spcBef>
                <a:spcPts val="5800"/>
              </a:spcBef>
              <a:buSzPct val="75000"/>
              <a:defRPr>
                <a:latin typeface="Helvetica Light"/>
                <a:ea typeface="Helvetica Light"/>
                <a:cs typeface="Helvetica Light"/>
                <a:sym typeface="Helvetica Light"/>
              </a:defRPr>
            </a:lvl3pPr>
            <a:lvl4pPr marL="1926164" indent="-592663" defTabSz="821527">
              <a:lnSpc>
                <a:spcPct val="100000"/>
              </a:lnSpc>
              <a:spcBef>
                <a:spcPts val="5800"/>
              </a:spcBef>
              <a:buSzPct val="75000"/>
              <a:defRPr>
                <a:latin typeface="Helvetica Light"/>
                <a:ea typeface="Helvetica Light"/>
                <a:cs typeface="Helvetica Light"/>
                <a:sym typeface="Helvetica Light"/>
              </a:defRPr>
            </a:lvl4pPr>
            <a:lvl5pPr marL="2370666" indent="-592666" defTabSz="821527">
              <a:lnSpc>
                <a:spcPct val="100000"/>
              </a:lnSpc>
              <a:spcBef>
                <a:spcPts val="5800"/>
              </a:spcBef>
              <a:buSzPct val="75000"/>
              <a:defRPr>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87"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www.icloud.com/keynote/0bCYYctIKV9_4ICVqtSe5qItQ" TargetMode="External"/><Relationship Id="rId5" Type="http://schemas.openxmlformats.org/officeDocument/2006/relationships/hyperlink" Target="https://www.bradford-delong.com/2020/11/covid-extrapolations-as-of-2020-11-06.html" TargetMode="External"/><Relationship Id="rId6" Type="http://schemas.openxmlformats.org/officeDocument/2006/relationships/image" Target="../media/image2.png"/><Relationship Id="rId7" Type="http://schemas.openxmlformats.org/officeDocument/2006/relationships/image" Target="../media/image3.png"/></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hyperlink" Target="https://www.icloud.com/keynote/0bCYYctIKV9_4ICVqtSe5qItQ" TargetMode="External"/><Relationship Id="rId5" Type="http://schemas.openxmlformats.org/officeDocument/2006/relationships/hyperlink" Target="https://www.bradford-delong.com/2020/11/covid-extrapolations-as-of-2020-11-06.html" TargetMode="External"/><Relationship Id="rId6" Type="http://schemas.openxmlformats.org/officeDocument/2006/relationships/image" Target="../media/image3.png"/><Relationship Id="rId7" Type="http://schemas.openxmlformats.org/officeDocument/2006/relationships/image" Target="../media/image4.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1.tif"/></Relationships>

</file>

<file path=ppt/slides/_rels/slide4.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5.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96" name="delong-this-is-fine.png" descr="delong-this-is-fine.png"/>
          <p:cNvPicPr>
            <a:picLocks noChangeAspect="1"/>
          </p:cNvPicPr>
          <p:nvPr/>
        </p:nvPicPr>
        <p:blipFill>
          <a:blip r:embed="rId3">
            <a:alphaModFix amt="25396"/>
            <a:extLst/>
          </a:blip>
          <a:srcRect l="0" t="0" r="1203" b="0"/>
          <a:stretch>
            <a:fillRect/>
          </a:stretch>
        </p:blipFill>
        <p:spPr>
          <a:xfrm>
            <a:off x="0" y="-3183"/>
            <a:ext cx="24384001" cy="13722366"/>
          </a:xfrm>
          <a:prstGeom prst="rect">
            <a:avLst/>
          </a:prstGeom>
          <a:ln w="12700">
            <a:miter lim="400000"/>
          </a:ln>
        </p:spPr>
      </p:pic>
      <p:sp>
        <p:nvSpPr>
          <p:cNvPr id="197" name="2020-11-06"/>
          <p:cNvSpPr txBox="1"/>
          <p:nvPr/>
        </p:nvSpPr>
        <p:spPr>
          <a:xfrm>
            <a:off x="3716735" y="13228327"/>
            <a:ext cx="20282472" cy="4876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2000">
                <a:solidFill>
                  <a:srgbClr val="FFFFFF"/>
                </a:solidFill>
                <a:uFill>
                  <a:solidFill>
                    <a:srgbClr val="000000"/>
                  </a:solidFill>
                </a:uFill>
                <a:latin typeface="Helvetica"/>
                <a:ea typeface="Helvetica"/>
                <a:cs typeface="Helvetica"/>
                <a:sym typeface="Helvetica"/>
              </a:defRPr>
            </a:lvl1pPr>
          </a:lstStyle>
          <a:p>
            <a:pPr/>
            <a:r>
              <a:t>2020-11-06</a:t>
            </a:r>
          </a:p>
        </p:txBody>
      </p:sp>
      <p:sp>
        <p:nvSpPr>
          <p:cNvPr id="198" name="The long 20th century will in all likelihood be seen in the future as the watershed in human experience:…"/>
          <p:cNvSpPr txBox="1"/>
          <p:nvPr/>
        </p:nvSpPr>
        <p:spPr>
          <a:xfrm>
            <a:off x="377206" y="2286000"/>
            <a:ext cx="7620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lvl1pPr algn="l" defTabSz="821529">
              <a:spcBef>
                <a:spcPts val="1600"/>
              </a:spcBef>
              <a:defRPr b="1" sz="3200">
                <a:solidFill>
                  <a:srgbClr val="000000"/>
                </a:solidFill>
                <a:latin typeface="Times New Roman"/>
                <a:ea typeface="Times New Roman"/>
                <a:cs typeface="Times New Roman"/>
                <a:sym typeface="Times New Roman"/>
              </a:defRPr>
            </a:lvl1pPr>
          </a:lstStyle>
          <a:p>
            <a:pPr/>
            <a:r>
              <a:t>It gives me no pleasure that my simple national model of coronavirus cases—project cases back three weeks from deaths, and then extrapolate case growth out from confirmed case growth and from the number of cases per test—continues to run dead-on…</a:t>
            </a:r>
          </a:p>
        </p:txBody>
      </p:sp>
      <p:sp>
        <p:nvSpPr>
          <p:cNvPr id="199" name="COVID Forecasts: 2020-11-12"/>
          <p:cNvSpPr txBox="1"/>
          <p:nvPr>
            <p:ph type="title"/>
          </p:nvPr>
        </p:nvSpPr>
        <p:spPr>
          <a:xfrm>
            <a:off x="377206" y="-1"/>
            <a:ext cx="23622001" cy="2286001"/>
          </a:xfrm>
          <a:prstGeom prst="rect">
            <a:avLst/>
          </a:prstGeom>
        </p:spPr>
        <p:txBody>
          <a:bodyPr lIns="91436" tIns="91436" rIns="91436" bIns="91436" anchor="ctr"/>
          <a:lstStyle>
            <a:lvl1pPr algn="ctr" defTabSz="758951">
              <a:lnSpc>
                <a:spcPct val="100000"/>
              </a:lnSpc>
              <a:defRPr spc="0" sz="13280">
                <a:solidFill>
                  <a:srgbClr val="000080"/>
                </a:solidFill>
                <a:uFill>
                  <a:solidFill>
                    <a:srgbClr val="000000"/>
                  </a:solidFill>
                </a:uFill>
                <a:latin typeface="Helvetica"/>
                <a:ea typeface="Helvetica"/>
                <a:cs typeface="Helvetica"/>
                <a:sym typeface="Helvetica"/>
              </a:defRPr>
            </a:lvl1pPr>
          </a:lstStyle>
          <a:p>
            <a:pPr/>
            <a:r>
              <a:t>COVID Forecasts: 2020-11-12</a:t>
            </a:r>
          </a:p>
        </p:txBody>
      </p:sp>
      <p:sp>
        <p:nvSpPr>
          <p:cNvPr id="200" name="&lt;https://www.icloud.com/keynote/0bCYYctIKV9_4ICVqtSe5qItQ&gt; &lt;&lt;https://www.bradford-delong.com/2020/11/covid-extrapolations-as-of-2020-11-06.html&gt;"/>
          <p:cNvSpPr txBox="1"/>
          <p:nvPr/>
        </p:nvSpPr>
        <p:spPr>
          <a:xfrm>
            <a:off x="377206" y="13228327"/>
            <a:ext cx="20282471" cy="4876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2000">
                <a:solidFill>
                  <a:srgbClr val="FFFFFF"/>
                </a:solidFill>
                <a:uFill>
                  <a:solidFill>
                    <a:srgbClr val="000000"/>
                  </a:solidFill>
                </a:uFill>
                <a:latin typeface="Helvetica"/>
                <a:ea typeface="Helvetica"/>
                <a:cs typeface="Helvetica"/>
                <a:sym typeface="Helvetica"/>
              </a:defRPr>
            </a:pPr>
            <a:r>
              <a:t>&lt;</a:t>
            </a:r>
            <a:r>
              <a:rPr>
                <a:hlinkClick r:id="rId4" invalidUrl="" action="" tgtFrame="" tooltip="" history="1" highlightClick="0" endSnd="0"/>
              </a:rPr>
              <a:t>https://www.icloud.com/keynote/0bCYYctIKV9_4ICVqtSe5qItQ</a:t>
            </a:r>
            <a:r>
              <a:t>&gt; &lt;&lt;</a:t>
            </a:r>
            <a:r>
              <a:rPr>
                <a:hlinkClick r:id="rId5" invalidUrl="" action="" tgtFrame="" tooltip="" history="1" highlightClick="0" endSnd="0"/>
              </a:rPr>
              <a:t>https://www.bradford-delong.com/2020/11/covid-extrapolations-as-of-2020-11-06.html</a:t>
            </a:r>
            <a:r>
              <a:t>&gt;</a:t>
            </a:r>
          </a:p>
        </p:txBody>
      </p:sp>
      <p:sp>
        <p:nvSpPr>
          <p:cNvPr id="201" name="The long 20th century will in all likelihood be seen in the future as the watershed in human experience:…"/>
          <p:cNvSpPr txBox="1"/>
          <p:nvPr/>
        </p:nvSpPr>
        <p:spPr>
          <a:xfrm>
            <a:off x="16185810" y="2286000"/>
            <a:ext cx="7620001" cy="10789928"/>
          </a:xfrm>
          <a:prstGeom prst="rect">
            <a:avLst/>
          </a:prstGeom>
          <a:ln w="12700">
            <a:miter lim="400000"/>
          </a:ln>
        </p:spPr>
        <p:txBody>
          <a:bodyPr lIns="91436" tIns="91436" rIns="91436" bIns="91436"/>
          <a:lstStyle/>
          <a:p>
            <a:pPr algn="l" defTabSz="821529">
              <a:defRPr b="1" sz="1400">
                <a:solidFill>
                  <a:srgbClr val="000000"/>
                </a:solidFill>
                <a:latin typeface="Helvetica"/>
                <a:ea typeface="Helvetica"/>
                <a:cs typeface="Helvetica"/>
                <a:sym typeface="Helvetica"/>
              </a:defRPr>
            </a:pPr>
          </a:p>
        </p:txBody>
      </p:sp>
      <p:sp>
        <p:nvSpPr>
          <p:cNvPr id="202" name="The long 20th century will in all likelihood be seen in the future as the watershed in human experience:…"/>
          <p:cNvSpPr txBox="1"/>
          <p:nvPr/>
        </p:nvSpPr>
        <p:spPr>
          <a:xfrm>
            <a:off x="8378206" y="2286000"/>
            <a:ext cx="7620001" cy="10789928"/>
          </a:xfrm>
          <a:prstGeom prst="rect">
            <a:avLst/>
          </a:prstGeom>
          <a:ln w="12700">
            <a:miter lim="400000"/>
          </a:ln>
        </p:spPr>
        <p:txBody>
          <a:bodyPr lIns="91436" tIns="91436" rIns="91436" bIns="91436"/>
          <a:lstStyle/>
          <a:p>
            <a:pPr algn="l" defTabSz="821529">
              <a:defRPr b="1" sz="1400">
                <a:solidFill>
                  <a:srgbClr val="000000"/>
                </a:solidFill>
                <a:latin typeface="Helvetica"/>
                <a:ea typeface="Helvetica"/>
                <a:cs typeface="Helvetica"/>
                <a:sym typeface="Helvetica"/>
              </a:defRPr>
            </a:pPr>
          </a:p>
        </p:txBody>
      </p:sp>
      <p:pic>
        <p:nvPicPr>
          <p:cNvPr id="203" name="Image" descr="Image"/>
          <p:cNvPicPr>
            <a:picLocks noChangeAspect="1"/>
          </p:cNvPicPr>
          <p:nvPr/>
        </p:nvPicPr>
        <p:blipFill>
          <a:blip r:embed="rId6">
            <a:extLst/>
          </a:blip>
          <a:srcRect l="0" t="0" r="0" b="27281"/>
          <a:stretch>
            <a:fillRect/>
          </a:stretch>
        </p:blipFill>
        <p:spPr>
          <a:xfrm>
            <a:off x="8378206" y="2286000"/>
            <a:ext cx="7620019" cy="10797076"/>
          </a:xfrm>
          <a:prstGeom prst="rect">
            <a:avLst/>
          </a:prstGeom>
          <a:ln w="12700">
            <a:miter lim="400000"/>
          </a:ln>
        </p:spPr>
      </p:pic>
      <p:pic>
        <p:nvPicPr>
          <p:cNvPr id="204" name="Image" descr="Image"/>
          <p:cNvPicPr>
            <a:picLocks noChangeAspect="0"/>
          </p:cNvPicPr>
          <p:nvPr/>
        </p:nvPicPr>
        <p:blipFill>
          <a:blip r:embed="rId7">
            <a:extLst/>
          </a:blip>
          <a:srcRect l="0" t="7419" r="0" b="0"/>
          <a:stretch>
            <a:fillRect/>
          </a:stretch>
        </p:blipFill>
        <p:spPr>
          <a:xfrm>
            <a:off x="16188706" y="2580187"/>
            <a:ext cx="5328111" cy="6356611"/>
          </a:xfrm>
          <a:prstGeom prst="rect">
            <a:avLst/>
          </a:prstGeom>
          <a:ln w="12700">
            <a:miter lim="400000"/>
          </a:ln>
        </p:spPr>
      </p:pic>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08" name="delong-this-is-fine.png" descr="delong-this-is-fine.png"/>
          <p:cNvPicPr>
            <a:picLocks noChangeAspect="1"/>
          </p:cNvPicPr>
          <p:nvPr/>
        </p:nvPicPr>
        <p:blipFill>
          <a:blip r:embed="rId3">
            <a:alphaModFix amt="25396"/>
            <a:extLst/>
          </a:blip>
          <a:srcRect l="0" t="0" r="1203" b="0"/>
          <a:stretch>
            <a:fillRect/>
          </a:stretch>
        </p:blipFill>
        <p:spPr>
          <a:xfrm>
            <a:off x="0" y="-3183"/>
            <a:ext cx="24384001" cy="13722366"/>
          </a:xfrm>
          <a:prstGeom prst="rect">
            <a:avLst/>
          </a:prstGeom>
          <a:ln w="12700">
            <a:miter lim="400000"/>
          </a:ln>
        </p:spPr>
      </p:pic>
      <p:sp>
        <p:nvSpPr>
          <p:cNvPr id="209" name="2020-11-06"/>
          <p:cNvSpPr txBox="1"/>
          <p:nvPr/>
        </p:nvSpPr>
        <p:spPr>
          <a:xfrm>
            <a:off x="3716735" y="13228327"/>
            <a:ext cx="20282472" cy="4876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2000">
                <a:solidFill>
                  <a:srgbClr val="FFFFFF"/>
                </a:solidFill>
                <a:uFill>
                  <a:solidFill>
                    <a:srgbClr val="000000"/>
                  </a:solidFill>
                </a:uFill>
                <a:latin typeface="Helvetica"/>
                <a:ea typeface="Helvetica"/>
                <a:cs typeface="Helvetica"/>
                <a:sym typeface="Helvetica"/>
              </a:defRPr>
            </a:lvl1pPr>
          </a:lstStyle>
          <a:p>
            <a:pPr/>
            <a:r>
              <a:t>2020-11-06</a:t>
            </a:r>
          </a:p>
        </p:txBody>
      </p:sp>
      <p:sp>
        <p:nvSpPr>
          <p:cNvPr id="210" name="The long 20th century will in all likelihood be seen in the future as the watershed in human experience:…"/>
          <p:cNvSpPr txBox="1"/>
          <p:nvPr/>
        </p:nvSpPr>
        <p:spPr>
          <a:xfrm>
            <a:off x="377206" y="2286000"/>
            <a:ext cx="7620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spcBef>
                <a:spcPts val="1600"/>
              </a:spcBef>
              <a:defRPr b="1" sz="3200">
                <a:solidFill>
                  <a:srgbClr val="000000"/>
                </a:solidFill>
                <a:latin typeface="Times New Roman"/>
                <a:ea typeface="Times New Roman"/>
                <a:cs typeface="Times New Roman"/>
                <a:sym typeface="Times New Roman"/>
              </a:defRPr>
            </a:pPr>
            <a:r>
              <a:t>It gives me no pleasure that my simple national model of coronavirus cases—project cases back three weeks from deaths, and then extrapolate case growth out from confirmed case growth and from the number of cases per test—is running dead-on:</a:t>
            </a:r>
          </a:p>
          <a:p>
            <a:pPr marL="609600" indent="-609600" algn="l" defTabSz="821529">
              <a:spcBef>
                <a:spcPts val="1600"/>
              </a:spcBef>
              <a:buSzPct val="100000"/>
              <a:buChar char="•"/>
              <a:defRPr b="1" sz="3200">
                <a:solidFill>
                  <a:srgbClr val="000000"/>
                </a:solidFill>
                <a:latin typeface="Times New Roman"/>
                <a:ea typeface="Times New Roman"/>
                <a:cs typeface="Times New Roman"/>
                <a:sym typeface="Times New Roman"/>
              </a:defRPr>
            </a:pPr>
            <a:r>
              <a:t>I forecast a week ago that we would have 6641 deaths in the seven days ending Th 2020-11-05.</a:t>
            </a:r>
          </a:p>
          <a:p>
            <a:pPr marL="609600" indent="-609600" algn="l" defTabSz="821529">
              <a:spcBef>
                <a:spcPts val="1600"/>
              </a:spcBef>
              <a:buSzPct val="100000"/>
              <a:buChar char="•"/>
              <a:defRPr b="1" sz="3200">
                <a:solidFill>
                  <a:srgbClr val="000000"/>
                </a:solidFill>
                <a:latin typeface="Times New Roman"/>
                <a:ea typeface="Times New Roman"/>
                <a:cs typeface="Times New Roman"/>
                <a:sym typeface="Times New Roman"/>
              </a:defRPr>
            </a:pPr>
            <a:r>
              <a:t>We had 6805 deaths.</a:t>
            </a:r>
          </a:p>
          <a:p>
            <a:pPr marL="609600" indent="-609600" algn="l" defTabSz="821529">
              <a:spcBef>
                <a:spcPts val="1600"/>
              </a:spcBef>
              <a:buSzPct val="100000"/>
              <a:buChar char="•"/>
              <a:defRPr b="1" sz="3200">
                <a:solidFill>
                  <a:srgbClr val="000000"/>
                </a:solidFill>
                <a:latin typeface="Times New Roman"/>
                <a:ea typeface="Times New Roman"/>
                <a:cs typeface="Times New Roman"/>
                <a:sym typeface="Times New Roman"/>
              </a:defRPr>
            </a:pPr>
            <a:r>
              <a:t>The model is now predicting that we will see 12893 deaths in the seven days ending on Thanksgiving: Th 2020-11-26. </a:t>
            </a:r>
          </a:p>
          <a:p>
            <a:pPr marL="609600" indent="-609600" algn="l" defTabSz="821529">
              <a:spcBef>
                <a:spcPts val="1600"/>
              </a:spcBef>
              <a:buSzPct val="100000"/>
              <a:buChar char="•"/>
              <a:defRPr b="1" sz="3200">
                <a:solidFill>
                  <a:srgbClr val="000000"/>
                </a:solidFill>
                <a:latin typeface="Times New Roman"/>
                <a:ea typeface="Times New Roman"/>
                <a:cs typeface="Times New Roman"/>
                <a:sym typeface="Times New Roman"/>
              </a:defRPr>
            </a:pPr>
            <a:r>
              <a:t>And if our current inferred last-three-weeks R=1.24 were to continue, we would have 3,671,728 cases in the seven days ending on Thanksgiving.</a:t>
            </a:r>
          </a:p>
        </p:txBody>
      </p:sp>
      <p:sp>
        <p:nvSpPr>
          <p:cNvPr id="211" name="COVID Forecasts: 2020-11-06"/>
          <p:cNvSpPr txBox="1"/>
          <p:nvPr>
            <p:ph type="title"/>
          </p:nvPr>
        </p:nvSpPr>
        <p:spPr>
          <a:xfrm>
            <a:off x="-1" y="-1"/>
            <a:ext cx="24384001" cy="2286001"/>
          </a:xfrm>
          <a:prstGeom prst="rect">
            <a:avLst/>
          </a:prstGeom>
        </p:spPr>
        <p:txBody>
          <a:bodyPr lIns="91436" tIns="91436" rIns="91436" bIns="91436" anchor="ctr"/>
          <a:lstStyle>
            <a:lvl1pPr algn="ctr" defTabSz="777240">
              <a:lnSpc>
                <a:spcPct val="100000"/>
              </a:lnSpc>
              <a:defRPr spc="0" sz="13600">
                <a:solidFill>
                  <a:srgbClr val="000080"/>
                </a:solidFill>
                <a:uFill>
                  <a:solidFill>
                    <a:srgbClr val="000000"/>
                  </a:solidFill>
                </a:uFill>
                <a:latin typeface="Helvetica"/>
                <a:ea typeface="Helvetica"/>
                <a:cs typeface="Helvetica"/>
                <a:sym typeface="Helvetica"/>
              </a:defRPr>
            </a:lvl1pPr>
          </a:lstStyle>
          <a:p>
            <a:pPr/>
            <a:r>
              <a:t>COVID Forecasts: 2020-11-06</a:t>
            </a:r>
          </a:p>
        </p:txBody>
      </p:sp>
      <p:sp>
        <p:nvSpPr>
          <p:cNvPr id="212" name="&lt;https://www.icloud.com/keynote/0bCYYctIKV9_4ICVqtSe5qItQ&gt; &lt;&lt;https://www.bradford-delong.com/2020/11/covid-extrapolations-as-of-2020-11-06.html&gt;"/>
          <p:cNvSpPr txBox="1"/>
          <p:nvPr/>
        </p:nvSpPr>
        <p:spPr>
          <a:xfrm>
            <a:off x="377206" y="13228327"/>
            <a:ext cx="20282471" cy="4876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2000">
                <a:solidFill>
                  <a:srgbClr val="FFFFFF"/>
                </a:solidFill>
                <a:uFill>
                  <a:solidFill>
                    <a:srgbClr val="000000"/>
                  </a:solidFill>
                </a:uFill>
                <a:latin typeface="Helvetica"/>
                <a:ea typeface="Helvetica"/>
                <a:cs typeface="Helvetica"/>
                <a:sym typeface="Helvetica"/>
              </a:defRPr>
            </a:pPr>
            <a:r>
              <a:t>&lt;</a:t>
            </a:r>
            <a:r>
              <a:rPr>
                <a:hlinkClick r:id="rId4" invalidUrl="" action="" tgtFrame="" tooltip="" history="1" highlightClick="0" endSnd="0"/>
              </a:rPr>
              <a:t>https://www.icloud.com/keynote/0bCYYctIKV9_4ICVqtSe5qItQ</a:t>
            </a:r>
            <a:r>
              <a:t>&gt; &lt;&lt;</a:t>
            </a:r>
            <a:r>
              <a:rPr>
                <a:hlinkClick r:id="rId5" invalidUrl="" action="" tgtFrame="" tooltip="" history="1" highlightClick="0" endSnd="0"/>
              </a:rPr>
              <a:t>https://www.bradford-delong.com/2020/11/covid-extrapolations-as-of-2020-11-06.html</a:t>
            </a:r>
            <a:r>
              <a:t>&gt;</a:t>
            </a:r>
          </a:p>
        </p:txBody>
      </p:sp>
      <p:sp>
        <p:nvSpPr>
          <p:cNvPr id="213" name="The long 20th century will in all likelihood be seen in the future as the watershed in human experience:…"/>
          <p:cNvSpPr txBox="1"/>
          <p:nvPr/>
        </p:nvSpPr>
        <p:spPr>
          <a:xfrm>
            <a:off x="16379206" y="2286000"/>
            <a:ext cx="7620001" cy="10789928"/>
          </a:xfrm>
          <a:prstGeom prst="rect">
            <a:avLst/>
          </a:prstGeom>
          <a:ln w="12700">
            <a:miter lim="400000"/>
          </a:ln>
        </p:spPr>
        <p:txBody>
          <a:bodyPr lIns="91436" tIns="91436" rIns="91436" bIns="91436"/>
          <a:lstStyle/>
          <a:p>
            <a:pPr algn="l" defTabSz="821529">
              <a:defRPr b="1" sz="1400">
                <a:solidFill>
                  <a:srgbClr val="000000"/>
                </a:solidFill>
                <a:latin typeface="Helvetica"/>
                <a:ea typeface="Helvetica"/>
                <a:cs typeface="Helvetica"/>
                <a:sym typeface="Helvetica"/>
              </a:defRPr>
            </a:pPr>
          </a:p>
        </p:txBody>
      </p:sp>
      <p:sp>
        <p:nvSpPr>
          <p:cNvPr id="214" name="The long 20th century will in all likelihood be seen in the future as the watershed in human experience:…"/>
          <p:cNvSpPr txBox="1"/>
          <p:nvPr/>
        </p:nvSpPr>
        <p:spPr>
          <a:xfrm>
            <a:off x="8378206" y="2286000"/>
            <a:ext cx="7620001" cy="10789928"/>
          </a:xfrm>
          <a:prstGeom prst="rect">
            <a:avLst/>
          </a:prstGeom>
          <a:ln w="12700">
            <a:miter lim="400000"/>
          </a:ln>
        </p:spPr>
        <p:txBody>
          <a:bodyPr lIns="91436" tIns="91436" rIns="91436" bIns="91436"/>
          <a:lstStyle/>
          <a:p>
            <a:pPr algn="l" defTabSz="821529">
              <a:defRPr b="1" sz="1400">
                <a:solidFill>
                  <a:srgbClr val="000000"/>
                </a:solidFill>
                <a:latin typeface="Helvetica"/>
                <a:ea typeface="Helvetica"/>
                <a:cs typeface="Helvetica"/>
                <a:sym typeface="Helvetica"/>
              </a:defRPr>
            </a:pPr>
          </a:p>
        </p:txBody>
      </p:sp>
      <p:pic>
        <p:nvPicPr>
          <p:cNvPr id="215" name="Image" descr="Image"/>
          <p:cNvPicPr>
            <a:picLocks noChangeAspect="0"/>
          </p:cNvPicPr>
          <p:nvPr/>
        </p:nvPicPr>
        <p:blipFill>
          <a:blip r:embed="rId6">
            <a:extLst/>
          </a:blip>
          <a:srcRect l="0" t="7419" r="0" b="0"/>
          <a:stretch>
            <a:fillRect/>
          </a:stretch>
        </p:blipFill>
        <p:spPr>
          <a:xfrm>
            <a:off x="8378206" y="2286000"/>
            <a:ext cx="7620092" cy="10160000"/>
          </a:xfrm>
          <a:prstGeom prst="rect">
            <a:avLst/>
          </a:prstGeom>
          <a:ln w="12700">
            <a:miter lim="400000"/>
          </a:ln>
        </p:spPr>
      </p:pic>
      <p:pic>
        <p:nvPicPr>
          <p:cNvPr id="216" name="Image" descr="Image"/>
          <p:cNvPicPr>
            <a:picLocks noChangeAspect="0"/>
          </p:cNvPicPr>
          <p:nvPr/>
        </p:nvPicPr>
        <p:blipFill>
          <a:blip r:embed="rId7">
            <a:extLst/>
          </a:blip>
          <a:stretch>
            <a:fillRect/>
          </a:stretch>
        </p:blipFill>
        <p:spPr>
          <a:xfrm>
            <a:off x="16379206" y="2286000"/>
            <a:ext cx="7620001" cy="10160000"/>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0" name="About the Course"/>
          <p:cNvSpPr txBox="1"/>
          <p:nvPr>
            <p:ph type="title" idx="4294967295"/>
          </p:nvPr>
        </p:nvSpPr>
        <p:spPr>
          <a:xfrm>
            <a:off x="3273126" y="-5"/>
            <a:ext cx="17780001" cy="2286001"/>
          </a:xfrm>
          <a:prstGeom prst="rect">
            <a:avLst/>
          </a:prstGeom>
        </p:spPr>
        <p:txBody>
          <a:bodyPr lIns="91436" tIns="91436" rIns="91436" bIns="91436" anchor="ctr"/>
          <a:lstStyle>
            <a:lvl1pPr algn="ctr" defTabSz="777240">
              <a:lnSpc>
                <a:spcPct val="100000"/>
              </a:lnSpc>
              <a:defRPr spc="0" sz="13600">
                <a:solidFill>
                  <a:srgbClr val="800000"/>
                </a:solidFill>
                <a:uFill>
                  <a:solidFill>
                    <a:srgbClr val="000000"/>
                  </a:solidFill>
                </a:uFill>
                <a:latin typeface="Helvetica"/>
                <a:ea typeface="Helvetica"/>
                <a:cs typeface="Helvetica"/>
                <a:sym typeface="Helvetica"/>
              </a:defRPr>
            </a:lvl1pPr>
          </a:lstStyle>
          <a:p>
            <a:pPr/>
            <a:r>
              <a:t>Catch Our Breath</a:t>
            </a:r>
          </a:p>
        </p:txBody>
      </p:sp>
      <p:sp>
        <p:nvSpPr>
          <p:cNvPr id="221" name="The long 20th century will in all likelihood be seen in the future as the watershed in human experience:…"/>
          <p:cNvSpPr txBox="1"/>
          <p:nvPr>
            <p:ph type="body" idx="4294967295"/>
          </p:nvPr>
        </p:nvSpPr>
        <p:spPr>
          <a:xfrm>
            <a:off x="497101" y="2285995"/>
            <a:ext cx="12572024" cy="10795001"/>
          </a:xfrm>
          <a:prstGeom prst="rect">
            <a:avLst/>
          </a:prstGeom>
        </p:spPr>
        <p:txBody>
          <a:bodyPr lIns="91436" tIns="91436" rIns="91436" bIns="91436"/>
          <a:lstStyle/>
          <a:p>
            <a:pPr marL="0" indent="0" defTabSz="914400">
              <a:lnSpc>
                <a:spcPct val="100000"/>
              </a:lnSpc>
              <a:spcBef>
                <a:spcPts val="4000"/>
              </a:spcBef>
              <a:buSzTx/>
              <a:buNone/>
              <a:defRPr b="1" sz="6000">
                <a:uFill>
                  <a:solidFill>
                    <a:srgbClr val="000000"/>
                  </a:solidFill>
                </a:uFill>
                <a:latin typeface="Helvetica"/>
                <a:ea typeface="Helvetica"/>
                <a:cs typeface="Helvetica"/>
                <a:sym typeface="Helvetica"/>
              </a:defRPr>
            </a:pPr>
            <a:r>
              <a:t>Let’s reflect on what we have just heard &amp; seen…</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Comments</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Questions</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Readings</a:t>
            </a:r>
          </a:p>
        </p:txBody>
      </p:sp>
      <p:pic>
        <p:nvPicPr>
          <p:cNvPr id="222" name="Image" descr="Image"/>
          <p:cNvPicPr>
            <a:picLocks noChangeAspect="1"/>
          </p:cNvPicPr>
          <p:nvPr/>
        </p:nvPicPr>
        <p:blipFill>
          <a:blip r:embed="rId2">
            <a:extLst/>
          </a:blip>
          <a:stretch>
            <a:fillRect/>
          </a:stretch>
        </p:blipFill>
        <p:spPr>
          <a:xfrm>
            <a:off x="13069123" y="2285995"/>
            <a:ext cx="11035129" cy="11035126"/>
          </a:xfrm>
          <a:prstGeom prst="rect">
            <a:avLst/>
          </a:prstGeom>
          <a:ln w="12700">
            <a:miter lim="400000"/>
          </a:ln>
        </p:spPr>
      </p:pic>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4" name="About the Course"/>
          <p:cNvSpPr txBox="1"/>
          <p:nvPr>
            <p:ph type="title" idx="4294967295"/>
          </p:nvPr>
        </p:nvSpPr>
        <p:spPr>
          <a:xfrm>
            <a:off x="0" y="-5"/>
            <a:ext cx="24384001" cy="2286001"/>
          </a:xfrm>
          <a:prstGeom prst="rect">
            <a:avLst/>
          </a:prstGeom>
        </p:spPr>
        <p:txBody>
          <a:bodyPr lIns="91436" tIns="91436" rIns="91436" bIns="91436" anchor="ctr"/>
          <a:lstStyle>
            <a:lvl1pPr algn="ctr" defTabSz="768095">
              <a:lnSpc>
                <a:spcPct val="100000"/>
              </a:lnSpc>
              <a:defRPr spc="0" sz="13439">
                <a:solidFill>
                  <a:srgbClr val="800000"/>
                </a:solidFill>
                <a:uFill>
                  <a:solidFill>
                    <a:srgbClr val="000000"/>
                  </a:solidFill>
                </a:uFill>
                <a:latin typeface="Helvetica"/>
                <a:ea typeface="Helvetica"/>
                <a:cs typeface="Helvetica"/>
                <a:sym typeface="Helvetica"/>
              </a:defRPr>
            </a:lvl1pPr>
          </a:lstStyle>
          <a:p>
            <a:pPr/>
            <a:r>
              <a:t>========================</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26" name="delong-this-is-fine.png" descr="delong-this-is-fine.png"/>
          <p:cNvPicPr>
            <a:picLocks noChangeAspect="1"/>
          </p:cNvPicPr>
          <p:nvPr/>
        </p:nvPicPr>
        <p:blipFill>
          <a:blip r:embed="rId2">
            <a:extLst/>
          </a:blip>
          <a:srcRect l="0" t="0" r="1203" b="0"/>
          <a:stretch>
            <a:fillRect/>
          </a:stretch>
        </p:blipFill>
        <p:spPr>
          <a:xfrm>
            <a:off x="0" y="-3183"/>
            <a:ext cx="24384001" cy="13722366"/>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