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58" name="Shape 158"/>
          <p:cNvSpPr/>
          <p:nvPr>
            <p:ph type="sldImg"/>
          </p:nvPr>
        </p:nvSpPr>
        <p:spPr>
          <a:xfrm>
            <a:off x="1143000" y="685800"/>
            <a:ext cx="4572000" cy="3429000"/>
          </a:xfrm>
          <a:prstGeom prst="rect">
            <a:avLst/>
          </a:prstGeom>
        </p:spPr>
        <p:txBody>
          <a:bodyPr/>
          <a:lstStyle/>
          <a:p>
            <a:pPr/>
          </a:p>
        </p:txBody>
      </p:sp>
      <p:sp>
        <p:nvSpPr>
          <p:cNvPr id="159" name="Shape 15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Slide Title"/>
          <p:cNvSpPr txBox="1"/>
          <p:nvPr>
            <p:ph type="title" hasCustomPrompt="1"/>
          </p:nvPr>
        </p:nvSpPr>
        <p:spPr>
          <a:prstGeom prst="rect">
            <a:avLst/>
          </a:prstGeom>
        </p:spPr>
        <p:txBody>
          <a:bodyPr/>
          <a:lstStyle>
            <a:lvl1pPr>
              <a:defRPr>
                <a:latin typeface="Helvetica"/>
                <a:ea typeface="Helvetica"/>
                <a:cs typeface="Helvetica"/>
                <a:sym typeface="Helvetica"/>
              </a:defRPr>
            </a:lvl1pPr>
          </a:lstStyle>
          <a:p>
            <a:pPr/>
            <a:r>
              <a:t>Slide Title</a:t>
            </a:r>
          </a:p>
        </p:txBody>
      </p:sp>
      <p:sp>
        <p:nvSpPr>
          <p:cNvPr id="15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atin typeface="Helvetica"/>
                <a:ea typeface="Helvetica"/>
                <a:cs typeface="Helvetica"/>
                <a:sym typeface="Helvetica"/>
              </a:defRPr>
            </a:lvl1pPr>
          </a:lstStyle>
          <a:p>
            <a:pPr/>
            <a:r>
              <a:t>Slide Subtitle</a:t>
            </a:r>
          </a:p>
        </p:txBody>
      </p:sp>
      <p:sp>
        <p:nvSpPr>
          <p:cNvPr id="151" name="Body Level One…"/>
          <p:cNvSpPr txBox="1"/>
          <p:nvPr>
            <p:ph type="body" idx="1" hasCustomPrompt="1"/>
          </p:nvPr>
        </p:nvSpPr>
        <p:spPr>
          <a:prstGeom prst="rect">
            <a:avLst/>
          </a:prstGeom>
        </p:spPr>
        <p:txBody>
          <a:bodyPr/>
          <a:lstStyle>
            <a:lvl1pPr>
              <a:defRPr>
                <a:latin typeface="Helvetica"/>
                <a:ea typeface="Helvetica"/>
                <a:cs typeface="Helvetica"/>
                <a:sym typeface="Helvetica"/>
              </a:defRPr>
            </a:lvl1pPr>
            <a:lvl2pPr>
              <a:defRPr>
                <a:latin typeface="Helvetica"/>
                <a:ea typeface="Helvetica"/>
                <a:cs typeface="Helvetica"/>
                <a:sym typeface="Helvetica"/>
              </a:defRPr>
            </a:lvl2pPr>
            <a:lvl3pPr>
              <a:defRPr>
                <a:latin typeface="Helvetica"/>
                <a:ea typeface="Helvetica"/>
                <a:cs typeface="Helvetica"/>
                <a:sym typeface="Helvetica"/>
              </a:defRPr>
            </a:lvl3pPr>
            <a:lvl4pPr>
              <a:defRPr>
                <a:latin typeface="Helvetica"/>
                <a:ea typeface="Helvetica"/>
                <a:cs typeface="Helvetica"/>
                <a:sym typeface="Helvetica"/>
              </a:defRPr>
            </a:lvl4pPr>
            <a:lvl5pPr>
              <a:defRPr>
                <a:latin typeface="Helvetica"/>
                <a:ea typeface="Helvetica"/>
                <a:cs typeface="Helvetica"/>
                <a:sym typeface="Helvetica"/>
              </a:defRPr>
            </a:lvl5pPr>
          </a:lstStyle>
          <a:p>
            <a:pPr/>
            <a:r>
              <a:t>Slide bullet text</a:t>
            </a:r>
          </a:p>
          <a:p>
            <a:pPr lvl="1"/>
            <a:r>
              <a:t/>
            </a:r>
          </a:p>
          <a:p>
            <a:pPr lvl="2"/>
            <a:r>
              <a:t/>
            </a:r>
          </a:p>
          <a:p>
            <a:pPr lvl="3"/>
            <a:r>
              <a:t/>
            </a:r>
          </a:p>
          <a:p>
            <a:pPr lvl="4"/>
            <a:r>
              <a:t/>
            </a:r>
          </a:p>
        </p:txBody>
      </p:sp>
      <p:sp>
        <p:nvSpPr>
          <p:cNvPr id="152" name="Slide Number"/>
          <p:cNvSpPr txBox="1"/>
          <p:nvPr>
            <p:ph type="sldNum" sz="quarter" idx="2"/>
          </p:nvPr>
        </p:nvSpPr>
        <p:spPr>
          <a:xfrm>
            <a:off x="12001465" y="13074598"/>
            <a:ext cx="368573" cy="381001"/>
          </a:xfrm>
          <a:prstGeom prst="rect">
            <a:avLst/>
          </a:prstGeom>
        </p:spPr>
        <p:txBody>
          <a:bodyPr/>
          <a:lstStyle>
            <a:lvl1pPr>
              <a:defRPr>
                <a:latin typeface="Helvetica"/>
                <a:ea typeface="Helvetica"/>
                <a:cs typeface="Helvetica"/>
                <a:sym typeface="Helvetica"/>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macromarketmusings.blogspot.com/2010/11/case-closed-milton-friedman-would-have.html" TargetMode="External"/><Relationship Id="rId4" Type="http://schemas.openxmlformats.org/officeDocument/2006/relationships/hyperlink" Target="https://www.zacharydcarter.com" TargetMode="External"/><Relationship Id="rId5" Type="http://schemas.openxmlformats.org/officeDocument/2006/relationships/hyperlink" Target="https://newrepublic.com/article/162623/milton-friedman-legacy-biden-government-spending" TargetMode="External"/><Relationship Id="rId6" Type="http://schemas.openxmlformats.org/officeDocument/2006/relationships/hyperlink" Target="https://delong.typepad.com/delong_long_form/1999/10/j-bradford-delong-the-triumph-of-monetarism.html" TargetMode="External"/><Relationship Id="rId7" Type="http://schemas.openxmlformats.org/officeDocument/2006/relationships/hyperlink" Target="https://web.archive.org/web/20010517134105/http://www.j-bradford-delong.net/TotW/counterrev.html" TargetMode="External"/><Relationship Id="rId8" Type="http://schemas.openxmlformats.org/officeDocument/2006/relationships/hyperlink" Target="https://www.project-syndicate.org/commentary/friedman-ideas-great-recession-by-j--bradford-delong-2015-03" TargetMode="External"/><Relationship Id="rId9" Type="http://schemas.openxmlformats.org/officeDocument/2006/relationships/hyperlink" Target="https://twitter.com/delong/status/1100166150845939712" TargetMode="External"/><Relationship Id="rId10" Type="http://schemas.openxmlformats.org/officeDocument/2006/relationships/hyperlink" Target="https://www.vox.com/policy-and-politics/2019/3/4/18246381/democrats-clinton-sanders-left-brad-delong" TargetMode="External"/><Relationship Id="rId11" Type="http://schemas.openxmlformats.org/officeDocument/2006/relationships/hyperlink" Target="https://www.bradford-delong.com/2019/03/passing-the-baton-the-interview.html" TargetMode="External"/><Relationship Id="rId12" Type="http://schemas.openxmlformats.org/officeDocument/2006/relationships/hyperlink" Target="https://web.archive.org/web/20070513134239/http://democracyjournal.org/article.php?ID=6514" TargetMode="External"/><Relationship Id="rId13" Type="http://schemas.openxmlformats.org/officeDocument/2006/relationships/hyperlink" Target="https://www.milkenreview.org/articles/helicopter-money-when-zero-just-isnt-low-enough" TargetMode="External"/><Relationship Id="rId14" Type="http://schemas.openxmlformats.org/officeDocument/2006/relationships/hyperlink" Target="https://www.bradford-delong.com/2004/07/the-mammon-of-unrighteousness.html" TargetMode="External"/><Relationship Id="rId15" Type="http://schemas.openxmlformats.org/officeDocument/2006/relationships/hyperlink" Target="https://www.bankofcanada.ca/wp-content/uploads/2010/08/keynote.pdf" TargetMode="External"/><Relationship Id="rId16" Type="http://schemas.openxmlformats.org/officeDocument/2006/relationships/hyperlink" Target="https://books.google.com/books?id=fCCWWgZ7d6UC" TargetMode="External"/><Relationship Id="rId17" Type="http://schemas.openxmlformats.org/officeDocument/2006/relationships/image" Target="../media/image2.png"/><Relationship Id="rId18" Type="http://schemas.openxmlformats.org/officeDocument/2006/relationships/hyperlink" Target="https://berkeley.zoom.us/j/7744601602" TargetMode="External"/><Relationship Id="rId19"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newrepublic.com/article/162623/milton-friedman-legacy-biden-government-spending" TargetMode="External"/><Relationship Id="rId4"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www.zacharydcarter.com" TargetMode="External"/><Relationship Id="rId4"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web.archive.org/web/20010517134105/http://www.j-bradford-delong.net/TotW/counterrev.html" TargetMode="External"/><Relationship Id="rId4" Type="http://schemas.openxmlformats.org/officeDocument/2006/relationships/hyperlink" Target="https://macromarketmusings.blogspot.com/2010/11/case-closed-milton-friedman-would-have.html" TargetMode="External"/><Relationship Id="rId5" Type="http://schemas.openxmlformats.org/officeDocument/2006/relationships/hyperlink" Target="https://www.bankofcanada.ca/wp-content/uploads/2010/08/keynote.pdf" TargetMode="External"/><Relationship Id="rId6"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delong.typepad.com/delong_long_form/1999/10/j-bradford-delong-the-triumph-of-monetarism.html" TargetMode="External"/><Relationship Id="rId4"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www.project-syndicate.org/commentary/friedman-ideas-great-recession-by-j--bradford-delong-2015-03" TargetMode="External"/><Relationship Id="rId4" Type="http://schemas.openxmlformats.org/officeDocument/2006/relationships/hyperlink" Target="https://web.archive.org/web/20070513134239/http://democracyjournal.org/article.php?ID=6514" TargetMode="External"/><Relationship Id="rId5"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www.google.com/books/edition/Free_to_Choose/uLkVAQAAMAAJ" TargetMode="External"/><Relationship Id="rId4"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twitter.com/delong/status/1100166150845939712" TargetMode="External"/><Relationship Id="rId4" Type="http://schemas.openxmlformats.org/officeDocument/2006/relationships/hyperlink" Target="https://www.vox.com/policy-and-politics/2019/3/4/18246381/democrats-clinton-sanders-left-brad-delong" TargetMode="External"/><Relationship Id="rId5" Type="http://schemas.openxmlformats.org/officeDocument/2006/relationships/hyperlink" Target="https://www.bradford-delong.com/2019/03/passing-the-baton-the-interview.html" TargetMode="External"/><Relationship Id="rId6"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github.com/braddelong/public-files/blob/master/draft-the-neoliberal-turn-2021-06-28.pdf" TargetMode="External"/><Relationship Id="rId4"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www.gutenberg.org/files/15776/15776-h/15776-h.htm" TargetMode="External"/><Relationship Id="rId4" Type="http://schemas.openxmlformats.org/officeDocument/2006/relationships/image" Target="../media/image3.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image" Target="../media/image3.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www.economicsnetwork.ac.uk/archive/keynes_persuasion/A_Short_View_of_Russia.htm" TargetMode="External"/><Relationship Id="rId4" Type="http://schemas.openxmlformats.org/officeDocument/2006/relationships/image" Target="../media/image3.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www.marxists.org/reference/subject/economics/keynes/general-theory/ch24.htm" TargetMode="External"/><Relationship Id="rId4" Type="http://schemas.openxmlformats.org/officeDocument/2006/relationships/image" Target="../media/image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www.bradford-delong.com/2004/07/the-mammon-of-unrighteousness.html" TargetMode="External"/><Relationship Id="rId4" Type="http://schemas.openxmlformats.org/officeDocument/2006/relationships/image" Target="../media/image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 Id="rId3" Type="http://schemas.openxmlformats.org/officeDocument/2006/relationships/hyperlink" Target="https://books.google.com/books?id=fCCWWgZ7d6UC"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1"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162"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163" name="PODCAST: &quot;Hexapodia&quot; Is the Key Insight XX, Starring Zach Carter: Last Exit Off the Highway to Serfdom?"/>
          <p:cNvSpPr txBox="1"/>
          <p:nvPr>
            <p:ph type="title"/>
          </p:nvPr>
        </p:nvSpPr>
        <p:spPr>
          <a:xfrm>
            <a:off x="388587" y="0"/>
            <a:ext cx="23622001" cy="1968500"/>
          </a:xfrm>
          <a:prstGeom prst="rect">
            <a:avLst/>
          </a:prstGeom>
        </p:spPr>
        <p:txBody>
          <a:bodyPr lIns="91436" tIns="91436" rIns="91436" bIns="91436" anchor="ctr"/>
          <a:lstStyle>
            <a:lvl1pPr algn="ctr" defTabSz="438911">
              <a:lnSpc>
                <a:spcPct val="100000"/>
              </a:lnSpc>
              <a:defRPr spc="0" sz="5760">
                <a:solidFill>
                  <a:srgbClr val="800000"/>
                </a:solidFill>
                <a:uFill>
                  <a:solidFill>
                    <a:srgbClr val="000000"/>
                  </a:solidFill>
                </a:uFill>
              </a:defRPr>
            </a:lvl1pPr>
          </a:lstStyle>
          <a:p>
            <a:pPr/>
            <a:r>
              <a:t>PODCAST: "Hexapodia" Is the Key Insight XX, Starring Zach Carter: Last Exit Off the Highway to Serfdom?</a:t>
            </a:r>
          </a:p>
        </p:txBody>
      </p:sp>
      <p:sp>
        <p:nvSpPr>
          <p:cNvPr id="164"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165"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lstStyle/>
          <a:p>
            <a:pPr algn="l" defTabSz="457200">
              <a:defRPr i="1" sz="1900">
                <a:solidFill>
                  <a:srgbClr val="766F6F"/>
                </a:solidFill>
              </a:defRPr>
            </a:pPr>
            <a:r>
              <a:t>Starring Zach Carter; Noah Smith &amp; Brad DeLong's 30:00 &lt; [Length of Weekly Podcast] &lt; 60:00</a:t>
            </a:r>
          </a:p>
          <a:p>
            <a:pPr algn="l" defTabSz="457200">
              <a:defRPr i="1" sz="1900">
                <a:solidFill>
                  <a:srgbClr val="766F6F"/>
                </a:solidFill>
              </a:defRPr>
            </a:pPr>
          </a:p>
          <a:p>
            <a:pPr algn="l" defTabSz="457200">
              <a:defRPr i="1" sz="1900">
                <a:solidFill>
                  <a:srgbClr val="766F6F"/>
                </a:solidFill>
              </a:defRPr>
            </a:pPr>
          </a:p>
          <a:p>
            <a:pPr algn="l" defTabSz="457200">
              <a:defRPr sz="1900">
                <a:solidFill>
                  <a:srgbClr val="766F6F"/>
                </a:solidFill>
              </a:defRPr>
            </a:pPr>
          </a:p>
          <a:p>
            <a:pPr algn="l" defTabSz="457200">
              <a:defRPr sz="1900">
                <a:solidFill>
                  <a:srgbClr val="766F6F"/>
                </a:solidFill>
              </a:defRPr>
            </a:pPr>
          </a:p>
          <a:p>
            <a:pPr algn="l" defTabSz="457200">
              <a:defRPr sz="1900">
                <a:solidFill>
                  <a:srgbClr val="766F6F"/>
                </a:solidFill>
              </a:defRPr>
            </a:pPr>
          </a:p>
          <a:p>
            <a:pPr algn="l" defTabSz="457200">
              <a:defRPr sz="1600">
                <a:solidFill>
                  <a:srgbClr val="FFFFFF"/>
                </a:solidFill>
              </a:defRPr>
            </a:pPr>
            <a:endParaRPr sz="2000">
              <a:solidFill>
                <a:srgbClr val="3C2424"/>
              </a:solidFill>
              <a:latin typeface="Helvetica"/>
              <a:ea typeface="Helvetica"/>
              <a:cs typeface="Helvetica"/>
              <a:sym typeface="Helvetica"/>
            </a:endParaRPr>
          </a:p>
          <a:p>
            <a:pPr defTabSz="457200">
              <a:defRPr sz="2000">
                <a:solidFill>
                  <a:srgbClr val="3C2424"/>
                </a:solidFill>
                <a:latin typeface="Helvetica"/>
                <a:ea typeface="Helvetica"/>
                <a:cs typeface="Helvetica"/>
                <a:sym typeface="Helvetica"/>
              </a:defRPr>
            </a:pPr>
          </a:p>
          <a:p>
            <a:pPr algn="l" defTabSz="457200">
              <a:defRPr sz="2000">
                <a:solidFill>
                  <a:srgbClr val="3C2424"/>
                </a:solidFill>
                <a:latin typeface="Helvetica"/>
                <a:ea typeface="Helvetica"/>
                <a:cs typeface="Helvetica"/>
                <a:sym typeface="Helvetica"/>
              </a:defRPr>
            </a:pPr>
          </a:p>
          <a:p>
            <a:pPr algn="l" defTabSz="457200">
              <a:defRPr sz="2000">
                <a:solidFill>
                  <a:srgbClr val="3C2424"/>
                </a:solidFill>
                <a:latin typeface="Helvetica"/>
                <a:ea typeface="Helvetica"/>
                <a:cs typeface="Helvetica"/>
                <a:sym typeface="Helvetica"/>
              </a:defRPr>
            </a:pPr>
          </a:p>
          <a:p>
            <a:pPr algn="l" defTabSz="457200">
              <a:defRPr sz="2000">
                <a:solidFill>
                  <a:srgbClr val="3C2424"/>
                </a:solidFill>
                <a:latin typeface="Helvetica"/>
                <a:ea typeface="Helvetica"/>
                <a:cs typeface="Helvetica"/>
                <a:sym typeface="Helvetica"/>
              </a:defRPr>
            </a:pPr>
          </a:p>
          <a:p>
            <a:pPr algn="l" defTabSz="457200">
              <a:defRPr b="1" sz="3250">
                <a:solidFill>
                  <a:srgbClr val="3C2424"/>
                </a:solidFill>
              </a:defRPr>
            </a:pPr>
            <a:r>
              <a:t>Key Insights:</a:t>
            </a:r>
          </a:p>
          <a:p>
            <a:pPr marL="317500" indent="-317500" algn="l" defTabSz="457200">
              <a:buClr>
                <a:srgbClr val="3C2424"/>
              </a:buClr>
              <a:buSzPct val="100000"/>
              <a:buFont typeface="Helvetica"/>
              <a:buChar char="•"/>
              <a:defRPr sz="2000">
                <a:solidFill>
                  <a:srgbClr val="3C2424"/>
                </a:solidFill>
                <a:latin typeface="Helvetica"/>
                <a:ea typeface="Helvetica"/>
                <a:cs typeface="Helvetica"/>
                <a:sym typeface="Helvetica"/>
              </a:defRPr>
            </a:pPr>
            <a:r>
              <a:t>Hexapodia!</a:t>
            </a:r>
          </a:p>
          <a:p>
            <a:pPr marL="317500" indent="-317500" algn="l" defTabSz="457200">
              <a:buClr>
                <a:srgbClr val="3C2424"/>
              </a:buClr>
              <a:buSzPct val="100000"/>
              <a:buFont typeface="Helvetica"/>
              <a:buChar char="•"/>
              <a:defRPr sz="2000">
                <a:solidFill>
                  <a:srgbClr val="3C2424"/>
                </a:solidFill>
                <a:latin typeface="Helvetica"/>
                <a:ea typeface="Helvetica"/>
                <a:cs typeface="Helvetica"/>
                <a:sym typeface="Helvetica"/>
              </a:defRPr>
            </a:pPr>
          </a:p>
          <a:p>
            <a:pPr algn="l" defTabSz="457200">
              <a:defRPr b="1" sz="3250">
                <a:solidFill>
                  <a:srgbClr val="3C2424"/>
                </a:solidFill>
              </a:defRPr>
            </a:pPr>
          </a:p>
          <a:p>
            <a:pPr algn="l" defTabSz="457200">
              <a:defRPr b="1" sz="3250">
                <a:solidFill>
                  <a:srgbClr val="3C2424"/>
                </a:solidFill>
              </a:defRPr>
            </a:pPr>
            <a:r>
              <a:t>References</a:t>
            </a:r>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David Beckworth</a:t>
            </a:r>
            <a:r>
              <a:rPr b="0"/>
              <a:t> (2010): </a:t>
            </a:r>
            <a:r>
              <a:rPr b="0" i="1"/>
              <a:t>Case Closed: Milton Friedman Would Have Supported QE2</a:t>
            </a:r>
            <a:r>
              <a:rPr b="0"/>
              <a:t> &lt;</a:t>
            </a:r>
            <a:r>
              <a:rPr b="0" u="sng">
                <a:hlinkClick r:id="rId3" invalidUrl="" action="" tgtFrame="" tooltip="" history="1" highlightClick="0" endSnd="0"/>
              </a:rPr>
              <a:t>https://macromarketmusings.blogspot.com/2010/11/case-closed-milton-friedman-would-have.html</a:t>
            </a:r>
            <a:r>
              <a:rPr b="0"/>
              <a:t>&gt;</a:t>
            </a:r>
            <a:endParaRPr b="0"/>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Zach Carter</a:t>
            </a:r>
            <a:r>
              <a:rPr b="0"/>
              <a:t>:</a:t>
            </a:r>
            <a:r>
              <a:t> </a:t>
            </a:r>
            <a:r>
              <a:rPr b="0" i="1"/>
              <a:t>The Price of Peace: Money, Democracy, &amp; the Life of John Maynard Keynes </a:t>
            </a:r>
            <a:r>
              <a:rPr b="0"/>
              <a:t>&lt;</a:t>
            </a:r>
            <a:r>
              <a:rPr b="0" u="sng">
                <a:hlinkClick r:id="rId4" invalidUrl="" action="" tgtFrame="" tooltip="" history="1" highlightClick="0" endSnd="0"/>
              </a:rPr>
              <a:t>https://www.zacharydcarter.com</a:t>
            </a:r>
            <a:r>
              <a:rPr b="0"/>
              <a:t>&gt;</a:t>
            </a:r>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Zach Carter</a:t>
            </a:r>
            <a:r>
              <a:rPr b="0"/>
              <a:t>:</a:t>
            </a:r>
            <a:r>
              <a:t> </a:t>
            </a:r>
            <a:r>
              <a:rPr b="0" i="1"/>
              <a:t>The End of Friedmanomics </a:t>
            </a:r>
            <a:r>
              <a:rPr b="0"/>
              <a:t>&lt;</a:t>
            </a:r>
            <a:r>
              <a:rPr b="0" u="sng">
                <a:hlinkClick r:id="rId5" invalidUrl="" action="" tgtFrame="" tooltip="" history="1" highlightClick="0" endSnd="0"/>
              </a:rPr>
              <a:t>https://newrepublic.com/article/162623/milton-friedman-legacy-biden-government-spending</a:t>
            </a:r>
            <a:r>
              <a:rPr b="0"/>
              <a:t>&gt;</a:t>
            </a:r>
            <a:endParaRPr b="0"/>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Brad DeLong</a:t>
            </a:r>
            <a:r>
              <a:rPr b="0"/>
              <a:t> (1999): </a:t>
            </a:r>
            <a:r>
              <a:rPr b="0" i="1"/>
              <a:t>The Triumph? of Monetarism</a:t>
            </a:r>
            <a:r>
              <a:rPr b="0"/>
              <a:t> &lt;</a:t>
            </a:r>
            <a:r>
              <a:rPr b="0" u="sng">
                <a:hlinkClick r:id="rId6" invalidUrl="" action="" tgtFrame="" tooltip="" history="1" highlightClick="0" endSnd="0"/>
              </a:rPr>
              <a:t>https://delong.typepad.com/delong_long_form/1999/10/j-bradford-delong-the-triumph-of-monetarism.html</a:t>
            </a:r>
            <a:r>
              <a:rPr b="0"/>
              <a:t>&gt;</a:t>
            </a:r>
            <a:endParaRPr b="0"/>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Brad DeLong</a:t>
            </a:r>
            <a:r>
              <a:rPr b="0"/>
              <a:t> (2001): </a:t>
            </a:r>
            <a:r>
              <a:rPr b="0" i="1"/>
              <a:t>The Monetarist Counterrevolution</a:t>
            </a:r>
            <a:r>
              <a:rPr b="0"/>
              <a:t> &lt;</a:t>
            </a:r>
            <a:r>
              <a:rPr b="0" u="sng">
                <a:hlinkClick r:id="rId7" invalidUrl="" action="" tgtFrame="" tooltip="" history="1" highlightClick="0" endSnd="0"/>
              </a:rPr>
              <a:t>https://web.archive.org/web/20010517134105/http://www.j-bradford-delong.net/TotW/counterrev.html</a:t>
            </a:r>
            <a:r>
              <a:rPr b="0"/>
              <a:t>&gt;</a:t>
            </a:r>
            <a:endParaRPr b="0"/>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Brad DeLong</a:t>
            </a:r>
            <a:r>
              <a:rPr b="0"/>
              <a:t> (2015): </a:t>
            </a:r>
            <a:r>
              <a:rPr b="0" i="1"/>
              <a:t>The Monetarist Mistake</a:t>
            </a:r>
            <a:r>
              <a:rPr b="0"/>
              <a:t> &lt;</a:t>
            </a:r>
            <a:r>
              <a:rPr b="0" u="sng">
                <a:hlinkClick r:id="rId8" invalidUrl="" action="" tgtFrame="" tooltip="" history="1" highlightClick="0" endSnd="0"/>
              </a:rPr>
              <a:t>https://www.project-syndicate.org/commentary/friedman-ideas-great-recession-by-j--bradford-delong-2015-03</a:t>
            </a:r>
            <a:r>
              <a:rPr b="0"/>
              <a:t>&gt;</a:t>
            </a:r>
            <a:endParaRPr b="0"/>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Brad DeLong</a:t>
            </a:r>
            <a:r>
              <a:rPr b="0"/>
              <a:t> (2019): </a:t>
            </a:r>
            <a:r>
              <a:rPr b="0" i="1"/>
              <a:t>“Passing the Baton”: The Twitter Rant </a:t>
            </a:r>
            <a:r>
              <a:rPr b="0"/>
              <a:t>&lt;</a:t>
            </a:r>
            <a:r>
              <a:rPr b="0" u="sng">
                <a:hlinkClick r:id="rId9" invalidUrl="" action="" tgtFrame="" tooltip="" history="1" highlightClick="0" endSnd="0"/>
              </a:rPr>
              <a:t>https://twitter.com/delong/status/1100166150845939712</a:t>
            </a:r>
            <a:r>
              <a:rPr b="0"/>
              <a:t>&gt;</a:t>
            </a:r>
            <a:endParaRPr b="0"/>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Brad DeLong &amp; Zack Beauchamp</a:t>
            </a:r>
            <a:r>
              <a:rPr b="0"/>
              <a:t> (2019): </a:t>
            </a:r>
            <a:r>
              <a:rPr b="0" i="1"/>
              <a:t>“Passing the Baton”: The Interview</a:t>
            </a:r>
            <a:r>
              <a:rPr b="0"/>
              <a:t> &lt;</a:t>
            </a:r>
            <a:r>
              <a:rPr b="0" u="sng">
                <a:hlinkClick r:id="rId10" invalidUrl="" action="" tgtFrame="" tooltip="" history="1" highlightClick="0" endSnd="0"/>
              </a:rPr>
              <a:t>https://www.vox.com/policy-and-politics/2019/3/4/18246381/democrats-clinton-sanders-left-brad-delong</a:t>
            </a:r>
            <a:r>
              <a:rPr b="0"/>
              <a:t>&gt;</a:t>
            </a:r>
            <a:endParaRPr b="0"/>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Brad DeLong</a:t>
            </a:r>
            <a:r>
              <a:rPr b="0"/>
              <a:t> (2019): </a:t>
            </a:r>
            <a:r>
              <a:rPr b="0" i="1"/>
              <a:t>“Passing the Baton”: The Interview: Comment</a:t>
            </a:r>
            <a:r>
              <a:rPr b="0"/>
              <a:t> </a:t>
            </a:r>
            <a:r>
              <a:t>&lt;</a:t>
            </a:r>
            <a:r>
              <a:rPr u="sng">
                <a:hlinkClick r:id="rId11" invalidUrl="" action="" tgtFrame="" tooltip="" history="1" highlightClick="0" endSnd="0"/>
              </a:rPr>
              <a:t>https://www.bradford-delong.com/2019/03/passing-the-baton-the-interview.html</a:t>
            </a:r>
            <a:r>
              <a:t>&gt;</a:t>
            </a:r>
            <a:endParaRPr b="0"/>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Brad DeLong</a:t>
            </a:r>
            <a:r>
              <a:rPr b="0"/>
              <a:t>: DRAFT: The Neoliberal Turn</a:t>
            </a:r>
            <a:endParaRPr b="0"/>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Brad DeLong</a:t>
            </a:r>
            <a:r>
              <a:rPr b="0"/>
              <a:t> (2007): </a:t>
            </a:r>
            <a:r>
              <a:rPr b="0" i="1"/>
              <a:t>Right from the Start?: What Milton Friedman Can Teach Progressives</a:t>
            </a:r>
            <a:r>
              <a:rPr b="0"/>
              <a:t> &lt;</a:t>
            </a:r>
            <a:r>
              <a:rPr b="0" u="sng">
                <a:hlinkClick r:id="rId12" invalidUrl="" action="" tgtFrame="" tooltip="" history="1" highlightClick="0" endSnd="0"/>
              </a:rPr>
              <a:t>https://web.archive.org/web/20070513134239/http://democracyjournal.org/article.php?ID=6514</a:t>
            </a:r>
            <a:r>
              <a:rPr b="0"/>
              <a:t>&gt;</a:t>
            </a:r>
            <a:endParaRPr b="0"/>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Brad DeLong</a:t>
            </a:r>
            <a:r>
              <a:rPr b="0"/>
              <a:t> (2017): </a:t>
            </a:r>
            <a:r>
              <a:rPr b="0" i="1"/>
              <a:t>Helicopter Money: When Zero Just Isn’t Low Enough</a:t>
            </a:r>
            <a:r>
              <a:rPr b="0"/>
              <a:t> &lt;</a:t>
            </a:r>
            <a:r>
              <a:rPr b="0" u="sng">
                <a:hlinkClick r:id="rId13" invalidUrl="" action="" tgtFrame="" tooltip="" history="1" highlightClick="0" endSnd="0"/>
              </a:rPr>
              <a:t>https://www.milkenreview.org/articles/helicopter-money-when-zero-just-isnt-low-enough</a:t>
            </a:r>
            <a:r>
              <a:rPr b="0"/>
              <a:t>&gt;</a:t>
            </a:r>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John Maynard Keynes</a:t>
            </a:r>
            <a:r>
              <a:rPr b="0"/>
              <a:t> (1919): </a:t>
            </a:r>
            <a:r>
              <a:rPr b="0" i="1"/>
              <a:t>The Economic Consequences of the Peace</a:t>
            </a:r>
            <a:endParaRPr b="0"/>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John Maynard Keynes</a:t>
            </a:r>
            <a:r>
              <a:rPr b="0"/>
              <a:t> (1926): </a:t>
            </a:r>
            <a:r>
              <a:rPr b="0" i="1"/>
              <a:t>The End of </a:t>
            </a:r>
            <a:r>
              <a:rPr b="0"/>
              <a:t>Laissez-Faire</a:t>
            </a:r>
            <a:endParaRPr b="0"/>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John Maynard Keynes</a:t>
            </a:r>
            <a:r>
              <a:rPr b="0"/>
              <a:t> (1926): </a:t>
            </a:r>
            <a:r>
              <a:rPr b="0" i="1"/>
              <a:t>A Short View of Russia</a:t>
            </a:r>
            <a:endParaRPr b="0"/>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John Maynard Keynes</a:t>
            </a:r>
            <a:r>
              <a:rPr b="0"/>
              <a:t> (1936): </a:t>
            </a:r>
            <a:r>
              <a:rPr b="0" i="1"/>
              <a:t>The General Theory of Employment, Interest &amp; Money</a:t>
            </a:r>
            <a:endParaRPr b="0" i="1"/>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John Maynard Keynes</a:t>
            </a:r>
            <a:r>
              <a:rPr b="0"/>
              <a:t> (1931): </a:t>
            </a:r>
            <a:r>
              <a:rPr b="0" i="1"/>
              <a:t>An Economic Analysis of Unemployment </a:t>
            </a:r>
            <a:r>
              <a:rPr b="0"/>
              <a:t>&lt;</a:t>
            </a:r>
            <a:r>
              <a:rPr b="0" u="sng">
                <a:hlinkClick r:id="rId14" invalidUrl="" action="" tgtFrame="" tooltip="" history="1" highlightClick="0" endSnd="0"/>
              </a:rPr>
              <a:t>https://www.bradford-delong.com/2004/07/the-mammon-of-unrighteousness.html</a:t>
            </a:r>
            <a:r>
              <a:rPr b="0"/>
              <a:t>&gt;</a:t>
            </a:r>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Milton Friedman</a:t>
            </a:r>
            <a:r>
              <a:rPr b="0"/>
              <a:t> (2000): </a:t>
            </a:r>
            <a:r>
              <a:rPr b="0" i="1"/>
              <a:t>Canada &amp; Flexible Exchange Rates</a:t>
            </a:r>
            <a:r>
              <a:rPr b="0"/>
              <a:t> &lt;</a:t>
            </a:r>
            <a:r>
              <a:rPr b="0" u="sng">
                <a:hlinkClick r:id="rId15" invalidUrl="" action="" tgtFrame="" tooltip="" history="1" highlightClick="0" endSnd="0"/>
              </a:rPr>
              <a:t>https://www.bankofcanada.ca/wp-content/uploads/2010/08/keynote.pdf</a:t>
            </a:r>
            <a:r>
              <a:rPr b="0"/>
              <a:t>&gt;</a:t>
            </a:r>
          </a:p>
          <a:p>
            <a:pPr marL="317500" indent="-317500" algn="l" defTabSz="457200">
              <a:buClr>
                <a:srgbClr val="3C2424"/>
              </a:buClr>
              <a:buSzPct val="100000"/>
              <a:buFont typeface="Helvetica"/>
              <a:buChar char="•"/>
              <a:defRPr b="1" sz="2000">
                <a:solidFill>
                  <a:srgbClr val="3C2424"/>
                </a:solidFill>
                <a:latin typeface="Helvetica"/>
                <a:ea typeface="Helvetica"/>
                <a:cs typeface="Helvetica"/>
                <a:sym typeface="Helvetica"/>
              </a:defRPr>
            </a:pPr>
            <a:r>
              <a:t>Milton Friedman &amp; Rose Director Friedman</a:t>
            </a:r>
            <a:r>
              <a:rPr b="0"/>
              <a:t>: </a:t>
            </a:r>
            <a:r>
              <a:rPr b="0" i="1"/>
              <a:t>Free to Choose: A Personal Statement</a:t>
            </a:r>
            <a:endParaRPr sz="1200">
              <a:latin typeface="Times Roman"/>
              <a:ea typeface="Times Roman"/>
              <a:cs typeface="Times Roman"/>
              <a:sym typeface="Times Roman"/>
            </a:endParaRPr>
          </a:p>
          <a:p>
            <a:pPr marL="317500" indent="-317500" algn="l" defTabSz="457200">
              <a:buClr>
                <a:srgbClr val="3C2424"/>
              </a:buClr>
              <a:buSzPct val="100000"/>
              <a:buFont typeface="Helvetica"/>
              <a:buChar char="•"/>
              <a:defRPr sz="2000">
                <a:solidFill>
                  <a:srgbClr val="3C2424"/>
                </a:solidFill>
                <a:latin typeface="Helvetica"/>
                <a:ea typeface="Helvetica"/>
                <a:cs typeface="Helvetica"/>
                <a:sym typeface="Helvetica"/>
              </a:defRPr>
            </a:pPr>
          </a:p>
          <a:p>
            <a:pPr algn="l" defTabSz="457200">
              <a:defRPr sz="2000">
                <a:solidFill>
                  <a:srgbClr val="3C2424"/>
                </a:solidFill>
                <a:latin typeface="Helvetica"/>
                <a:ea typeface="Helvetica"/>
                <a:cs typeface="Helvetica"/>
                <a:sym typeface="Helvetica"/>
              </a:defRPr>
            </a:pPr>
          </a:p>
          <a:p>
            <a:pPr algn="l" defTabSz="457200">
              <a:defRPr b="1" sz="2750">
                <a:solidFill>
                  <a:srgbClr val="3C2424"/>
                </a:solidFill>
              </a:defRPr>
            </a:pPr>
            <a:r>
              <a:t>&amp;, of course:</a:t>
            </a:r>
          </a:p>
          <a:p>
            <a:pPr marL="457200" indent="-317500" algn="l" defTabSz="457200">
              <a:buClr>
                <a:srgbClr val="3C2424"/>
              </a:buClr>
              <a:buSzPct val="100000"/>
              <a:buFont typeface="Helvetica"/>
              <a:buChar char="•"/>
              <a:defRPr sz="2000" u="sng">
                <a:solidFill>
                  <a:srgbClr val="3C2424"/>
                </a:solidFill>
                <a:latin typeface="Helvetica"/>
                <a:ea typeface="Helvetica"/>
                <a:cs typeface="Helvetica"/>
                <a:sym typeface="Helvetica"/>
              </a:defRPr>
            </a:pPr>
            <a:r>
              <a:rPr b="1" u="none"/>
              <a:t>Vernor Vinge</a:t>
            </a:r>
            <a:r>
              <a:rPr u="none"/>
              <a:t>: </a:t>
            </a:r>
            <a:r>
              <a:rPr i="1" u="none"/>
              <a:t>A Fire Upon the Deep</a:t>
            </a:r>
            <a:r>
              <a:rPr u="none"/>
              <a:t> &lt;</a:t>
            </a:r>
            <a:r>
              <a:rPr>
                <a:hlinkClick r:id="rId16" invalidUrl="" action="" tgtFrame="" tooltip="" history="1" highlightClick="0" endSnd="0"/>
              </a:rPr>
              <a:t>https://books.google.com/books?id=fCCWWgZ7d6UC</a:t>
            </a:r>
            <a:r>
              <a:rPr u="none"/>
              <a:t>&gt;</a:t>
            </a:r>
          </a:p>
        </p:txBody>
      </p:sp>
      <p:pic>
        <p:nvPicPr>
          <p:cNvPr id="166" name="24f21731-ae89-4b3c-9e49-58ab0202e359_1672x747.png" descr="24f21731-ae89-4b3c-9e49-58ab0202e359_1672x747.png"/>
          <p:cNvPicPr>
            <a:picLocks noChangeAspect="1"/>
          </p:cNvPicPr>
          <p:nvPr/>
        </p:nvPicPr>
        <p:blipFill>
          <a:blip r:embed="rId17">
            <a:extLst/>
          </a:blip>
          <a:stretch>
            <a:fillRect/>
          </a:stretch>
        </p:blipFill>
        <p:spPr>
          <a:xfrm>
            <a:off x="381000" y="2034554"/>
            <a:ext cx="6277552" cy="2802480"/>
          </a:xfrm>
          <a:prstGeom prst="rect">
            <a:avLst/>
          </a:prstGeom>
          <a:ln w="12700">
            <a:miter lim="400000"/>
          </a:ln>
        </p:spPr>
      </p:pic>
      <p:sp>
        <p:nvSpPr>
          <p:cNvPr id="167"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defTabSz="457200">
              <a:defRPr b="1" sz="29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p>
          <a:p>
            <a:pPr algn="l" defTabSz="457200">
              <a:lnSpc>
                <a:spcPct val="117999"/>
              </a:lnSpc>
              <a:defRPr b="1" sz="1200">
                <a:solidFill>
                  <a:srgbClr val="800000"/>
                </a:solidFill>
                <a:latin typeface="Helvetica"/>
                <a:ea typeface="Helvetica"/>
                <a:cs typeface="Helvetica"/>
                <a:sym typeface="Helvetica"/>
              </a:defRPr>
            </a:pPr>
            <a:r>
              <a:t>DELONG &lt;</a:t>
            </a:r>
            <a:r>
              <a:rPr u="sng">
                <a:hlinkClick r:id="rId18" invalidUrl="" action="" tgtFrame="" tooltip="" history="1" highlightClick="0" endSnd="0"/>
              </a:rPr>
              <a:t>https://berkeley.zoom.us/j/7744601602</a:t>
            </a:r>
            <a:r>
              <a:t>&gt;</a:t>
            </a:r>
          </a:p>
          <a:p>
            <a:pPr algn="l" defTabSz="457200">
              <a:lnSpc>
                <a:spcPct val="117999"/>
              </a:lnSpc>
              <a:defRPr b="1" sz="1200">
                <a:solidFill>
                  <a:srgbClr val="800000"/>
                </a:solidFill>
                <a:latin typeface="Helvetica"/>
                <a:ea typeface="Helvetica"/>
                <a:cs typeface="Helvetica"/>
                <a:sym typeface="Helvetica"/>
              </a:defRPr>
            </a:pPr>
            <a:r>
              <a:t>#2021-06-29 Tu 13:00 PDT Hexapodia Recording Zach Carter...</a:t>
            </a:r>
          </a:p>
          <a:p>
            <a:pPr algn="l" defTabSz="457200">
              <a:lnSpc>
                <a:spcPct val="117999"/>
              </a:lnSpc>
              <a:defRPr b="1" sz="1200">
                <a:solidFill>
                  <a:srgbClr val="800000"/>
                </a:solidFill>
                <a:latin typeface="Helvetica"/>
                <a:ea typeface="Helvetica"/>
                <a:cs typeface="Helvetica"/>
                <a:sym typeface="Helvetica"/>
              </a:defRPr>
            </a:pPr>
          </a:p>
          <a:p>
            <a:pPr algn="l" defTabSz="457200">
              <a:lnSpc>
                <a:spcPct val="117999"/>
              </a:lnSpc>
              <a:defRPr b="1" sz="1200">
                <a:solidFill>
                  <a:srgbClr val="800000"/>
                </a:solidFill>
                <a:latin typeface="Helvetica"/>
                <a:ea typeface="Helvetica"/>
                <a:cs typeface="Helvetica"/>
                <a:sym typeface="Helvetica"/>
              </a:defRPr>
            </a:pP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168" name="Image" descr="Image"/>
          <p:cNvPicPr>
            <a:picLocks noChangeAspect="1"/>
          </p:cNvPicPr>
          <p:nvPr/>
        </p:nvPicPr>
        <p:blipFill>
          <a:blip r:embed="rId19">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0"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171"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172" name="Carter on Friedman"/>
          <p:cNvSpPr txBox="1"/>
          <p:nvPr>
            <p:ph type="title"/>
          </p:nvPr>
        </p:nvSpPr>
        <p:spPr>
          <a:xfrm>
            <a:off x="388587" y="0"/>
            <a:ext cx="23622001" cy="1968500"/>
          </a:xfrm>
          <a:prstGeom prst="rect">
            <a:avLst/>
          </a:prstGeom>
        </p:spPr>
        <p:txBody>
          <a:bodyPr lIns="91436" tIns="91436" rIns="91436" bIns="91436" anchor="ctr"/>
          <a:lstStyle>
            <a:lvl1pPr algn="ctr" defTabSz="886968">
              <a:lnSpc>
                <a:spcPct val="100000"/>
              </a:lnSpc>
              <a:defRPr spc="0" sz="11640">
                <a:solidFill>
                  <a:srgbClr val="800000"/>
                </a:solidFill>
                <a:uFill>
                  <a:solidFill>
                    <a:srgbClr val="000000"/>
                  </a:solidFill>
                </a:uFill>
              </a:defRPr>
            </a:lvl1pPr>
          </a:lstStyle>
          <a:p>
            <a:pPr/>
            <a:r>
              <a:t>Carter on Friedman</a:t>
            </a:r>
          </a:p>
        </p:txBody>
      </p:sp>
      <p:sp>
        <p:nvSpPr>
          <p:cNvPr id="173"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174"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lstStyle/>
          <a:p>
            <a:pPr algn="l" defTabSz="457200">
              <a:defRPr b="1" sz="2000">
                <a:solidFill>
                  <a:srgbClr val="3C2424"/>
                </a:solidFill>
                <a:latin typeface="Helvetica"/>
                <a:ea typeface="Helvetica"/>
                <a:cs typeface="Helvetica"/>
                <a:sym typeface="Helvetica"/>
              </a:defRPr>
            </a:pPr>
            <a:r>
              <a:t>Zach Carter</a:t>
            </a:r>
            <a:r>
              <a:rPr b="0"/>
              <a:t>:</a:t>
            </a:r>
            <a:r>
              <a:t> </a:t>
            </a:r>
            <a:r>
              <a:rPr b="0" i="1"/>
              <a:t>The End of Friedmanomics </a:t>
            </a:r>
            <a:r>
              <a:rPr b="0"/>
              <a:t>&lt;</a:t>
            </a:r>
            <a:r>
              <a:rPr b="0" u="sng">
                <a:hlinkClick r:id="rId3" invalidUrl="" action="" tgtFrame="" tooltip="" history="1" highlightClick="0" endSnd="0"/>
              </a:rPr>
              <a:t>https://newrepublic.com/article/162623/milton-friedman-legacy-biden-government-spending</a:t>
            </a:r>
            <a:r>
              <a:rPr b="0"/>
              <a:t>&gt;</a:t>
            </a:r>
            <a:endParaRPr b="0"/>
          </a:p>
          <a:p>
            <a:pPr algn="l" defTabSz="457200">
              <a:defRPr b="1"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When he arrived in South Africa on March 20, 1976, Milton Friedman was a bona fide celebrity…. Friedman was a bestselling author and no stranger to fine living. But he was astonished by both “the extraordinary affluence of the White community” and the “extraordinary inequality of wealth” in South Africa. Friedman was not a man to scold opulence, and yet he found the tension permeating apartheid South Africa palpable in both taxicabs and hotel ballrooms. The “hardboiled attitudes” of Mobil chairman Bill Beck and his friends were difficult for him to endure….</a:t>
            </a:r>
          </a:p>
          <a:p>
            <a:pPr lvl="1" algn="l" defTabSz="457200">
              <a:defRPr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All of which makes a contemporary reading of Friedman’s Cape Town lectures… harrowing.… His first speech was an unremitting diatribe against political democracy.… Voting, Friedman declared, was inescapably corrupt, a distorted “market” in which “special interests” inevitably dictated the course of public life. Most voters were “ill-informed.” Voting was a “highly weighted” process that created the illusion of social cooperation that whitewashed a reality of “coercion and force.” True democracy, Friedman insisted, was to be found not through the franchise, but the free market, where consumers could express their preferences with their unencumbered wallets. South Africa, he warned, should avoid the example of the United States, which since 1929 had allowed political democracy to steadily encroach on the domain of the “economic market,” resulting in “a drastic restriction in economic, personal, and political freedom.”…</a:t>
            </a:r>
          </a:p>
          <a:p>
            <a:pPr lvl="1" algn="l" defTabSz="457200">
              <a:defRPr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Friedman did not subscribe to biological theories of racial inferiority.… The program Friedman prescribed for apartheid South Africa in 1976 was essentially the same agenda he called for in America over his entire career as a public intellectual—unrestrained commerce as a cure-all for inequality and unrest.</a:t>
            </a:r>
          </a:p>
          <a:p>
            <a:pPr lvl="1" algn="l" defTabSz="457200">
              <a:defRPr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That this prescription found political purchase with the American right in the 1960s is not a surprise. Friedman’s opposition to state power during an era of liberal reform offered conservatives an intellectual justification to defend the old order. What remains remarkable is the extent to which the Democratic Party—Friedman’s lifelong political adversary—came to embrace core tenets of Friedmanism. When Friedman passed away in 2006, Larry Summers, who had advised Bill Clinton and would soon do the same for Barack Obama, acknowledged the success of Friedman’s attack on the very legitimacy of public power within his own party. “Any honest Democrat will admit that we are now all Friedmanites,” he declared in The New York Times.</a:t>
            </a:r>
          </a:p>
          <a:p>
            <a:pPr lvl="1" algn="l" defTabSz="457200">
              <a:defRPr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No longer. In the early months of his presidency, Joe Biden has pursued policy ambitions unseen from American leaders since the 1960s. If implemented, the agenda he described in an April 28 address to Congress would transform the country—slashing poverty, assuaging inequality, reviving the infrastructure that supports daily economic life, and relieving the financial strains that childcare and medical care put on families everywhere. It will cost a lot of money, and so far at least, Biden isn’t letting the price tag intimidate him. “I want to change the paradigm,” he repeated three times at a press conference in March…</a:t>
            </a:r>
          </a:p>
          <a:p>
            <a:pPr algn="l" defTabSz="457200">
              <a:defRPr b="1" sz="2000">
                <a:solidFill>
                  <a:srgbClr val="3C2424"/>
                </a:solidFill>
                <a:latin typeface="Helvetica"/>
                <a:ea typeface="Helvetica"/>
                <a:cs typeface="Helvetica"/>
                <a:sym typeface="Helvetica"/>
              </a:defRPr>
            </a:pPr>
            <a:endParaRPr b="0"/>
          </a:p>
        </p:txBody>
      </p:sp>
      <p:sp>
        <p:nvSpPr>
          <p:cNvPr id="175"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176" name="Image" descr="Image"/>
          <p:cNvPicPr>
            <a:picLocks noChangeAspect="1"/>
          </p:cNvPicPr>
          <p:nvPr/>
        </p:nvPicPr>
        <p:blipFill>
          <a:blip r:embed="rId4">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8"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179"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180" name="Carter on Keynes"/>
          <p:cNvSpPr txBox="1"/>
          <p:nvPr>
            <p:ph type="title"/>
          </p:nvPr>
        </p:nvSpPr>
        <p:spPr>
          <a:xfrm>
            <a:off x="388587" y="0"/>
            <a:ext cx="23622001" cy="1968500"/>
          </a:xfrm>
          <a:prstGeom prst="rect">
            <a:avLst/>
          </a:prstGeom>
        </p:spPr>
        <p:txBody>
          <a:bodyPr lIns="91436" tIns="91436" rIns="91436" bIns="91436" anchor="ctr"/>
          <a:lstStyle>
            <a:lvl1pPr algn="ctr" defTabSz="886968">
              <a:lnSpc>
                <a:spcPct val="100000"/>
              </a:lnSpc>
              <a:defRPr spc="0" sz="11640">
                <a:solidFill>
                  <a:srgbClr val="800000"/>
                </a:solidFill>
                <a:uFill>
                  <a:solidFill>
                    <a:srgbClr val="000000"/>
                  </a:solidFill>
                </a:uFill>
              </a:defRPr>
            </a:lvl1pPr>
          </a:lstStyle>
          <a:p>
            <a:pPr/>
            <a:r>
              <a:t>Carter on Keynes</a:t>
            </a:r>
          </a:p>
        </p:txBody>
      </p:sp>
      <p:sp>
        <p:nvSpPr>
          <p:cNvPr id="181"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182"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normAutofit fontScale="100000" lnSpcReduction="0"/>
          </a:bodyPr>
          <a:lstStyle/>
          <a:p>
            <a:pPr algn="l" defTabSz="457200">
              <a:defRPr b="1" sz="2000">
                <a:solidFill>
                  <a:srgbClr val="3C2424"/>
                </a:solidFill>
                <a:latin typeface="Helvetica"/>
                <a:ea typeface="Helvetica"/>
                <a:cs typeface="Helvetica"/>
                <a:sym typeface="Helvetica"/>
              </a:defRPr>
            </a:pPr>
            <a:r>
              <a:t>Zach Carter</a:t>
            </a:r>
            <a:r>
              <a:rPr b="0"/>
              <a:t>:</a:t>
            </a:r>
            <a:r>
              <a:t> </a:t>
            </a:r>
            <a:r>
              <a:rPr b="0" i="1"/>
              <a:t>The Price of Peace: Money, Democracy, &amp; the Life of John Maynard Keynes </a:t>
            </a:r>
            <a:r>
              <a:rPr b="0"/>
              <a:t>&lt;</a:t>
            </a:r>
            <a:r>
              <a:rPr b="0" u="sng">
                <a:hlinkClick r:id="rId3" invalidUrl="" action="" tgtFrame="" tooltip="" history="1" highlightClick="0" endSnd="0"/>
              </a:rPr>
              <a:t>https://www.zacharydcarter.com</a:t>
            </a:r>
            <a:r>
              <a:rPr b="0"/>
              <a:t>&gt;</a:t>
            </a:r>
          </a:p>
          <a:p>
            <a:pPr algn="l" defTabSz="457200">
              <a:defRPr b="1"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The school of thought that has come to be associated with the name of Keynes no longer has much to do with the moral and political ideals Keynes himself prized. Keynesianism in this broader sense was for a time synonymous with liberal internationalism—the idea that shrewd, humane economic management could protect democracies from the siren songs of authoritarian demagogues and spread peace and prosperity around the globe….</a:t>
            </a:r>
          </a:p>
          <a:p>
            <a:pPr lvl="1" algn="l" defTabSz="457200">
              <a:defRPr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The key to realizing that international vision was domestic economic policy making. International political stability would be achieved—or at least encouraged—by alleviating domestic economic inequality. State spending on public works and public health could be combined with redistributive taxation to boost consumer demand, while establishing an environment in which great art could thrive. In his maturity, Keynes offered radicals a deal: They could realize the cultural and moral aims of liberationist revolution—a more equal society and a democratically accountable political leadership—while avoiding the risks and tragedies inherent to violent conflict. He claimed that the social order established by nineteenth-century imperialism and nineteenth-century capitalism was not so rigid that it could not be reformed rather than overthrown.</a:t>
            </a:r>
          </a:p>
          <a:p>
            <a:pPr lvl="1" algn="l" defTabSz="457200">
              <a:defRPr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After nearly a century on trial, this Keynesianism has not embarrassed itself, but neither has it been vindicated. The New Deal, the Beveridge Plan, and the Great Society fundamentally reordered British and American life, making both societies more equal, more democratic, and more prosperous. In the 1930s, black poverty in the United States was so high that nobody bothered to measure it. By the 1950s, it was over 50 percent. Today it is about 20 percent. This is progress. But it is decidedly not the world promised by the Communist Party in the 1930s, when it denounced Franklin Delano Roosevelt as a tool of the business elite. It cannot compete with the dreams of liberation presented by Black Power revolutionaries of the 1960s….</a:t>
            </a:r>
          </a:p>
          <a:p>
            <a:pPr lvl="1" algn="l" defTabSz="457200">
              <a:defRPr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Keynesians can persuasively argue that today’s tragedies are the product of a failure to fully implement Keynesian ideas rather than a failure of Keynesian policies…. F</a:t>
            </a:r>
            <a:r>
              <a:t>or the past thirty-five years, the United States and Great Britain have mixed Keynesian disaster management—bailouts and stimulus programs—with the aristocratic deregulatory agenda of Hayekian neoliberalism.</a:t>
            </a:r>
          </a:p>
          <a:p>
            <a:pPr lvl="1" algn="l" defTabSz="457200">
              <a:defRPr b="1"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It is appropriate for neoliberalism to take most of the blame for the political upheavals of the twenty-first century. The neoliberal faith in the power of financial markets bequeathed us the financial crisis of 2008, and the fallout from that disaster has fueled dozens of hateful movements around the world. While the American commitment to Keynesian stimulus after the crash was inconstant, Keynesian ideas were simply abandoned throughout most of Europe…. The economic ruin… has energized neofascist political parties, which now threaten the political establishment…. But pointing the finger at neoliberalism raises uncomfortable questions for Keynes and his defenders. Why has Keynesianism proven to be so politically weak, even among ostensibly liberal political parties and nations? The Keynesian bargain of peace, equality, and prosperity ought to be irresistible in a democracy. It has instead been fleeting and fragile. Keynes believed that democracies slipped into tyranny when they were denied economic sustenance. Why, then, have so many democracies elected to deny themselves economic sustenance?…</a:t>
            </a:r>
          </a:p>
          <a:p>
            <a:pPr lvl="1" algn="l" defTabSz="457200">
              <a:defRPr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This is a dark time for democracy—a statement that would have been unthinkable to U.S. and European leaders only a few short years ago. It took decades of mismanagement and unlearning to manufacture this global crisis, and it cannot be undone with a few new laws or elections.</a:t>
            </a:r>
          </a:p>
          <a:p>
            <a:pPr lvl="1" algn="l" defTabSz="457200">
              <a:defRPr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Mainstream economists now speak openly of moving “beyond neoliberalism”…. Keynesianism in this purest, simplest form is not so much a school of economic thought as a spirit of radical optimism, unjustified by most of human history and extremely difficult to conjure up precisely when it is most needed: during the depths of a depression or amid the fevers of war. Yet such optimism is a vital and necessary element of everyday life…. A better future was not beyond our control if the different peoples of the world worked together.… “Were the Seven Wonders of the world built by Thrift?” he asked readers of A Treatise on Money. “I deem it doubtful.”… In the long run, almost anything is possible.</a:t>
            </a:r>
          </a:p>
        </p:txBody>
      </p:sp>
      <p:sp>
        <p:nvSpPr>
          <p:cNvPr id="183"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184" name="Image" descr="Image"/>
          <p:cNvPicPr>
            <a:picLocks noChangeAspect="1"/>
          </p:cNvPicPr>
          <p:nvPr/>
        </p:nvPicPr>
        <p:blipFill>
          <a:blip r:embed="rId4">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6"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187"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188" name="The Keynesian Friedman I"/>
          <p:cNvSpPr txBox="1"/>
          <p:nvPr>
            <p:ph type="title"/>
          </p:nvPr>
        </p:nvSpPr>
        <p:spPr>
          <a:xfrm>
            <a:off x="388587" y="0"/>
            <a:ext cx="23622001" cy="1968500"/>
          </a:xfrm>
          <a:prstGeom prst="rect">
            <a:avLst/>
          </a:prstGeom>
        </p:spPr>
        <p:txBody>
          <a:bodyPr lIns="91436" tIns="91436" rIns="91436" bIns="91436" anchor="ctr"/>
          <a:lstStyle>
            <a:lvl1pPr algn="ctr" defTabSz="886968">
              <a:lnSpc>
                <a:spcPct val="100000"/>
              </a:lnSpc>
              <a:defRPr spc="0" sz="11640">
                <a:solidFill>
                  <a:srgbClr val="800000"/>
                </a:solidFill>
                <a:uFill>
                  <a:solidFill>
                    <a:srgbClr val="000000"/>
                  </a:solidFill>
                </a:uFill>
              </a:defRPr>
            </a:lvl1pPr>
          </a:lstStyle>
          <a:p>
            <a:pPr/>
            <a:r>
              <a:t>The Keynesian Friedman I</a:t>
            </a:r>
          </a:p>
        </p:txBody>
      </p:sp>
      <p:sp>
        <p:nvSpPr>
          <p:cNvPr id="189"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190"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lstStyle/>
          <a:p>
            <a:pPr algn="l" defTabSz="457200">
              <a:defRPr b="1" sz="2000">
                <a:solidFill>
                  <a:srgbClr val="3C2424"/>
                </a:solidFill>
                <a:latin typeface="Helvetica"/>
                <a:ea typeface="Helvetica"/>
                <a:cs typeface="Helvetica"/>
                <a:sym typeface="Helvetica"/>
              </a:defRPr>
            </a:pPr>
            <a:r>
              <a:t>Brad DeLong</a:t>
            </a:r>
            <a:r>
              <a:rPr b="0"/>
              <a:t> (2001): </a:t>
            </a:r>
            <a:r>
              <a:rPr b="0" i="1"/>
              <a:t>The Monetarist Counterrevolution</a:t>
            </a:r>
            <a:r>
              <a:rPr b="0"/>
              <a:t> &lt;</a:t>
            </a:r>
            <a:r>
              <a:rPr b="0" u="sng">
                <a:hlinkClick r:id="rId3" invalidUrl="" action="" tgtFrame="" tooltip="" history="1" highlightClick="0" endSnd="0"/>
              </a:rPr>
              <a:t>https://web.archive.org/web/20010517134105/http://www.j-bradford-delong.net/TotW/counterrev.html</a:t>
            </a:r>
            <a:r>
              <a:rPr b="0"/>
              <a:t>&gt;</a:t>
            </a:r>
            <a:endParaRPr b="0"/>
          </a:p>
          <a:p>
            <a:pPr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In Schumpeter’s view, stimulative monetary policies, therefore, "are particularly apt to keep up, and add to, maladjustment, and to produce additional trouble for the future." Moreover, words like "stimulative" carry a special meaning in this context: if private sector actions would lead to a fall in, say, the nominal money stock, then a public sector attempt to counteract the consequences of such private-sector actions by injecting sufficient reserves to hold the nominal money stock constant would be “stimulative."</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The doctrine that in the long run the Great Depression would turn out to have been "good medicine" for the economy, and that proponents of stimulative policies were shortsighted enemies of the public welfare drew many anguished cries of dissent. British economist Ralph Hawtrey scorned those who warned against stimulative policies at the nadir of the Great Depression. To call for more liquidation and deflation was, Hawtrey said, "to cry, ‘Fire! Fire!’ in Noah’s flood." Keynes (1931) tried to discredit the "liquidationist view" with ridicule. He called it an "imbecility" to argue that the "wonderful outburst of productive energy" during the boom of 1924–29 had made the Great Depression inevitable. He spoke of Schumpeter and his fellow travelers as:</a:t>
            </a:r>
            <a:endParaRPr b="0"/>
          </a:p>
          <a:p>
            <a:pPr lvl="1" algn="l" defTabSz="457200">
              <a:defRPr b="1" sz="2000">
                <a:solidFill>
                  <a:srgbClr val="3C2424"/>
                </a:solidFill>
                <a:latin typeface="Helvetica"/>
                <a:ea typeface="Helvetica"/>
                <a:cs typeface="Helvetica"/>
                <a:sym typeface="Helvetica"/>
              </a:defRPr>
            </a:pPr>
            <a:endParaRPr b="0"/>
          </a:p>
          <a:p>
            <a:pPr lvl="2" algn="l" defTabSz="457200">
              <a:defRPr b="1" sz="2000">
                <a:solidFill>
                  <a:srgbClr val="3C2424"/>
                </a:solidFill>
                <a:latin typeface="Helvetica"/>
                <a:ea typeface="Helvetica"/>
                <a:cs typeface="Helvetica"/>
                <a:sym typeface="Helvetica"/>
              </a:defRPr>
            </a:pPr>
            <a:r>
              <a:rPr b="0"/>
              <a:t>austere and puritanical souls [who] regard [the Great Depression] …as an inevitable and a desirable nemesis on… "overexpansion" as they call it.…It would, they feel, be a victory for the mammon of unrighteousness if so much prosperity was not subsequently balanced by universal bankruptcy. We need, they say, what they politely call a ‘prolonged liquidation’ to put us right. The liquidation, they tell us, is not yet complete. But in time it will be. And when sufficient time has elapsed for the completion of the liquidation, all will be well with us again…</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It is on this point that we find complete and total agreement between John Maynard Keynes and Milton Friedman….  Keynes saw the market economy as having two great flaws: first, that demand for investment was extraordinarily and pointlessly volatile as business leaders and investors attempted the hopeless task of trying to pierce the veil of time and ignorance, and, second, that the fluctuations in the wage level that classical economic theory relied on to bring the economy back into balance after such an investment fluctuation either did not work at all or worked too slowly to be relevant for economic policy. (No, I am not going to be drawn into the debate about "unemployment disequilibrium.") </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But if these problems could be fixed, Keynes believed, then the standard market-oriented toolkit of economists was worthwhile and relevant once more.</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And this is exactly Friedman's position…. The vision is one of powerful and strategic but focused and limited government intervention and control of a narrow section of the economy, in the hope that the merits of laissez-faire can flourish in the rest of the economy.</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r>
              <a:t>David Beckworth</a:t>
            </a:r>
            <a:r>
              <a:rPr b="0"/>
              <a:t> (2010): </a:t>
            </a:r>
            <a:r>
              <a:rPr b="0" i="1"/>
              <a:t>Case Closed: Milton Friedman Would Have Supported QE2</a:t>
            </a:r>
            <a:r>
              <a:rPr b="0"/>
              <a:t> &lt;</a:t>
            </a:r>
            <a:r>
              <a:rPr b="0" u="sng">
                <a:hlinkClick r:id="rId4" invalidUrl="" action="" tgtFrame="" tooltip="" history="1" highlightClick="0" endSnd="0"/>
              </a:rPr>
              <a:t>https://macromarketmusings.blogspot.com/2010/11/case-closed-milton-friedman-would-have.html</a:t>
            </a:r>
            <a:r>
              <a:rPr b="0"/>
              <a:t>&gt;:</a:t>
            </a:r>
            <a:endParaRPr b="0"/>
          </a:p>
          <a:p>
            <a:pPr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The debate over what Milton Friedman would say about QE2 can now be closed.  Below is a Q&amp;A with Milton Friedman following a speech he delivered in 2000.  In this excerpted exchange with David Laidler, we learn that Friedman's prescription for Japan at that time is almost identical to what the Fed is doing now with QE2…</a:t>
            </a:r>
            <a:endParaRPr b="0"/>
          </a:p>
          <a:p>
            <a:pPr lvl="1"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r>
              <a:t>Milton Friedman</a:t>
            </a:r>
            <a:r>
              <a:rPr b="0"/>
              <a:t> (2000): </a:t>
            </a:r>
            <a:r>
              <a:rPr b="0" i="1"/>
              <a:t>Canada &amp; Flexible Exchange Rates</a:t>
            </a:r>
            <a:r>
              <a:rPr b="0"/>
              <a:t> &lt;</a:t>
            </a:r>
            <a:r>
              <a:rPr b="0" u="sng">
                <a:hlinkClick r:id="rId5" invalidUrl="" action="" tgtFrame="" tooltip="" history="1" highlightClick="0" endSnd="0"/>
              </a:rPr>
              <a:t>https://www.bankofcanada.ca/wp-content/uploads/2010/08/keynote.pdf</a:t>
            </a:r>
            <a:r>
              <a:rPr b="0"/>
              <a:t>&gt;</a:t>
            </a:r>
            <a:endParaRPr b="0"/>
          </a:p>
          <a:p>
            <a:pPr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br>
              <a:rPr b="0"/>
            </a:br>
          </a:p>
        </p:txBody>
      </p:sp>
      <p:sp>
        <p:nvSpPr>
          <p:cNvPr id="191"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192" name="Image" descr="Image"/>
          <p:cNvPicPr>
            <a:picLocks noChangeAspect="1"/>
          </p:cNvPicPr>
          <p:nvPr/>
        </p:nvPicPr>
        <p:blipFill>
          <a:blip r:embed="rId6">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4"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195"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196" name="Four Friedmans"/>
          <p:cNvSpPr txBox="1"/>
          <p:nvPr>
            <p:ph type="title"/>
          </p:nvPr>
        </p:nvSpPr>
        <p:spPr>
          <a:xfrm>
            <a:off x="388587" y="0"/>
            <a:ext cx="23622001" cy="1968500"/>
          </a:xfrm>
          <a:prstGeom prst="rect">
            <a:avLst/>
          </a:prstGeom>
        </p:spPr>
        <p:txBody>
          <a:bodyPr lIns="91436" tIns="91436" rIns="91436" bIns="91436" anchor="ctr"/>
          <a:lstStyle>
            <a:lvl1pPr algn="ctr" defTabSz="886968">
              <a:lnSpc>
                <a:spcPct val="100000"/>
              </a:lnSpc>
              <a:defRPr spc="0" sz="11640">
                <a:solidFill>
                  <a:srgbClr val="800000"/>
                </a:solidFill>
                <a:uFill>
                  <a:solidFill>
                    <a:srgbClr val="000000"/>
                  </a:solidFill>
                </a:uFill>
              </a:defRPr>
            </a:lvl1pPr>
          </a:lstStyle>
          <a:p>
            <a:pPr/>
            <a:r>
              <a:t>Four Friedmans</a:t>
            </a:r>
          </a:p>
        </p:txBody>
      </p:sp>
      <p:sp>
        <p:nvSpPr>
          <p:cNvPr id="197"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198"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lstStyle/>
          <a:p>
            <a:pPr algn="l" defTabSz="457200">
              <a:defRPr b="1" sz="2000">
                <a:solidFill>
                  <a:srgbClr val="3C2424"/>
                </a:solidFill>
                <a:latin typeface="Helvetica"/>
                <a:ea typeface="Helvetica"/>
                <a:cs typeface="Helvetica"/>
                <a:sym typeface="Helvetica"/>
              </a:defRPr>
            </a:pPr>
            <a:r>
              <a:t>Brad DeLong</a:t>
            </a:r>
            <a:r>
              <a:rPr b="0"/>
              <a:t> (1999): </a:t>
            </a:r>
            <a:r>
              <a:rPr b="0" i="1"/>
              <a:t>The Triumph? of Monetarism</a:t>
            </a:r>
            <a:r>
              <a:rPr b="0"/>
              <a:t> &lt;</a:t>
            </a:r>
            <a:r>
              <a:rPr b="0" u="sng">
                <a:hlinkClick r:id="rId3" invalidUrl="" action="" tgtFrame="" tooltip="" history="1" highlightClick="0" endSnd="0"/>
              </a:rPr>
              <a:t>https://delong.typepad.com/delong_long_form/1999/10/j-bradford-delong-the-triumph-of-monetarism.html</a:t>
            </a:r>
            <a:r>
              <a:rPr b="0"/>
              <a:t>&gt;</a:t>
            </a:r>
            <a:endParaRPr b="0"/>
          </a:p>
          <a:p>
            <a:pPr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We may not all be Keynesians now, but the influence of Monetarism on how we all think about macroeconomics today has been deep, pervasive, and subtle…. The most fruitful way to look at the history of Monetarism is to distinguish between four different variants or subspecies of Monetarism that emerged and for a time flourished in the century just past: First Monetarism, Old Chicago Monetarism, High Monetarism, and Political Monetarism….</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The First Monetarism is Irving Fisher’s…. ”The Debt-Deflation Theory of Great Depressions" can still be read with profit. But… other economists became exasperated with monetarist analyses of events made by their colleagues in the immediate aftermath of World War I. This exasperation led one of the very best of this first subspecies of monetarists—John Maynard Keynes, Mark I—to declare in his Tract on Monetary Reform (1923) that the standard quantity-theoretic analyses were completely useless… [and] led him on the intellectual journey that ended with the non-Monetarist John Maynard Keynes, Mark II, and The General Theory of Employment, Interest and Money. Most economists would agree with Keynes. Milton Friedman certainly does. In his 1956 "The Quantity Theory of Money--A Restatement," Friedman sets out that one of his principal goals is to rescue monetarism from the "atrophied and rigid caricature" of an economic theory that it had become in the interwar period at the hands of economists such as Robbins and Joseph Schumpeter….</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The Old Chicago Monetarism of Viner, Simons, and Knight…. It was monetary and fiscal policies that had "permitt[ed] banks to fail and the quantity of deposits to decline" that were at the root of America's macroeconomic policies in the Great Depression. To cure the depression they called for massive stimulative monetary expansion and large government deficits, or at least for policies to make sure that any deflation that took place was “balanced”…</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Classic Monetarism…. The worry that control of the monetary base was insufficient to control the money stock was to be dealt with… by reforming the banking system to eliminate every possibility of fluctuations in the money multiplier…. Without cyclical fluctuations in the money stock and in inflation, there would be no cause of cyclical fluctuations in the velocity of money. Thus banking system reform and Federal Reserve reform would eliminate the monetary causes of the business cycle…. At some point in the first post-World War II generation, the Chicago School developed a strong fear and distaste for the state. The monetarist policy recommendations of a stable growth rate for nominal money and a constrained, automatic central bank were then seen as having an added bonus: they were tools to advance the libertarian goal of the shrinkage of the state…. Classic Monetarism--shorn of its program for monetary stability--became intellectually very powerful in the 1970s….</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Political Monetarism… argued not that velocity could be made stable if monetary shocks were avoided, but that velocity was stable. Thus the money stock became a sufficient statistic for forecasting nominal demand, and central bankers could close their eyes to all economic statistics save monetary aggregates alone…. All theories and doctrines are stripped down to a core that includes substantial proportions of misrepresentation and overstatement when the doctrines become political and policy weapons. And from today's perspective it is clear that the stripping-down that created Political Monetarism was unfortunate. For what we now believe to be truly valuable about the work done by the Monetarist tradition was deemphasized…. Monetarism subspecies four was failing its empirical test…</a:t>
            </a:r>
          </a:p>
        </p:txBody>
      </p:sp>
      <p:sp>
        <p:nvSpPr>
          <p:cNvPr id="199"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200" name="Image" descr="Image"/>
          <p:cNvPicPr>
            <a:picLocks noChangeAspect="1"/>
          </p:cNvPicPr>
          <p:nvPr/>
        </p:nvPicPr>
        <p:blipFill>
          <a:blip r:embed="rId4">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2"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203"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204" name="Friedmanite Follies"/>
          <p:cNvSpPr txBox="1"/>
          <p:nvPr>
            <p:ph type="title"/>
          </p:nvPr>
        </p:nvSpPr>
        <p:spPr>
          <a:xfrm>
            <a:off x="381000" y="0"/>
            <a:ext cx="23622000" cy="1968501"/>
          </a:xfrm>
          <a:prstGeom prst="rect">
            <a:avLst/>
          </a:prstGeom>
        </p:spPr>
        <p:txBody>
          <a:bodyPr lIns="91436" tIns="91436" rIns="91436" bIns="91436" anchor="ctr"/>
          <a:lstStyle>
            <a:lvl1pPr algn="ctr" defTabSz="886968">
              <a:lnSpc>
                <a:spcPct val="100000"/>
              </a:lnSpc>
              <a:defRPr spc="0" sz="11640">
                <a:solidFill>
                  <a:srgbClr val="800000"/>
                </a:solidFill>
                <a:uFill>
                  <a:solidFill>
                    <a:srgbClr val="000000"/>
                  </a:solidFill>
                </a:uFill>
              </a:defRPr>
            </a:lvl1pPr>
          </a:lstStyle>
          <a:p>
            <a:pPr/>
            <a:r>
              <a:t>Friedmanite Follies</a:t>
            </a:r>
          </a:p>
        </p:txBody>
      </p:sp>
      <p:sp>
        <p:nvSpPr>
          <p:cNvPr id="205"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206"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lstStyle/>
          <a:p>
            <a:pPr algn="l" defTabSz="457200">
              <a:defRPr b="1" sz="2000">
                <a:solidFill>
                  <a:srgbClr val="3C2424"/>
                </a:solidFill>
                <a:latin typeface="Helvetica"/>
                <a:ea typeface="Helvetica"/>
                <a:cs typeface="Helvetica"/>
                <a:sym typeface="Helvetica"/>
              </a:defRPr>
            </a:pPr>
            <a:r>
              <a:t>Brad DeLong</a:t>
            </a:r>
            <a:r>
              <a:rPr b="0"/>
              <a:t> (2015): </a:t>
            </a:r>
            <a:r>
              <a:rPr b="0" i="1"/>
              <a:t>The Monetarist Mistake</a:t>
            </a:r>
            <a:r>
              <a:rPr b="0"/>
              <a:t> &lt;</a:t>
            </a:r>
            <a:r>
              <a:rPr b="0" u="sng">
                <a:hlinkClick r:id="rId3" invalidUrl="" action="" tgtFrame="" tooltip="" history="1" highlightClick="0" endSnd="0"/>
              </a:rPr>
              <a:t>https://www.project-syndicate.org/commentary/friedman-ideas-great-recession-by-j--bradford-delong-2015-03</a:t>
            </a:r>
            <a:r>
              <a:rPr b="0"/>
              <a:t>&gt;</a:t>
            </a:r>
            <a:endParaRPr b="0"/>
          </a:p>
          <a:p>
            <a:pPr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The debate over which interventions would be needed to put a halt to something like the Great Depression should have been a simple matter of analyzing the evidence…. Was Keynes correct when he described the concept of a liquidity trap, a situation in which easing monetary policy further proves ineffective? Is the stock of money in an economy an adequate predictor of total spending, as Friedman claimed, or is the smooth functioning of credit channels a more important factor, as Minsky argued? These questions can be debated. But it is fairly clear that even in the 1970s there was not enough empirical evidence in support of Friedman’s ideas to justify their growing dominance…. The dominance of Friedman’s ideas at the beginning of the Great Recession has less to do with the evidence supporting them than with the fact that the science of economics is all too often tainted by politics. In this case, the contamination was so bad that policymakers were unwilling to go beyond Friedman and apply Keynesian and Minskyite policies on a large enough scale to address the problems that the Great Recession presented.</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Admitting that the monetarist cure was inadequate would have required mainstream economists to swim against the neoliberal currents of our age. It would have required acknowledging that the causes of the Great Depression ran much deeper than a technocratic failure to manage the money supply properly. And doing that would have been tantamount to admitting the merits of social democracy and recognizing that the failure of markets can sometimes be a greater danger than the inefficiency of governments.</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The result was a host of policies based not on evidence, but on inadequately examined ideas. And we are still paying the price for that intellectual failure today.</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r>
              <a:t>Brad DeLong</a:t>
            </a:r>
            <a:r>
              <a:rPr b="0"/>
              <a:t> (2007): </a:t>
            </a:r>
            <a:r>
              <a:rPr b="0" i="1"/>
              <a:t>Right from the Start?: What Milton Friedman Can Teach Progressives</a:t>
            </a:r>
            <a:r>
              <a:rPr b="0"/>
              <a:t> &lt;</a:t>
            </a:r>
            <a:r>
              <a:rPr b="0" u="sng">
                <a:hlinkClick r:id="rId4" invalidUrl="" action="" tgtFrame="" tooltip="" history="1" highlightClick="0" endSnd="0"/>
              </a:rPr>
              <a:t>https://web.archive.org/web/20070513134239/http://democracyjournal.org/article.php?ID=6514</a:t>
            </a:r>
            <a:r>
              <a:rPr b="0"/>
              <a:t>&gt;</a:t>
            </a:r>
            <a:endParaRPr b="0"/>
          </a:p>
          <a:p>
            <a:pPr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Relatively early in his Chicago days, Friedman swung to the libertarian edge of the political and economic spectrum, having, in his later words, woken up to reality…. His respect for even the possibility of government action was gone. His grudging approval of the New Deal was gone, too: Those elements that weren’t positively destructive were ineffective, diverting attention from what Friedman now believed would have cured the Great Depression, a substantial expansion of the money supply. The New Deal, Friedman concluded, had been “the wrong cure for the wrong disease.” </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Ebenstein covers this as a triumphal march, as the victory of rationality and truth, first in Friedman’s mind and then in his influence over the broader world, as Chicago became the dominant school within American economics, supplanting the high post–World War II tide of American social democracy. But to do so, Ebenstein papers over the inconsistencies, conflicts, and errors….  </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Friedman hated government and society sticking their nose into people’s private business. He scorned government regulation of all kinds—regulators were, he thought, inevitably captured by those they were supposed to regulate. As a result, they regulated not in the public interest but in the interest of the companies where they hoped to get jobs when they left the government. He hated big government spending. He hated budget deficits—cynical politicians could use them to pretend that the costs of government were less than they were and push into the future the raising of taxes to pay for spending into the future…. What’s more, Friedman sharply parted from his own teacher, Henry Simons, and from an earlier Chicago tradition that had seen big business as a force as dangerous as big government. Simons had thought that the anti-trust wing of the Federal Trade Commission (FTC) ought to be the most important arm of government….</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But this antipathy toward the state masks a Friedman more amenable to contemporary liberal values. For Friedman hated governmen—except when he didn’t.… London Mayor Ken Livingstone’s congestion tax on cars in central London is Friedman’s idea. Friedman’s negative income tax is one of the parents of what is now America’s largest anti-poverty program, the Earned Income Tax Credit. </a:t>
            </a:r>
          </a:p>
        </p:txBody>
      </p:sp>
      <p:sp>
        <p:nvSpPr>
          <p:cNvPr id="207"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208" name="Image" descr="Image"/>
          <p:cNvPicPr>
            <a:picLocks noChangeAspect="1"/>
          </p:cNvPicPr>
          <p:nvPr/>
        </p:nvPicPr>
        <p:blipFill>
          <a:blip r:embed="rId5">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0"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211"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212" name="Friedman’s Political Malevolent Invisible Hand"/>
          <p:cNvSpPr txBox="1"/>
          <p:nvPr>
            <p:ph type="title"/>
          </p:nvPr>
        </p:nvSpPr>
        <p:spPr>
          <a:xfrm>
            <a:off x="388587" y="0"/>
            <a:ext cx="23622001" cy="1968500"/>
          </a:xfrm>
          <a:prstGeom prst="rect">
            <a:avLst/>
          </a:prstGeom>
        </p:spPr>
        <p:txBody>
          <a:bodyPr lIns="91436" tIns="91436" rIns="91436" bIns="91436" anchor="ctr"/>
          <a:lstStyle>
            <a:lvl1pPr algn="ctr" defTabSz="640079">
              <a:lnSpc>
                <a:spcPct val="100000"/>
              </a:lnSpc>
              <a:defRPr spc="0" sz="8400">
                <a:solidFill>
                  <a:srgbClr val="800000"/>
                </a:solidFill>
                <a:uFill>
                  <a:solidFill>
                    <a:srgbClr val="000000"/>
                  </a:solidFill>
                </a:uFill>
              </a:defRPr>
            </a:lvl1pPr>
          </a:lstStyle>
          <a:p>
            <a:pPr/>
            <a:r>
              <a:t>Friedman’s Political Malevolent Invisible Hand</a:t>
            </a:r>
          </a:p>
        </p:txBody>
      </p:sp>
      <p:sp>
        <p:nvSpPr>
          <p:cNvPr id="213"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214"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normAutofit fontScale="100000" lnSpcReduction="0"/>
          </a:bodyPr>
          <a:lstStyle/>
          <a:p>
            <a:pPr algn="l" defTabSz="338327">
              <a:defRPr b="1" sz="1480">
                <a:solidFill>
                  <a:srgbClr val="3C2424"/>
                </a:solidFill>
                <a:latin typeface="Helvetica"/>
                <a:ea typeface="Helvetica"/>
                <a:cs typeface="Helvetica"/>
                <a:sym typeface="Helvetica"/>
              </a:defRPr>
            </a:pPr>
            <a:r>
              <a:t>Milton Friedman &amp; Rose Director Friedman</a:t>
            </a:r>
            <a:r>
              <a:rPr b="0"/>
              <a:t>: </a:t>
            </a:r>
            <a:r>
              <a:rPr b="0" i="1"/>
              <a:t>Free to Choose: A Personal Statement &lt;</a:t>
            </a:r>
            <a:r>
              <a:rPr b="0" u="sng">
                <a:hlinkClick r:id="rId3" invalidUrl="" action="" tgtFrame="" tooltip="" history="1" highlightClick="0" endSnd="0"/>
              </a:rPr>
              <a:t>https://www.google.com/books/edition/Free_to_Choose/uLkVAQAAMAAJ</a:t>
            </a:r>
            <a:r>
              <a:rPr b="0" i="1" sz="888">
                <a:latin typeface="Times Roman"/>
                <a:ea typeface="Times Roman"/>
                <a:cs typeface="Times Roman"/>
                <a:sym typeface="Times Roman"/>
              </a:rPr>
              <a:t>&gt;</a:t>
            </a:r>
            <a:endParaRPr sz="888">
              <a:latin typeface="Times Roman"/>
              <a:ea typeface="Times Roman"/>
              <a:cs typeface="Times Roman"/>
              <a:sym typeface="Times Roman"/>
            </a:endParaRPr>
          </a:p>
          <a:p>
            <a:pPr algn="l" defTabSz="338327">
              <a:defRPr sz="1480">
                <a:solidFill>
                  <a:srgbClr val="3C2424"/>
                </a:solidFill>
                <a:latin typeface="Helvetica"/>
                <a:ea typeface="Helvetica"/>
                <a:cs typeface="Helvetica"/>
                <a:sym typeface="Helvetica"/>
              </a:defRPr>
            </a:pPr>
          </a:p>
          <a:p>
            <a:pPr lvl="1" indent="338327" algn="l" defTabSz="338327">
              <a:defRPr sz="1480">
                <a:solidFill>
                  <a:srgbClr val="3C2424"/>
                </a:solidFill>
                <a:latin typeface="Helvetica"/>
                <a:ea typeface="Helvetica"/>
                <a:cs typeface="Helvetica"/>
                <a:sym typeface="Helvetica"/>
              </a:defRPr>
            </a:pPr>
            <a:r>
              <a:t>Television is dramatic. It appeals to the emotions. It captures your attention. Yet, we remain of the opinion that the printed page is a more effective instrument for both education and persuasion. The authors of a book can explore issues deeply—without being limited by the ticking clock. The reader can stop and think, turn the pages back without being diverted by the emotional appeal of the scenes moving relentlessly across his television screen.</a:t>
            </a:r>
          </a:p>
          <a:p>
            <a:pPr lvl="1" indent="338327" algn="l" defTabSz="338327">
              <a:defRPr sz="1480">
                <a:solidFill>
                  <a:srgbClr val="3C2424"/>
                </a:solidFill>
                <a:latin typeface="Helvetica"/>
                <a:ea typeface="Helvetica"/>
                <a:cs typeface="Helvetica"/>
                <a:sym typeface="Helvetica"/>
              </a:defRPr>
            </a:pPr>
          </a:p>
          <a:p>
            <a:pPr lvl="1" indent="338327" algn="l" defTabSz="338327">
              <a:defRPr sz="1480">
                <a:solidFill>
                  <a:srgbClr val="3C2424"/>
                </a:solidFill>
                <a:latin typeface="Helvetica"/>
                <a:ea typeface="Helvetica"/>
                <a:cs typeface="Helvetica"/>
                <a:sym typeface="Helvetica"/>
              </a:defRPr>
            </a:pPr>
            <a:r>
              <a:t>Anyone who is persuaded in one evening (or even ten one-hour evenings) is not really persuaded. He can be converted by the next person of opposite views with whom he spends an evening. The only person who can truly persuade you is yourself. You must turn the issues over in your mind at leisure, consider the many arguments, let them simmer, and after a long time turn your preferences into convictions….</a:t>
            </a:r>
          </a:p>
          <a:p>
            <a:pPr lvl="1" indent="338327" algn="l" defTabSz="338327">
              <a:defRPr sz="1480">
                <a:solidFill>
                  <a:srgbClr val="3C2424"/>
                </a:solidFill>
                <a:latin typeface="Helvetica"/>
                <a:ea typeface="Helvetica"/>
                <a:cs typeface="Helvetica"/>
                <a:sym typeface="Helvetica"/>
              </a:defRPr>
            </a:pPr>
          </a:p>
          <a:p>
            <a:pPr lvl="1" indent="338327" algn="l" defTabSz="338327">
              <a:defRPr sz="1480">
                <a:solidFill>
                  <a:srgbClr val="3C2424"/>
                </a:solidFill>
                <a:latin typeface="Helvetica"/>
                <a:ea typeface="Helvetica"/>
                <a:cs typeface="Helvetica"/>
                <a:sym typeface="Helvetica"/>
              </a:defRPr>
            </a:pPr>
            <a:r>
              <a:t>Ever since the first settlement of Europeans in the New World America has been a magnet for people seeking adventure, fleeing from tyranny, or simply trying to make a better life for themselves and their children…. They did not find streets paved with gold; they did not find an easy life. They did find freedom and an opportunity to make the most of their talents. Through hard work, ingenuity, thrift, and luck, most of them succeeded in realizing enough of their hopes and dreams to encourage friends and relatives to join them. The story of the United States is the story of an economic miracle and a political miracle that was made possible by the translation into practice of two sets of ideas—both, by a curious coincidence, formulated in documents published in the same year, 1776.</a:t>
            </a:r>
          </a:p>
          <a:p>
            <a:pPr lvl="1" indent="338327" algn="l" defTabSz="338327">
              <a:defRPr sz="1480">
                <a:solidFill>
                  <a:srgbClr val="3C2424"/>
                </a:solidFill>
                <a:latin typeface="Helvetica"/>
                <a:ea typeface="Helvetica"/>
                <a:cs typeface="Helvetica"/>
                <a:sym typeface="Helvetica"/>
              </a:defRPr>
            </a:pPr>
          </a:p>
          <a:p>
            <a:pPr lvl="1" indent="338327" algn="l" defTabSz="338327">
              <a:defRPr sz="1480">
                <a:solidFill>
                  <a:srgbClr val="3C2424"/>
                </a:solidFill>
                <a:latin typeface="Helvetica"/>
                <a:ea typeface="Helvetica"/>
                <a:cs typeface="Helvetica"/>
                <a:sym typeface="Helvetica"/>
              </a:defRPr>
            </a:pPr>
            <a:r>
              <a:t>One set of ideas was embodied in </a:t>
            </a:r>
            <a:r>
              <a:rPr i="1"/>
              <a:t>The Wealth of Nations</a:t>
            </a:r>
            <a:r>
              <a:t>, the masterpiece that established the Scotsman Adam Smith as the father of modern economics. It analyzed the way in which a market system could combine the freedom of individuals to pursue their own objectives with the extensive cooperation and collaboration needed in the economic field to produce our food, our clothing, our housing. Adam Smith's key insight was that both parties to an exchange can benefit and that, so long as cooperation is strictly voluntary, no exchange will take place unless both parties do benefit. No external force, no coercion, no violation of freedom is necessary to produce cooperation among individuals all of whom can benefit. That is why, as Adam Smith put it, an individual who "intends only his own gain" is "led by an invisible hand to promote an end which was no part of his intention. Nor is it always the worse for the society that it was no part of it. By pursuing his own interest he frequently promotes that of the society more effectually than when he really intends to promote it. I have never known much good done by those who affected to trade for the public good."</a:t>
            </a:r>
          </a:p>
          <a:p>
            <a:pPr lvl="1" indent="338327" algn="l" defTabSz="338327">
              <a:defRPr sz="1480">
                <a:solidFill>
                  <a:srgbClr val="3C2424"/>
                </a:solidFill>
                <a:latin typeface="Helvetica"/>
                <a:ea typeface="Helvetica"/>
                <a:cs typeface="Helvetica"/>
                <a:sym typeface="Helvetica"/>
              </a:defRPr>
            </a:pPr>
          </a:p>
          <a:p>
            <a:pPr lvl="1" indent="338327" algn="l" defTabSz="338327">
              <a:defRPr sz="1480">
                <a:solidFill>
                  <a:srgbClr val="3C2424"/>
                </a:solidFill>
                <a:latin typeface="Helvetica"/>
                <a:ea typeface="Helvetica"/>
                <a:cs typeface="Helvetica"/>
                <a:sym typeface="Helvetica"/>
              </a:defRPr>
            </a:pPr>
            <a:r>
              <a:t>The second set of ideas was embodied in the Declaration of Independence, drafted by Thomas Jefferson.… It proclaimed a new nation, the first in history established on the principle that every person is entitled to pursue his own values: "We hold these truths to be self-evident, that all men are created equal, that they are endowed by their Creator with certain unalienable Rights; that among these are Life, Liberty, and the pursuit of Happiness.”… Much of the history of the United States revolves about the attempt to translate the principles of the Declaration of Independence into practice—from the struggle over slavery, finally settled by a bloody civil war, to the subsequent attempt to promote equality of opportunity, to the more recent attempt to achieve equality of results.</a:t>
            </a:r>
          </a:p>
          <a:p>
            <a:pPr lvl="1" indent="338327" algn="l" defTabSz="338327">
              <a:defRPr sz="1480">
                <a:solidFill>
                  <a:srgbClr val="3C2424"/>
                </a:solidFill>
                <a:latin typeface="Helvetica"/>
                <a:ea typeface="Helvetica"/>
                <a:cs typeface="Helvetica"/>
                <a:sym typeface="Helvetica"/>
              </a:defRPr>
            </a:pPr>
          </a:p>
          <a:p>
            <a:pPr lvl="1" indent="338327" algn="l" defTabSz="338327">
              <a:defRPr sz="1480">
                <a:solidFill>
                  <a:srgbClr val="3C2424"/>
                </a:solidFill>
                <a:latin typeface="Helvetica"/>
                <a:ea typeface="Helvetica"/>
                <a:cs typeface="Helvetica"/>
                <a:sym typeface="Helvetica"/>
              </a:defRPr>
            </a:pPr>
            <a:r>
              <a:t>Economic freedom is an essential requisite for political freedom. By enabling people to cooperate with one another without coercion or central direction, it reduces the area over which political power is exercised. In addition, by dispersing power, the free market provides an offset to whatever concentration of political power may arise. The combination of economic and political power in the same hands is a sure recipe for tyranny. The combination of economic and political freedom produced a golden age in both Great Britain and the United States in the nineteenth century.…</a:t>
            </a:r>
          </a:p>
          <a:p>
            <a:pPr lvl="1" indent="338327" algn="l" defTabSz="338327">
              <a:defRPr sz="1480">
                <a:solidFill>
                  <a:srgbClr val="3C2424"/>
                </a:solidFill>
                <a:latin typeface="Helvetica"/>
                <a:ea typeface="Helvetica"/>
                <a:cs typeface="Helvetica"/>
                <a:sym typeface="Helvetica"/>
              </a:defRPr>
            </a:pPr>
          </a:p>
          <a:p>
            <a:pPr lvl="1" indent="338327" algn="l" defTabSz="338327">
              <a:defRPr sz="1480">
                <a:solidFill>
                  <a:srgbClr val="3C2424"/>
                </a:solidFill>
                <a:latin typeface="Helvetica"/>
                <a:ea typeface="Helvetica"/>
                <a:cs typeface="Helvetica"/>
                <a:sym typeface="Helvetica"/>
              </a:defRPr>
            </a:pPr>
            <a:r>
              <a:t>Smith and Jefferson alike had seen concentrated government power as a great danger to the ordinary man; they saw the protection of the citizen against the tyranny of government as the perpetual need. That was the aim of the Virginia Declaration of Rights (1776) and the United States Bill of Rights (1791)  the purpose of the separation of powers in the U.S. Constitution; the moving force behind the changes in the British legal structure from the issuance of the Magna Carta in the thirteenth century to the end of the nineteenth century. To Smith and Jefferson, government's role was as an umpire, not a participant….</a:t>
            </a:r>
          </a:p>
          <a:p>
            <a:pPr lvl="1" indent="338327" algn="l" defTabSz="338327">
              <a:defRPr sz="1480">
                <a:solidFill>
                  <a:srgbClr val="3C2424"/>
                </a:solidFill>
                <a:latin typeface="Helvetica"/>
                <a:ea typeface="Helvetica"/>
                <a:cs typeface="Helvetica"/>
                <a:sym typeface="Helvetica"/>
              </a:defRPr>
            </a:pPr>
          </a:p>
          <a:p>
            <a:pPr lvl="1" indent="338327" algn="l" defTabSz="338327">
              <a:defRPr sz="1480">
                <a:solidFill>
                  <a:srgbClr val="3C2424"/>
                </a:solidFill>
                <a:latin typeface="Helvetica"/>
                <a:ea typeface="Helvetica"/>
                <a:cs typeface="Helvetica"/>
                <a:sym typeface="Helvetica"/>
              </a:defRPr>
            </a:pPr>
            <a:r>
              <a:t>Ironically, the very success of economic and political freedom reduced its appeal to later thinkers…. In an imperfect world there were still many evils. Indeed, the very progress of society made the residual evils seem all the more objectionable. As always, people took the favorable developments for granted. They forgot the danger to freedom from a strong government. Instead, they were attracted by the good that a stronger government could achieve—if only government power were in the "right" hands. These ideas… gained increasing acceptance among intellectuals in the United States but had little effect on government policy until the Great Depression of the early 1930s. As we show in Chapter 3, the depression was produced by a failure of government in one area—money—where it had exercised authority ever since the beginning of the Republic. However, government's responsibility for the depression was not recognized—either then or now. Instead, the depression was widely interpreted as a failure of free market capitalism. That myth led the public to join the intellectuals in a changed view of the relative responsibilities of individuals and government…. These views have dominated developments in the United States during the past half-century. They have led to a growth in government at all levels, as well as to a transfer of power from local government and local control to central government and central control. The government has increasingly undertaken the task of taking from some to give to others in the name of security and equality….</a:t>
            </a:r>
          </a:p>
          <a:p>
            <a:pPr lvl="1" indent="338327" algn="l" defTabSz="338327">
              <a:defRPr sz="1480">
                <a:solidFill>
                  <a:srgbClr val="3C2424"/>
                </a:solidFill>
                <a:latin typeface="Helvetica"/>
                <a:ea typeface="Helvetica"/>
                <a:cs typeface="Helvetica"/>
                <a:sym typeface="Helvetica"/>
              </a:defRPr>
            </a:pPr>
          </a:p>
          <a:p>
            <a:pPr lvl="1" indent="338327" algn="l" defTabSz="338327">
              <a:defRPr sz="1480">
                <a:solidFill>
                  <a:srgbClr val="3C2424"/>
                </a:solidFill>
                <a:latin typeface="Helvetica"/>
                <a:ea typeface="Helvetica"/>
                <a:cs typeface="Helvetica"/>
                <a:sym typeface="Helvetica"/>
              </a:defRPr>
            </a:pPr>
            <a:r>
              <a:t>These developments have been produced by good intentions with a major assist from self-interest. Even the strongest supporters of the welfare and paternal state agree that the results have been disappointing. In the government sphere, as in the market, there seems to be an invisible hand, but it operates in precisely the opposite direction from Adam Smith's: an individual who intends only to serve the public interest by fostering government intervention is "led by an invisible hand to promote" private interests, "which was no part of his intention." That conclusion is driven home again and again as we examine, in the chapters that follow, the several areas in which government power has been exercised—whether to achieve security (Chapter 4) or equality (Chapter 5), to promote education (Chapter 6), to protect the consumer (Chapter 7) or the worker (Chapter 8), or to avoid inflation and promote employment (Chapter 9)….</a:t>
            </a:r>
          </a:p>
          <a:p>
            <a:pPr lvl="1" indent="338327" algn="l" defTabSz="338327">
              <a:defRPr sz="1480">
                <a:solidFill>
                  <a:srgbClr val="3C2424"/>
                </a:solidFill>
                <a:latin typeface="Helvetica"/>
                <a:ea typeface="Helvetica"/>
                <a:cs typeface="Helvetica"/>
                <a:sym typeface="Helvetica"/>
              </a:defRPr>
            </a:pPr>
          </a:p>
          <a:p>
            <a:pPr lvl="1" indent="338327" algn="l" defTabSz="338327">
              <a:defRPr sz="1480">
                <a:solidFill>
                  <a:srgbClr val="3C2424"/>
                </a:solidFill>
                <a:latin typeface="Helvetica"/>
                <a:ea typeface="Helvetica"/>
                <a:cs typeface="Helvetica"/>
                <a:sym typeface="Helvetica"/>
              </a:defRPr>
            </a:pPr>
            <a:r>
              <a:t>The experience of recent years—slowing growth and declining productivity—raises a doubt whether private ingenuity can continue to overcome the deadening effects of government control if we continue to grant ever more power to government, to authorize a "new class" of civil servants to spend ever larger fractions of our income supposedly on our behalf. Sooner or later—and perhaps sooner than many of us expect—an ever bigger government would destroy both the prosperity that we owe to the free market and the human freedom proclaimed so eloquently in the Declaration of Independence.</a:t>
            </a:r>
          </a:p>
          <a:p>
            <a:pPr lvl="1" indent="338327" algn="l" defTabSz="338327">
              <a:defRPr sz="1480">
                <a:solidFill>
                  <a:srgbClr val="3C2424"/>
                </a:solidFill>
                <a:latin typeface="Helvetica"/>
                <a:ea typeface="Helvetica"/>
                <a:cs typeface="Helvetica"/>
                <a:sym typeface="Helvetica"/>
              </a:defRPr>
            </a:pPr>
          </a:p>
          <a:p>
            <a:pPr lvl="1" indent="338327" algn="l" defTabSz="338327">
              <a:defRPr sz="1480">
                <a:solidFill>
                  <a:srgbClr val="3C2424"/>
                </a:solidFill>
                <a:latin typeface="Helvetica"/>
                <a:ea typeface="Helvetica"/>
                <a:cs typeface="Helvetica"/>
                <a:sym typeface="Helvetica"/>
              </a:defRPr>
            </a:pPr>
            <a:r>
              <a:t>We have not yet reached the point of no return. We are still free as a people to choose whether we shall continue speeding down the "road to serfdom," as Friedrich Hayek entitled his profound and influential book, or whether we shall set tighter limits on government and rely more heavily on voluntary cooperation among free individuals to achieve our several objectives. Will our golden age come to an end in a relapse into the tyranny and misery that has always been, and remains today, the state of most of mankind? Or shall we have the wisdom, the foresight, and the courage to change our course, to learn from experience, and to benefit from a "rebirth of freedom"?</a:t>
            </a:r>
          </a:p>
        </p:txBody>
      </p:sp>
      <p:sp>
        <p:nvSpPr>
          <p:cNvPr id="215"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216" name="Image" descr="Image"/>
          <p:cNvPicPr>
            <a:picLocks noChangeAspect="1"/>
          </p:cNvPicPr>
          <p:nvPr/>
        </p:nvPicPr>
        <p:blipFill>
          <a:blip r:embed="rId4">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8"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219"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220" name="“Passing the Baton”"/>
          <p:cNvSpPr txBox="1"/>
          <p:nvPr>
            <p:ph type="title"/>
          </p:nvPr>
        </p:nvSpPr>
        <p:spPr>
          <a:xfrm>
            <a:off x="388587" y="0"/>
            <a:ext cx="23622001" cy="1968500"/>
          </a:xfrm>
          <a:prstGeom prst="rect">
            <a:avLst/>
          </a:prstGeom>
        </p:spPr>
        <p:txBody>
          <a:bodyPr lIns="91436" tIns="91436" rIns="91436" bIns="91436" anchor="ctr"/>
          <a:lstStyle>
            <a:lvl1pPr algn="ctr" defTabSz="886968">
              <a:lnSpc>
                <a:spcPct val="100000"/>
              </a:lnSpc>
              <a:defRPr spc="0" sz="11640">
                <a:solidFill>
                  <a:srgbClr val="800000"/>
                </a:solidFill>
                <a:uFill>
                  <a:solidFill>
                    <a:srgbClr val="000000"/>
                  </a:solidFill>
                </a:uFill>
              </a:defRPr>
            </a:lvl1pPr>
          </a:lstStyle>
          <a:p>
            <a:pPr/>
            <a:r>
              <a:t>“Passing the Baton”</a:t>
            </a:r>
          </a:p>
        </p:txBody>
      </p:sp>
      <p:sp>
        <p:nvSpPr>
          <p:cNvPr id="221"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222"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lstStyle/>
          <a:p>
            <a:pPr algn="l" defTabSz="457200">
              <a:defRPr b="1" sz="2000">
                <a:solidFill>
                  <a:srgbClr val="3C2424"/>
                </a:solidFill>
                <a:latin typeface="Helvetica"/>
                <a:ea typeface="Helvetica"/>
                <a:cs typeface="Helvetica"/>
                <a:sym typeface="Helvetica"/>
              </a:defRPr>
            </a:pPr>
            <a:r>
              <a:t>Brad DeLong</a:t>
            </a:r>
            <a:r>
              <a:rPr b="0"/>
              <a:t> (2019): </a:t>
            </a:r>
            <a:r>
              <a:rPr b="0" i="1"/>
              <a:t>“Passing the Baton”: The Twitter Rant </a:t>
            </a:r>
            <a:r>
              <a:rPr b="0"/>
              <a:t>&lt;</a:t>
            </a:r>
            <a:r>
              <a:rPr b="0" u="sng">
                <a:hlinkClick r:id="rId3" invalidUrl="" action="" tgtFrame="" tooltip="" history="1" highlightClick="0" endSnd="0"/>
              </a:rPr>
              <a:t>https://twitter.com/delong/status/1100166150845939712</a:t>
            </a:r>
            <a:r>
              <a:rPr b="0"/>
              <a:t>&gt;</a:t>
            </a:r>
            <a:endParaRPr b="0"/>
          </a:p>
          <a:p>
            <a:pPr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On the center and to the left, those like me in what used to proudly call itself the Rubin Wing of the Democratic Party—so-called after former Treasury Secretary Bob Rubin, and consisting of those of us hoping to use market means to social democratic ends in bipartisan coalition with Republicans seeking technocratic win-wins—have passed the baton to our left. Over the past 25 years, we failed to attract Republican coalition partners, we failed to energize our own base, and we failed to produce enough large-scale obvious policy wins to cement the center into a durable governing coalition. We blame cynical Republican politicians. We blame corrupt and craven media bosses and princelings. We are right to blame them, but shared responsibility is not diminished responsibility. And so the baton rightly passes to our colleagues on our left. We are still here, but it is not our time to lead</a:t>
            </a:r>
            <a:endParaRPr b="0"/>
          </a:p>
          <a:p>
            <a:pPr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r>
              <a:t>Brad DeLong &amp; Zack Beauchamp</a:t>
            </a:r>
            <a:r>
              <a:rPr b="0"/>
              <a:t> (2019): </a:t>
            </a:r>
            <a:r>
              <a:rPr b="0" i="1"/>
              <a:t>“Passing the Baton”: The Interview</a:t>
            </a:r>
            <a:r>
              <a:rPr b="0"/>
              <a:t> &lt;</a:t>
            </a:r>
            <a:r>
              <a:rPr b="0" u="sng">
                <a:hlinkClick r:id="rId4" invalidUrl="" action="" tgtFrame="" tooltip="" history="1" highlightClick="0" endSnd="0"/>
              </a:rPr>
              <a:t>https://www.vox.com/policy-and-politics/2019/3/4/18246381/democrats-clinton-sanders-left-brad-delong</a:t>
            </a:r>
            <a:r>
              <a:rPr b="0"/>
              <a:t>&gt;</a:t>
            </a:r>
            <a:endParaRPr b="0"/>
          </a:p>
          <a:p>
            <a:pPr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“Barack Obama rolls into office with Mitt Romney’s health care policy, with John McCain’s climate policy, with Bill Clinton’s tax policy, and George H.W. Bush’s foreign policy,” DeLong notes. “And did George H.W. Bush, did Mitt Romney, did John McCain say a single good word about anything Barack Obama ever did over the course of eight solid years? No, they fucking did not.”</a:t>
            </a:r>
            <a:endParaRPr b="0"/>
          </a:p>
          <a:p>
            <a:pPr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r>
              <a:t>Brad DeLong</a:t>
            </a:r>
            <a:r>
              <a:rPr b="0"/>
              <a:t> (2019): </a:t>
            </a:r>
            <a:r>
              <a:rPr b="0" i="1"/>
              <a:t>“Passing the Baton”: The Interview: Comment</a:t>
            </a:r>
            <a:r>
              <a:rPr b="0"/>
              <a:t> &lt;</a:t>
            </a:r>
            <a:r>
              <a:rPr b="0" u="sng">
                <a:hlinkClick r:id="rId5" invalidUrl="" action="" tgtFrame="" tooltip="" history="1" highlightClick="0" endSnd="0"/>
              </a:rPr>
              <a:t>https://www.bradford-delong.com/2019/03/passing-the-baton-the-interview.html</a:t>
            </a:r>
            <a:r>
              <a:rPr b="0"/>
              <a:t>&gt;</a:t>
            </a:r>
          </a:p>
          <a:p>
            <a:pPr algn="l" defTabSz="457200">
              <a:defRPr b="1"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I would say that Zack has it slightly wrong here. There is not one core reason for passing the baton. There are three reasons: a political reason, a policy-implementation reason, and a we've-learned-about-the-world reason….</a:t>
            </a:r>
          </a:p>
          <a:p>
            <a:pPr lvl="1" algn="l" defTabSz="457200">
              <a:defRPr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While I would like to be part of a political coalition in the cat seat, able to call for bids from the left and the right about who wants to be part of the governing coalition to actually get things done, that’s simply not possible….</a:t>
            </a:r>
          </a:p>
          <a:p>
            <a:pPr lvl="1" algn="l" defTabSz="457200">
              <a:defRPr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Our current bunch of leftists are wonderful people.... They could use a little more education about what is likely to work and what is not. But they’re people who we’re very, very lucky to have on our side. That’s especially opposed to the people on the other side, who are very, very strange indeed. You listen to [Never Trump conservatives]... about all the people they had been with in meetings, biting their tongues over the past 25 years, and your reaction can only be, “Why didn’t you run away screaming into the night long ago?”...</a:t>
            </a:r>
          </a:p>
          <a:p>
            <a:pPr lvl="1" algn="l" defTabSz="457200">
              <a:defRPr sz="2000">
                <a:solidFill>
                  <a:srgbClr val="3C2424"/>
                </a:solidFill>
                <a:latin typeface="Helvetica"/>
                <a:ea typeface="Helvetica"/>
                <a:cs typeface="Helvetica"/>
                <a:sym typeface="Helvetica"/>
              </a:defRPr>
            </a:pPr>
          </a:p>
          <a:p>
            <a:pPr lvl="1" algn="l" defTabSz="457200">
              <a:defRPr sz="2000">
                <a:solidFill>
                  <a:srgbClr val="3C2424"/>
                </a:solidFill>
                <a:latin typeface="Helvetica"/>
                <a:ea typeface="Helvetica"/>
                <a:cs typeface="Helvetica"/>
                <a:sym typeface="Helvetica"/>
              </a:defRPr>
            </a:pPr>
            <a:r>
              <a:t>We learned more about the world…. The world appears to be more like what lefties thought it was than what I thought it was.</a:t>
            </a:r>
          </a:p>
        </p:txBody>
      </p:sp>
      <p:sp>
        <p:nvSpPr>
          <p:cNvPr id="223"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224" name="Image" descr="Image"/>
          <p:cNvPicPr>
            <a:picLocks noChangeAspect="1"/>
          </p:cNvPicPr>
          <p:nvPr/>
        </p:nvPicPr>
        <p:blipFill>
          <a:blip r:embed="rId6">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6"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227"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228" name="The Neoliberal Turn"/>
          <p:cNvSpPr txBox="1"/>
          <p:nvPr>
            <p:ph type="title"/>
          </p:nvPr>
        </p:nvSpPr>
        <p:spPr>
          <a:xfrm>
            <a:off x="388587" y="0"/>
            <a:ext cx="23622001" cy="1968500"/>
          </a:xfrm>
          <a:prstGeom prst="rect">
            <a:avLst/>
          </a:prstGeom>
        </p:spPr>
        <p:txBody>
          <a:bodyPr lIns="91436" tIns="91436" rIns="91436" bIns="91436" anchor="ctr"/>
          <a:lstStyle>
            <a:lvl1pPr algn="ctr" defTabSz="886968">
              <a:lnSpc>
                <a:spcPct val="100000"/>
              </a:lnSpc>
              <a:defRPr spc="0" sz="11640">
                <a:solidFill>
                  <a:srgbClr val="800000"/>
                </a:solidFill>
                <a:uFill>
                  <a:solidFill>
                    <a:srgbClr val="000000"/>
                  </a:solidFill>
                </a:uFill>
              </a:defRPr>
            </a:lvl1pPr>
          </a:lstStyle>
          <a:p>
            <a:pPr/>
            <a:r>
              <a:t>The Neoliberal Turn</a:t>
            </a:r>
          </a:p>
        </p:txBody>
      </p:sp>
      <p:sp>
        <p:nvSpPr>
          <p:cNvPr id="229"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230"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lstStyle/>
          <a:p>
            <a:pPr algn="l" defTabSz="457200">
              <a:defRPr b="1" sz="2000">
                <a:solidFill>
                  <a:srgbClr val="3C2424"/>
                </a:solidFill>
                <a:latin typeface="Helvetica"/>
                <a:ea typeface="Helvetica"/>
                <a:cs typeface="Helvetica"/>
                <a:sym typeface="Helvetica"/>
              </a:defRPr>
            </a:pPr>
            <a:r>
              <a:t>Brad DeLong</a:t>
            </a:r>
            <a:r>
              <a:rPr b="0"/>
              <a:t>: </a:t>
            </a:r>
            <a:r>
              <a:rPr b="0" i="1"/>
              <a:t>DRAFT: The Neoliberal Turn</a:t>
            </a:r>
            <a:r>
              <a:rPr b="0"/>
              <a:t> &lt;</a:t>
            </a:r>
            <a:r>
              <a:rPr b="0" u="sng">
                <a:hlinkClick r:id="rId3" invalidUrl="" action="" tgtFrame="" tooltip="" history="1" highlightClick="0" endSnd="0"/>
              </a:rPr>
              <a:t>https://github.com/braddelong/public-files/blob/master/draft-the-neoliberal-turn-2021-06-28.pdf</a:t>
            </a:r>
            <a:r>
              <a:rPr b="0"/>
              <a:t>&gt;</a:t>
            </a:r>
            <a:endParaRPr b="0"/>
          </a:p>
          <a:p>
            <a:pPr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One touchstone is British left-wing historian Eric Hobsbawm. Hobsbawm saw the late-1970s and subsequent discontent with and reaction against the social-democratic order as justified: “There were good grounds for some of the disillusion with state-managed industries and public administration.” He denounced the “rigidities, inefficiencies and economic wastages so often sheltering under Golden Age government policies…” And he declared: “There was considerable scope for applying the neoliberal cleansing-agent to the encrusted hull of many a good ship ‘Mixed Economy’ with beneficial results. Even the British Left was eventually to admit that some of the ruthless shocks imposed on the British economy by Mrs. Thatcher had probably been necessary…”</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Hobsbawm was a lifelong communist. To the end of his days, he would continue to stubbornly maintain while drinking tea with his respectful interviewers that the murderous careers of Lenin and Stalin (but perhaps not Mao?) had been worth undertaking because they indeed might, had things turned out differently, have unlocked the gate and opened the road to a true utopia. Yet he, too, eagerly attended the church where he heard and then himself preached: the market giveth, the market taketh away; blessed be the name of the market.</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So what was the global north going to purchase in the marketplace of ideas as its reform program? On the left there was very little. Really-existing socialism had proven a bust, yet too much energy on the left was still devoted to explaining away its failures. On the right there were real ideas. Never mind that they seemed to the historically minded to be retreads from before 1930. After all many of the ideas of the New Deal had been retread ideas from the Progressive Era of the 1900s decade. The right wing’s ideas were backed by lots of money. The memory of the Great Depression, and of austerity’s failures in the Great Depression, was old and fading. Once again was heard cries for sound-finance orthodoxy and austerity—even for the gold standard. Once again there was trotted out the standard answer that everything that went wrong was, somehow, an overmighty government’s fault. It was, after all, for true believers a metaphysical necessity that it was government intervention that had caused the Great Depression to be so deep and last so long. The market, after all, could not fail: it could only be failed.</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Plus the fading memory of the Great Depression led to the fading of the belief, or rather recognition, by the middle class that they as well as the working class need social insurance.</a:t>
            </a:r>
          </a:p>
        </p:txBody>
      </p:sp>
      <p:sp>
        <p:nvSpPr>
          <p:cNvPr id="231"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232" name="Image" descr="Image"/>
          <p:cNvPicPr>
            <a:picLocks noChangeAspect="1"/>
          </p:cNvPicPr>
          <p:nvPr/>
        </p:nvPicPr>
        <p:blipFill>
          <a:blip r:embed="rId4">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4"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235"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236" name="Keynes on Fragility of Prosperity"/>
          <p:cNvSpPr txBox="1"/>
          <p:nvPr>
            <p:ph type="title"/>
          </p:nvPr>
        </p:nvSpPr>
        <p:spPr>
          <a:xfrm>
            <a:off x="388587" y="0"/>
            <a:ext cx="23622001" cy="1968500"/>
          </a:xfrm>
          <a:prstGeom prst="rect">
            <a:avLst/>
          </a:prstGeom>
        </p:spPr>
        <p:txBody>
          <a:bodyPr lIns="91436" tIns="91436" rIns="91436" bIns="91436" anchor="ctr"/>
          <a:lstStyle>
            <a:lvl1pPr algn="ctr" defTabSz="886968">
              <a:lnSpc>
                <a:spcPct val="100000"/>
              </a:lnSpc>
              <a:defRPr spc="0" sz="11640">
                <a:solidFill>
                  <a:srgbClr val="800000"/>
                </a:solidFill>
                <a:uFill>
                  <a:solidFill>
                    <a:srgbClr val="000000"/>
                  </a:solidFill>
                </a:uFill>
              </a:defRPr>
            </a:lvl1pPr>
          </a:lstStyle>
          <a:p>
            <a:pPr/>
            <a:r>
              <a:t>Keynes on Fragility of Prosperity</a:t>
            </a:r>
          </a:p>
        </p:txBody>
      </p:sp>
      <p:sp>
        <p:nvSpPr>
          <p:cNvPr id="237"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238"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lstStyle/>
          <a:p>
            <a:pPr algn="l" defTabSz="457200">
              <a:defRPr b="1" sz="2000">
                <a:solidFill>
                  <a:srgbClr val="3C2424"/>
                </a:solidFill>
                <a:latin typeface="Helvetica"/>
                <a:ea typeface="Helvetica"/>
                <a:cs typeface="Helvetica"/>
                <a:sym typeface="Helvetica"/>
              </a:defRPr>
            </a:pPr>
            <a:r>
              <a:t>John Maynard Keynes</a:t>
            </a:r>
            <a:r>
              <a:rPr b="0"/>
              <a:t> (1919): </a:t>
            </a:r>
            <a:r>
              <a:rPr b="0" i="1"/>
              <a:t>The Economic Consequences of the Peace </a:t>
            </a:r>
            <a:r>
              <a:rPr b="0"/>
              <a:t>&lt;</a:t>
            </a:r>
            <a:r>
              <a:rPr b="0" u="sng">
                <a:hlinkClick r:id="rId3" invalidUrl="" action="" tgtFrame="" tooltip="" history="1" highlightClick="0" endSnd="0"/>
              </a:rPr>
              <a:t>https://www.gutenberg.org/files/15776/15776-h/15776-h.htm</a:t>
            </a:r>
            <a:r>
              <a:rPr b="0"/>
              <a:t>&gt;</a:t>
            </a:r>
            <a:endParaRPr b="0" i="1"/>
          </a:p>
          <a:p>
            <a:pPr algn="l" defTabSz="457200">
              <a:defRPr b="1" sz="2000">
                <a:solidFill>
                  <a:srgbClr val="3C2424"/>
                </a:solidFill>
                <a:latin typeface="Helvetica"/>
                <a:ea typeface="Helvetica"/>
                <a:cs typeface="Helvetica"/>
                <a:sym typeface="Helvetica"/>
              </a:defRPr>
            </a:pPr>
            <a:endParaRPr b="0" i="1"/>
          </a:p>
          <a:p>
            <a:pPr lvl="1" algn="l" defTabSz="457200">
              <a:defRPr b="1" sz="2000">
                <a:solidFill>
                  <a:srgbClr val="3C2424"/>
                </a:solidFill>
                <a:latin typeface="Helvetica"/>
                <a:ea typeface="Helvetica"/>
                <a:cs typeface="Helvetica"/>
                <a:sym typeface="Helvetica"/>
              </a:defRPr>
            </a:pPr>
            <a:r>
              <a:rPr b="0"/>
              <a:t>Very few of us realize with conviction the intensely unusual, unstable, complicated, unreliable, temporary nature of the economic organization by which Western Europe has lived for the last half century. We assume some of the most peculiar and temporary of our late advantages as natural, permanent, and to be depended on, and we lay our plans accordingly. On this sandy and false foundation we scheme for social improvement and dress our political platforms, pursue our animosities and particular ambitions, and feel ourselves with enough margin in hand to foster, not assuage, civil conflict in the European family….</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In England the outward aspect of life does not yet teach us to feel or realize in the least that an age is over. We are busy picking up the threads of our life where we dropped them, with this difference only, that many of us seem a good deal richer than we were before. Where we spent millions before the war, we have now learnt that we can spend hundreds of millions and apparently not suffer for it. Evidently we did not exploit to the utmost the possibilities of our economic life. We look, therefore, not only to a return to the comforts of 1914, but to an immense broadening and intensification of them. All classes alike thus build their plans, the rich to spend more and save less, the poor to spend more and work less.</a:t>
            </a:r>
            <a:endParaRPr b="0"/>
          </a:p>
          <a:p>
            <a:pPr lvl="1" algn="l" defTabSz="457200">
              <a:defRPr b="1" sz="2000">
                <a:solidFill>
                  <a:srgbClr val="3C2424"/>
                </a:solidFill>
                <a:latin typeface="Helvetica"/>
                <a:ea typeface="Helvetica"/>
                <a:cs typeface="Helvetica"/>
                <a:sym typeface="Helvetica"/>
              </a:defRPr>
            </a:pPr>
            <a:r>
              <a:rPr b="0"/>
              <a:t>But perhaps it is only in England (and America) that it is possible to be so unconscious….</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If the European Civil War is to end with France and Italy abusing their momentary victorious power to destroy Germany and Austria-Hungary now prostrate, they invite their own destruction also, being so deeply and inextricably intertwined with their victims by hidden psychic and economic bonds….</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In Paris, where those connected with the Supreme Economic Council, received almost hourly the reports of the misery, disorder, and decaying organization of all Central and Eastern Europe, allied and enemy alike, and learnt from the lips of the financial representatives of Germany and Austria unanswerable evidence, of the terrible exhaustion of their countries, an occasional visit to the hot, dry room in the President's house, where the Four fulfilled their destinies in empty and arid intrigue, only added to the sense of nightmare….</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After 1870 there was developed on a large scale an unprecedented situation, and the economic condition of Europe became during the next fifty years unstable and peculiar. The pressure of population on food, which had already been balanced by the accessibility of supplies from America, became for the first time in recorded history definitely reversed.… Larger proportional returns from an increasing scale of production became true of agriculture as well as industry.… The tendency of cereals to rise in real cost was balanced by other improvements; and—one of many novelties—the resources of tropical Africa then for the first time came into large employ, and a great traffic in oil-seeds began to bring to the table of Europe in a new and cheaper form one of the essential foodstuffs</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In this economic Eldorado, in this economic Utopia, as the earlier economists would have deemed it, most of us were brought up. That happy age lost sight of a view of the world which filled with deep-seated melancholy the founders of our Political Economy…. Malthus disclosed a Devil. For half a century all serious economical writings held that Devil in clear prospect. For the next half century he was chained up and out of sight. Now perhaps we have loosed him again.</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What an extraordinary episode in the economic progress of man that age was which came to an end in August, 1914! The greater part of the population, it is true, worked hard and lived at a low standard of comfort, yet were, to all appearances, reasonably contented with this lot. But escape was possible, for any man of capacity or character at all exceeding the average, into the middle and upper classes, for whom life offered, at a low cost and with the least trouble, conveniences, comforts, and amenities beyond the compass of the richest and most powerful monarchs of other ages….  T</a:t>
            </a:r>
            <a:r>
              <a:rPr b="0" i="1"/>
              <a:t>he projects and politics of militarism and imperialism, of racial and cultural rivalries, of monopolies, restrictions, and exclusion, which were to play the serpent to this paradise, were little more than the amusements of his daily newspaper, and appeared to exercise almost no influence at all on the ordinary course of social and economic life.</a:t>
            </a:r>
          </a:p>
        </p:txBody>
      </p:sp>
      <p:sp>
        <p:nvSpPr>
          <p:cNvPr id="239"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240" name="Image" descr="Image"/>
          <p:cNvPicPr>
            <a:picLocks noChangeAspect="1"/>
          </p:cNvPicPr>
          <p:nvPr/>
        </p:nvPicPr>
        <p:blipFill>
          <a:blip r:embed="rId4">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42"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243"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244" name="Keynes Against Laissez-Faire"/>
          <p:cNvSpPr txBox="1"/>
          <p:nvPr>
            <p:ph type="title"/>
          </p:nvPr>
        </p:nvSpPr>
        <p:spPr>
          <a:xfrm>
            <a:off x="388587" y="0"/>
            <a:ext cx="23622001" cy="1968500"/>
          </a:xfrm>
          <a:prstGeom prst="rect">
            <a:avLst/>
          </a:prstGeom>
        </p:spPr>
        <p:txBody>
          <a:bodyPr lIns="91436" tIns="91436" rIns="91436" bIns="91436" anchor="ctr"/>
          <a:lstStyle/>
          <a:p>
            <a:pPr algn="ctr" defTabSz="886968">
              <a:lnSpc>
                <a:spcPct val="100000"/>
              </a:lnSpc>
              <a:defRPr spc="0" sz="11640">
                <a:solidFill>
                  <a:srgbClr val="800000"/>
                </a:solidFill>
                <a:uFill>
                  <a:solidFill>
                    <a:srgbClr val="000000"/>
                  </a:solidFill>
                </a:uFill>
              </a:defRPr>
            </a:pPr>
            <a:r>
              <a:t>Keynes Against </a:t>
            </a:r>
            <a:r>
              <a:rPr i="1"/>
              <a:t>Laissez-Faire</a:t>
            </a:r>
          </a:p>
        </p:txBody>
      </p:sp>
      <p:sp>
        <p:nvSpPr>
          <p:cNvPr id="245"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246"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lstStyle/>
          <a:p>
            <a:pPr algn="l" defTabSz="457200">
              <a:defRPr b="1" sz="2000">
                <a:solidFill>
                  <a:srgbClr val="3C2424"/>
                </a:solidFill>
                <a:latin typeface="Helvetica"/>
                <a:ea typeface="Helvetica"/>
                <a:cs typeface="Helvetica"/>
                <a:sym typeface="Helvetica"/>
              </a:defRPr>
            </a:pPr>
            <a:r>
              <a:t>John Maynard Keynes</a:t>
            </a:r>
            <a:r>
              <a:rPr b="0"/>
              <a:t> (1926): </a:t>
            </a:r>
            <a:r>
              <a:rPr b="0" i="1"/>
              <a:t>The End of </a:t>
            </a:r>
            <a:r>
              <a:rPr b="0"/>
              <a:t>Laissez-Faire &lt;https://www.panarchy.org/keynes/laissezfaire.1926.html&gt;:</a:t>
            </a:r>
            <a:endParaRPr b="0"/>
          </a:p>
          <a:p>
            <a:pPr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That age would have been hard put to it to achieve this harmony of opposites if it had not been for the economists…. To the philosophical doctrine that the government has no right to interfere, and the divine that it has no need to interfere, there is added a scientific proof that its interference is inexpedient. This is the third current of thought, just discoverable in Adam Smith….</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Yet some other ingredients were needed to complete the pudding. First the corruption and incompetence of eighteenth-century government…. The ineptitude of public administrators strongly prejudiced the practical man in favour of laissez-faire…. Material progress between 1750 and 1850 came from individual initiative, and owed almost nothing to the directive influence of organised society as a whole. Thus practical experience reinforced a priori reasonings.… By the time that the influence of Paley and his like was waning, the innovations of Darwin were shaking the foundations of belief.… The principle of the survival of the fittest could be regarded as a vast generalisation of the Ricardian economics. Socialist interferences became, in the light of this grander synthesis, not merely inexpedient, but impious, as calculated to retard the onward movement of the mighty process by which we ourselves had risen like Aphrodite out of the primeval slime of ocean….</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Hume and Paley, Burke and Rousseau, Godwin and Malthus, Cobbett and Huskisson, Bentham and Coleridge, Darwin and the Bishop of Oxford, were all, it was discovered, preaching practically the same thing…. These reasons and this atmosphere are the explanations, we know it or not—and most of us in these degenerate days are largely ignorant in the matter—why we feel such a strong bias in favour of laissez-faire…. We have not read these authors; we should consider their arguments preposterous if they were to fall into our hands. Nevertheless we should not, I fancy, think as we do, if Hobbes, Locke, Hume, Rousseau, Paley, Adam Smith, Bentham, and Miss Martineau had not thought and written as they did. A study of the history of opinion is a necessary preliminary to the emancipation of the mind. I do not know which makes a man more conservative - to know nothing but the present, or nothing but the past….</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Let us clear from the ground the metaphysical or general principles upon which, from time to time, laissez-faire has been founded. </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It is not true that individuals possess a prescriptive 'natural liberty' in their economic activities. There is no 'compact' conferring perpetual rights on those who Have or on those who Acquire. The world is not so governed from above that private and social interest always coincide. It is not so managed here below that in practice they coincide. It is not a correct deduction from the principles of economics that enlightened self-interest always operates in the public interest. Nor is it true that self-interest generally is enlightened; more often individuals acting separately to promote their own ends are too ignorant or too weak to attain even these. Experience does not show that individuals, when they make up a social unit, are always less clear-sighted than when they act separately.</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We cannot therefore settle on abstract grounds, but must handle on its merits in detail what Burke termed 'one of the finest problems in legislation, namely, to determine what the State ought to take upon itself to direct by the public wisdom, and what it ought to leave, with as little interference as possible, to individual exertion.' (Quoted by McCulloch in his Principles of Political Economy). We have to discriminate between what Bentham, in his forgotten but useful nomenclature, used to term Agenda and Non-Agenda, and to do this without Bentham's prior presumption that interference is, at the same time, 'generally needless' and 'generally pernicious.' (Bentham's Manual of Political Economy, published posthumously, in Bowring's edition - 1843). Perhaps the chief task of economists at this hour is to distinguish afresh the Agenda of government from the Non-Agenda; and the companion task of politics is to devise forms of government within a democracy which shall be capable of accomplishing the Agenda.</a:t>
            </a:r>
            <a:endParaRPr b="0"/>
          </a:p>
          <a:p>
            <a:pPr algn="l" defTabSz="457200">
              <a:defRPr b="1" sz="2000">
                <a:solidFill>
                  <a:srgbClr val="3C2424"/>
                </a:solidFill>
                <a:latin typeface="Helvetica"/>
                <a:ea typeface="Helvetica"/>
                <a:cs typeface="Helvetica"/>
                <a:sym typeface="Helvetica"/>
              </a:defRPr>
            </a:pPr>
            <a:endParaRPr b="0"/>
          </a:p>
          <a:p>
            <a:pPr algn="l" defTabSz="457200">
              <a:defRPr b="1" sz="2000">
                <a:solidFill>
                  <a:srgbClr val="3C2424"/>
                </a:solidFill>
                <a:latin typeface="Helvetica"/>
                <a:ea typeface="Helvetica"/>
                <a:cs typeface="Helvetica"/>
                <a:sym typeface="Helvetica"/>
              </a:defRPr>
            </a:pPr>
            <a:endParaRPr b="0"/>
          </a:p>
        </p:txBody>
      </p:sp>
      <p:sp>
        <p:nvSpPr>
          <p:cNvPr id="247"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248" name="Image" descr="Image"/>
          <p:cNvPicPr>
            <a:picLocks noChangeAspect="1"/>
          </p:cNvPicPr>
          <p:nvPr/>
        </p:nvPicPr>
        <p:blipFill>
          <a:blip r:embed="rId3">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0"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251"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252" name="Keynes’s Hopes for Communism"/>
          <p:cNvSpPr txBox="1"/>
          <p:nvPr>
            <p:ph type="title"/>
          </p:nvPr>
        </p:nvSpPr>
        <p:spPr>
          <a:xfrm>
            <a:off x="388587" y="0"/>
            <a:ext cx="23622001" cy="1968500"/>
          </a:xfrm>
          <a:prstGeom prst="rect">
            <a:avLst/>
          </a:prstGeom>
        </p:spPr>
        <p:txBody>
          <a:bodyPr lIns="91436" tIns="91436" rIns="91436" bIns="91436" anchor="ctr"/>
          <a:lstStyle>
            <a:lvl1pPr algn="ctr" defTabSz="886968">
              <a:lnSpc>
                <a:spcPct val="100000"/>
              </a:lnSpc>
              <a:defRPr spc="0" sz="11640">
                <a:solidFill>
                  <a:srgbClr val="800000"/>
                </a:solidFill>
                <a:uFill>
                  <a:solidFill>
                    <a:srgbClr val="000000"/>
                  </a:solidFill>
                </a:uFill>
              </a:defRPr>
            </a:lvl1pPr>
          </a:lstStyle>
          <a:p>
            <a:pPr/>
            <a:r>
              <a:t>Keynes’s Hopes for Communism</a:t>
            </a:r>
          </a:p>
        </p:txBody>
      </p:sp>
      <p:sp>
        <p:nvSpPr>
          <p:cNvPr id="253"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254"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normAutofit fontScale="100000" lnSpcReduction="0"/>
          </a:bodyPr>
          <a:lstStyle/>
          <a:p>
            <a:pPr algn="l" defTabSz="429768">
              <a:defRPr b="1" sz="1879">
                <a:solidFill>
                  <a:srgbClr val="3C2424"/>
                </a:solidFill>
                <a:latin typeface="Helvetica"/>
                <a:ea typeface="Helvetica"/>
                <a:cs typeface="Helvetica"/>
                <a:sym typeface="Helvetica"/>
              </a:defRPr>
            </a:pPr>
            <a:r>
              <a:t>John Maynard Keynes</a:t>
            </a:r>
            <a:r>
              <a:rPr b="0"/>
              <a:t> (1926): </a:t>
            </a:r>
            <a:r>
              <a:rPr b="0" i="1"/>
              <a:t>A Short View of Russia </a:t>
            </a:r>
            <a:r>
              <a:rPr b="0"/>
              <a:t>&lt;</a:t>
            </a:r>
            <a:r>
              <a:rPr b="0" u="sng">
                <a:hlinkClick r:id="rId3" invalidUrl="" action="" tgtFrame="" tooltip="" history="1" highlightClick="0" endSnd="0"/>
              </a:rPr>
              <a:t>https://www.economicsnetwork.ac.uk/archive/keynes_persuasion/A_Short_View_of_Russia.htm</a:t>
            </a:r>
            <a:r>
              <a:rPr b="0"/>
              <a:t>&gt;</a:t>
            </a:r>
            <a:endParaRPr b="0"/>
          </a:p>
          <a:p>
            <a:pPr algn="l" defTabSz="429768">
              <a:defRPr b="1" sz="1879">
                <a:solidFill>
                  <a:srgbClr val="3C2424"/>
                </a:solidFill>
                <a:latin typeface="Helvetica"/>
                <a:ea typeface="Helvetica"/>
                <a:cs typeface="Helvetica"/>
                <a:sym typeface="Helvetica"/>
              </a:defRPr>
            </a:pPr>
            <a:endParaRPr b="0"/>
          </a:p>
          <a:p>
            <a:pPr lvl="1" indent="429768" algn="l" defTabSz="429768">
              <a:defRPr b="1" sz="1879">
                <a:solidFill>
                  <a:srgbClr val="3C2424"/>
                </a:solidFill>
                <a:latin typeface="Helvetica"/>
                <a:ea typeface="Helvetica"/>
                <a:cs typeface="Helvetica"/>
                <a:sym typeface="Helvetica"/>
              </a:defRPr>
            </a:pPr>
            <a:r>
              <a:rPr b="0"/>
              <a:t>For me, brought up in a free air undarkened by the horrors of religion, with nothing to be afraid of, Red Russia holds too much which is detestable…. I am not ready for a creed which does not care how much it destroys the liberty and security of daily life, which uses deliberately the weapons of persecution, destruction, and international strife. How can I admire a policy which finds a characteristic expression in spending millions to suborn spies in every family and group at home, and to stir up trouble abroad?… How can I accept a doctrine which sets up as its bible, above and beyond criticism, an obsolete economic textbook which I know to be not only scientifically erroneous but without interest or application for the modern world? How can I adopt a creed which, preferring the mud to the fish, exalts the boorish proletariat above the bourgeois and the intelligentsia who, with whatever faults, are the quality in life and surely carry the seeds of all human advancement? Even if we need a religion, how can we find it in the turbid rubbish of the Red bookshops?…</a:t>
            </a:r>
            <a:endParaRPr b="0"/>
          </a:p>
          <a:p>
            <a:pPr lvl="1" indent="429768" algn="l" defTabSz="429768">
              <a:defRPr b="1" sz="1879">
                <a:solidFill>
                  <a:srgbClr val="3C2424"/>
                </a:solidFill>
                <a:latin typeface="Helvetica"/>
                <a:ea typeface="Helvetica"/>
                <a:cs typeface="Helvetica"/>
                <a:sym typeface="Helvetica"/>
              </a:defRPr>
            </a:pPr>
            <a:endParaRPr b="0"/>
          </a:p>
          <a:p>
            <a:pPr lvl="1" indent="429768" algn="l" defTabSz="429768">
              <a:defRPr b="1" sz="1879">
                <a:solidFill>
                  <a:srgbClr val="3C2424"/>
                </a:solidFill>
                <a:latin typeface="Helvetica"/>
                <a:ea typeface="Helvetica"/>
                <a:cs typeface="Helvetica"/>
                <a:sym typeface="Helvetica"/>
              </a:defRPr>
            </a:pPr>
            <a:r>
              <a:rPr b="0"/>
              <a:t>Russian Communism… sets up a new ideal… society in which pecuniary motives as influencing action shall have a changed relative importance, in which social approbations shall be differently distributed, and where behaviour, which previously was normal and respectable, ceases to be either the one or the other…. This system does not mean a complete levelling down of incomes—at least at the present stage…. Nor, at the present stage, does the system involve the actual prohibition of buying and selling at a profit. The policy is not to forbid these professions, but to render them precarious and disgraceful. The private trader is a sort of permitted outlaw, without privileges or protection, like the Jew in the Middle Ages—an outlet for those who have overwhelming instincts in this direction, but not a natural or agreeable job for the normal man.</a:t>
            </a:r>
            <a:endParaRPr b="0"/>
          </a:p>
          <a:p>
            <a:pPr lvl="1" indent="429768" algn="l" defTabSz="429768">
              <a:defRPr b="1" sz="1879">
                <a:solidFill>
                  <a:srgbClr val="3C2424"/>
                </a:solidFill>
                <a:latin typeface="Helvetica"/>
                <a:ea typeface="Helvetica"/>
                <a:cs typeface="Helvetica"/>
                <a:sym typeface="Helvetica"/>
              </a:defRPr>
            </a:pPr>
            <a:endParaRPr b="0"/>
          </a:p>
          <a:p>
            <a:pPr lvl="1" indent="429768" algn="l" defTabSz="429768">
              <a:defRPr b="1" sz="1879">
                <a:solidFill>
                  <a:srgbClr val="3C2424"/>
                </a:solidFill>
                <a:latin typeface="Helvetica"/>
                <a:ea typeface="Helvetica"/>
                <a:cs typeface="Helvetica"/>
                <a:sym typeface="Helvetica"/>
              </a:defRPr>
            </a:pPr>
            <a:r>
              <a:rPr b="0"/>
              <a:t>The effect of these social changes has been, I think, to make a real change in the predominant attitude towards money, and will probably make a far greater change when a new generation has grown up which has known nothing else…. Money-making and money-accumulating cannot enter into the life-calculations of a rational man who accepts the Soviet rule in the way in which they enter into ours. A society of which this is even partially true is a tremendous innovation.</a:t>
            </a:r>
            <a:endParaRPr b="0"/>
          </a:p>
          <a:p>
            <a:pPr lvl="1" indent="429768" algn="l" defTabSz="429768">
              <a:defRPr b="1" sz="1879">
                <a:solidFill>
                  <a:srgbClr val="3C2424"/>
                </a:solidFill>
                <a:latin typeface="Helvetica"/>
                <a:ea typeface="Helvetica"/>
                <a:cs typeface="Helvetica"/>
                <a:sym typeface="Helvetica"/>
              </a:defRPr>
            </a:pPr>
            <a:endParaRPr b="0"/>
          </a:p>
          <a:p>
            <a:pPr lvl="1" indent="429768" algn="l" defTabSz="429768">
              <a:defRPr b="1" sz="1879">
                <a:solidFill>
                  <a:srgbClr val="3C2424"/>
                </a:solidFill>
                <a:latin typeface="Helvetica"/>
                <a:ea typeface="Helvetica"/>
                <a:cs typeface="Helvetica"/>
                <a:sym typeface="Helvetica"/>
              </a:defRPr>
            </a:pPr>
            <a:r>
              <a:rPr b="0"/>
              <a:t>Now all this may prove Utopian, or destructive of true welfare, though, perhaps, not so Utopian, pursued in an intense religious spirit, as it would be if it were pursued in a matter-of-fact way. But is it appropriate to assume, as most of us have assumed hitherto, that it is insincere or wicked?…</a:t>
            </a:r>
            <a:endParaRPr b="0"/>
          </a:p>
          <a:p>
            <a:pPr lvl="1" indent="429768" algn="l" defTabSz="429768">
              <a:defRPr b="1" sz="1879">
                <a:solidFill>
                  <a:srgbClr val="3C2424"/>
                </a:solidFill>
                <a:latin typeface="Helvetica"/>
                <a:ea typeface="Helvetica"/>
                <a:cs typeface="Helvetica"/>
                <a:sym typeface="Helvetica"/>
              </a:defRPr>
            </a:pPr>
            <a:endParaRPr b="0"/>
          </a:p>
          <a:p>
            <a:pPr lvl="1" indent="429768" algn="l" defTabSz="429768">
              <a:defRPr b="1" sz="1879">
                <a:solidFill>
                  <a:srgbClr val="3C2424"/>
                </a:solidFill>
                <a:latin typeface="Helvetica"/>
                <a:ea typeface="Helvetica"/>
                <a:cs typeface="Helvetica"/>
                <a:sym typeface="Helvetica"/>
              </a:defRPr>
            </a:pPr>
            <a:r>
              <a:rPr b="0"/>
              <a:t>We used to believe that modern capitalism was capable, not merely of maintaining the existing standards of life, but of leading us gradually into an economic paradise where we should be comparatively free from economic cares. Now we doubt whether the business man is leading us to a destination far better than our present place. Regarded as a means he is tolerable; regarded as an end he is not so satisfactory…. The moral problem of our age is concerned with the love of money, with the habitual appeal to the money motive in nine-tenths of the activities of life, with the universal striving after individual economic security as the prime object of endeavour, with the social approbation of money as the measure of constructive success, and with the social appeal to the hoarding instinct as the foundation of the necessary provision for the family and for the future.…</a:t>
            </a:r>
            <a:endParaRPr b="0"/>
          </a:p>
          <a:p>
            <a:pPr lvl="1" indent="429768" algn="l" defTabSz="429768">
              <a:defRPr b="1" sz="1879">
                <a:solidFill>
                  <a:srgbClr val="3C2424"/>
                </a:solidFill>
                <a:latin typeface="Helvetica"/>
                <a:ea typeface="Helvetica"/>
                <a:cs typeface="Helvetica"/>
                <a:sym typeface="Helvetica"/>
              </a:defRPr>
            </a:pPr>
            <a:endParaRPr b="0"/>
          </a:p>
          <a:p>
            <a:pPr lvl="1" indent="429768" algn="l" defTabSz="429768">
              <a:defRPr b="1" sz="1879">
                <a:solidFill>
                  <a:srgbClr val="3C2424"/>
                </a:solidFill>
                <a:latin typeface="Helvetica"/>
                <a:ea typeface="Helvetica"/>
                <a:cs typeface="Helvetica"/>
                <a:sym typeface="Helvetica"/>
              </a:defRPr>
            </a:pPr>
            <a:r>
              <a:rPr b="0"/>
              <a:t>The visitor to Russia from the outside, who tries without prejudice to catch the atmosphere, must alternate, I think, between two moods—oppression and elation…. The mood of oppression… in part, no doubt… is the fruit of Red Revolution…. In part, perhaps, it is the fruit of some beastliness in the Russian nature—or in the Russian and Jewish natures when, as now, they are allied together. But in part it is one face of the superb earnestness of Red Russia, of the high seriousness, which in its other aspect appears as the Spirit of Elation….</a:t>
            </a:r>
            <a:endParaRPr b="0"/>
          </a:p>
          <a:p>
            <a:pPr lvl="1" indent="429768" algn="l" defTabSz="429768">
              <a:defRPr b="1" sz="1879">
                <a:solidFill>
                  <a:srgbClr val="3C2424"/>
                </a:solidFill>
                <a:latin typeface="Helvetica"/>
                <a:ea typeface="Helvetica"/>
                <a:cs typeface="Helvetica"/>
                <a:sym typeface="Helvetica"/>
              </a:defRPr>
            </a:pPr>
            <a:endParaRPr b="0"/>
          </a:p>
          <a:p>
            <a:pPr lvl="1" indent="429768" algn="l" defTabSz="429768">
              <a:defRPr b="1" sz="1879">
                <a:solidFill>
                  <a:srgbClr val="3C2424"/>
                </a:solidFill>
                <a:latin typeface="Helvetica"/>
                <a:ea typeface="Helvetica"/>
                <a:cs typeface="Helvetica"/>
                <a:sym typeface="Helvetica"/>
              </a:defRPr>
            </a:pPr>
            <a:r>
              <a:rPr b="0"/>
              <a:t>The elation, when that is felt, is very great. Here—one feels at moments—in spite of poverty, stupidity, and oppression, is the Laboratory of Life. Here the chemicals are being mixed in new combinations, and stink and explode. Something—there is just a chance—might come out. And even a chance gives to what is happening in Russia more importance than what is happening (let us say) in the United States of America…. I should like to give Russia her chance; to help and not to hinder. For how much rather, even after allowing for everything, if I were a Russian, would I contribute my quota of activity to Soviet Russia than to Tsarist Russia! I could not subscribe to the new official faith any more than to the old. I should detest the actions of the new tyrants not less than those of the old. But I should feel that my eyes were turned towards, and no longer away from, the possibilities of things; that out of the cruelty and stupidity of Old Russia nothing could ever emerge, but that beneath the cruelty and stupidity of New Russia some speck of the ideal may lie hid.</a:t>
            </a:r>
          </a:p>
        </p:txBody>
      </p:sp>
      <p:sp>
        <p:nvSpPr>
          <p:cNvPr id="255"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256" name="Image" descr="Image"/>
          <p:cNvPicPr>
            <a:picLocks noChangeAspect="1"/>
          </p:cNvPicPr>
          <p:nvPr/>
        </p:nvPicPr>
        <p:blipFill>
          <a:blip r:embed="rId4">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8"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259"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260" name="Keynes the Friedmanite"/>
          <p:cNvSpPr txBox="1"/>
          <p:nvPr>
            <p:ph type="title"/>
          </p:nvPr>
        </p:nvSpPr>
        <p:spPr>
          <a:xfrm>
            <a:off x="388587" y="0"/>
            <a:ext cx="23622001" cy="1968500"/>
          </a:xfrm>
          <a:prstGeom prst="rect">
            <a:avLst/>
          </a:prstGeom>
        </p:spPr>
        <p:txBody>
          <a:bodyPr lIns="91436" tIns="91436" rIns="91436" bIns="91436" anchor="ctr"/>
          <a:lstStyle>
            <a:lvl1pPr algn="ctr" defTabSz="886968">
              <a:lnSpc>
                <a:spcPct val="100000"/>
              </a:lnSpc>
              <a:defRPr spc="0" sz="11640">
                <a:solidFill>
                  <a:srgbClr val="800000"/>
                </a:solidFill>
                <a:uFill>
                  <a:solidFill>
                    <a:srgbClr val="000000"/>
                  </a:solidFill>
                </a:uFill>
              </a:defRPr>
            </a:lvl1pPr>
          </a:lstStyle>
          <a:p>
            <a:pPr/>
            <a:r>
              <a:t>Keynes the Friedmanite</a:t>
            </a:r>
          </a:p>
        </p:txBody>
      </p:sp>
      <p:sp>
        <p:nvSpPr>
          <p:cNvPr id="261"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262"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normAutofit fontScale="100000" lnSpcReduction="0"/>
          </a:bodyPr>
          <a:lstStyle/>
          <a:p>
            <a:pPr algn="l" defTabSz="443484">
              <a:defRPr b="1" sz="1940">
                <a:solidFill>
                  <a:srgbClr val="3C2424"/>
                </a:solidFill>
                <a:latin typeface="Helvetica"/>
                <a:ea typeface="Helvetica"/>
                <a:cs typeface="Helvetica"/>
                <a:sym typeface="Helvetica"/>
              </a:defRPr>
            </a:pPr>
            <a:r>
              <a:t>John Maynard Keynes</a:t>
            </a:r>
            <a:r>
              <a:rPr b="0"/>
              <a:t> (1936): </a:t>
            </a:r>
            <a:r>
              <a:rPr b="0" i="1"/>
              <a:t>The General Theory of Employment, Interest &amp; Money </a:t>
            </a:r>
            <a:r>
              <a:rPr b="0"/>
              <a:t>&lt;</a:t>
            </a:r>
            <a:r>
              <a:rPr b="0" u="sng">
                <a:hlinkClick r:id="rId3" invalidUrl="" action="" tgtFrame="" tooltip="" history="1" highlightClick="0" endSnd="0"/>
              </a:rPr>
              <a:t>https://www.marxists.org/reference/subject/economics/keynes/general-theory/ch24.htm</a:t>
            </a:r>
            <a:r>
              <a:rPr b="0"/>
              <a:t>&gt;</a:t>
            </a:r>
            <a:endParaRPr b="0"/>
          </a:p>
          <a:p>
            <a:pPr algn="l" defTabSz="443484">
              <a:defRPr b="1" sz="1940">
                <a:solidFill>
                  <a:srgbClr val="3C2424"/>
                </a:solidFill>
                <a:latin typeface="Helvetica"/>
                <a:ea typeface="Helvetica"/>
                <a:cs typeface="Helvetica"/>
                <a:sym typeface="Helvetica"/>
              </a:defRPr>
            </a:pPr>
            <a:endParaRPr b="0"/>
          </a:p>
          <a:p>
            <a:pPr lvl="1" indent="443484" algn="l" defTabSz="443484">
              <a:defRPr b="1" sz="1940">
                <a:solidFill>
                  <a:srgbClr val="3C2424"/>
                </a:solidFill>
                <a:latin typeface="Helvetica"/>
                <a:ea typeface="Helvetica"/>
                <a:cs typeface="Helvetica"/>
                <a:sym typeface="Helvetica"/>
              </a:defRPr>
            </a:pPr>
            <a:r>
              <a:rPr b="0"/>
              <a:t>In some other respects the foregoing theory is moderately conservative in its implications…. The State will have to exercise a guiding influence on the propensity to consume…. Itseems unlikely that the influence of banking policy on the rate of interest will be sufficient by itself to determine an optimum rate of investment. I conceive, therefore, that a somewhat comprehensive socialisation of investment will prove the only means of securing an approximation to full employment….</a:t>
            </a:r>
            <a:endParaRPr b="0"/>
          </a:p>
          <a:p>
            <a:pPr lvl="1" indent="443484" algn="l" defTabSz="443484">
              <a:defRPr b="1" sz="1940">
                <a:solidFill>
                  <a:srgbClr val="3C2424"/>
                </a:solidFill>
                <a:latin typeface="Helvetica"/>
                <a:ea typeface="Helvetica"/>
                <a:cs typeface="Helvetica"/>
                <a:sym typeface="Helvetica"/>
              </a:defRPr>
            </a:pPr>
            <a:endParaRPr b="0"/>
          </a:p>
          <a:p>
            <a:pPr lvl="1" indent="443484" algn="l" defTabSz="443484">
              <a:defRPr b="1" sz="1940">
                <a:solidFill>
                  <a:srgbClr val="3C2424"/>
                </a:solidFill>
                <a:latin typeface="Helvetica"/>
                <a:ea typeface="Helvetica"/>
                <a:cs typeface="Helvetica"/>
                <a:sym typeface="Helvetica"/>
              </a:defRPr>
            </a:pPr>
            <a:r>
              <a:rPr b="0"/>
              <a:t>But beyond this no obvious case is made out for a system of State Socialism…. If the State is able to determine the aggregate amount of resources devoted to augmenting the instruments and the basic rate of reward to those who own them, it will have accomplished all that is necessary. Moreover, the necessary measures of socialisation can be introduced gradually and without a break in the general traditions of society.</a:t>
            </a:r>
            <a:endParaRPr b="0"/>
          </a:p>
          <a:p>
            <a:pPr lvl="1" indent="443484" algn="l" defTabSz="443484">
              <a:defRPr b="1" sz="1940">
                <a:solidFill>
                  <a:srgbClr val="3C2424"/>
                </a:solidFill>
                <a:latin typeface="Helvetica"/>
                <a:ea typeface="Helvetica"/>
                <a:cs typeface="Helvetica"/>
                <a:sym typeface="Helvetica"/>
              </a:defRPr>
            </a:pPr>
            <a:endParaRPr b="0"/>
          </a:p>
          <a:p>
            <a:pPr lvl="1" indent="443484" algn="l" defTabSz="443484">
              <a:defRPr b="1" sz="1940">
                <a:solidFill>
                  <a:srgbClr val="3C2424"/>
                </a:solidFill>
                <a:latin typeface="Helvetica"/>
                <a:ea typeface="Helvetica"/>
                <a:cs typeface="Helvetica"/>
                <a:sym typeface="Helvetica"/>
              </a:defRPr>
            </a:pPr>
            <a:r>
              <a:rPr b="0"/>
              <a:t>Our criticism of the accepted classical theory of economics has consisted not so much in finding logical flaws in its analysis as in pointing out that its tacit assumptions are seldom or never satisfied.… But if our central controls succeed in establishing an aggregate volume of output corresponding to full employment as nearly as is practicable, the classical theory comes into its own again from this point onwards…. Thus I agree with Gesell that the result of filling in the gaps in the classical theory is not to dispose of the ‘Manchester System’, but to indicate the nature of the environment which the free play of economic forces requires if it is to realise the full potentialities of production. </a:t>
            </a:r>
            <a:endParaRPr b="0"/>
          </a:p>
          <a:p>
            <a:pPr lvl="1" indent="443484" algn="l" defTabSz="443484">
              <a:defRPr b="1" sz="1940">
                <a:solidFill>
                  <a:srgbClr val="3C2424"/>
                </a:solidFill>
                <a:latin typeface="Helvetica"/>
                <a:ea typeface="Helvetica"/>
                <a:cs typeface="Helvetica"/>
                <a:sym typeface="Helvetica"/>
              </a:defRPr>
            </a:pPr>
            <a:endParaRPr b="0"/>
          </a:p>
          <a:p>
            <a:pPr lvl="1" indent="443484" algn="l" defTabSz="443484">
              <a:defRPr b="1" sz="1940">
                <a:solidFill>
                  <a:srgbClr val="3C2424"/>
                </a:solidFill>
                <a:latin typeface="Helvetica"/>
                <a:ea typeface="Helvetica"/>
                <a:cs typeface="Helvetica"/>
                <a:sym typeface="Helvetica"/>
              </a:defRPr>
            </a:pPr>
            <a:r>
              <a:rPr b="0"/>
              <a:t>The central controls necessary to ensure full employment will, of course, involve a large extension of the traditional functions of government. Furthermore, the modern classical theory has itself called attention to various conditions in which the free play of economic forces may need to be curbed or guided. But there will still remain a wide field for the exercise of private initiative and responsibility. Within this field the traditional advantages of individualism will still hold good.</a:t>
            </a:r>
            <a:endParaRPr b="0"/>
          </a:p>
          <a:p>
            <a:pPr lvl="1" indent="443484" algn="l" defTabSz="443484">
              <a:defRPr b="1" sz="1940">
                <a:solidFill>
                  <a:srgbClr val="3C2424"/>
                </a:solidFill>
                <a:latin typeface="Helvetica"/>
                <a:ea typeface="Helvetica"/>
                <a:cs typeface="Helvetica"/>
                <a:sym typeface="Helvetica"/>
              </a:defRPr>
            </a:pPr>
            <a:endParaRPr b="0"/>
          </a:p>
          <a:p>
            <a:pPr lvl="1" indent="443484" algn="l" defTabSz="443484">
              <a:defRPr b="1" sz="1940">
                <a:solidFill>
                  <a:srgbClr val="3C2424"/>
                </a:solidFill>
                <a:latin typeface="Helvetica"/>
                <a:ea typeface="Helvetica"/>
                <a:cs typeface="Helvetica"/>
                <a:sym typeface="Helvetica"/>
              </a:defRPr>
            </a:pPr>
            <a:r>
              <a:rPr b="0"/>
              <a:t>Let us stop for a moment to remind ourselves what these advantages are. They are partly advantages of efficiency—the advantages of decentralisation and of the play of self-interest…. Above all, individualism, if it can be purged of its defects and its abuses, is the best safeguard of personal liberty in the sense that, compared with any other system, it greatly widens the field for the exercise of personal choice. It is also the best safeguard of the variety of life, which emerges precisely from this extended field of personal choice, and the loss of which is the greatest of all the losses of the homogeneous or totalitarian state. For this variety preserves the traditions which embody the most secure and successful choices of former generations; it colours the present with the diversification of its fancy; and, being the handmaid of experiment as well as of tradition and of fancy, it is the most powerful instrument to better the future.</a:t>
            </a:r>
            <a:endParaRPr b="0"/>
          </a:p>
          <a:p>
            <a:pPr lvl="1" indent="443484" algn="l" defTabSz="443484">
              <a:defRPr b="1" sz="1940">
                <a:solidFill>
                  <a:srgbClr val="3C2424"/>
                </a:solidFill>
                <a:latin typeface="Helvetica"/>
                <a:ea typeface="Helvetica"/>
                <a:cs typeface="Helvetica"/>
                <a:sym typeface="Helvetica"/>
              </a:defRPr>
            </a:pPr>
            <a:endParaRPr b="0"/>
          </a:p>
          <a:p>
            <a:pPr lvl="1" indent="443484" algn="l" defTabSz="443484">
              <a:defRPr b="1" sz="1940">
                <a:solidFill>
                  <a:srgbClr val="3C2424"/>
                </a:solidFill>
                <a:latin typeface="Helvetica"/>
                <a:ea typeface="Helvetica"/>
                <a:cs typeface="Helvetica"/>
                <a:sym typeface="Helvetica"/>
              </a:defRPr>
            </a:pPr>
            <a:r>
              <a:rPr b="0"/>
              <a:t>Whilst, therefore, the enlargement of the functions of government, involved in the task of adjusting to one another the propensity to consume and the inducement to invest, would seem to a nineteenth-century publicist or to a contemporary American financier to be a terrific encroachment on individualism. I defend it, on the contrary, both as the only practicable means of avoiding the destruction of existing economic forms in their entirety and as the condition of the successful functioning of individual initiative.</a:t>
            </a:r>
            <a:endParaRPr b="0"/>
          </a:p>
          <a:p>
            <a:pPr lvl="1" indent="443484" algn="l" defTabSz="443484">
              <a:defRPr b="1" sz="1940">
                <a:solidFill>
                  <a:srgbClr val="3C2424"/>
                </a:solidFill>
                <a:latin typeface="Helvetica"/>
                <a:ea typeface="Helvetica"/>
                <a:cs typeface="Helvetica"/>
                <a:sym typeface="Helvetica"/>
              </a:defRPr>
            </a:pPr>
            <a:endParaRPr b="0"/>
          </a:p>
          <a:p>
            <a:pPr lvl="1" indent="443484" algn="l" defTabSz="443484">
              <a:defRPr b="1" sz="1940">
                <a:solidFill>
                  <a:srgbClr val="3C2424"/>
                </a:solidFill>
                <a:latin typeface="Helvetica"/>
                <a:ea typeface="Helvetica"/>
                <a:cs typeface="Helvetica"/>
                <a:sym typeface="Helvetica"/>
              </a:defRPr>
            </a:pPr>
            <a:r>
              <a:rPr b="0"/>
              <a:t>For if effective demand is deficient, not only is the public scandal of wasted resources intolerable, but the individual enterpriser who seeks to bring these resources into action is operating with the odds loaded against him. The game of hazard which he plays is furnished with many zeros, so that the players as a whole will lose if they have the energy and hope to deal all the cards. Hitherto the increment of the world’s wealth has fallen short of the aggregate of positive individual savings; and the difference has been made up by the losses of those whose courage and initiative have not been supplemented by exceptional skill or unusual good fortune. But if effective demand is adequate, average skill and average good fortune will be enough.</a:t>
            </a:r>
            <a:endParaRPr b="0"/>
          </a:p>
          <a:p>
            <a:pPr lvl="1" indent="443484" algn="l" defTabSz="443484">
              <a:defRPr b="1" sz="1940">
                <a:solidFill>
                  <a:srgbClr val="3C2424"/>
                </a:solidFill>
                <a:latin typeface="Helvetica"/>
                <a:ea typeface="Helvetica"/>
                <a:cs typeface="Helvetica"/>
                <a:sym typeface="Helvetica"/>
              </a:defRPr>
            </a:pPr>
            <a:endParaRPr b="0"/>
          </a:p>
          <a:p>
            <a:pPr lvl="1" indent="443484" algn="l" defTabSz="443484">
              <a:defRPr b="1" sz="1940">
                <a:solidFill>
                  <a:srgbClr val="3C2424"/>
                </a:solidFill>
                <a:latin typeface="Helvetica"/>
                <a:ea typeface="Helvetica"/>
                <a:cs typeface="Helvetica"/>
                <a:sym typeface="Helvetica"/>
              </a:defRPr>
            </a:pPr>
            <a:r>
              <a:rPr b="0"/>
              <a:t>The authoritarian state systems of today seem to solve the problem of unemployment at the expense of efficiency and of freedom. It is certain that the world will not much longer tolerate the unemployment which, apart from brief intervals of excitement, is associated and in my opinion, inevitably associated with present-day capitalistic individualism. But it may be possible by a right analysis of the problem to cure the disease whilst preserving efficiency and freedom.</a:t>
            </a:r>
          </a:p>
        </p:txBody>
      </p:sp>
      <p:sp>
        <p:nvSpPr>
          <p:cNvPr id="263"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264" name="Image" descr="Image"/>
          <p:cNvPicPr>
            <a:picLocks noChangeAspect="1"/>
          </p:cNvPicPr>
          <p:nvPr/>
        </p:nvPicPr>
        <p:blipFill>
          <a:blip r:embed="rId4">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66"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267"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268" name="Keynes Making Fun of Schumpeter"/>
          <p:cNvSpPr txBox="1"/>
          <p:nvPr>
            <p:ph type="title"/>
          </p:nvPr>
        </p:nvSpPr>
        <p:spPr>
          <a:xfrm>
            <a:off x="388587" y="0"/>
            <a:ext cx="23622001" cy="1968500"/>
          </a:xfrm>
          <a:prstGeom prst="rect">
            <a:avLst/>
          </a:prstGeom>
        </p:spPr>
        <p:txBody>
          <a:bodyPr lIns="91436" tIns="91436" rIns="91436" bIns="91436" anchor="ctr"/>
          <a:lstStyle>
            <a:lvl1pPr algn="ctr" defTabSz="841247">
              <a:lnSpc>
                <a:spcPct val="100000"/>
              </a:lnSpc>
              <a:defRPr spc="0" sz="11040">
                <a:solidFill>
                  <a:srgbClr val="800000"/>
                </a:solidFill>
                <a:uFill>
                  <a:solidFill>
                    <a:srgbClr val="000000"/>
                  </a:solidFill>
                </a:uFill>
              </a:defRPr>
            </a:lvl1pPr>
          </a:lstStyle>
          <a:p>
            <a:pPr/>
            <a:r>
              <a:t>Keynes Making Fun of Schumpeter</a:t>
            </a:r>
          </a:p>
        </p:txBody>
      </p:sp>
      <p:sp>
        <p:nvSpPr>
          <p:cNvPr id="269"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270"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normAutofit fontScale="100000" lnSpcReduction="0"/>
          </a:bodyPr>
          <a:lstStyle/>
          <a:p>
            <a:pPr algn="l" defTabSz="457200">
              <a:defRPr b="1" sz="2000">
                <a:solidFill>
                  <a:srgbClr val="3C2424"/>
                </a:solidFill>
                <a:latin typeface="Helvetica"/>
                <a:ea typeface="Helvetica"/>
                <a:cs typeface="Helvetica"/>
                <a:sym typeface="Helvetica"/>
              </a:defRPr>
            </a:pPr>
            <a:r>
              <a:t>John Maynard Keynes</a:t>
            </a:r>
            <a:r>
              <a:rPr b="0"/>
              <a:t> (1931): </a:t>
            </a:r>
            <a:r>
              <a:rPr b="0" i="1"/>
              <a:t>An Economic Analysis of Unemployment </a:t>
            </a:r>
            <a:r>
              <a:rPr b="0"/>
              <a:t>&lt;</a:t>
            </a:r>
            <a:r>
              <a:rPr b="0" u="sng">
                <a:hlinkClick r:id="rId3" invalidUrl="" action="" tgtFrame="" tooltip="" history="1" highlightClick="0" endSnd="0"/>
              </a:rPr>
              <a:t>https://www.bradford-delong.com/2004/07/the-mammon-of-unrighteousness.html</a:t>
            </a:r>
            <a:r>
              <a:rPr b="0"/>
              <a:t>&gt;:</a:t>
            </a:r>
            <a:endParaRPr b="0"/>
          </a:p>
          <a:p>
            <a:pPr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While some part of the investment which was going on in the world at large was doubtless ill judged and unfruitful, there can, I think, be no doubt that the world was enormously enriched by the constructions of the quinquennium from 1925 to 1929; its wealth increased in these five years by as much as in any other ten or twenty years of its history….</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Doubtless, as was inevitable in a period of such rapid changes, the rate of growth of some individual commodities could not always be in just the appropriate relation to that of others. But, on the whole, I see little sign of any serious want of balance such as is alleged by some authorities. The rates of growth [of different sectors]…seem to me, looking back, to have been in as good a balance as one could have expected them to be. A few more quinquennia of equal activity might, indeed, have brought us near to the economic Eldorado where all our reasonable economic needs would be satisfied….</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It seems an extraordinary imbecility that this wonderful outburst of productive energy [over 1924–29] should be the prelude to impoverishment and depression. Some austere and puritanical souls regard it both as an inevitable and a desirable nemesis on so much overexpansion, as they call it; a nemesis on man’s speculative spirit. It would, they feel, be a victory for the mammon of unrighteousness if so much prosperity was not subsequently balanced by universal bankruptcy. We need, they say, what they politely call a ‘prolonged liquidation’ to put us right. The liquidation, they tell us, is not yet complete. But in time it will be. And when sufficient time has elapsed for the completion of the liquidation, all will be well with us again.</a:t>
            </a:r>
            <a:endParaRPr b="0"/>
          </a:p>
          <a:p>
            <a:pPr lvl="1" algn="l" defTabSz="457200">
              <a:defRPr b="1" sz="2000">
                <a:solidFill>
                  <a:srgbClr val="3C2424"/>
                </a:solidFill>
                <a:latin typeface="Helvetica"/>
                <a:ea typeface="Helvetica"/>
                <a:cs typeface="Helvetica"/>
                <a:sym typeface="Helvetica"/>
              </a:defRPr>
            </a:pPr>
            <a:endParaRPr b="0"/>
          </a:p>
          <a:p>
            <a:pPr lvl="1" algn="l" defTabSz="457200">
              <a:defRPr b="1" sz="2000">
                <a:solidFill>
                  <a:srgbClr val="3C2424"/>
                </a:solidFill>
                <a:latin typeface="Helvetica"/>
                <a:ea typeface="Helvetica"/>
                <a:cs typeface="Helvetica"/>
                <a:sym typeface="Helvetica"/>
              </a:defRPr>
            </a:pPr>
            <a:r>
              <a:rPr b="0"/>
              <a:t>I do not take this view. I find the explanation of the current business losses, of the reduction in output, and of the unemployment which necessarily ensues on this not in the high level of investment which was proceeding up to the spring of 1929, but in the subsequent cessation of this investment. I see no hope of a recovery except in a revival of the high level of investment. And I do not understand how universal bankruptcy can do any good or bring us nearer to prosperity.</a:t>
            </a:r>
          </a:p>
        </p:txBody>
      </p:sp>
      <p:sp>
        <p:nvSpPr>
          <p:cNvPr id="271"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272" name="Image" descr="Image"/>
          <p:cNvPicPr>
            <a:picLocks noChangeAspect="1"/>
          </p:cNvPicPr>
          <p:nvPr/>
        </p:nvPicPr>
        <p:blipFill>
          <a:blip r:embed="rId4">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74" name="delong-this-is-fine.png" descr="delong-this-is-fine.png"/>
          <p:cNvPicPr>
            <a:picLocks noChangeAspect="1"/>
          </p:cNvPicPr>
          <p:nvPr/>
        </p:nvPicPr>
        <p:blipFill>
          <a:blip r:embed="rId2">
            <a:alphaModFix amt="25396"/>
            <a:extLst/>
          </a:blip>
          <a:srcRect l="0" t="0" r="1203" b="0"/>
          <a:stretch>
            <a:fillRect/>
          </a:stretch>
        </p:blipFill>
        <p:spPr>
          <a:xfrm>
            <a:off x="0" y="-3183"/>
            <a:ext cx="24384001" cy="13722366"/>
          </a:xfrm>
          <a:prstGeom prst="rect">
            <a:avLst/>
          </a:prstGeom>
          <a:ln w="12700">
            <a:miter lim="400000"/>
          </a:ln>
        </p:spPr>
      </p:pic>
      <p:sp>
        <p:nvSpPr>
          <p:cNvPr id="275" name="2021-06-29 Tu"/>
          <p:cNvSpPr txBox="1"/>
          <p:nvPr/>
        </p:nvSpPr>
        <p:spPr>
          <a:xfrm>
            <a:off x="8763000" y="13147054"/>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lvl="1" indent="0" algn="r" defTabSz="914400">
              <a:spcBef>
                <a:spcPts val="1200"/>
              </a:spcBef>
              <a:defRPr b="1" sz="3000">
                <a:solidFill>
                  <a:srgbClr val="FFFFFF"/>
                </a:solidFill>
                <a:uFill>
                  <a:solidFill>
                    <a:srgbClr val="000000"/>
                  </a:solidFill>
                </a:uFill>
                <a:latin typeface="Helvetica"/>
                <a:ea typeface="Helvetica"/>
                <a:cs typeface="Helvetica"/>
                <a:sym typeface="Helvetica"/>
              </a:defRPr>
            </a:pPr>
            <a:r>
              <a:t>2021-06-29 Tu</a:t>
            </a:r>
          </a:p>
        </p:txBody>
      </p:sp>
      <p:sp>
        <p:nvSpPr>
          <p:cNvPr id="276" name="Twirlip of the Mists"/>
          <p:cNvSpPr txBox="1"/>
          <p:nvPr>
            <p:ph type="title"/>
          </p:nvPr>
        </p:nvSpPr>
        <p:spPr>
          <a:xfrm>
            <a:off x="388587" y="0"/>
            <a:ext cx="23622001" cy="1968500"/>
          </a:xfrm>
          <a:prstGeom prst="rect">
            <a:avLst/>
          </a:prstGeom>
        </p:spPr>
        <p:txBody>
          <a:bodyPr lIns="91436" tIns="91436" rIns="91436" bIns="91436" anchor="ctr"/>
          <a:lstStyle>
            <a:lvl1pPr algn="ctr" defTabSz="886968">
              <a:lnSpc>
                <a:spcPct val="100000"/>
              </a:lnSpc>
              <a:defRPr spc="0" sz="11640">
                <a:solidFill>
                  <a:srgbClr val="800000"/>
                </a:solidFill>
                <a:uFill>
                  <a:solidFill>
                    <a:srgbClr val="000000"/>
                  </a:solidFill>
                </a:uFill>
              </a:defRPr>
            </a:lvl1pPr>
          </a:lstStyle>
          <a:p>
            <a:pPr/>
            <a:r>
              <a:t>Twirlip of the Mists</a:t>
            </a:r>
          </a:p>
        </p:txBody>
      </p:sp>
      <p:sp>
        <p:nvSpPr>
          <p:cNvPr id="277" name="&lt;&gt;…"/>
          <p:cNvSpPr txBox="1"/>
          <p:nvPr/>
        </p:nvSpPr>
        <p:spPr>
          <a:xfrm>
            <a:off x="381000" y="13075927"/>
            <a:ext cx="15240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latin typeface="Helvetica"/>
                <a:ea typeface="Helvetica"/>
                <a:cs typeface="Helvetica"/>
                <a:sym typeface="Helvetica"/>
              </a:defRPr>
            </a:pPr>
            <a:r>
              <a:t>&lt;&gt;</a:t>
            </a:r>
          </a:p>
          <a:p>
            <a:pPr algn="l" defTabSz="914400">
              <a:defRPr b="1" sz="1500">
                <a:solidFill>
                  <a:srgbClr val="FFFFFF"/>
                </a:solidFill>
                <a:uFill>
                  <a:solidFill>
                    <a:srgbClr val="000000"/>
                  </a:solidFill>
                </a:uFill>
                <a:latin typeface="Helvetica"/>
                <a:ea typeface="Helvetica"/>
                <a:cs typeface="Helvetica"/>
                <a:sym typeface="Helvetica"/>
              </a:defRPr>
            </a:pPr>
            <a:r>
              <a:t>&lt;&gt;</a:t>
            </a:r>
          </a:p>
        </p:txBody>
      </p:sp>
      <p:sp>
        <p:nvSpPr>
          <p:cNvPr id="278" name="The long 20th century will in all likelihood be seen in the future as the watershed in human experience:…"/>
          <p:cNvSpPr txBox="1"/>
          <p:nvPr/>
        </p:nvSpPr>
        <p:spPr>
          <a:xfrm>
            <a:off x="381000" y="2034554"/>
            <a:ext cx="18986500" cy="11112501"/>
          </a:xfrm>
          <a:prstGeom prst="rect">
            <a:avLst/>
          </a:prstGeom>
          <a:ln w="12700">
            <a:miter lim="400000"/>
          </a:ln>
          <a:extLst>
            <a:ext uri="{C572A759-6A51-4108-AA02-DFA0A04FC94B}">
              <ma14:wrappingTextBoxFlag xmlns:ma14="http://schemas.microsoft.com/office/mac/drawingml/2011/main" val="1"/>
            </a:ext>
          </a:extLst>
        </p:spPr>
        <p:txBody>
          <a:bodyPr lIns="12700" tIns="12700" rIns="12700" bIns="12700" numCol="3" spcCol="64117">
            <a:normAutofit fontScale="100000" lnSpcReduction="0"/>
          </a:bodyPr>
          <a:lstStyle/>
          <a:p>
            <a:pPr algn="l" defTabSz="457200">
              <a:defRPr b="1" sz="2750">
                <a:solidFill>
                  <a:srgbClr val="3C2424"/>
                </a:solidFill>
              </a:defRPr>
            </a:pPr>
            <a:r>
              <a:t>&amp;, of course:</a:t>
            </a:r>
          </a:p>
          <a:p>
            <a:pPr algn="l" defTabSz="457200">
              <a:defRPr sz="2000" u="sng">
                <a:solidFill>
                  <a:srgbClr val="3C2424"/>
                </a:solidFill>
                <a:latin typeface="Helvetica"/>
                <a:ea typeface="Helvetica"/>
                <a:cs typeface="Helvetica"/>
                <a:sym typeface="Helvetica"/>
              </a:defRPr>
            </a:pPr>
            <a:r>
              <a:rPr b="1" u="none"/>
              <a:t>Vernor Vinge</a:t>
            </a:r>
            <a:r>
              <a:rPr u="none"/>
              <a:t>: </a:t>
            </a:r>
            <a:r>
              <a:rPr i="1" u="none"/>
              <a:t>A Fire Upon the Deep</a:t>
            </a:r>
            <a:r>
              <a:rPr u="none"/>
              <a:t> &lt;</a:t>
            </a:r>
            <a:r>
              <a:rPr>
                <a:hlinkClick r:id="rId3" invalidUrl="" action="" tgtFrame="" tooltip="" history="1" highlightClick="0" endSnd="0"/>
              </a:rPr>
              <a:t>https://books.google.com/books?id=fCCWWgZ7d6UC</a:t>
            </a:r>
            <a:r>
              <a:rPr u="none"/>
              <a:t>&gt;:</a:t>
            </a:r>
            <a:endParaRPr u="none"/>
          </a:p>
          <a:p>
            <a:pPr algn="l" defTabSz="457200">
              <a:defRPr sz="2000" u="sng">
                <a:solidFill>
                  <a:srgbClr val="3C2424"/>
                </a:solidFill>
                <a:latin typeface="Helvetica"/>
                <a:ea typeface="Helvetica"/>
                <a:cs typeface="Helvetica"/>
                <a:sym typeface="Helvetica"/>
              </a:defRPr>
            </a:pPr>
            <a:endParaRPr u="none"/>
          </a:p>
          <a:p>
            <a:pPr lvl="1" algn="l" defTabSz="457200">
              <a:defRPr sz="2000" u="sng">
                <a:solidFill>
                  <a:srgbClr val="3C2424"/>
                </a:solidFill>
                <a:latin typeface="Helvetica"/>
                <a:ea typeface="Helvetica"/>
                <a:cs typeface="Helvetica"/>
                <a:sym typeface="Helvetica"/>
              </a:defRPr>
            </a:pPr>
            <a:r>
              <a:rPr u="none"/>
              <a:t>And some messages were patent nonsense. One thing about the Net: the multiple, automatic translations often disguised the fundamental alienness of participants. Behind the chatty, colloquial postings, there were faraway realms, so misted by distance and difference that communication was impossible—even though it might take a while to realize the fact. For instance:</a:t>
            </a:r>
            <a:endParaRPr u="none"/>
          </a:p>
          <a:p>
            <a:pPr lvl="1" algn="l" defTabSz="457200">
              <a:defRPr sz="2000" u="sng">
                <a:solidFill>
                  <a:srgbClr val="3C2424"/>
                </a:solidFill>
                <a:latin typeface="Helvetica"/>
                <a:ea typeface="Helvetica"/>
                <a:cs typeface="Helvetica"/>
                <a:sym typeface="Helvetica"/>
              </a:defRPr>
            </a:pPr>
            <a:endParaRPr u="none"/>
          </a:p>
          <a:p>
            <a:pPr lvl="2" algn="l" defTabSz="457200">
              <a:defRPr sz="2000" u="sng">
                <a:solidFill>
                  <a:srgbClr val="3C2424"/>
                </a:solidFill>
                <a:latin typeface="Helvetica"/>
                <a:ea typeface="Helvetica"/>
                <a:cs typeface="Helvetica"/>
                <a:sym typeface="Helvetica"/>
              </a:defRPr>
            </a:pPr>
            <a:r>
              <a:rPr u="none"/>
              <a:t>Crypto: 0 :: As received by: OOB shipboard ad hoc :: Language path: Arbwyth -&gt;Trade24 -&gt; Cherguelen -&gt; Triskweline, SjK units </a:t>
            </a:r>
            <a:endParaRPr u="none"/>
          </a:p>
          <a:p>
            <a:pPr lvl="2" algn="l" defTabSz="457200">
              <a:defRPr sz="2000" u="sng">
                <a:solidFill>
                  <a:srgbClr val="3C2424"/>
                </a:solidFill>
                <a:latin typeface="Helvetica"/>
                <a:ea typeface="Helvetica"/>
                <a:cs typeface="Helvetica"/>
                <a:sym typeface="Helvetica"/>
              </a:defRPr>
            </a:pPr>
            <a:endParaRPr u="none"/>
          </a:p>
          <a:p>
            <a:pPr lvl="2" algn="l" defTabSz="457200">
              <a:defRPr sz="2000" u="sng">
                <a:solidFill>
                  <a:srgbClr val="3C2424"/>
                </a:solidFill>
                <a:latin typeface="Helvetica"/>
                <a:ea typeface="Helvetica"/>
                <a:cs typeface="Helvetica"/>
                <a:sym typeface="Helvetica"/>
              </a:defRPr>
            </a:pPr>
            <a:r>
              <a:rPr u="none"/>
              <a:t>From: Twirlip of the Mists [Perhaps an organization of cloud fliers in a single jovian system. Very sparse priors.] </a:t>
            </a:r>
            <a:endParaRPr u="none"/>
          </a:p>
          <a:p>
            <a:pPr lvl="2" algn="l" defTabSz="457200">
              <a:defRPr sz="2000" u="sng">
                <a:solidFill>
                  <a:srgbClr val="3C2424"/>
                </a:solidFill>
                <a:latin typeface="Helvetica"/>
                <a:ea typeface="Helvetica"/>
                <a:cs typeface="Helvetica"/>
                <a:sym typeface="Helvetica"/>
              </a:defRPr>
            </a:pPr>
            <a:endParaRPr u="none"/>
          </a:p>
          <a:p>
            <a:pPr lvl="2" algn="l" defTabSz="457200">
              <a:defRPr sz="2000" u="sng">
                <a:solidFill>
                  <a:srgbClr val="3C2424"/>
                </a:solidFill>
                <a:latin typeface="Helvetica"/>
                <a:ea typeface="Helvetica"/>
                <a:cs typeface="Helvetica"/>
                <a:sym typeface="Helvetica"/>
              </a:defRPr>
            </a:pPr>
            <a:r>
              <a:rPr u="none"/>
              <a:t>Subject: Blighter Video thread </a:t>
            </a:r>
            <a:endParaRPr u="none"/>
          </a:p>
          <a:p>
            <a:pPr lvl="2" algn="l" defTabSz="457200">
              <a:defRPr sz="2000" u="sng">
                <a:solidFill>
                  <a:srgbClr val="3C2424"/>
                </a:solidFill>
                <a:latin typeface="Helvetica"/>
                <a:ea typeface="Helvetica"/>
                <a:cs typeface="Helvetica"/>
                <a:sym typeface="Helvetica"/>
              </a:defRPr>
            </a:pPr>
            <a:endParaRPr u="none"/>
          </a:p>
          <a:p>
            <a:pPr lvl="2" algn="l" defTabSz="457200">
              <a:defRPr sz="2000" u="sng">
                <a:solidFill>
                  <a:srgbClr val="3C2424"/>
                </a:solidFill>
                <a:latin typeface="Helvetica"/>
                <a:ea typeface="Helvetica"/>
                <a:cs typeface="Helvetica"/>
                <a:sym typeface="Helvetica"/>
              </a:defRPr>
            </a:pPr>
            <a:r>
              <a:rPr u="none"/>
              <a:t>Key phrases: Hexapodia as the key insight Distribution:</a:t>
            </a:r>
            <a:endParaRPr u="none"/>
          </a:p>
          <a:p>
            <a:pPr lvl="1" algn="l" defTabSz="457200">
              <a:defRPr sz="2000" u="sng">
                <a:solidFill>
                  <a:srgbClr val="3C2424"/>
                </a:solidFill>
                <a:latin typeface="Helvetica"/>
                <a:ea typeface="Helvetica"/>
                <a:cs typeface="Helvetica"/>
                <a:sym typeface="Helvetica"/>
              </a:defRPr>
            </a:pPr>
            <a:endParaRPr u="none"/>
          </a:p>
          <a:p>
            <a:pPr lvl="2" algn="l" defTabSz="457200">
              <a:defRPr sz="2000" u="sng">
                <a:solidFill>
                  <a:srgbClr val="3C2424"/>
                </a:solidFill>
                <a:latin typeface="Helvetica"/>
                <a:ea typeface="Helvetica"/>
                <a:cs typeface="Helvetica"/>
                <a:sym typeface="Helvetica"/>
              </a:defRPr>
            </a:pPr>
            <a:r>
              <a:rPr u="none"/>
              <a:t>Threat of the Blight Date: 8.68 days since Fall of Relay</a:t>
            </a:r>
            <a:endParaRPr u="none"/>
          </a:p>
          <a:p>
            <a:pPr lvl="1" algn="l" defTabSz="457200">
              <a:defRPr sz="2000" u="sng">
                <a:solidFill>
                  <a:srgbClr val="3C2424"/>
                </a:solidFill>
                <a:latin typeface="Helvetica"/>
                <a:ea typeface="Helvetica"/>
                <a:cs typeface="Helvetica"/>
                <a:sym typeface="Helvetica"/>
              </a:defRPr>
            </a:pPr>
            <a:endParaRPr u="none"/>
          </a:p>
          <a:p>
            <a:pPr lvl="2" algn="l" defTabSz="457200">
              <a:defRPr sz="2000" u="sng">
                <a:solidFill>
                  <a:srgbClr val="3C2424"/>
                </a:solidFill>
                <a:latin typeface="Helvetica"/>
                <a:ea typeface="Helvetica"/>
                <a:cs typeface="Helvetica"/>
                <a:sym typeface="Helvetica"/>
              </a:defRPr>
            </a:pPr>
            <a:r>
              <a:rPr u="none"/>
              <a:t>Text of message:</a:t>
            </a:r>
            <a:endParaRPr u="none"/>
          </a:p>
          <a:p>
            <a:pPr lvl="1" algn="l" defTabSz="457200">
              <a:defRPr sz="2000" u="sng">
                <a:solidFill>
                  <a:srgbClr val="3C2424"/>
                </a:solidFill>
                <a:latin typeface="Helvetica"/>
                <a:ea typeface="Helvetica"/>
                <a:cs typeface="Helvetica"/>
                <a:sym typeface="Helvetica"/>
              </a:defRPr>
            </a:pPr>
            <a:endParaRPr u="none"/>
          </a:p>
          <a:p>
            <a:pPr lvl="2" algn="l" defTabSz="457200">
              <a:defRPr sz="2000" u="sng">
                <a:solidFill>
                  <a:srgbClr val="3C2424"/>
                </a:solidFill>
                <a:latin typeface="Helvetica"/>
                <a:ea typeface="Helvetica"/>
                <a:cs typeface="Helvetica"/>
                <a:sym typeface="Helvetica"/>
              </a:defRPr>
            </a:pPr>
            <a:r>
              <a:rPr u="none"/>
              <a:t>I haven't had a chance to see the famous video from Straumli Realm, except as an evocation. (My only gateway onto the Net is very expensive.) Is it true that humans have six legs? I wasn't sure from the evocation. If these humans have three pairs of legs, then I think there is an easy explanation for --</a:t>
            </a:r>
            <a:endParaRPr u="none"/>
          </a:p>
          <a:p>
            <a:pPr lvl="1" algn="l" defTabSz="457200">
              <a:defRPr sz="2000" u="sng">
                <a:solidFill>
                  <a:srgbClr val="3C2424"/>
                </a:solidFill>
                <a:latin typeface="Helvetica"/>
                <a:ea typeface="Helvetica"/>
                <a:cs typeface="Helvetica"/>
                <a:sym typeface="Helvetica"/>
              </a:defRPr>
            </a:pPr>
            <a:endParaRPr u="none"/>
          </a:p>
          <a:p>
            <a:pPr lvl="1" algn="l" defTabSz="457200">
              <a:defRPr sz="2000" u="sng">
                <a:solidFill>
                  <a:srgbClr val="3C2424"/>
                </a:solidFill>
                <a:latin typeface="Helvetica"/>
                <a:ea typeface="Helvetica"/>
                <a:cs typeface="Helvetica"/>
                <a:sym typeface="Helvetica"/>
              </a:defRPr>
            </a:pPr>
            <a:r>
              <a:rPr u="none"/>
              <a:t>Hexapodia? Six legs? Three pairs of legs?</a:t>
            </a:r>
            <a:endParaRPr u="none"/>
          </a:p>
          <a:p>
            <a:pPr lvl="1" algn="l" defTabSz="457200">
              <a:defRPr sz="2000" u="sng">
                <a:solidFill>
                  <a:srgbClr val="3C2424"/>
                </a:solidFill>
                <a:latin typeface="Helvetica"/>
                <a:ea typeface="Helvetica"/>
                <a:cs typeface="Helvetica"/>
                <a:sym typeface="Helvetica"/>
              </a:defRPr>
            </a:pPr>
            <a:endParaRPr u="none"/>
          </a:p>
          <a:p>
            <a:pPr lvl="1" algn="l" defTabSz="457200">
              <a:defRPr sz="2000" u="sng">
                <a:solidFill>
                  <a:srgbClr val="3C2424"/>
                </a:solidFill>
                <a:latin typeface="Helvetica"/>
                <a:ea typeface="Helvetica"/>
                <a:cs typeface="Helvetica"/>
                <a:sym typeface="Helvetica"/>
              </a:defRPr>
            </a:pPr>
            <a:r>
              <a:rPr u="none"/>
              <a:t>Probably none of these translations was close to what the bewildered creature of Twirlip had in its mind. Ravna didn't read any more of that posting.</a:t>
            </a:r>
          </a:p>
        </p:txBody>
      </p:sp>
      <p:sp>
        <p:nvSpPr>
          <p:cNvPr id="279" name="The long 20th century will in all likelihood be seen in the future as the watershed in human experience:…"/>
          <p:cNvSpPr txBox="1"/>
          <p:nvPr/>
        </p:nvSpPr>
        <p:spPr>
          <a:xfrm>
            <a:off x="19425887" y="2034554"/>
            <a:ext cx="4572001" cy="111125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457200">
              <a:defRPr b="1">
                <a:solidFill>
                  <a:srgbClr val="000000"/>
                </a:solidFill>
                <a:latin typeface="Helvetica"/>
                <a:ea typeface="Helvetica"/>
                <a:cs typeface="Helvetica"/>
                <a:sym typeface="Helvetica"/>
              </a:defRPr>
            </a:pPr>
            <a:r>
              <a:t>PODCAST: "Hexapodia" Is the Key Insight XX: Zach Carter</a:t>
            </a:r>
          </a:p>
          <a:p>
            <a:pPr algn="l" defTabSz="457200">
              <a:defRPr sz="1800">
                <a:solidFill>
                  <a:srgbClr val="000000"/>
                </a:solidFill>
                <a:latin typeface="Helvetica"/>
                <a:ea typeface="Helvetica"/>
                <a:cs typeface="Helvetica"/>
                <a:sym typeface="Helvetica"/>
              </a:defRPr>
            </a:pPr>
            <a:r>
              <a:t>&lt;&gt; 2021-06-29 Tu</a:t>
            </a:r>
          </a:p>
          <a:p>
            <a:pPr algn="l" defTabSz="457200">
              <a:defRPr sz="1800">
                <a:solidFill>
                  <a:srgbClr val="000000"/>
                </a:solidFill>
                <a:latin typeface="Helvetica"/>
                <a:ea typeface="Helvetica"/>
                <a:cs typeface="Helvetica"/>
                <a:sym typeface="Helvetica"/>
              </a:defRPr>
            </a:pPr>
          </a:p>
          <a:p>
            <a:pPr algn="l" defTabSz="457200">
              <a:defRPr sz="1800">
                <a:solidFill>
                  <a:srgbClr val="000000"/>
                </a:solidFill>
                <a:latin typeface="Helvetica"/>
                <a:ea typeface="Helvetica"/>
                <a:cs typeface="Helvetica"/>
                <a:sym typeface="Helvetica"/>
              </a:defRPr>
            </a:pPr>
            <a:r>
              <a:t>====</a:t>
            </a:r>
          </a:p>
          <a:p>
            <a:pPr algn="l" defTabSz="457200">
              <a:defRPr sz="1800">
                <a:solidFill>
                  <a:srgbClr val="000000"/>
                </a:solidFill>
                <a:latin typeface="Helvetica"/>
                <a:ea typeface="Helvetica"/>
                <a:cs typeface="Helvetica"/>
                <a:sym typeface="Helvetica"/>
              </a:defRPr>
            </a:pPr>
          </a:p>
          <a:p>
            <a:pPr defTabSz="457200">
              <a:defRPr b="1" sz="2900">
                <a:solidFill>
                  <a:srgbClr val="000000"/>
                </a:solidFill>
                <a:latin typeface="Helvetica"/>
                <a:ea typeface="Helvetica"/>
                <a:cs typeface="Helvetica"/>
                <a:sym typeface="Helvetica"/>
              </a:defRPr>
            </a:pPr>
            <a:r>
              <a:t>“It was not called the ‘net of a million lies’ for nothing…”</a:t>
            </a:r>
          </a:p>
          <a:p>
            <a:pPr algn="l" defTabSz="457200">
              <a:defRPr sz="2900">
                <a:solidFill>
                  <a:srgbClr val="000000"/>
                </a:solidFill>
                <a:latin typeface="Times New Roman"/>
                <a:ea typeface="Times New Roman"/>
                <a:cs typeface="Times New Roman"/>
                <a:sym typeface="Times New Roman"/>
              </a:defRPr>
            </a:pPr>
          </a:p>
          <a:p>
            <a:pPr algn="l" defTabSz="457200">
              <a:defRPr sz="2900">
                <a:solidFill>
                  <a:srgbClr val="000000"/>
                </a:solidFill>
                <a:latin typeface="Times New Roman"/>
                <a:ea typeface="Times New Roman"/>
                <a:cs typeface="Times New Roman"/>
                <a:sym typeface="Times New Roman"/>
              </a:defRPr>
            </a:pPr>
          </a:p>
        </p:txBody>
      </p:sp>
      <p:pic>
        <p:nvPicPr>
          <p:cNvPr id="280" name="Image" descr="Image"/>
          <p:cNvPicPr>
            <a:picLocks noChangeAspect="1"/>
          </p:cNvPicPr>
          <p:nvPr/>
        </p:nvPicPr>
        <p:blipFill>
          <a:blip r:embed="rId4">
            <a:extLst/>
          </a:blip>
          <a:stretch>
            <a:fillRect/>
          </a:stretch>
        </p:blipFill>
        <p:spPr>
          <a:xfrm>
            <a:off x="19425887" y="2034554"/>
            <a:ext cx="4389002" cy="3013502"/>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